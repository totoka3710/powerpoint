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69"/>
  </p:notesMasterIdLst>
  <p:sldIdLst>
    <p:sldId id="256" r:id="rId2"/>
    <p:sldId id="278" r:id="rId3"/>
    <p:sldId id="279" r:id="rId4"/>
    <p:sldId id="277" r:id="rId5"/>
    <p:sldId id="276" r:id="rId6"/>
    <p:sldId id="273" r:id="rId7"/>
    <p:sldId id="275" r:id="rId8"/>
    <p:sldId id="274" r:id="rId9"/>
    <p:sldId id="260" r:id="rId10"/>
    <p:sldId id="272" r:id="rId11"/>
    <p:sldId id="330" r:id="rId12"/>
    <p:sldId id="331" r:id="rId13"/>
    <p:sldId id="332" r:id="rId14"/>
    <p:sldId id="333" r:id="rId15"/>
    <p:sldId id="334" r:id="rId16"/>
    <p:sldId id="336" r:id="rId17"/>
    <p:sldId id="337" r:id="rId18"/>
    <p:sldId id="338" r:id="rId19"/>
    <p:sldId id="339" r:id="rId20"/>
    <p:sldId id="340" r:id="rId21"/>
    <p:sldId id="342" r:id="rId22"/>
    <p:sldId id="341" r:id="rId23"/>
    <p:sldId id="343" r:id="rId24"/>
    <p:sldId id="344" r:id="rId25"/>
    <p:sldId id="345" r:id="rId26"/>
    <p:sldId id="270" r:id="rId27"/>
    <p:sldId id="269" r:id="rId28"/>
    <p:sldId id="261" r:id="rId29"/>
    <p:sldId id="280" r:id="rId30"/>
    <p:sldId id="281" r:id="rId31"/>
    <p:sldId id="282" r:id="rId32"/>
    <p:sldId id="283" r:id="rId33"/>
    <p:sldId id="285" r:id="rId34"/>
    <p:sldId id="262" r:id="rId35"/>
    <p:sldId id="286" r:id="rId36"/>
    <p:sldId id="287" r:id="rId37"/>
    <p:sldId id="303" r:id="rId38"/>
    <p:sldId id="288" r:id="rId39"/>
    <p:sldId id="304" r:id="rId40"/>
    <p:sldId id="356" r:id="rId41"/>
    <p:sldId id="290" r:id="rId42"/>
    <p:sldId id="306" r:id="rId43"/>
    <p:sldId id="357" r:id="rId44"/>
    <p:sldId id="319" r:id="rId45"/>
    <p:sldId id="358" r:id="rId46"/>
    <p:sldId id="289" r:id="rId47"/>
    <p:sldId id="323" r:id="rId48"/>
    <p:sldId id="325" r:id="rId49"/>
    <p:sldId id="291" r:id="rId50"/>
    <p:sldId id="299" r:id="rId51"/>
    <p:sldId id="367" r:id="rId52"/>
    <p:sldId id="360" r:id="rId53"/>
    <p:sldId id="361" r:id="rId54"/>
    <p:sldId id="310" r:id="rId55"/>
    <p:sldId id="292" r:id="rId56"/>
    <p:sldId id="293" r:id="rId57"/>
    <p:sldId id="362" r:id="rId58"/>
    <p:sldId id="363" r:id="rId59"/>
    <p:sldId id="368" r:id="rId60"/>
    <p:sldId id="364" r:id="rId61"/>
    <p:sldId id="326" r:id="rId62"/>
    <p:sldId id="301" r:id="rId63"/>
    <p:sldId id="365" r:id="rId64"/>
    <p:sldId id="366" r:id="rId65"/>
    <p:sldId id="316" r:id="rId66"/>
    <p:sldId id="317" r:id="rId67"/>
    <p:sldId id="355" r:id="rId68"/>
  </p:sldIdLst>
  <p:sldSz cx="12192000" cy="6858000"/>
  <p:notesSz cx="6858000" cy="9144000"/>
  <p:embeddedFontLst>
    <p:embeddedFont>
      <p:font typeface="Gigi" panose="04040504060007020D02" pitchFamily="82" charset="0"/>
      <p:regular r:id="rId70"/>
    </p:embeddedFont>
    <p:embeddedFont>
      <p:font typeface="游ゴシック" panose="020B0400000000000000" pitchFamily="50" charset="-128"/>
      <p:regular r:id="rId71"/>
      <p:bold r:id="rId72"/>
    </p:embeddedFont>
  </p:embeddedFont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19"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CC0000"/>
    <a:srgbClr val="800000"/>
    <a:srgbClr val="FF7C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718" autoAdjust="0"/>
    <p:restoredTop sz="98795" autoAdjust="0"/>
  </p:normalViewPr>
  <p:slideViewPr>
    <p:cSldViewPr snapToGrid="0" showGuides="1">
      <p:cViewPr varScale="1">
        <p:scale>
          <a:sx n="104" d="100"/>
          <a:sy n="104" d="100"/>
        </p:scale>
        <p:origin x="354" y="114"/>
      </p:cViewPr>
      <p:guideLst>
        <p:guide orient="horz" pos="2319"/>
        <p:guide pos="3840"/>
      </p:guideLst>
    </p:cSldViewPr>
  </p:slideViewPr>
  <p:notesTextViewPr>
    <p:cViewPr>
      <p:scale>
        <a:sx n="125" d="100"/>
        <a:sy n="125" d="100"/>
      </p:scale>
      <p:origin x="0" y="0"/>
    </p:cViewPr>
  </p:notesTextViewPr>
  <p:notesViewPr>
    <p:cSldViewPr snapToGrid="0">
      <p:cViewPr varScale="1">
        <p:scale>
          <a:sx n="86" d="100"/>
          <a:sy n="86" d="100"/>
        </p:scale>
        <p:origin x="3786" y="9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1.fntdata"/><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72FC05-9E43-4D66-9E3C-643BFC819817}" type="datetimeFigureOut">
              <a:rPr kumimoji="1" lang="ja-JP" altLang="en-US" smtClean="0"/>
              <a:t>2026/7/12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59FB59-66F4-445F-8AE0-44C0AE319471}" type="slidenum">
              <a:rPr kumimoji="1" lang="ja-JP" altLang="en-US" smtClean="0"/>
              <a:t>‹#›</a:t>
            </a:fld>
            <a:endParaRPr kumimoji="1" lang="ja-JP" altLang="en-US"/>
          </a:p>
        </p:txBody>
      </p:sp>
    </p:spTree>
    <p:extLst>
      <p:ext uri="{BB962C8B-B14F-4D97-AF65-F5344CB8AC3E}">
        <p14:creationId xmlns:p14="http://schemas.microsoft.com/office/powerpoint/2010/main" val="366081952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いまから</a:t>
            </a:r>
            <a:r>
              <a:rPr kumimoji="1" lang="en-US" altLang="ja-JP" dirty="0"/>
              <a:t>10</a:t>
            </a:r>
            <a:r>
              <a:rPr kumimoji="1" lang="ja-JP" altLang="en-US" dirty="0"/>
              <a:t>班の発表を始めるのだ！</a:t>
            </a:r>
            <a:endParaRPr kumimoji="1" lang="en-US" altLang="ja-JP" dirty="0"/>
          </a:p>
          <a:p>
            <a:endParaRPr kumimoji="1" lang="en-US" altLang="ja-JP" dirty="0"/>
          </a:p>
          <a:p>
            <a:r>
              <a:rPr kumimoji="1" lang="ja-JP" altLang="en-US" dirty="0"/>
              <a:t>今回は「プロジェクト概要」、「システム要件」「操作手順」「プログラム説明」の順に説明していくのだ。</a:t>
            </a:r>
          </a:p>
        </p:txBody>
      </p:sp>
      <p:sp>
        <p:nvSpPr>
          <p:cNvPr id="4" name="スライド番号プレースホルダー 3"/>
          <p:cNvSpPr>
            <a:spLocks noGrp="1"/>
          </p:cNvSpPr>
          <p:nvPr>
            <p:ph type="sldNum" sz="quarter" idx="5"/>
          </p:nvPr>
        </p:nvSpPr>
        <p:spPr/>
        <p:txBody>
          <a:bodyPr/>
          <a:lstStyle/>
          <a:p>
            <a:fld id="{0759FB59-66F4-445F-8AE0-44C0AE319471}" type="slidenum">
              <a:rPr kumimoji="1" lang="ja-JP" altLang="en-US" smtClean="0"/>
              <a:t>1</a:t>
            </a:fld>
            <a:endParaRPr kumimoji="1" lang="ja-JP" altLang="en-US"/>
          </a:p>
        </p:txBody>
      </p:sp>
    </p:spTree>
    <p:extLst>
      <p:ext uri="{BB962C8B-B14F-4D97-AF65-F5344CB8AC3E}">
        <p14:creationId xmlns:p14="http://schemas.microsoft.com/office/powerpoint/2010/main" val="16335646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56E07-ACF0-20B5-149B-F8F91178319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480A18E-15DC-A74B-48D7-DC55E6B474A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054D5E1-BAE6-FB40-DCC6-D38527AFC45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F8E5CC2-0E92-0939-0105-C42356B01423}"/>
              </a:ext>
            </a:extLst>
          </p:cNvPr>
          <p:cNvSpPr>
            <a:spLocks noGrp="1"/>
          </p:cNvSpPr>
          <p:nvPr>
            <p:ph type="sldNum" sz="quarter" idx="5"/>
          </p:nvPr>
        </p:nvSpPr>
        <p:spPr/>
        <p:txBody>
          <a:bodyPr/>
          <a:lstStyle/>
          <a:p>
            <a:fld id="{0759FB59-66F4-445F-8AE0-44C0AE319471}" type="slidenum">
              <a:rPr kumimoji="1" lang="ja-JP" altLang="en-US" smtClean="0"/>
              <a:t>2</a:t>
            </a:fld>
            <a:endParaRPr kumimoji="1" lang="ja-JP" altLang="en-US"/>
          </a:p>
        </p:txBody>
      </p:sp>
    </p:spTree>
    <p:extLst>
      <p:ext uri="{BB962C8B-B14F-4D97-AF65-F5344CB8AC3E}">
        <p14:creationId xmlns:p14="http://schemas.microsoft.com/office/powerpoint/2010/main" val="5944665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03717-5C7F-91AB-408C-63B798FE7DF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F043E34-36AF-D15D-5299-C72DF320AC8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4A8FE31-2750-B531-D400-A11621915808}"/>
              </a:ext>
            </a:extLst>
          </p:cNvPr>
          <p:cNvSpPr>
            <a:spLocks noGrp="1"/>
          </p:cNvSpPr>
          <p:nvPr>
            <p:ph type="body" idx="1"/>
          </p:nvPr>
        </p:nvSpPr>
        <p:spPr/>
        <p:txBody>
          <a:bodyPr/>
          <a:lstStyle/>
          <a:p>
            <a:r>
              <a:rPr kumimoji="1" lang="ja-JP" altLang="en-US" dirty="0"/>
              <a:t>まず初めに「プロジェクト概要」の説明なのだ。</a:t>
            </a:r>
          </a:p>
        </p:txBody>
      </p:sp>
      <p:sp>
        <p:nvSpPr>
          <p:cNvPr id="4" name="スライド番号プレースホルダー 3">
            <a:extLst>
              <a:ext uri="{FF2B5EF4-FFF2-40B4-BE49-F238E27FC236}">
                <a16:creationId xmlns:a16="http://schemas.microsoft.com/office/drawing/2014/main" id="{BC5B63D8-861F-3C2D-FED8-B0D1AC89DF19}"/>
              </a:ext>
            </a:extLst>
          </p:cNvPr>
          <p:cNvSpPr>
            <a:spLocks noGrp="1"/>
          </p:cNvSpPr>
          <p:nvPr>
            <p:ph type="sldNum" sz="quarter" idx="5"/>
          </p:nvPr>
        </p:nvSpPr>
        <p:spPr/>
        <p:txBody>
          <a:bodyPr/>
          <a:lstStyle/>
          <a:p>
            <a:fld id="{0759FB59-66F4-445F-8AE0-44C0AE319471}" type="slidenum">
              <a:rPr kumimoji="1" lang="ja-JP" altLang="en-US" smtClean="0"/>
              <a:t>3</a:t>
            </a:fld>
            <a:endParaRPr kumimoji="1" lang="ja-JP" altLang="en-US"/>
          </a:p>
        </p:txBody>
      </p:sp>
    </p:spTree>
    <p:extLst>
      <p:ext uri="{BB962C8B-B14F-4D97-AF65-F5344CB8AC3E}">
        <p14:creationId xmlns:p14="http://schemas.microsoft.com/office/powerpoint/2010/main" val="7071049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9D223-F92E-052D-6C38-533B3192DDF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983C725-CE10-C021-1027-FAC61EA8D22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E90375E-49A6-F7AC-2145-62A804D8F6C9}"/>
              </a:ext>
            </a:extLst>
          </p:cNvPr>
          <p:cNvSpPr>
            <a:spLocks noGrp="1"/>
          </p:cNvSpPr>
          <p:nvPr>
            <p:ph type="body" idx="1"/>
          </p:nvPr>
        </p:nvSpPr>
        <p:spPr/>
        <p:txBody>
          <a:bodyPr/>
          <a:lstStyle/>
          <a:p>
            <a:r>
              <a:rPr kumimoji="1" lang="ja-JP" altLang="en-US" dirty="0"/>
              <a:t>タイトルは「配膳ロボ」なのだ。</a:t>
            </a:r>
          </a:p>
        </p:txBody>
      </p:sp>
      <p:sp>
        <p:nvSpPr>
          <p:cNvPr id="4" name="スライド番号プレースホルダー 3">
            <a:extLst>
              <a:ext uri="{FF2B5EF4-FFF2-40B4-BE49-F238E27FC236}">
                <a16:creationId xmlns:a16="http://schemas.microsoft.com/office/drawing/2014/main" id="{0C9B8FA7-BF2A-89F6-AAA2-9A8C08A410AE}"/>
              </a:ext>
            </a:extLst>
          </p:cNvPr>
          <p:cNvSpPr>
            <a:spLocks noGrp="1"/>
          </p:cNvSpPr>
          <p:nvPr>
            <p:ph type="sldNum" sz="quarter" idx="5"/>
          </p:nvPr>
        </p:nvSpPr>
        <p:spPr/>
        <p:txBody>
          <a:bodyPr/>
          <a:lstStyle/>
          <a:p>
            <a:fld id="{0759FB59-66F4-445F-8AE0-44C0AE319471}" type="slidenum">
              <a:rPr kumimoji="1" lang="ja-JP" altLang="en-US" smtClean="0"/>
              <a:t>4</a:t>
            </a:fld>
            <a:endParaRPr kumimoji="1" lang="ja-JP" altLang="en-US"/>
          </a:p>
        </p:txBody>
      </p:sp>
    </p:spTree>
    <p:extLst>
      <p:ext uri="{BB962C8B-B14F-4D97-AF65-F5344CB8AC3E}">
        <p14:creationId xmlns:p14="http://schemas.microsoft.com/office/powerpoint/2010/main" val="24095329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101FE-C6D5-6DFF-A4D5-5B4F98A4D65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4331DF-EBF3-925C-0C06-05E80DAA577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8B2DDCE-E824-4D26-43BF-4E93D7C9E003}"/>
              </a:ext>
            </a:extLst>
          </p:cNvPr>
          <p:cNvSpPr>
            <a:spLocks noGrp="1"/>
          </p:cNvSpPr>
          <p:nvPr>
            <p:ph type="body" idx="1"/>
          </p:nvPr>
        </p:nvSpPr>
        <p:spPr/>
        <p:txBody>
          <a:bodyPr/>
          <a:lstStyle/>
          <a:p>
            <a:r>
              <a:rPr kumimoji="1" lang="ja-JP" altLang="en-US" dirty="0"/>
              <a:t>設定した要件定義は</a:t>
            </a:r>
            <a:r>
              <a:rPr kumimoji="1" lang="en-US" altLang="ja-JP" dirty="0"/>
              <a:t>3</a:t>
            </a:r>
            <a:r>
              <a:rPr kumimoji="1" lang="ja-JP" altLang="en-US" dirty="0"/>
              <a:t>つなのだ。</a:t>
            </a:r>
          </a:p>
        </p:txBody>
      </p:sp>
      <p:sp>
        <p:nvSpPr>
          <p:cNvPr id="4" name="スライド番号プレースホルダー 3">
            <a:extLst>
              <a:ext uri="{FF2B5EF4-FFF2-40B4-BE49-F238E27FC236}">
                <a16:creationId xmlns:a16="http://schemas.microsoft.com/office/drawing/2014/main" id="{A9E48ECC-2AED-76BD-341F-EAB5714BF3CE}"/>
              </a:ext>
            </a:extLst>
          </p:cNvPr>
          <p:cNvSpPr>
            <a:spLocks noGrp="1"/>
          </p:cNvSpPr>
          <p:nvPr>
            <p:ph type="sldNum" sz="quarter" idx="5"/>
          </p:nvPr>
        </p:nvSpPr>
        <p:spPr/>
        <p:txBody>
          <a:bodyPr/>
          <a:lstStyle/>
          <a:p>
            <a:fld id="{0759FB59-66F4-445F-8AE0-44C0AE319471}" type="slidenum">
              <a:rPr kumimoji="1" lang="ja-JP" altLang="en-US" smtClean="0"/>
              <a:t>5</a:t>
            </a:fld>
            <a:endParaRPr kumimoji="1" lang="ja-JP" altLang="en-US"/>
          </a:p>
        </p:txBody>
      </p:sp>
    </p:spTree>
    <p:extLst>
      <p:ext uri="{BB962C8B-B14F-4D97-AF65-F5344CB8AC3E}">
        <p14:creationId xmlns:p14="http://schemas.microsoft.com/office/powerpoint/2010/main" val="41671146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C88B5-6ED4-2635-005A-0CB04CBF7A3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CC8AB09-955D-27F5-0CED-A7EF988A376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55E9EDB-272F-35F9-3663-0C8051B4EECA}"/>
              </a:ext>
            </a:extLst>
          </p:cNvPr>
          <p:cNvSpPr>
            <a:spLocks noGrp="1"/>
          </p:cNvSpPr>
          <p:nvPr>
            <p:ph type="body" idx="1"/>
          </p:nvPr>
        </p:nvSpPr>
        <p:spPr/>
        <p:txBody>
          <a:bodyPr/>
          <a:lstStyle/>
          <a:p>
            <a:r>
              <a:rPr kumimoji="1" lang="ja-JP" altLang="en-US" dirty="0"/>
              <a:t>一つ目は、目的地までの自動走行なのだ。</a:t>
            </a:r>
            <a:endParaRPr kumimoji="1" lang="en-US" altLang="ja-JP" dirty="0"/>
          </a:p>
          <a:p>
            <a:r>
              <a:rPr kumimoji="1" lang="ja-JP" altLang="en-US" dirty="0"/>
              <a:t>ゴールを入力した後はユーザーが何もしなくてもゴールまで辿り着いてくれるのだ。</a:t>
            </a:r>
          </a:p>
        </p:txBody>
      </p:sp>
      <p:sp>
        <p:nvSpPr>
          <p:cNvPr id="4" name="スライド番号プレースホルダー 3">
            <a:extLst>
              <a:ext uri="{FF2B5EF4-FFF2-40B4-BE49-F238E27FC236}">
                <a16:creationId xmlns:a16="http://schemas.microsoft.com/office/drawing/2014/main" id="{1B8D5724-DF4B-D674-2098-DA279DA277F4}"/>
              </a:ext>
            </a:extLst>
          </p:cNvPr>
          <p:cNvSpPr>
            <a:spLocks noGrp="1"/>
          </p:cNvSpPr>
          <p:nvPr>
            <p:ph type="sldNum" sz="quarter" idx="5"/>
          </p:nvPr>
        </p:nvSpPr>
        <p:spPr/>
        <p:txBody>
          <a:bodyPr/>
          <a:lstStyle/>
          <a:p>
            <a:fld id="{0759FB59-66F4-445F-8AE0-44C0AE319471}" type="slidenum">
              <a:rPr kumimoji="1" lang="ja-JP" altLang="en-US" smtClean="0"/>
              <a:t>6</a:t>
            </a:fld>
            <a:endParaRPr kumimoji="1" lang="ja-JP" altLang="en-US"/>
          </a:p>
        </p:txBody>
      </p:sp>
    </p:spTree>
    <p:extLst>
      <p:ext uri="{BB962C8B-B14F-4D97-AF65-F5344CB8AC3E}">
        <p14:creationId xmlns:p14="http://schemas.microsoft.com/office/powerpoint/2010/main" val="42494120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9F748-9828-672B-2C94-3615FE789B4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543874E-C2EE-71B9-9B0D-FD27589ACBF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078D917-537F-BE83-A0FF-6A3B6F8F3470}"/>
              </a:ext>
            </a:extLst>
          </p:cNvPr>
          <p:cNvSpPr>
            <a:spLocks noGrp="1"/>
          </p:cNvSpPr>
          <p:nvPr>
            <p:ph type="body" idx="1"/>
          </p:nvPr>
        </p:nvSpPr>
        <p:spPr/>
        <p:txBody>
          <a:bodyPr/>
          <a:lstStyle/>
          <a:p>
            <a:r>
              <a:rPr kumimoji="1" lang="ja-JP" altLang="en-US" dirty="0"/>
              <a:t>二つ目は、接触・衝突の自動回避なのだ。</a:t>
            </a:r>
            <a:endParaRPr kumimoji="1" lang="en-US" altLang="ja-JP" dirty="0"/>
          </a:p>
          <a:p>
            <a:r>
              <a:rPr kumimoji="1" lang="ja-JP" altLang="en-US" dirty="0"/>
              <a:t>物体を検知すると、自動的に障害物を回避する動きになるのだ。</a:t>
            </a:r>
          </a:p>
        </p:txBody>
      </p:sp>
      <p:sp>
        <p:nvSpPr>
          <p:cNvPr id="4" name="スライド番号プレースホルダー 3">
            <a:extLst>
              <a:ext uri="{FF2B5EF4-FFF2-40B4-BE49-F238E27FC236}">
                <a16:creationId xmlns:a16="http://schemas.microsoft.com/office/drawing/2014/main" id="{F44A3B85-CAAE-CDE5-4D19-29288A9DFB0D}"/>
              </a:ext>
            </a:extLst>
          </p:cNvPr>
          <p:cNvSpPr>
            <a:spLocks noGrp="1"/>
          </p:cNvSpPr>
          <p:nvPr>
            <p:ph type="sldNum" sz="quarter" idx="5"/>
          </p:nvPr>
        </p:nvSpPr>
        <p:spPr/>
        <p:txBody>
          <a:bodyPr/>
          <a:lstStyle/>
          <a:p>
            <a:fld id="{0759FB59-66F4-445F-8AE0-44C0AE319471}" type="slidenum">
              <a:rPr kumimoji="1" lang="ja-JP" altLang="en-US" smtClean="0"/>
              <a:t>7</a:t>
            </a:fld>
            <a:endParaRPr kumimoji="1" lang="ja-JP" altLang="en-US"/>
          </a:p>
        </p:txBody>
      </p:sp>
    </p:spTree>
    <p:extLst>
      <p:ext uri="{BB962C8B-B14F-4D97-AF65-F5344CB8AC3E}">
        <p14:creationId xmlns:p14="http://schemas.microsoft.com/office/powerpoint/2010/main" val="17152363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25772-09E3-B415-A1A3-A0643E3A89E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3A973A-C527-3C6F-6779-37E1E3E7E95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587B67D-5E0C-7879-6FE1-3E8595BC5544}"/>
              </a:ext>
            </a:extLst>
          </p:cNvPr>
          <p:cNvSpPr>
            <a:spLocks noGrp="1"/>
          </p:cNvSpPr>
          <p:nvPr>
            <p:ph type="body" idx="1"/>
          </p:nvPr>
        </p:nvSpPr>
        <p:spPr/>
        <p:txBody>
          <a:bodyPr/>
          <a:lstStyle/>
          <a:p>
            <a:r>
              <a:rPr kumimoji="1" lang="ja-JP" altLang="en-US" dirty="0"/>
              <a:t>三つ目は、音楽再生による周囲への到着周知なのだ。</a:t>
            </a:r>
            <a:endParaRPr kumimoji="1" lang="en-US" altLang="ja-JP" dirty="0"/>
          </a:p>
          <a:p>
            <a:r>
              <a:rPr kumimoji="1" lang="ja-JP" altLang="en-US" dirty="0"/>
              <a:t>配膳ロボっとたるもの、忍者じゃあるまい、堂々とお届けに行くのだ。</a:t>
            </a:r>
            <a:endParaRPr kumimoji="1" lang="en-US" altLang="ja-JP" dirty="0"/>
          </a:p>
          <a:p>
            <a:r>
              <a:rPr kumimoji="1" lang="ja-JP" altLang="en-US" dirty="0"/>
              <a:t>以上の３つを要件定義として設定したのだ。</a:t>
            </a:r>
            <a:endParaRPr kumimoji="1" lang="en-US" altLang="ja-JP" dirty="0"/>
          </a:p>
        </p:txBody>
      </p:sp>
      <p:sp>
        <p:nvSpPr>
          <p:cNvPr id="4" name="スライド番号プレースホルダー 3">
            <a:extLst>
              <a:ext uri="{FF2B5EF4-FFF2-40B4-BE49-F238E27FC236}">
                <a16:creationId xmlns:a16="http://schemas.microsoft.com/office/drawing/2014/main" id="{F977D275-AA70-D667-6D9D-DD8DF7F088F0}"/>
              </a:ext>
            </a:extLst>
          </p:cNvPr>
          <p:cNvSpPr>
            <a:spLocks noGrp="1"/>
          </p:cNvSpPr>
          <p:nvPr>
            <p:ph type="sldNum" sz="quarter" idx="5"/>
          </p:nvPr>
        </p:nvSpPr>
        <p:spPr/>
        <p:txBody>
          <a:bodyPr/>
          <a:lstStyle/>
          <a:p>
            <a:fld id="{0759FB59-66F4-445F-8AE0-44C0AE319471}" type="slidenum">
              <a:rPr kumimoji="1" lang="ja-JP" altLang="en-US" smtClean="0"/>
              <a:t>8</a:t>
            </a:fld>
            <a:endParaRPr kumimoji="1" lang="ja-JP" altLang="en-US"/>
          </a:p>
        </p:txBody>
      </p:sp>
    </p:spTree>
    <p:extLst>
      <p:ext uri="{BB962C8B-B14F-4D97-AF65-F5344CB8AC3E}">
        <p14:creationId xmlns:p14="http://schemas.microsoft.com/office/powerpoint/2010/main" val="19719831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45E76-6E2F-4356-B733-84AE45BD18A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5EA5C85-770E-6B1B-0948-FE63353056C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860145B-6F52-F96E-0475-7AF9D9A379D0}"/>
              </a:ext>
            </a:extLst>
          </p:cNvPr>
          <p:cNvSpPr>
            <a:spLocks noGrp="1"/>
          </p:cNvSpPr>
          <p:nvPr>
            <p:ph type="body" idx="1"/>
          </p:nvPr>
        </p:nvSpPr>
        <p:spPr/>
        <p:txBody>
          <a:bodyPr/>
          <a:lstStyle/>
          <a:p>
            <a:r>
              <a:rPr kumimoji="1" lang="ja-JP" altLang="en-US" dirty="0"/>
              <a:t>次に、「システム要件」の説明をするのだ。</a:t>
            </a:r>
          </a:p>
        </p:txBody>
      </p:sp>
      <p:sp>
        <p:nvSpPr>
          <p:cNvPr id="4" name="スライド番号プレースホルダー 3">
            <a:extLst>
              <a:ext uri="{FF2B5EF4-FFF2-40B4-BE49-F238E27FC236}">
                <a16:creationId xmlns:a16="http://schemas.microsoft.com/office/drawing/2014/main" id="{1B3D36F8-8E94-97BF-78A1-86C6298AA6F8}"/>
              </a:ext>
            </a:extLst>
          </p:cNvPr>
          <p:cNvSpPr>
            <a:spLocks noGrp="1"/>
          </p:cNvSpPr>
          <p:nvPr>
            <p:ph type="sldNum" sz="quarter" idx="5"/>
          </p:nvPr>
        </p:nvSpPr>
        <p:spPr/>
        <p:txBody>
          <a:bodyPr/>
          <a:lstStyle/>
          <a:p>
            <a:fld id="{0759FB59-66F4-445F-8AE0-44C0AE319471}" type="slidenum">
              <a:rPr kumimoji="1" lang="ja-JP" altLang="en-US" smtClean="0"/>
              <a:t>9</a:t>
            </a:fld>
            <a:endParaRPr kumimoji="1" lang="ja-JP" altLang="en-US"/>
          </a:p>
        </p:txBody>
      </p:sp>
    </p:spTree>
    <p:extLst>
      <p:ext uri="{BB962C8B-B14F-4D97-AF65-F5344CB8AC3E}">
        <p14:creationId xmlns:p14="http://schemas.microsoft.com/office/powerpoint/2010/main" val="5265355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3FEE8-2959-32C5-B327-2D0566A9D71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18480CE-B1FD-5EC4-F400-68E4BD2A425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E74221E-F696-904E-2444-B6DC6F5CBC71}"/>
              </a:ext>
            </a:extLst>
          </p:cNvPr>
          <p:cNvSpPr>
            <a:spLocks noGrp="1"/>
          </p:cNvSpPr>
          <p:nvPr>
            <p:ph type="body" idx="1"/>
          </p:nvPr>
        </p:nvSpPr>
        <p:spPr/>
        <p:txBody>
          <a:bodyPr/>
          <a:lstStyle/>
          <a:p>
            <a:r>
              <a:rPr kumimoji="1" lang="ja-JP" altLang="en-US" dirty="0"/>
              <a:t>まず、「移動制御」についてなのだ。</a:t>
            </a:r>
            <a:endParaRPr kumimoji="1" lang="en-US" altLang="ja-JP" dirty="0"/>
          </a:p>
          <a:p>
            <a:r>
              <a:rPr kumimoji="1" lang="ja-JP" altLang="en-US" dirty="0"/>
              <a:t>クムクムの「向き」と、クムクムが「歩いた歩数」から、</a:t>
            </a:r>
            <a:r>
              <a:rPr kumimoji="1" lang="en-US" altLang="ja-JP" dirty="0" err="1"/>
              <a:t>xy</a:t>
            </a:r>
            <a:r>
              <a:rPr kumimoji="1" lang="ja-JP" altLang="en-US" dirty="0"/>
              <a:t>座標平面上の現在位置を計算し、ゴール座標との差を計算して今後の移動方法を決定するのだ。</a:t>
            </a:r>
            <a:endParaRPr kumimoji="1" lang="en-US" altLang="ja-JP" dirty="0"/>
          </a:p>
        </p:txBody>
      </p:sp>
      <p:sp>
        <p:nvSpPr>
          <p:cNvPr id="4" name="スライド番号プレースホルダー 3">
            <a:extLst>
              <a:ext uri="{FF2B5EF4-FFF2-40B4-BE49-F238E27FC236}">
                <a16:creationId xmlns:a16="http://schemas.microsoft.com/office/drawing/2014/main" id="{55661986-2ED0-60B1-DD12-720A15FEC735}"/>
              </a:ext>
            </a:extLst>
          </p:cNvPr>
          <p:cNvSpPr>
            <a:spLocks noGrp="1"/>
          </p:cNvSpPr>
          <p:nvPr>
            <p:ph type="sldNum" sz="quarter" idx="5"/>
          </p:nvPr>
        </p:nvSpPr>
        <p:spPr/>
        <p:txBody>
          <a:bodyPr/>
          <a:lstStyle/>
          <a:p>
            <a:fld id="{0759FB59-66F4-445F-8AE0-44C0AE319471}" type="slidenum">
              <a:rPr kumimoji="1" lang="ja-JP" altLang="en-US" smtClean="0"/>
              <a:t>10</a:t>
            </a:fld>
            <a:endParaRPr kumimoji="1" lang="ja-JP" altLang="en-US"/>
          </a:p>
        </p:txBody>
      </p:sp>
    </p:spTree>
    <p:extLst>
      <p:ext uri="{BB962C8B-B14F-4D97-AF65-F5344CB8AC3E}">
        <p14:creationId xmlns:p14="http://schemas.microsoft.com/office/powerpoint/2010/main" val="1019288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11E35-16AA-1692-6782-D9DCBE2DE04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53A71A4-852E-29F3-A345-CE2286CBC0B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395AB64-0C25-4794-3CD4-0ABE121CF690}"/>
              </a:ext>
            </a:extLst>
          </p:cNvPr>
          <p:cNvSpPr>
            <a:spLocks noGrp="1"/>
          </p:cNvSpPr>
          <p:nvPr>
            <p:ph type="body" idx="1"/>
          </p:nvPr>
        </p:nvSpPr>
        <p:spPr/>
        <p:txBody>
          <a:bodyPr/>
          <a:lstStyle/>
          <a:p>
            <a:r>
              <a:rPr kumimoji="1" lang="ja-JP" altLang="en-US" dirty="0"/>
              <a:t>まず、「移動制御」についてなのだ。</a:t>
            </a:r>
            <a:endParaRPr kumimoji="1" lang="en-US" altLang="ja-JP" dirty="0"/>
          </a:p>
          <a:p>
            <a:r>
              <a:rPr kumimoji="1" lang="ja-JP" altLang="en-US" dirty="0"/>
              <a:t>クムクムの「向き」と、クムクムが「歩いた歩数」から、</a:t>
            </a:r>
            <a:r>
              <a:rPr kumimoji="1" lang="en-US" altLang="ja-JP" dirty="0" err="1"/>
              <a:t>xy</a:t>
            </a:r>
            <a:r>
              <a:rPr kumimoji="1" lang="ja-JP" altLang="en-US" dirty="0"/>
              <a:t>座標平面上の現在位置を計算し、ゴール座標との差を計算して今後の移動方法を決定するのだ。</a:t>
            </a:r>
            <a:endParaRPr kumimoji="1" lang="en-US" altLang="ja-JP" dirty="0"/>
          </a:p>
        </p:txBody>
      </p:sp>
      <p:sp>
        <p:nvSpPr>
          <p:cNvPr id="4" name="スライド番号プレースホルダー 3">
            <a:extLst>
              <a:ext uri="{FF2B5EF4-FFF2-40B4-BE49-F238E27FC236}">
                <a16:creationId xmlns:a16="http://schemas.microsoft.com/office/drawing/2014/main" id="{C1BB0924-79F4-8C12-910D-F141159AAE2F}"/>
              </a:ext>
            </a:extLst>
          </p:cNvPr>
          <p:cNvSpPr>
            <a:spLocks noGrp="1"/>
          </p:cNvSpPr>
          <p:nvPr>
            <p:ph type="sldNum" sz="quarter" idx="5"/>
          </p:nvPr>
        </p:nvSpPr>
        <p:spPr/>
        <p:txBody>
          <a:bodyPr/>
          <a:lstStyle/>
          <a:p>
            <a:fld id="{0759FB59-66F4-445F-8AE0-44C0AE319471}" type="slidenum">
              <a:rPr kumimoji="1" lang="ja-JP" altLang="en-US" smtClean="0"/>
              <a:t>11</a:t>
            </a:fld>
            <a:endParaRPr kumimoji="1" lang="ja-JP" altLang="en-US"/>
          </a:p>
        </p:txBody>
      </p:sp>
    </p:spTree>
    <p:extLst>
      <p:ext uri="{BB962C8B-B14F-4D97-AF65-F5344CB8AC3E}">
        <p14:creationId xmlns:p14="http://schemas.microsoft.com/office/powerpoint/2010/main" val="31974570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F50EF-B585-4183-E3AB-76E6C94835E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F666F73-F32A-2106-9F16-8C31FE20845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0E53D1D-1DAF-BB66-76F6-8870EA0722BE}"/>
              </a:ext>
            </a:extLst>
          </p:cNvPr>
          <p:cNvSpPr>
            <a:spLocks noGrp="1"/>
          </p:cNvSpPr>
          <p:nvPr>
            <p:ph type="body" idx="1"/>
          </p:nvPr>
        </p:nvSpPr>
        <p:spPr/>
        <p:txBody>
          <a:bodyPr/>
          <a:lstStyle/>
          <a:p>
            <a:r>
              <a:rPr kumimoji="1" lang="ja-JP" altLang="en-US" dirty="0"/>
              <a:t>まず、「移動制御」についてなのだ。</a:t>
            </a:r>
            <a:endParaRPr kumimoji="1" lang="en-US" altLang="ja-JP" dirty="0"/>
          </a:p>
          <a:p>
            <a:r>
              <a:rPr kumimoji="1" lang="ja-JP" altLang="en-US" dirty="0"/>
              <a:t>クムクムの「向き」と、クムクムが「歩いた歩数」から、</a:t>
            </a:r>
            <a:r>
              <a:rPr kumimoji="1" lang="en-US" altLang="ja-JP" dirty="0" err="1"/>
              <a:t>xy</a:t>
            </a:r>
            <a:r>
              <a:rPr kumimoji="1" lang="ja-JP" altLang="en-US" dirty="0"/>
              <a:t>座標平面上の現在位置を計算し、ゴール座標との差を計算して今後の移動方法を決定するのだ。</a:t>
            </a:r>
            <a:endParaRPr kumimoji="1" lang="en-US" altLang="ja-JP" dirty="0"/>
          </a:p>
        </p:txBody>
      </p:sp>
      <p:sp>
        <p:nvSpPr>
          <p:cNvPr id="4" name="スライド番号プレースホルダー 3">
            <a:extLst>
              <a:ext uri="{FF2B5EF4-FFF2-40B4-BE49-F238E27FC236}">
                <a16:creationId xmlns:a16="http://schemas.microsoft.com/office/drawing/2014/main" id="{590C8808-84A8-289B-9C8A-E821F4E7EF04}"/>
              </a:ext>
            </a:extLst>
          </p:cNvPr>
          <p:cNvSpPr>
            <a:spLocks noGrp="1"/>
          </p:cNvSpPr>
          <p:nvPr>
            <p:ph type="sldNum" sz="quarter" idx="5"/>
          </p:nvPr>
        </p:nvSpPr>
        <p:spPr/>
        <p:txBody>
          <a:bodyPr/>
          <a:lstStyle/>
          <a:p>
            <a:fld id="{0759FB59-66F4-445F-8AE0-44C0AE319471}" type="slidenum">
              <a:rPr kumimoji="1" lang="ja-JP" altLang="en-US" smtClean="0"/>
              <a:t>12</a:t>
            </a:fld>
            <a:endParaRPr kumimoji="1" lang="ja-JP" altLang="en-US"/>
          </a:p>
        </p:txBody>
      </p:sp>
    </p:spTree>
    <p:extLst>
      <p:ext uri="{BB962C8B-B14F-4D97-AF65-F5344CB8AC3E}">
        <p14:creationId xmlns:p14="http://schemas.microsoft.com/office/powerpoint/2010/main" val="32672801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B9ADB-2E2B-C01B-16CE-8245DBF72B2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7813D40-2270-7C1A-1232-3D65D902555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32F374A-9998-9584-E10F-1D75FFA9B463}"/>
              </a:ext>
            </a:extLst>
          </p:cNvPr>
          <p:cNvSpPr>
            <a:spLocks noGrp="1"/>
          </p:cNvSpPr>
          <p:nvPr>
            <p:ph type="body" idx="1"/>
          </p:nvPr>
        </p:nvSpPr>
        <p:spPr/>
        <p:txBody>
          <a:bodyPr/>
          <a:lstStyle/>
          <a:p>
            <a:r>
              <a:rPr kumimoji="1" lang="ja-JP" altLang="en-US" dirty="0"/>
              <a:t>まず、「移動制御」についてなのだ。</a:t>
            </a:r>
            <a:endParaRPr kumimoji="1" lang="en-US" altLang="ja-JP" dirty="0"/>
          </a:p>
          <a:p>
            <a:r>
              <a:rPr kumimoji="1" lang="ja-JP" altLang="en-US" dirty="0"/>
              <a:t>クムクムの「向き」と、クムクムが「歩いた歩数」から、</a:t>
            </a:r>
            <a:r>
              <a:rPr kumimoji="1" lang="en-US" altLang="ja-JP" dirty="0" err="1"/>
              <a:t>xy</a:t>
            </a:r>
            <a:r>
              <a:rPr kumimoji="1" lang="ja-JP" altLang="en-US" dirty="0"/>
              <a:t>座標平面上の現在位置を計算し、ゴール座標との差を計算して今後の移動方法を決定するのだ。</a:t>
            </a:r>
            <a:endParaRPr kumimoji="1" lang="en-US" altLang="ja-JP" dirty="0"/>
          </a:p>
        </p:txBody>
      </p:sp>
      <p:sp>
        <p:nvSpPr>
          <p:cNvPr id="4" name="スライド番号プレースホルダー 3">
            <a:extLst>
              <a:ext uri="{FF2B5EF4-FFF2-40B4-BE49-F238E27FC236}">
                <a16:creationId xmlns:a16="http://schemas.microsoft.com/office/drawing/2014/main" id="{321BF336-D4F4-FFC0-6C4C-7D18ACF08FEA}"/>
              </a:ext>
            </a:extLst>
          </p:cNvPr>
          <p:cNvSpPr>
            <a:spLocks noGrp="1"/>
          </p:cNvSpPr>
          <p:nvPr>
            <p:ph type="sldNum" sz="quarter" idx="5"/>
          </p:nvPr>
        </p:nvSpPr>
        <p:spPr/>
        <p:txBody>
          <a:bodyPr/>
          <a:lstStyle/>
          <a:p>
            <a:fld id="{0759FB59-66F4-445F-8AE0-44C0AE319471}" type="slidenum">
              <a:rPr kumimoji="1" lang="ja-JP" altLang="en-US" smtClean="0"/>
              <a:t>13</a:t>
            </a:fld>
            <a:endParaRPr kumimoji="1" lang="ja-JP" altLang="en-US"/>
          </a:p>
        </p:txBody>
      </p:sp>
    </p:spTree>
    <p:extLst>
      <p:ext uri="{BB962C8B-B14F-4D97-AF65-F5344CB8AC3E}">
        <p14:creationId xmlns:p14="http://schemas.microsoft.com/office/powerpoint/2010/main" val="18011328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BC27B-67CF-AAF5-62F8-BE8A32F9132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65B93E0-0A0D-D531-CA19-FDD02B8ED73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28FBB31-AF24-EF99-B41F-528239BE9F68}"/>
              </a:ext>
            </a:extLst>
          </p:cNvPr>
          <p:cNvSpPr>
            <a:spLocks noGrp="1"/>
          </p:cNvSpPr>
          <p:nvPr>
            <p:ph type="body" idx="1"/>
          </p:nvPr>
        </p:nvSpPr>
        <p:spPr/>
        <p:txBody>
          <a:bodyPr/>
          <a:lstStyle/>
          <a:p>
            <a:r>
              <a:rPr kumimoji="1" lang="ja-JP" altLang="en-US" dirty="0"/>
              <a:t>まず、「移動制御」についてなのだ。</a:t>
            </a:r>
            <a:endParaRPr kumimoji="1" lang="en-US" altLang="ja-JP" dirty="0"/>
          </a:p>
          <a:p>
            <a:r>
              <a:rPr kumimoji="1" lang="ja-JP" altLang="en-US" dirty="0"/>
              <a:t>クムクムの「向き」と、クムクムが「歩いた歩数」から、</a:t>
            </a:r>
            <a:r>
              <a:rPr kumimoji="1" lang="en-US" altLang="ja-JP" dirty="0" err="1"/>
              <a:t>xy</a:t>
            </a:r>
            <a:r>
              <a:rPr kumimoji="1" lang="ja-JP" altLang="en-US" dirty="0"/>
              <a:t>座標平面上の現在位置を計算し、ゴール座標との差を計算して今後の移動方法を決定するのだ。</a:t>
            </a:r>
            <a:endParaRPr kumimoji="1" lang="en-US" altLang="ja-JP" dirty="0"/>
          </a:p>
        </p:txBody>
      </p:sp>
      <p:sp>
        <p:nvSpPr>
          <p:cNvPr id="4" name="スライド番号プレースホルダー 3">
            <a:extLst>
              <a:ext uri="{FF2B5EF4-FFF2-40B4-BE49-F238E27FC236}">
                <a16:creationId xmlns:a16="http://schemas.microsoft.com/office/drawing/2014/main" id="{E4B4F906-954A-36EF-037C-CF7C13EF0637}"/>
              </a:ext>
            </a:extLst>
          </p:cNvPr>
          <p:cNvSpPr>
            <a:spLocks noGrp="1"/>
          </p:cNvSpPr>
          <p:nvPr>
            <p:ph type="sldNum" sz="quarter" idx="5"/>
          </p:nvPr>
        </p:nvSpPr>
        <p:spPr/>
        <p:txBody>
          <a:bodyPr/>
          <a:lstStyle/>
          <a:p>
            <a:fld id="{0759FB59-66F4-445F-8AE0-44C0AE319471}" type="slidenum">
              <a:rPr kumimoji="1" lang="ja-JP" altLang="en-US" smtClean="0"/>
              <a:t>14</a:t>
            </a:fld>
            <a:endParaRPr kumimoji="1" lang="ja-JP" altLang="en-US"/>
          </a:p>
        </p:txBody>
      </p:sp>
    </p:spTree>
    <p:extLst>
      <p:ext uri="{BB962C8B-B14F-4D97-AF65-F5344CB8AC3E}">
        <p14:creationId xmlns:p14="http://schemas.microsoft.com/office/powerpoint/2010/main" val="40695326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0CB3B-8845-74ED-1098-7968E1909A4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CDD5F6-2248-8C5E-F809-3C1DA1D668A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4D97670-66F7-FF29-FC54-7519F4574163}"/>
              </a:ext>
            </a:extLst>
          </p:cNvPr>
          <p:cNvSpPr>
            <a:spLocks noGrp="1"/>
          </p:cNvSpPr>
          <p:nvPr>
            <p:ph type="body" idx="1"/>
          </p:nvPr>
        </p:nvSpPr>
        <p:spPr/>
        <p:txBody>
          <a:bodyPr/>
          <a:lstStyle/>
          <a:p>
            <a:r>
              <a:rPr kumimoji="1" lang="ja-JP" altLang="en-US" dirty="0"/>
              <a:t>まず、「移動制御」についてなのだ。</a:t>
            </a:r>
            <a:endParaRPr kumimoji="1" lang="en-US" altLang="ja-JP" dirty="0"/>
          </a:p>
          <a:p>
            <a:r>
              <a:rPr kumimoji="1" lang="ja-JP" altLang="en-US" dirty="0"/>
              <a:t>クムクムの「向き」と、クムクムが「歩いた歩数」から、</a:t>
            </a:r>
            <a:r>
              <a:rPr kumimoji="1" lang="en-US" altLang="ja-JP" dirty="0" err="1"/>
              <a:t>xy</a:t>
            </a:r>
            <a:r>
              <a:rPr kumimoji="1" lang="ja-JP" altLang="en-US" dirty="0"/>
              <a:t>座標平面上の現在位置を計算し、ゴール座標との差を計算して今後の移動方法を決定するのだ。</a:t>
            </a:r>
            <a:endParaRPr kumimoji="1" lang="en-US" altLang="ja-JP" dirty="0"/>
          </a:p>
        </p:txBody>
      </p:sp>
      <p:sp>
        <p:nvSpPr>
          <p:cNvPr id="4" name="スライド番号プレースホルダー 3">
            <a:extLst>
              <a:ext uri="{FF2B5EF4-FFF2-40B4-BE49-F238E27FC236}">
                <a16:creationId xmlns:a16="http://schemas.microsoft.com/office/drawing/2014/main" id="{FC3E306E-0452-7D58-30F1-41B2A0B37F19}"/>
              </a:ext>
            </a:extLst>
          </p:cNvPr>
          <p:cNvSpPr>
            <a:spLocks noGrp="1"/>
          </p:cNvSpPr>
          <p:nvPr>
            <p:ph type="sldNum" sz="quarter" idx="5"/>
          </p:nvPr>
        </p:nvSpPr>
        <p:spPr/>
        <p:txBody>
          <a:bodyPr/>
          <a:lstStyle/>
          <a:p>
            <a:fld id="{0759FB59-66F4-445F-8AE0-44C0AE319471}" type="slidenum">
              <a:rPr kumimoji="1" lang="ja-JP" altLang="en-US" smtClean="0"/>
              <a:t>15</a:t>
            </a:fld>
            <a:endParaRPr kumimoji="1" lang="ja-JP" altLang="en-US"/>
          </a:p>
        </p:txBody>
      </p:sp>
    </p:spTree>
    <p:extLst>
      <p:ext uri="{BB962C8B-B14F-4D97-AF65-F5344CB8AC3E}">
        <p14:creationId xmlns:p14="http://schemas.microsoft.com/office/powerpoint/2010/main" val="17453233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C41E7-DEB8-B5CF-9518-C0C7C5A9D1F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4EF0C53-CBC8-1D0E-81CF-9F1564A2E19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2910DA8-5C63-323D-45BA-89F38901DD2C}"/>
              </a:ext>
            </a:extLst>
          </p:cNvPr>
          <p:cNvSpPr>
            <a:spLocks noGrp="1"/>
          </p:cNvSpPr>
          <p:nvPr>
            <p:ph type="body" idx="1"/>
          </p:nvPr>
        </p:nvSpPr>
        <p:spPr/>
        <p:txBody>
          <a:bodyPr/>
          <a:lstStyle/>
          <a:p>
            <a:r>
              <a:rPr kumimoji="1" lang="ja-JP" altLang="en-US" dirty="0"/>
              <a:t>まず、「移動制御」についてなのだ。</a:t>
            </a:r>
            <a:endParaRPr kumimoji="1" lang="en-US" altLang="ja-JP" dirty="0"/>
          </a:p>
          <a:p>
            <a:r>
              <a:rPr kumimoji="1" lang="ja-JP" altLang="en-US" dirty="0"/>
              <a:t>クムクムの「向き」と、クムクムが「歩いた歩数」から、</a:t>
            </a:r>
            <a:r>
              <a:rPr kumimoji="1" lang="en-US" altLang="ja-JP" dirty="0" err="1"/>
              <a:t>xy</a:t>
            </a:r>
            <a:r>
              <a:rPr kumimoji="1" lang="ja-JP" altLang="en-US" dirty="0"/>
              <a:t>座標平面上の現在位置を計算し、ゴール座標との差を計算して今後の移動方法を決定するのだ。</a:t>
            </a:r>
            <a:endParaRPr kumimoji="1" lang="en-US" altLang="ja-JP" dirty="0"/>
          </a:p>
        </p:txBody>
      </p:sp>
      <p:sp>
        <p:nvSpPr>
          <p:cNvPr id="4" name="スライド番号プレースホルダー 3">
            <a:extLst>
              <a:ext uri="{FF2B5EF4-FFF2-40B4-BE49-F238E27FC236}">
                <a16:creationId xmlns:a16="http://schemas.microsoft.com/office/drawing/2014/main" id="{D91CA606-4D5A-48F2-6F9E-698BD0CCA795}"/>
              </a:ext>
            </a:extLst>
          </p:cNvPr>
          <p:cNvSpPr>
            <a:spLocks noGrp="1"/>
          </p:cNvSpPr>
          <p:nvPr>
            <p:ph type="sldNum" sz="quarter" idx="5"/>
          </p:nvPr>
        </p:nvSpPr>
        <p:spPr/>
        <p:txBody>
          <a:bodyPr/>
          <a:lstStyle/>
          <a:p>
            <a:fld id="{0759FB59-66F4-445F-8AE0-44C0AE319471}" type="slidenum">
              <a:rPr kumimoji="1" lang="ja-JP" altLang="en-US" smtClean="0"/>
              <a:t>16</a:t>
            </a:fld>
            <a:endParaRPr kumimoji="1" lang="ja-JP" altLang="en-US"/>
          </a:p>
        </p:txBody>
      </p:sp>
    </p:spTree>
    <p:extLst>
      <p:ext uri="{BB962C8B-B14F-4D97-AF65-F5344CB8AC3E}">
        <p14:creationId xmlns:p14="http://schemas.microsoft.com/office/powerpoint/2010/main" val="33071474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AFB87-524D-1DC4-1A36-E58EBF9B5A0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1B5359F-25DD-DD66-5992-292A58717FA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9532047-E744-96EB-21C6-89AEC4F3FB0D}"/>
              </a:ext>
            </a:extLst>
          </p:cNvPr>
          <p:cNvSpPr>
            <a:spLocks noGrp="1"/>
          </p:cNvSpPr>
          <p:nvPr>
            <p:ph type="body" idx="1"/>
          </p:nvPr>
        </p:nvSpPr>
        <p:spPr/>
        <p:txBody>
          <a:bodyPr/>
          <a:lstStyle/>
          <a:p>
            <a:r>
              <a:rPr kumimoji="1" lang="ja-JP" altLang="en-US" dirty="0"/>
              <a:t>まず、「移動制御」についてなのだ。</a:t>
            </a:r>
            <a:endParaRPr kumimoji="1" lang="en-US" altLang="ja-JP" dirty="0"/>
          </a:p>
          <a:p>
            <a:r>
              <a:rPr kumimoji="1" lang="ja-JP" altLang="en-US" dirty="0"/>
              <a:t>クムクムの「向き」と、クムクムが「歩いた歩数」から、</a:t>
            </a:r>
            <a:r>
              <a:rPr kumimoji="1" lang="en-US" altLang="ja-JP" dirty="0" err="1"/>
              <a:t>xy</a:t>
            </a:r>
            <a:r>
              <a:rPr kumimoji="1" lang="ja-JP" altLang="en-US" dirty="0"/>
              <a:t>座標平面上の現在位置を計算し、ゴール座標との差を計算して今後の移動方法を決定するのだ。</a:t>
            </a:r>
            <a:endParaRPr kumimoji="1" lang="en-US" altLang="ja-JP" dirty="0"/>
          </a:p>
        </p:txBody>
      </p:sp>
      <p:sp>
        <p:nvSpPr>
          <p:cNvPr id="4" name="スライド番号プレースホルダー 3">
            <a:extLst>
              <a:ext uri="{FF2B5EF4-FFF2-40B4-BE49-F238E27FC236}">
                <a16:creationId xmlns:a16="http://schemas.microsoft.com/office/drawing/2014/main" id="{0FF6F810-DADF-5EFC-3F59-93655B61D883}"/>
              </a:ext>
            </a:extLst>
          </p:cNvPr>
          <p:cNvSpPr>
            <a:spLocks noGrp="1"/>
          </p:cNvSpPr>
          <p:nvPr>
            <p:ph type="sldNum" sz="quarter" idx="5"/>
          </p:nvPr>
        </p:nvSpPr>
        <p:spPr/>
        <p:txBody>
          <a:bodyPr/>
          <a:lstStyle/>
          <a:p>
            <a:fld id="{0759FB59-66F4-445F-8AE0-44C0AE319471}" type="slidenum">
              <a:rPr kumimoji="1" lang="ja-JP" altLang="en-US" smtClean="0"/>
              <a:t>17</a:t>
            </a:fld>
            <a:endParaRPr kumimoji="1" lang="ja-JP" altLang="en-US"/>
          </a:p>
        </p:txBody>
      </p:sp>
    </p:spTree>
    <p:extLst>
      <p:ext uri="{BB962C8B-B14F-4D97-AF65-F5344CB8AC3E}">
        <p14:creationId xmlns:p14="http://schemas.microsoft.com/office/powerpoint/2010/main" val="20846863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4E205-EBC1-0ADD-2D7B-05EEAD59BE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978824E-3D83-4CAE-8C59-12F5D9AB2CF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7AABDD1-7620-5302-8DC5-7EDC9F74CC04}"/>
              </a:ext>
            </a:extLst>
          </p:cNvPr>
          <p:cNvSpPr>
            <a:spLocks noGrp="1"/>
          </p:cNvSpPr>
          <p:nvPr>
            <p:ph type="body" idx="1"/>
          </p:nvPr>
        </p:nvSpPr>
        <p:spPr/>
        <p:txBody>
          <a:bodyPr/>
          <a:lstStyle/>
          <a:p>
            <a:r>
              <a:rPr kumimoji="1" lang="ja-JP" altLang="en-US" dirty="0"/>
              <a:t>まず、「移動制御」についてなのだ。</a:t>
            </a:r>
            <a:endParaRPr kumimoji="1" lang="en-US" altLang="ja-JP" dirty="0"/>
          </a:p>
          <a:p>
            <a:r>
              <a:rPr kumimoji="1" lang="ja-JP" altLang="en-US" dirty="0"/>
              <a:t>クムクムの「向き」と、クムクムが「歩いた歩数」から、</a:t>
            </a:r>
            <a:r>
              <a:rPr kumimoji="1" lang="en-US" altLang="ja-JP" dirty="0" err="1"/>
              <a:t>xy</a:t>
            </a:r>
            <a:r>
              <a:rPr kumimoji="1" lang="ja-JP" altLang="en-US" dirty="0"/>
              <a:t>座標平面上の現在位置を計算し、ゴール座標との差を計算して今後の移動方法を決定するのだ。</a:t>
            </a:r>
            <a:endParaRPr kumimoji="1" lang="en-US" altLang="ja-JP" dirty="0"/>
          </a:p>
        </p:txBody>
      </p:sp>
      <p:sp>
        <p:nvSpPr>
          <p:cNvPr id="4" name="スライド番号プレースホルダー 3">
            <a:extLst>
              <a:ext uri="{FF2B5EF4-FFF2-40B4-BE49-F238E27FC236}">
                <a16:creationId xmlns:a16="http://schemas.microsoft.com/office/drawing/2014/main" id="{6B8EEA5F-B732-AE11-2038-5B94C7ADDF18}"/>
              </a:ext>
            </a:extLst>
          </p:cNvPr>
          <p:cNvSpPr>
            <a:spLocks noGrp="1"/>
          </p:cNvSpPr>
          <p:nvPr>
            <p:ph type="sldNum" sz="quarter" idx="5"/>
          </p:nvPr>
        </p:nvSpPr>
        <p:spPr/>
        <p:txBody>
          <a:bodyPr/>
          <a:lstStyle/>
          <a:p>
            <a:fld id="{0759FB59-66F4-445F-8AE0-44C0AE319471}" type="slidenum">
              <a:rPr kumimoji="1" lang="ja-JP" altLang="en-US" smtClean="0"/>
              <a:t>18</a:t>
            </a:fld>
            <a:endParaRPr kumimoji="1" lang="ja-JP" altLang="en-US"/>
          </a:p>
        </p:txBody>
      </p:sp>
    </p:spTree>
    <p:extLst>
      <p:ext uri="{BB962C8B-B14F-4D97-AF65-F5344CB8AC3E}">
        <p14:creationId xmlns:p14="http://schemas.microsoft.com/office/powerpoint/2010/main" val="26914209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143BD-6A0E-4E9A-DA4F-8AC0CFAEEEB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B705CDA-E2AF-DEDE-C034-D128FC2C013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2ECA699-E486-D5E4-49D4-5CEB5C9B1FEA}"/>
              </a:ext>
            </a:extLst>
          </p:cNvPr>
          <p:cNvSpPr>
            <a:spLocks noGrp="1"/>
          </p:cNvSpPr>
          <p:nvPr>
            <p:ph type="body" idx="1"/>
          </p:nvPr>
        </p:nvSpPr>
        <p:spPr/>
        <p:txBody>
          <a:bodyPr/>
          <a:lstStyle/>
          <a:p>
            <a:r>
              <a:rPr kumimoji="1" lang="ja-JP" altLang="en-US" dirty="0"/>
              <a:t>まず、「移動制御」についてなのだ。</a:t>
            </a:r>
            <a:endParaRPr kumimoji="1" lang="en-US" altLang="ja-JP" dirty="0"/>
          </a:p>
          <a:p>
            <a:r>
              <a:rPr kumimoji="1" lang="ja-JP" altLang="en-US" dirty="0"/>
              <a:t>クムクムの「向き」と、クムクムが「歩いた歩数」から、</a:t>
            </a:r>
            <a:r>
              <a:rPr kumimoji="1" lang="en-US" altLang="ja-JP" dirty="0" err="1"/>
              <a:t>xy</a:t>
            </a:r>
            <a:r>
              <a:rPr kumimoji="1" lang="ja-JP" altLang="en-US" dirty="0"/>
              <a:t>座標平面上の現在位置を計算し、ゴール座標との差を計算して今後の移動方法を決定するのだ。</a:t>
            </a:r>
            <a:endParaRPr kumimoji="1" lang="en-US" altLang="ja-JP" dirty="0"/>
          </a:p>
        </p:txBody>
      </p:sp>
      <p:sp>
        <p:nvSpPr>
          <p:cNvPr id="4" name="スライド番号プレースホルダー 3">
            <a:extLst>
              <a:ext uri="{FF2B5EF4-FFF2-40B4-BE49-F238E27FC236}">
                <a16:creationId xmlns:a16="http://schemas.microsoft.com/office/drawing/2014/main" id="{9A9BAEBD-0994-7840-77FD-E6F6B12BE880}"/>
              </a:ext>
            </a:extLst>
          </p:cNvPr>
          <p:cNvSpPr>
            <a:spLocks noGrp="1"/>
          </p:cNvSpPr>
          <p:nvPr>
            <p:ph type="sldNum" sz="quarter" idx="5"/>
          </p:nvPr>
        </p:nvSpPr>
        <p:spPr/>
        <p:txBody>
          <a:bodyPr/>
          <a:lstStyle/>
          <a:p>
            <a:fld id="{0759FB59-66F4-445F-8AE0-44C0AE319471}" type="slidenum">
              <a:rPr kumimoji="1" lang="ja-JP" altLang="en-US" smtClean="0"/>
              <a:t>19</a:t>
            </a:fld>
            <a:endParaRPr kumimoji="1" lang="ja-JP" altLang="en-US"/>
          </a:p>
        </p:txBody>
      </p:sp>
    </p:spTree>
    <p:extLst>
      <p:ext uri="{BB962C8B-B14F-4D97-AF65-F5344CB8AC3E}">
        <p14:creationId xmlns:p14="http://schemas.microsoft.com/office/powerpoint/2010/main" val="34360801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990A2-177F-88C4-1D1F-E8A8E962C0B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0972D16-37E6-B5A6-5860-E357DA26079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D5699B9-26D2-1697-F3C0-D15A10C7667E}"/>
              </a:ext>
            </a:extLst>
          </p:cNvPr>
          <p:cNvSpPr>
            <a:spLocks noGrp="1"/>
          </p:cNvSpPr>
          <p:nvPr>
            <p:ph type="body" idx="1"/>
          </p:nvPr>
        </p:nvSpPr>
        <p:spPr/>
        <p:txBody>
          <a:bodyPr/>
          <a:lstStyle/>
          <a:p>
            <a:r>
              <a:rPr kumimoji="1" lang="ja-JP" altLang="en-US" dirty="0"/>
              <a:t>まず、「移動制御」についてなのだ。</a:t>
            </a:r>
            <a:endParaRPr kumimoji="1" lang="en-US" altLang="ja-JP" dirty="0"/>
          </a:p>
          <a:p>
            <a:r>
              <a:rPr kumimoji="1" lang="ja-JP" altLang="en-US" dirty="0"/>
              <a:t>クムクムの「向き」と、クムクムが「歩いた歩数」から、</a:t>
            </a:r>
            <a:r>
              <a:rPr kumimoji="1" lang="en-US" altLang="ja-JP" dirty="0" err="1"/>
              <a:t>xy</a:t>
            </a:r>
            <a:r>
              <a:rPr kumimoji="1" lang="ja-JP" altLang="en-US" dirty="0"/>
              <a:t>座標平面上の現在位置を計算し、ゴール座標との差を計算して今後の移動方法を決定するのだ。</a:t>
            </a:r>
            <a:endParaRPr kumimoji="1" lang="en-US" altLang="ja-JP" dirty="0"/>
          </a:p>
        </p:txBody>
      </p:sp>
      <p:sp>
        <p:nvSpPr>
          <p:cNvPr id="4" name="スライド番号プレースホルダー 3">
            <a:extLst>
              <a:ext uri="{FF2B5EF4-FFF2-40B4-BE49-F238E27FC236}">
                <a16:creationId xmlns:a16="http://schemas.microsoft.com/office/drawing/2014/main" id="{69DCEB18-9FCF-1113-1CAD-A8EFBD41FA7A}"/>
              </a:ext>
            </a:extLst>
          </p:cNvPr>
          <p:cNvSpPr>
            <a:spLocks noGrp="1"/>
          </p:cNvSpPr>
          <p:nvPr>
            <p:ph type="sldNum" sz="quarter" idx="5"/>
          </p:nvPr>
        </p:nvSpPr>
        <p:spPr/>
        <p:txBody>
          <a:bodyPr/>
          <a:lstStyle/>
          <a:p>
            <a:fld id="{0759FB59-66F4-445F-8AE0-44C0AE319471}" type="slidenum">
              <a:rPr kumimoji="1" lang="ja-JP" altLang="en-US" smtClean="0"/>
              <a:t>20</a:t>
            </a:fld>
            <a:endParaRPr kumimoji="1" lang="ja-JP" altLang="en-US"/>
          </a:p>
        </p:txBody>
      </p:sp>
    </p:spTree>
    <p:extLst>
      <p:ext uri="{BB962C8B-B14F-4D97-AF65-F5344CB8AC3E}">
        <p14:creationId xmlns:p14="http://schemas.microsoft.com/office/powerpoint/2010/main" val="24779095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842F1-AFC9-A4E5-B941-E8F0BCED4EF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EEA25FE-20A0-5FEA-2E97-5736591CEB9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0A876F2-BEF0-7AFB-B6CA-D78CF3CA7E0D}"/>
              </a:ext>
            </a:extLst>
          </p:cNvPr>
          <p:cNvSpPr>
            <a:spLocks noGrp="1"/>
          </p:cNvSpPr>
          <p:nvPr>
            <p:ph type="body" idx="1"/>
          </p:nvPr>
        </p:nvSpPr>
        <p:spPr/>
        <p:txBody>
          <a:bodyPr/>
          <a:lstStyle/>
          <a:p>
            <a:r>
              <a:rPr kumimoji="1" lang="ja-JP" altLang="en-US" dirty="0"/>
              <a:t>まず、「移動制御」についてなのだ。</a:t>
            </a:r>
            <a:endParaRPr kumimoji="1" lang="en-US" altLang="ja-JP" dirty="0"/>
          </a:p>
          <a:p>
            <a:r>
              <a:rPr kumimoji="1" lang="ja-JP" altLang="en-US" dirty="0"/>
              <a:t>クムクムの「向き」と、クムクムが「歩いた歩数」から、</a:t>
            </a:r>
            <a:r>
              <a:rPr kumimoji="1" lang="en-US" altLang="ja-JP" dirty="0" err="1"/>
              <a:t>xy</a:t>
            </a:r>
            <a:r>
              <a:rPr kumimoji="1" lang="ja-JP" altLang="en-US" dirty="0"/>
              <a:t>座標平面上の現在位置を計算し、ゴール座標との差を計算して今後の移動方法を決定するのだ。</a:t>
            </a:r>
            <a:endParaRPr kumimoji="1" lang="en-US" altLang="ja-JP" dirty="0"/>
          </a:p>
        </p:txBody>
      </p:sp>
      <p:sp>
        <p:nvSpPr>
          <p:cNvPr id="4" name="スライド番号プレースホルダー 3">
            <a:extLst>
              <a:ext uri="{FF2B5EF4-FFF2-40B4-BE49-F238E27FC236}">
                <a16:creationId xmlns:a16="http://schemas.microsoft.com/office/drawing/2014/main" id="{5E835A9A-8F63-067C-0AE6-8270C23433AC}"/>
              </a:ext>
            </a:extLst>
          </p:cNvPr>
          <p:cNvSpPr>
            <a:spLocks noGrp="1"/>
          </p:cNvSpPr>
          <p:nvPr>
            <p:ph type="sldNum" sz="quarter" idx="5"/>
          </p:nvPr>
        </p:nvSpPr>
        <p:spPr/>
        <p:txBody>
          <a:bodyPr/>
          <a:lstStyle/>
          <a:p>
            <a:fld id="{0759FB59-66F4-445F-8AE0-44C0AE319471}" type="slidenum">
              <a:rPr kumimoji="1" lang="ja-JP" altLang="en-US" smtClean="0"/>
              <a:t>21</a:t>
            </a:fld>
            <a:endParaRPr kumimoji="1" lang="ja-JP" altLang="en-US"/>
          </a:p>
        </p:txBody>
      </p:sp>
    </p:spTree>
    <p:extLst>
      <p:ext uri="{BB962C8B-B14F-4D97-AF65-F5344CB8AC3E}">
        <p14:creationId xmlns:p14="http://schemas.microsoft.com/office/powerpoint/2010/main" val="24362572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C497B-A219-A3A9-F6B0-80640534F0B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ABF6FAD-646D-9664-DF85-CE76F39F543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EA71AEF-872C-9BAC-63EC-A9BB5DB33039}"/>
              </a:ext>
            </a:extLst>
          </p:cNvPr>
          <p:cNvSpPr>
            <a:spLocks noGrp="1"/>
          </p:cNvSpPr>
          <p:nvPr>
            <p:ph type="body" idx="1"/>
          </p:nvPr>
        </p:nvSpPr>
        <p:spPr/>
        <p:txBody>
          <a:bodyPr/>
          <a:lstStyle/>
          <a:p>
            <a:r>
              <a:rPr kumimoji="1" lang="ja-JP" altLang="en-US" dirty="0"/>
              <a:t>まず、「移動制御」についてなのだ。</a:t>
            </a:r>
            <a:endParaRPr kumimoji="1" lang="en-US" altLang="ja-JP" dirty="0"/>
          </a:p>
          <a:p>
            <a:r>
              <a:rPr kumimoji="1" lang="ja-JP" altLang="en-US" dirty="0"/>
              <a:t>クムクムの「向き」と、クムクムが「歩いた歩数」から、</a:t>
            </a:r>
            <a:r>
              <a:rPr kumimoji="1" lang="en-US" altLang="ja-JP" dirty="0" err="1"/>
              <a:t>xy</a:t>
            </a:r>
            <a:r>
              <a:rPr kumimoji="1" lang="ja-JP" altLang="en-US" dirty="0"/>
              <a:t>座標平面上の現在位置を計算し、ゴール座標との差を計算して今後の移動方法を決定するのだ。</a:t>
            </a:r>
            <a:endParaRPr kumimoji="1" lang="en-US" altLang="ja-JP" dirty="0"/>
          </a:p>
        </p:txBody>
      </p:sp>
      <p:sp>
        <p:nvSpPr>
          <p:cNvPr id="4" name="スライド番号プレースホルダー 3">
            <a:extLst>
              <a:ext uri="{FF2B5EF4-FFF2-40B4-BE49-F238E27FC236}">
                <a16:creationId xmlns:a16="http://schemas.microsoft.com/office/drawing/2014/main" id="{C98478C3-7633-5DFD-26FA-AC1E3FF241EF}"/>
              </a:ext>
            </a:extLst>
          </p:cNvPr>
          <p:cNvSpPr>
            <a:spLocks noGrp="1"/>
          </p:cNvSpPr>
          <p:nvPr>
            <p:ph type="sldNum" sz="quarter" idx="5"/>
          </p:nvPr>
        </p:nvSpPr>
        <p:spPr/>
        <p:txBody>
          <a:bodyPr/>
          <a:lstStyle/>
          <a:p>
            <a:fld id="{0759FB59-66F4-445F-8AE0-44C0AE319471}" type="slidenum">
              <a:rPr kumimoji="1" lang="ja-JP" altLang="en-US" smtClean="0"/>
              <a:t>22</a:t>
            </a:fld>
            <a:endParaRPr kumimoji="1" lang="ja-JP" altLang="en-US"/>
          </a:p>
        </p:txBody>
      </p:sp>
    </p:spTree>
    <p:extLst>
      <p:ext uri="{BB962C8B-B14F-4D97-AF65-F5344CB8AC3E}">
        <p14:creationId xmlns:p14="http://schemas.microsoft.com/office/powerpoint/2010/main" val="21283189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86142-6DE0-D87A-DE05-86356F5C02A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B0DABB4-A811-C412-AB62-9E632AA9A1D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A066842-8710-5594-00A8-74604AFC79CE}"/>
              </a:ext>
            </a:extLst>
          </p:cNvPr>
          <p:cNvSpPr>
            <a:spLocks noGrp="1"/>
          </p:cNvSpPr>
          <p:nvPr>
            <p:ph type="body" idx="1"/>
          </p:nvPr>
        </p:nvSpPr>
        <p:spPr/>
        <p:txBody>
          <a:bodyPr/>
          <a:lstStyle/>
          <a:p>
            <a:r>
              <a:rPr kumimoji="1" lang="ja-JP" altLang="en-US" dirty="0"/>
              <a:t>まず、「移動制御」についてなのだ。</a:t>
            </a:r>
            <a:endParaRPr kumimoji="1" lang="en-US" altLang="ja-JP" dirty="0"/>
          </a:p>
          <a:p>
            <a:r>
              <a:rPr kumimoji="1" lang="ja-JP" altLang="en-US" dirty="0"/>
              <a:t>クムクムの「向き」と、クムクムが「歩いた歩数」から、</a:t>
            </a:r>
            <a:r>
              <a:rPr kumimoji="1" lang="en-US" altLang="ja-JP" dirty="0" err="1"/>
              <a:t>xy</a:t>
            </a:r>
            <a:r>
              <a:rPr kumimoji="1" lang="ja-JP" altLang="en-US" dirty="0"/>
              <a:t>座標平面上の現在位置を計算し、ゴール座標との差を計算して今後の移動方法を決定するのだ。</a:t>
            </a:r>
            <a:endParaRPr kumimoji="1" lang="en-US" altLang="ja-JP" dirty="0"/>
          </a:p>
        </p:txBody>
      </p:sp>
      <p:sp>
        <p:nvSpPr>
          <p:cNvPr id="4" name="スライド番号プレースホルダー 3">
            <a:extLst>
              <a:ext uri="{FF2B5EF4-FFF2-40B4-BE49-F238E27FC236}">
                <a16:creationId xmlns:a16="http://schemas.microsoft.com/office/drawing/2014/main" id="{3F8E9D55-9DDC-401D-A687-95563FB1664E}"/>
              </a:ext>
            </a:extLst>
          </p:cNvPr>
          <p:cNvSpPr>
            <a:spLocks noGrp="1"/>
          </p:cNvSpPr>
          <p:nvPr>
            <p:ph type="sldNum" sz="quarter" idx="5"/>
          </p:nvPr>
        </p:nvSpPr>
        <p:spPr/>
        <p:txBody>
          <a:bodyPr/>
          <a:lstStyle/>
          <a:p>
            <a:fld id="{0759FB59-66F4-445F-8AE0-44C0AE319471}" type="slidenum">
              <a:rPr kumimoji="1" lang="ja-JP" altLang="en-US" smtClean="0"/>
              <a:t>23</a:t>
            </a:fld>
            <a:endParaRPr kumimoji="1" lang="ja-JP" altLang="en-US"/>
          </a:p>
        </p:txBody>
      </p:sp>
    </p:spTree>
    <p:extLst>
      <p:ext uri="{BB962C8B-B14F-4D97-AF65-F5344CB8AC3E}">
        <p14:creationId xmlns:p14="http://schemas.microsoft.com/office/powerpoint/2010/main" val="255972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ADFE1-E084-B144-EA9E-DA674E40C73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2926C9-266E-36BF-8211-592838C766A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5E947B3-A2C0-31A1-7870-7CCD5A26C871}"/>
              </a:ext>
            </a:extLst>
          </p:cNvPr>
          <p:cNvSpPr>
            <a:spLocks noGrp="1"/>
          </p:cNvSpPr>
          <p:nvPr>
            <p:ph type="body" idx="1"/>
          </p:nvPr>
        </p:nvSpPr>
        <p:spPr/>
        <p:txBody>
          <a:bodyPr/>
          <a:lstStyle/>
          <a:p>
            <a:r>
              <a:rPr kumimoji="1" lang="ja-JP" altLang="en-US" dirty="0"/>
              <a:t>まず、「移動制御」についてなのだ。</a:t>
            </a:r>
            <a:endParaRPr kumimoji="1" lang="en-US" altLang="ja-JP" dirty="0"/>
          </a:p>
          <a:p>
            <a:r>
              <a:rPr kumimoji="1" lang="ja-JP" altLang="en-US" dirty="0"/>
              <a:t>クムクムの「向き」と、クムクムが「歩いた歩数」から、</a:t>
            </a:r>
            <a:r>
              <a:rPr kumimoji="1" lang="en-US" altLang="ja-JP" dirty="0" err="1"/>
              <a:t>xy</a:t>
            </a:r>
            <a:r>
              <a:rPr kumimoji="1" lang="ja-JP" altLang="en-US" dirty="0"/>
              <a:t>座標平面上の現在位置を計算し、ゴール座標との差を計算して今後の移動方法を決定するのだ。</a:t>
            </a:r>
            <a:endParaRPr kumimoji="1" lang="en-US" altLang="ja-JP" dirty="0"/>
          </a:p>
        </p:txBody>
      </p:sp>
      <p:sp>
        <p:nvSpPr>
          <p:cNvPr id="4" name="スライド番号プレースホルダー 3">
            <a:extLst>
              <a:ext uri="{FF2B5EF4-FFF2-40B4-BE49-F238E27FC236}">
                <a16:creationId xmlns:a16="http://schemas.microsoft.com/office/drawing/2014/main" id="{787BED4C-8CB6-4E44-140F-ADA16046A5FB}"/>
              </a:ext>
            </a:extLst>
          </p:cNvPr>
          <p:cNvSpPr>
            <a:spLocks noGrp="1"/>
          </p:cNvSpPr>
          <p:nvPr>
            <p:ph type="sldNum" sz="quarter" idx="5"/>
          </p:nvPr>
        </p:nvSpPr>
        <p:spPr/>
        <p:txBody>
          <a:bodyPr/>
          <a:lstStyle/>
          <a:p>
            <a:fld id="{0759FB59-66F4-445F-8AE0-44C0AE319471}" type="slidenum">
              <a:rPr kumimoji="1" lang="ja-JP" altLang="en-US" smtClean="0"/>
              <a:t>24</a:t>
            </a:fld>
            <a:endParaRPr kumimoji="1" lang="ja-JP" altLang="en-US"/>
          </a:p>
        </p:txBody>
      </p:sp>
    </p:spTree>
    <p:extLst>
      <p:ext uri="{BB962C8B-B14F-4D97-AF65-F5344CB8AC3E}">
        <p14:creationId xmlns:p14="http://schemas.microsoft.com/office/powerpoint/2010/main" val="20163052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4DE76-6024-AEFC-895C-74FED025B86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003EDA-3166-CAB0-CCA3-E20B85CD03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29BA748-1771-B3E7-F86A-09F30D5789CA}"/>
              </a:ext>
            </a:extLst>
          </p:cNvPr>
          <p:cNvSpPr>
            <a:spLocks noGrp="1"/>
          </p:cNvSpPr>
          <p:nvPr>
            <p:ph type="body" idx="1"/>
          </p:nvPr>
        </p:nvSpPr>
        <p:spPr/>
        <p:txBody>
          <a:bodyPr/>
          <a:lstStyle/>
          <a:p>
            <a:r>
              <a:rPr kumimoji="1" lang="ja-JP" altLang="en-US" dirty="0"/>
              <a:t>次に、「障害物検知」についてなのだ。</a:t>
            </a:r>
            <a:endParaRPr kumimoji="1" lang="en-US" altLang="ja-JP" dirty="0"/>
          </a:p>
          <a:p>
            <a:r>
              <a:rPr kumimoji="1" lang="ja-JP" altLang="en-US" dirty="0"/>
              <a:t>距離センサーの値が</a:t>
            </a:r>
            <a:r>
              <a:rPr kumimoji="1" lang="en-US" altLang="ja-JP" dirty="0"/>
              <a:t>50</a:t>
            </a:r>
            <a:r>
              <a:rPr kumimoji="1" lang="ja-JP" altLang="en-US" dirty="0"/>
              <a:t>を下回ると、障害物と判定するのだ。</a:t>
            </a:r>
            <a:endParaRPr kumimoji="1" lang="en-US" altLang="ja-JP" dirty="0"/>
          </a:p>
        </p:txBody>
      </p:sp>
      <p:sp>
        <p:nvSpPr>
          <p:cNvPr id="4" name="スライド番号プレースホルダー 3">
            <a:extLst>
              <a:ext uri="{FF2B5EF4-FFF2-40B4-BE49-F238E27FC236}">
                <a16:creationId xmlns:a16="http://schemas.microsoft.com/office/drawing/2014/main" id="{1B210B62-7AEA-2C17-6D16-9DDA1888A149}"/>
              </a:ext>
            </a:extLst>
          </p:cNvPr>
          <p:cNvSpPr>
            <a:spLocks noGrp="1"/>
          </p:cNvSpPr>
          <p:nvPr>
            <p:ph type="sldNum" sz="quarter" idx="5"/>
          </p:nvPr>
        </p:nvSpPr>
        <p:spPr/>
        <p:txBody>
          <a:bodyPr/>
          <a:lstStyle/>
          <a:p>
            <a:fld id="{0759FB59-66F4-445F-8AE0-44C0AE319471}" type="slidenum">
              <a:rPr kumimoji="1" lang="ja-JP" altLang="en-US" smtClean="0"/>
              <a:t>25</a:t>
            </a:fld>
            <a:endParaRPr kumimoji="1" lang="ja-JP" altLang="en-US"/>
          </a:p>
        </p:txBody>
      </p:sp>
    </p:spTree>
    <p:extLst>
      <p:ext uri="{BB962C8B-B14F-4D97-AF65-F5344CB8AC3E}">
        <p14:creationId xmlns:p14="http://schemas.microsoft.com/office/powerpoint/2010/main" val="5705501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567A7-BF06-789A-912C-1FF8B232C08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28FECBF-739C-9590-A42F-B98C80C0B49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EEC93B-0607-EC32-EF8D-C8C47A320ED6}"/>
              </a:ext>
            </a:extLst>
          </p:cNvPr>
          <p:cNvSpPr>
            <a:spLocks noGrp="1"/>
          </p:cNvSpPr>
          <p:nvPr>
            <p:ph type="body" idx="1"/>
          </p:nvPr>
        </p:nvSpPr>
        <p:spPr/>
        <p:txBody>
          <a:bodyPr/>
          <a:lstStyle/>
          <a:p>
            <a:r>
              <a:rPr kumimoji="1" lang="ja-JP" altLang="en-US" dirty="0"/>
              <a:t>続いて、「回避方法」についてなのだ。</a:t>
            </a:r>
            <a:endParaRPr kumimoji="1" lang="en-US" altLang="ja-JP" dirty="0"/>
          </a:p>
          <a:p>
            <a:r>
              <a:rPr kumimoji="1" lang="ja-JP" altLang="en-US" dirty="0"/>
              <a:t>さっきの「障害物検知」で障害物を見つけた場合は、右に</a:t>
            </a:r>
            <a:r>
              <a:rPr kumimoji="1" lang="en-US" altLang="ja-JP" dirty="0"/>
              <a:t>30</a:t>
            </a:r>
            <a:r>
              <a:rPr kumimoji="1" lang="ja-JP" altLang="en-US" dirty="0"/>
              <a:t>度回りもう一度距離測定をするのだ。それでも距離</a:t>
            </a:r>
            <a:r>
              <a:rPr kumimoji="1" lang="en-US" altLang="ja-JP" dirty="0"/>
              <a:t>50</a:t>
            </a:r>
            <a:r>
              <a:rPr kumimoji="1" lang="ja-JP" altLang="en-US" dirty="0"/>
              <a:t>未満に物体があればもう一度</a:t>
            </a:r>
            <a:r>
              <a:rPr kumimoji="1" lang="en-US" altLang="ja-JP" dirty="0"/>
              <a:t>30</a:t>
            </a:r>
            <a:r>
              <a:rPr kumimoji="1" lang="ja-JP" altLang="en-US" dirty="0"/>
              <a:t>度回転して、、、って感じで、目の前から障害物がなくなるまで繰り返すのだ。</a:t>
            </a:r>
          </a:p>
        </p:txBody>
      </p:sp>
      <p:sp>
        <p:nvSpPr>
          <p:cNvPr id="4" name="スライド番号プレースホルダー 3">
            <a:extLst>
              <a:ext uri="{FF2B5EF4-FFF2-40B4-BE49-F238E27FC236}">
                <a16:creationId xmlns:a16="http://schemas.microsoft.com/office/drawing/2014/main" id="{A89073DC-4025-DCAD-741F-6DE0CEC04BA7}"/>
              </a:ext>
            </a:extLst>
          </p:cNvPr>
          <p:cNvSpPr>
            <a:spLocks noGrp="1"/>
          </p:cNvSpPr>
          <p:nvPr>
            <p:ph type="sldNum" sz="quarter" idx="5"/>
          </p:nvPr>
        </p:nvSpPr>
        <p:spPr/>
        <p:txBody>
          <a:bodyPr/>
          <a:lstStyle/>
          <a:p>
            <a:fld id="{0759FB59-66F4-445F-8AE0-44C0AE319471}" type="slidenum">
              <a:rPr kumimoji="1" lang="ja-JP" altLang="en-US" smtClean="0"/>
              <a:t>26</a:t>
            </a:fld>
            <a:endParaRPr kumimoji="1" lang="ja-JP" altLang="en-US"/>
          </a:p>
        </p:txBody>
      </p:sp>
    </p:spTree>
    <p:extLst>
      <p:ext uri="{BB962C8B-B14F-4D97-AF65-F5344CB8AC3E}">
        <p14:creationId xmlns:p14="http://schemas.microsoft.com/office/powerpoint/2010/main" val="33787409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939CC-2B8C-CB07-8386-FCCABC443ED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8D3D42-42D1-9A98-A658-D053130AF18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F096DF4-2DDE-1B11-D989-BD3F55878068}"/>
              </a:ext>
            </a:extLst>
          </p:cNvPr>
          <p:cNvSpPr>
            <a:spLocks noGrp="1"/>
          </p:cNvSpPr>
          <p:nvPr>
            <p:ph type="body" idx="1"/>
          </p:nvPr>
        </p:nvSpPr>
        <p:spPr/>
        <p:txBody>
          <a:bodyPr/>
          <a:lstStyle/>
          <a:p>
            <a:r>
              <a:rPr kumimoji="1" lang="ja-JP" altLang="en-US" dirty="0"/>
              <a:t>最後に、「音響」についてなのだ。</a:t>
            </a:r>
            <a:endParaRPr kumimoji="1" lang="en-US" altLang="ja-JP" dirty="0"/>
          </a:p>
          <a:p>
            <a:r>
              <a:rPr kumimoji="1" lang="ja-JP" altLang="en-US" dirty="0"/>
              <a:t>ゴール座標との距離が</a:t>
            </a:r>
            <a:r>
              <a:rPr kumimoji="1" lang="en-US" altLang="ja-JP" dirty="0"/>
              <a:t>1</a:t>
            </a:r>
            <a:r>
              <a:rPr kumimoji="1" lang="ja-JP" altLang="en-US" dirty="0"/>
              <a:t>未満になったら目的地の到着したとして、クムクムのスピーカーから耳コピえ再現した校歌を流すのだ。</a:t>
            </a:r>
          </a:p>
        </p:txBody>
      </p:sp>
      <p:sp>
        <p:nvSpPr>
          <p:cNvPr id="4" name="スライド番号プレースホルダー 3">
            <a:extLst>
              <a:ext uri="{FF2B5EF4-FFF2-40B4-BE49-F238E27FC236}">
                <a16:creationId xmlns:a16="http://schemas.microsoft.com/office/drawing/2014/main" id="{B395C59A-7132-E270-03BF-E600FFB01210}"/>
              </a:ext>
            </a:extLst>
          </p:cNvPr>
          <p:cNvSpPr>
            <a:spLocks noGrp="1"/>
          </p:cNvSpPr>
          <p:nvPr>
            <p:ph type="sldNum" sz="quarter" idx="5"/>
          </p:nvPr>
        </p:nvSpPr>
        <p:spPr/>
        <p:txBody>
          <a:bodyPr/>
          <a:lstStyle/>
          <a:p>
            <a:fld id="{0759FB59-66F4-445F-8AE0-44C0AE319471}" type="slidenum">
              <a:rPr kumimoji="1" lang="ja-JP" altLang="en-US" smtClean="0"/>
              <a:t>27</a:t>
            </a:fld>
            <a:endParaRPr kumimoji="1" lang="ja-JP" altLang="en-US"/>
          </a:p>
        </p:txBody>
      </p:sp>
    </p:spTree>
    <p:extLst>
      <p:ext uri="{BB962C8B-B14F-4D97-AF65-F5344CB8AC3E}">
        <p14:creationId xmlns:p14="http://schemas.microsoft.com/office/powerpoint/2010/main" val="10760506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C54D1-97C5-8B6E-09A6-AD5F7A2B552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878C01A-9D39-421B-6DD5-784DC9A0B77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FEFFC1F-7363-CE42-AB17-88C243D1896E}"/>
              </a:ext>
            </a:extLst>
          </p:cNvPr>
          <p:cNvSpPr>
            <a:spLocks noGrp="1"/>
          </p:cNvSpPr>
          <p:nvPr>
            <p:ph type="body" idx="1"/>
          </p:nvPr>
        </p:nvSpPr>
        <p:spPr/>
        <p:txBody>
          <a:bodyPr/>
          <a:lstStyle/>
          <a:p>
            <a:r>
              <a:rPr kumimoji="1" lang="ja-JP" altLang="en-US" dirty="0"/>
              <a:t>次は、「操作手順」について話すのだ。</a:t>
            </a:r>
          </a:p>
        </p:txBody>
      </p:sp>
      <p:sp>
        <p:nvSpPr>
          <p:cNvPr id="4" name="スライド番号プレースホルダー 3">
            <a:extLst>
              <a:ext uri="{FF2B5EF4-FFF2-40B4-BE49-F238E27FC236}">
                <a16:creationId xmlns:a16="http://schemas.microsoft.com/office/drawing/2014/main" id="{05A21F67-4F22-1994-2C7D-4D7BF775EAE3}"/>
              </a:ext>
            </a:extLst>
          </p:cNvPr>
          <p:cNvSpPr>
            <a:spLocks noGrp="1"/>
          </p:cNvSpPr>
          <p:nvPr>
            <p:ph type="sldNum" sz="quarter" idx="5"/>
          </p:nvPr>
        </p:nvSpPr>
        <p:spPr/>
        <p:txBody>
          <a:bodyPr/>
          <a:lstStyle/>
          <a:p>
            <a:fld id="{0759FB59-66F4-445F-8AE0-44C0AE319471}" type="slidenum">
              <a:rPr kumimoji="1" lang="ja-JP" altLang="en-US" smtClean="0"/>
              <a:t>28</a:t>
            </a:fld>
            <a:endParaRPr kumimoji="1" lang="ja-JP" altLang="en-US"/>
          </a:p>
        </p:txBody>
      </p:sp>
    </p:spTree>
    <p:extLst>
      <p:ext uri="{BB962C8B-B14F-4D97-AF65-F5344CB8AC3E}">
        <p14:creationId xmlns:p14="http://schemas.microsoft.com/office/powerpoint/2010/main" val="17320535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58A1C-2796-9E07-4051-38625D21427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9FA7466-783F-C7FE-585A-DC1973D0B44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F06B607-8997-BFEC-463E-C7D166EDA405}"/>
              </a:ext>
            </a:extLst>
          </p:cNvPr>
          <p:cNvSpPr>
            <a:spLocks noGrp="1"/>
          </p:cNvSpPr>
          <p:nvPr>
            <p:ph type="body" idx="1"/>
          </p:nvPr>
        </p:nvSpPr>
        <p:spPr/>
        <p:txBody>
          <a:bodyPr/>
          <a:lstStyle/>
          <a:p>
            <a:r>
              <a:rPr kumimoji="1" lang="ja-JP" altLang="en-US" dirty="0"/>
              <a:t>操作は簡単、</a:t>
            </a:r>
            <a:r>
              <a:rPr kumimoji="1" lang="en-US" altLang="ja-JP" dirty="0"/>
              <a:t>3</a:t>
            </a:r>
            <a:r>
              <a:rPr kumimoji="1" lang="ja-JP" altLang="en-US" dirty="0"/>
              <a:t>ステップなのだ！</a:t>
            </a:r>
          </a:p>
        </p:txBody>
      </p:sp>
      <p:sp>
        <p:nvSpPr>
          <p:cNvPr id="4" name="スライド番号プレースホルダー 3">
            <a:extLst>
              <a:ext uri="{FF2B5EF4-FFF2-40B4-BE49-F238E27FC236}">
                <a16:creationId xmlns:a16="http://schemas.microsoft.com/office/drawing/2014/main" id="{DA87F449-5BB6-D583-4742-973C595A3763}"/>
              </a:ext>
            </a:extLst>
          </p:cNvPr>
          <p:cNvSpPr>
            <a:spLocks noGrp="1"/>
          </p:cNvSpPr>
          <p:nvPr>
            <p:ph type="sldNum" sz="quarter" idx="5"/>
          </p:nvPr>
        </p:nvSpPr>
        <p:spPr/>
        <p:txBody>
          <a:bodyPr/>
          <a:lstStyle/>
          <a:p>
            <a:fld id="{0759FB59-66F4-445F-8AE0-44C0AE319471}" type="slidenum">
              <a:rPr kumimoji="1" lang="ja-JP" altLang="en-US" smtClean="0"/>
              <a:t>29</a:t>
            </a:fld>
            <a:endParaRPr kumimoji="1" lang="ja-JP" altLang="en-US"/>
          </a:p>
        </p:txBody>
      </p:sp>
    </p:spTree>
    <p:extLst>
      <p:ext uri="{BB962C8B-B14F-4D97-AF65-F5344CB8AC3E}">
        <p14:creationId xmlns:p14="http://schemas.microsoft.com/office/powerpoint/2010/main" val="2066780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AB2C7-26C2-B6EE-6F78-1B89DB7E4C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31D306B-A25A-372E-C094-A3C8F1439BB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A65CD7-1416-9444-DFC8-DD43B7A1554A}"/>
              </a:ext>
            </a:extLst>
          </p:cNvPr>
          <p:cNvSpPr>
            <a:spLocks noGrp="1"/>
          </p:cNvSpPr>
          <p:nvPr>
            <p:ph type="body" idx="1"/>
          </p:nvPr>
        </p:nvSpPr>
        <p:spPr/>
        <p:txBody>
          <a:bodyPr/>
          <a:lstStyle/>
          <a:p>
            <a:r>
              <a:rPr kumimoji="1" lang="ja-JP" altLang="en-US" dirty="0"/>
              <a:t>ステップ</a:t>
            </a:r>
            <a:r>
              <a:rPr kumimoji="1" lang="en-US" altLang="ja-JP" dirty="0"/>
              <a:t>1</a:t>
            </a:r>
            <a:r>
              <a:rPr kumimoji="1" lang="ja-JP" altLang="en-US" dirty="0"/>
              <a:t>、起動とスタートなのだ。</a:t>
            </a:r>
            <a:endParaRPr kumimoji="1" lang="en-US" altLang="ja-JP" dirty="0"/>
          </a:p>
          <a:p>
            <a:r>
              <a:rPr kumimoji="1" lang="ja-JP" altLang="en-US" dirty="0"/>
              <a:t>クムクムの電源を入れて</a:t>
            </a:r>
            <a:r>
              <a:rPr kumimoji="1" lang="en-US" altLang="ja-JP" dirty="0"/>
              <a:t>Scratch</a:t>
            </a:r>
            <a:r>
              <a:rPr kumimoji="1" lang="ja-JP" altLang="en-US" dirty="0"/>
              <a:t>と接続するのだ。</a:t>
            </a:r>
            <a:endParaRPr kumimoji="1" lang="en-US" altLang="ja-JP" dirty="0"/>
          </a:p>
        </p:txBody>
      </p:sp>
      <p:sp>
        <p:nvSpPr>
          <p:cNvPr id="4" name="スライド番号プレースホルダー 3">
            <a:extLst>
              <a:ext uri="{FF2B5EF4-FFF2-40B4-BE49-F238E27FC236}">
                <a16:creationId xmlns:a16="http://schemas.microsoft.com/office/drawing/2014/main" id="{C6FF9FCE-DE4D-2C11-D5EF-9B7722A0F5E6}"/>
              </a:ext>
            </a:extLst>
          </p:cNvPr>
          <p:cNvSpPr>
            <a:spLocks noGrp="1"/>
          </p:cNvSpPr>
          <p:nvPr>
            <p:ph type="sldNum" sz="quarter" idx="5"/>
          </p:nvPr>
        </p:nvSpPr>
        <p:spPr/>
        <p:txBody>
          <a:bodyPr/>
          <a:lstStyle/>
          <a:p>
            <a:fld id="{0759FB59-66F4-445F-8AE0-44C0AE319471}" type="slidenum">
              <a:rPr kumimoji="1" lang="ja-JP" altLang="en-US" smtClean="0"/>
              <a:t>30</a:t>
            </a:fld>
            <a:endParaRPr kumimoji="1" lang="ja-JP" altLang="en-US"/>
          </a:p>
        </p:txBody>
      </p:sp>
    </p:spTree>
    <p:extLst>
      <p:ext uri="{BB962C8B-B14F-4D97-AF65-F5344CB8AC3E}">
        <p14:creationId xmlns:p14="http://schemas.microsoft.com/office/powerpoint/2010/main" val="11485180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B7129-6ACC-960D-4837-C806805844E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CE9C668-1605-3ACB-B17C-D8756B487AF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1DEBD86-420F-F128-8A38-D4DE55FEEA4D}"/>
              </a:ext>
            </a:extLst>
          </p:cNvPr>
          <p:cNvSpPr>
            <a:spLocks noGrp="1"/>
          </p:cNvSpPr>
          <p:nvPr>
            <p:ph type="body" idx="1"/>
          </p:nvPr>
        </p:nvSpPr>
        <p:spPr/>
        <p:txBody>
          <a:bodyPr/>
          <a:lstStyle/>
          <a:p>
            <a:r>
              <a:rPr kumimoji="1" lang="ja-JP" altLang="en-US" dirty="0"/>
              <a:t>ステップ</a:t>
            </a:r>
            <a:r>
              <a:rPr kumimoji="1" lang="en-US" altLang="ja-JP" dirty="0"/>
              <a:t>2</a:t>
            </a:r>
            <a:r>
              <a:rPr kumimoji="1" lang="ja-JP" altLang="en-US" dirty="0"/>
              <a:t>、ゴール座標の指定なのだ。</a:t>
            </a:r>
            <a:endParaRPr kumimoji="1" lang="en-US" altLang="ja-JP" dirty="0"/>
          </a:p>
          <a:p>
            <a:r>
              <a:rPr kumimoji="1" lang="ja-JP" altLang="en-US" dirty="0"/>
              <a:t>音声と</a:t>
            </a:r>
            <a:r>
              <a:rPr kumimoji="1" lang="en-US" altLang="ja-JP" dirty="0"/>
              <a:t>Scratch</a:t>
            </a:r>
            <a:r>
              <a:rPr kumimoji="1" lang="ja-JP" altLang="en-US" dirty="0"/>
              <a:t>の画面で目的地を聞いてくるので、</a:t>
            </a:r>
            <a:r>
              <a:rPr kumimoji="1" lang="en-US" altLang="ja-JP" dirty="0"/>
              <a:t>Scratch</a:t>
            </a:r>
            <a:r>
              <a:rPr kumimoji="1" lang="ja-JP" altLang="en-US" dirty="0"/>
              <a:t>の画面上で入力するのだ。</a:t>
            </a:r>
          </a:p>
        </p:txBody>
      </p:sp>
      <p:sp>
        <p:nvSpPr>
          <p:cNvPr id="4" name="スライド番号プレースホルダー 3">
            <a:extLst>
              <a:ext uri="{FF2B5EF4-FFF2-40B4-BE49-F238E27FC236}">
                <a16:creationId xmlns:a16="http://schemas.microsoft.com/office/drawing/2014/main" id="{13F832E6-941C-CDCD-4358-0283E64A9252}"/>
              </a:ext>
            </a:extLst>
          </p:cNvPr>
          <p:cNvSpPr>
            <a:spLocks noGrp="1"/>
          </p:cNvSpPr>
          <p:nvPr>
            <p:ph type="sldNum" sz="quarter" idx="5"/>
          </p:nvPr>
        </p:nvSpPr>
        <p:spPr/>
        <p:txBody>
          <a:bodyPr/>
          <a:lstStyle/>
          <a:p>
            <a:fld id="{0759FB59-66F4-445F-8AE0-44C0AE319471}" type="slidenum">
              <a:rPr kumimoji="1" lang="ja-JP" altLang="en-US" smtClean="0"/>
              <a:t>31</a:t>
            </a:fld>
            <a:endParaRPr kumimoji="1" lang="ja-JP" altLang="en-US"/>
          </a:p>
        </p:txBody>
      </p:sp>
    </p:spTree>
    <p:extLst>
      <p:ext uri="{BB962C8B-B14F-4D97-AF65-F5344CB8AC3E}">
        <p14:creationId xmlns:p14="http://schemas.microsoft.com/office/powerpoint/2010/main" val="15229057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AB7C0-5238-91A5-C59A-DAA17D2F7CD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CC51FE5-56F9-1B7F-0050-24D12C57B1E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4B9BE1A-DC57-1843-6CD7-2252C2FBA504}"/>
              </a:ext>
            </a:extLst>
          </p:cNvPr>
          <p:cNvSpPr>
            <a:spLocks noGrp="1"/>
          </p:cNvSpPr>
          <p:nvPr>
            <p:ph type="body" idx="1"/>
          </p:nvPr>
        </p:nvSpPr>
        <p:spPr/>
        <p:txBody>
          <a:bodyPr/>
          <a:lstStyle/>
          <a:p>
            <a:r>
              <a:rPr kumimoji="1" lang="ja-JP" altLang="en-US" dirty="0"/>
              <a:t>ステップ</a:t>
            </a:r>
            <a:r>
              <a:rPr kumimoji="1" lang="en-US" altLang="ja-JP" dirty="0"/>
              <a:t>3</a:t>
            </a:r>
            <a:r>
              <a:rPr kumimoji="1" lang="ja-JP" altLang="en-US" dirty="0"/>
              <a:t>、放置なのだ。</a:t>
            </a:r>
            <a:endParaRPr kumimoji="1" lang="en-US" altLang="ja-JP" dirty="0"/>
          </a:p>
          <a:p>
            <a:r>
              <a:rPr kumimoji="1" lang="ja-JP" altLang="en-US" dirty="0"/>
              <a:t>ここではなにも操作は不要なのだ。というか、操作に対応してないのだ。</a:t>
            </a:r>
            <a:endParaRPr kumimoji="1" lang="en-US" altLang="ja-JP" dirty="0"/>
          </a:p>
          <a:p>
            <a:r>
              <a:rPr kumimoji="1" lang="ja-JP" altLang="en-US" dirty="0"/>
              <a:t>放っておくだけで、自動で安全な走行をしてくれる優れものなのだ！</a:t>
            </a:r>
          </a:p>
        </p:txBody>
      </p:sp>
      <p:sp>
        <p:nvSpPr>
          <p:cNvPr id="4" name="スライド番号プレースホルダー 3">
            <a:extLst>
              <a:ext uri="{FF2B5EF4-FFF2-40B4-BE49-F238E27FC236}">
                <a16:creationId xmlns:a16="http://schemas.microsoft.com/office/drawing/2014/main" id="{21B80268-F943-DBA8-DDB1-36915AA93752}"/>
              </a:ext>
            </a:extLst>
          </p:cNvPr>
          <p:cNvSpPr>
            <a:spLocks noGrp="1"/>
          </p:cNvSpPr>
          <p:nvPr>
            <p:ph type="sldNum" sz="quarter" idx="5"/>
          </p:nvPr>
        </p:nvSpPr>
        <p:spPr/>
        <p:txBody>
          <a:bodyPr/>
          <a:lstStyle/>
          <a:p>
            <a:fld id="{0759FB59-66F4-445F-8AE0-44C0AE319471}" type="slidenum">
              <a:rPr kumimoji="1" lang="ja-JP" altLang="en-US" smtClean="0"/>
              <a:t>32</a:t>
            </a:fld>
            <a:endParaRPr kumimoji="1" lang="ja-JP" altLang="en-US"/>
          </a:p>
        </p:txBody>
      </p:sp>
    </p:spTree>
    <p:extLst>
      <p:ext uri="{BB962C8B-B14F-4D97-AF65-F5344CB8AC3E}">
        <p14:creationId xmlns:p14="http://schemas.microsoft.com/office/powerpoint/2010/main" val="30450435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B576D-AB49-1453-5B51-1B9B2C8F919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8A9EDAE-3965-317C-B6BF-15EBB4D2ACE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01A7955-FD96-8F08-057B-3FC8BBAF06A5}"/>
              </a:ext>
            </a:extLst>
          </p:cNvPr>
          <p:cNvSpPr>
            <a:spLocks noGrp="1"/>
          </p:cNvSpPr>
          <p:nvPr>
            <p:ph type="body" idx="1"/>
          </p:nvPr>
        </p:nvSpPr>
        <p:spPr/>
        <p:txBody>
          <a:bodyPr/>
          <a:lstStyle/>
          <a:p>
            <a:r>
              <a:rPr kumimoji="1" lang="ja-JP" altLang="en-US" dirty="0"/>
              <a:t>この</a:t>
            </a:r>
            <a:r>
              <a:rPr kumimoji="1" lang="en-US" altLang="ja-JP" dirty="0"/>
              <a:t>3</a:t>
            </a:r>
            <a:r>
              <a:rPr kumimoji="1" lang="ja-JP" altLang="en-US" dirty="0"/>
              <a:t>ステップで操作は完了なのだ。</a:t>
            </a:r>
            <a:endParaRPr kumimoji="1" lang="en-US" altLang="ja-JP" dirty="0"/>
          </a:p>
        </p:txBody>
      </p:sp>
      <p:sp>
        <p:nvSpPr>
          <p:cNvPr id="4" name="スライド番号プレースホルダー 3">
            <a:extLst>
              <a:ext uri="{FF2B5EF4-FFF2-40B4-BE49-F238E27FC236}">
                <a16:creationId xmlns:a16="http://schemas.microsoft.com/office/drawing/2014/main" id="{A2F27A87-8600-E63F-A4EA-B6546891B7E1}"/>
              </a:ext>
            </a:extLst>
          </p:cNvPr>
          <p:cNvSpPr>
            <a:spLocks noGrp="1"/>
          </p:cNvSpPr>
          <p:nvPr>
            <p:ph type="sldNum" sz="quarter" idx="5"/>
          </p:nvPr>
        </p:nvSpPr>
        <p:spPr/>
        <p:txBody>
          <a:bodyPr/>
          <a:lstStyle/>
          <a:p>
            <a:fld id="{0759FB59-66F4-445F-8AE0-44C0AE319471}" type="slidenum">
              <a:rPr kumimoji="1" lang="ja-JP" altLang="en-US" smtClean="0"/>
              <a:t>33</a:t>
            </a:fld>
            <a:endParaRPr kumimoji="1" lang="ja-JP" altLang="en-US"/>
          </a:p>
        </p:txBody>
      </p:sp>
    </p:spTree>
    <p:extLst>
      <p:ext uri="{BB962C8B-B14F-4D97-AF65-F5344CB8AC3E}">
        <p14:creationId xmlns:p14="http://schemas.microsoft.com/office/powerpoint/2010/main" val="5382816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80A3-FFB7-FA85-6798-EAAE268C2A3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89641D4-456D-70F1-C8A7-35757136923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7E8B6A9-7C70-DE21-A42B-2B37DDE17D3A}"/>
              </a:ext>
            </a:extLst>
          </p:cNvPr>
          <p:cNvSpPr>
            <a:spLocks noGrp="1"/>
          </p:cNvSpPr>
          <p:nvPr>
            <p:ph type="body" idx="1"/>
          </p:nvPr>
        </p:nvSpPr>
        <p:spPr/>
        <p:txBody>
          <a:bodyPr/>
          <a:lstStyle/>
          <a:p>
            <a:r>
              <a:rPr kumimoji="1" lang="ja-JP" altLang="en-US" dirty="0"/>
              <a:t>最後に、プログラムの説明をするのだ。</a:t>
            </a:r>
          </a:p>
        </p:txBody>
      </p:sp>
      <p:sp>
        <p:nvSpPr>
          <p:cNvPr id="4" name="スライド番号プレースホルダー 3">
            <a:extLst>
              <a:ext uri="{FF2B5EF4-FFF2-40B4-BE49-F238E27FC236}">
                <a16:creationId xmlns:a16="http://schemas.microsoft.com/office/drawing/2014/main" id="{8B374B0B-5B95-17F5-8A51-953B3667DB1D}"/>
              </a:ext>
            </a:extLst>
          </p:cNvPr>
          <p:cNvSpPr>
            <a:spLocks noGrp="1"/>
          </p:cNvSpPr>
          <p:nvPr>
            <p:ph type="sldNum" sz="quarter" idx="5"/>
          </p:nvPr>
        </p:nvSpPr>
        <p:spPr/>
        <p:txBody>
          <a:bodyPr/>
          <a:lstStyle/>
          <a:p>
            <a:fld id="{0759FB59-66F4-445F-8AE0-44C0AE319471}" type="slidenum">
              <a:rPr kumimoji="1" lang="ja-JP" altLang="en-US" smtClean="0"/>
              <a:t>34</a:t>
            </a:fld>
            <a:endParaRPr kumimoji="1" lang="ja-JP" altLang="en-US"/>
          </a:p>
        </p:txBody>
      </p:sp>
    </p:spTree>
    <p:extLst>
      <p:ext uri="{BB962C8B-B14F-4D97-AF65-F5344CB8AC3E}">
        <p14:creationId xmlns:p14="http://schemas.microsoft.com/office/powerpoint/2010/main" val="82217068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673B8-CB0C-FDAF-F319-E498724477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4A57F81-3109-B87C-74D4-4B6B12FD701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F30CD99-600F-07BA-0890-2B772C95F170}"/>
              </a:ext>
            </a:extLst>
          </p:cNvPr>
          <p:cNvSpPr>
            <a:spLocks noGrp="1"/>
          </p:cNvSpPr>
          <p:nvPr>
            <p:ph type="body" idx="1"/>
          </p:nvPr>
        </p:nvSpPr>
        <p:spPr/>
        <p:txBody>
          <a:bodyPr/>
          <a:lstStyle/>
          <a:p>
            <a:r>
              <a:rPr kumimoji="1" lang="ja-JP" altLang="en-US" dirty="0"/>
              <a:t>これがプログラムの全体像なのだ！</a:t>
            </a:r>
            <a:endParaRPr kumimoji="1" lang="en-US" altLang="ja-JP" dirty="0"/>
          </a:p>
          <a:p>
            <a:r>
              <a:rPr kumimoji="1" lang="ja-JP" altLang="en-US" dirty="0"/>
              <a:t>じゃあ説明を、、、と行きたいところだけど、小さすぎて読めない！の状態だと思うから、各所にクローズアップしながら説明するのだ。</a:t>
            </a:r>
          </a:p>
        </p:txBody>
      </p:sp>
      <p:sp>
        <p:nvSpPr>
          <p:cNvPr id="4" name="スライド番号プレースホルダー 3">
            <a:extLst>
              <a:ext uri="{FF2B5EF4-FFF2-40B4-BE49-F238E27FC236}">
                <a16:creationId xmlns:a16="http://schemas.microsoft.com/office/drawing/2014/main" id="{6191B04F-A13D-3C53-38E7-B386D62E43D2}"/>
              </a:ext>
            </a:extLst>
          </p:cNvPr>
          <p:cNvSpPr>
            <a:spLocks noGrp="1"/>
          </p:cNvSpPr>
          <p:nvPr>
            <p:ph type="sldNum" sz="quarter" idx="5"/>
          </p:nvPr>
        </p:nvSpPr>
        <p:spPr/>
        <p:txBody>
          <a:bodyPr/>
          <a:lstStyle/>
          <a:p>
            <a:fld id="{0759FB59-66F4-445F-8AE0-44C0AE319471}" type="slidenum">
              <a:rPr kumimoji="1" lang="ja-JP" altLang="en-US" smtClean="0"/>
              <a:t>35</a:t>
            </a:fld>
            <a:endParaRPr kumimoji="1" lang="ja-JP" altLang="en-US"/>
          </a:p>
        </p:txBody>
      </p:sp>
    </p:spTree>
    <p:extLst>
      <p:ext uri="{BB962C8B-B14F-4D97-AF65-F5344CB8AC3E}">
        <p14:creationId xmlns:p14="http://schemas.microsoft.com/office/powerpoint/2010/main" val="253333133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BFFE5-1B27-AE56-14C0-251896DEC9B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17108D9-AA53-1A03-4EE5-13258E80334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D17C240-D8A2-9104-13D8-FFB1961191AB}"/>
              </a:ext>
            </a:extLst>
          </p:cNvPr>
          <p:cNvSpPr>
            <a:spLocks noGrp="1"/>
          </p:cNvSpPr>
          <p:nvPr>
            <p:ph type="body" idx="1"/>
          </p:nvPr>
        </p:nvSpPr>
        <p:spPr/>
        <p:txBody>
          <a:bodyPr/>
          <a:lstStyle/>
          <a:p>
            <a:r>
              <a:rPr kumimoji="1" lang="ja-JP" altLang="en-US" dirty="0"/>
              <a:t>まずは左上の初期化アンド設定フェーズなのだ。</a:t>
            </a:r>
            <a:endParaRPr kumimoji="1" lang="en-US" altLang="ja-JP" dirty="0"/>
          </a:p>
          <a:p>
            <a:r>
              <a:rPr kumimoji="1" lang="ja-JP" altLang="en-US" dirty="0"/>
              <a:t>ここでやってることは簡単なのだ。使ってる関数を初期化して、ユーザーにゴール座標を訪ねる。それだけなのだ。</a:t>
            </a:r>
            <a:endParaRPr kumimoji="1" lang="en-US" altLang="ja-JP" dirty="0"/>
          </a:p>
        </p:txBody>
      </p:sp>
      <p:sp>
        <p:nvSpPr>
          <p:cNvPr id="4" name="スライド番号プレースホルダー 3">
            <a:extLst>
              <a:ext uri="{FF2B5EF4-FFF2-40B4-BE49-F238E27FC236}">
                <a16:creationId xmlns:a16="http://schemas.microsoft.com/office/drawing/2014/main" id="{05DC0D7D-EE3B-3E8B-F19A-98513F237164}"/>
              </a:ext>
            </a:extLst>
          </p:cNvPr>
          <p:cNvSpPr>
            <a:spLocks noGrp="1"/>
          </p:cNvSpPr>
          <p:nvPr>
            <p:ph type="sldNum" sz="quarter" idx="5"/>
          </p:nvPr>
        </p:nvSpPr>
        <p:spPr/>
        <p:txBody>
          <a:bodyPr/>
          <a:lstStyle/>
          <a:p>
            <a:fld id="{0759FB59-66F4-445F-8AE0-44C0AE319471}" type="slidenum">
              <a:rPr kumimoji="1" lang="ja-JP" altLang="en-US" smtClean="0"/>
              <a:t>36</a:t>
            </a:fld>
            <a:endParaRPr kumimoji="1" lang="ja-JP" altLang="en-US"/>
          </a:p>
        </p:txBody>
      </p:sp>
    </p:spTree>
    <p:extLst>
      <p:ext uri="{BB962C8B-B14F-4D97-AF65-F5344CB8AC3E}">
        <p14:creationId xmlns:p14="http://schemas.microsoft.com/office/powerpoint/2010/main" val="199135419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14C31-DFA2-133F-9AEB-5686D7B20E4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B2E06A7-A93E-AD6D-A0FB-4E68939E62A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D96FDB0-EA3C-5B8C-C149-7A1D66A40147}"/>
              </a:ext>
            </a:extLst>
          </p:cNvPr>
          <p:cNvSpPr>
            <a:spLocks noGrp="1"/>
          </p:cNvSpPr>
          <p:nvPr>
            <p:ph type="body" idx="1"/>
          </p:nvPr>
        </p:nvSpPr>
        <p:spPr/>
        <p:txBody>
          <a:bodyPr/>
          <a:lstStyle/>
          <a:p>
            <a:r>
              <a:rPr kumimoji="1" lang="ja-JP" altLang="en-US" dirty="0"/>
              <a:t>詳しく見るのだ。</a:t>
            </a:r>
            <a:endParaRPr kumimoji="1" lang="en-US" altLang="ja-JP" dirty="0"/>
          </a:p>
          <a:p>
            <a:r>
              <a:rPr kumimoji="1" lang="ja-JP" altLang="en-US" dirty="0"/>
              <a:t>早速一番上に「変数定義」っていう定義関数が出てきて意味が分からないと思うのだ。</a:t>
            </a:r>
          </a:p>
        </p:txBody>
      </p:sp>
      <p:sp>
        <p:nvSpPr>
          <p:cNvPr id="4" name="スライド番号プレースホルダー 3">
            <a:extLst>
              <a:ext uri="{FF2B5EF4-FFF2-40B4-BE49-F238E27FC236}">
                <a16:creationId xmlns:a16="http://schemas.microsoft.com/office/drawing/2014/main" id="{EB070FAD-DDD5-1E80-D587-0D35CE6F5D23}"/>
              </a:ext>
            </a:extLst>
          </p:cNvPr>
          <p:cNvSpPr>
            <a:spLocks noGrp="1"/>
          </p:cNvSpPr>
          <p:nvPr>
            <p:ph type="sldNum" sz="quarter" idx="5"/>
          </p:nvPr>
        </p:nvSpPr>
        <p:spPr/>
        <p:txBody>
          <a:bodyPr/>
          <a:lstStyle/>
          <a:p>
            <a:fld id="{0759FB59-66F4-445F-8AE0-44C0AE319471}" type="slidenum">
              <a:rPr kumimoji="1" lang="ja-JP" altLang="en-US" smtClean="0"/>
              <a:t>37</a:t>
            </a:fld>
            <a:endParaRPr kumimoji="1" lang="ja-JP" altLang="en-US"/>
          </a:p>
        </p:txBody>
      </p:sp>
    </p:spTree>
    <p:extLst>
      <p:ext uri="{BB962C8B-B14F-4D97-AF65-F5344CB8AC3E}">
        <p14:creationId xmlns:p14="http://schemas.microsoft.com/office/powerpoint/2010/main" val="284190774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B106A-1A6A-8C2E-6974-A9793F74893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8736C93-8782-88A7-1A57-CA88DCE966C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4360296-3854-3A41-7271-111FD4D8CF77}"/>
              </a:ext>
            </a:extLst>
          </p:cNvPr>
          <p:cNvSpPr>
            <a:spLocks noGrp="1"/>
          </p:cNvSpPr>
          <p:nvPr>
            <p:ph type="body" idx="1"/>
          </p:nvPr>
        </p:nvSpPr>
        <p:spPr/>
        <p:txBody>
          <a:bodyPr/>
          <a:lstStyle/>
          <a:p>
            <a:r>
              <a:rPr kumimoji="1" lang="ja-JP" altLang="en-US" dirty="0"/>
              <a:t>変数定義ブロックについて説明するのだ。</a:t>
            </a:r>
            <a:endParaRPr kumimoji="1" lang="en-US" altLang="ja-JP" dirty="0"/>
          </a:p>
          <a:p>
            <a:r>
              <a:rPr kumimoji="1" lang="ja-JP" altLang="en-US" dirty="0"/>
              <a:t>全体像はこんな感じなのだ。</a:t>
            </a:r>
            <a:endParaRPr kumimoji="1" lang="en-US" altLang="ja-JP" dirty="0"/>
          </a:p>
          <a:p>
            <a:r>
              <a:rPr kumimoji="1" lang="ja-JP" altLang="en-US" dirty="0"/>
              <a:t>でも、大きく二つに分けられて、</a:t>
            </a:r>
          </a:p>
        </p:txBody>
      </p:sp>
      <p:sp>
        <p:nvSpPr>
          <p:cNvPr id="4" name="スライド番号プレースホルダー 3">
            <a:extLst>
              <a:ext uri="{FF2B5EF4-FFF2-40B4-BE49-F238E27FC236}">
                <a16:creationId xmlns:a16="http://schemas.microsoft.com/office/drawing/2014/main" id="{B0060F36-153C-49A4-C52D-FED87E6CC510}"/>
              </a:ext>
            </a:extLst>
          </p:cNvPr>
          <p:cNvSpPr>
            <a:spLocks noGrp="1"/>
          </p:cNvSpPr>
          <p:nvPr>
            <p:ph type="sldNum" sz="quarter" idx="5"/>
          </p:nvPr>
        </p:nvSpPr>
        <p:spPr/>
        <p:txBody>
          <a:bodyPr/>
          <a:lstStyle/>
          <a:p>
            <a:fld id="{0759FB59-66F4-445F-8AE0-44C0AE319471}" type="slidenum">
              <a:rPr kumimoji="1" lang="ja-JP" altLang="en-US" smtClean="0"/>
              <a:t>38</a:t>
            </a:fld>
            <a:endParaRPr kumimoji="1" lang="ja-JP" altLang="en-US"/>
          </a:p>
        </p:txBody>
      </p:sp>
    </p:spTree>
    <p:extLst>
      <p:ext uri="{BB962C8B-B14F-4D97-AF65-F5344CB8AC3E}">
        <p14:creationId xmlns:p14="http://schemas.microsoft.com/office/powerpoint/2010/main" val="382111077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887D9-87DE-1AD1-8D83-E67D64A437F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9EBEF10-2F27-AC3E-9390-0AD7C123243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D053542-B58C-EAC7-FD5B-48B143E82528}"/>
              </a:ext>
            </a:extLst>
          </p:cNvPr>
          <p:cNvSpPr>
            <a:spLocks noGrp="1"/>
          </p:cNvSpPr>
          <p:nvPr>
            <p:ph type="body" idx="1"/>
          </p:nvPr>
        </p:nvSpPr>
        <p:spPr/>
        <p:txBody>
          <a:bodyPr/>
          <a:lstStyle/>
          <a:p>
            <a:r>
              <a:rPr kumimoji="1" lang="ja-JP" altLang="en-US" dirty="0"/>
              <a:t>引数が「初期化」のときは、上半分のこの部分を実行するのだ。</a:t>
            </a:r>
            <a:endParaRPr kumimoji="1" lang="en-US" altLang="ja-JP" dirty="0"/>
          </a:p>
          <a:p>
            <a:r>
              <a:rPr kumimoji="1" lang="ja-JP" altLang="en-US" dirty="0"/>
              <a:t>ここは見ての通り、使ってる大量の変数を初期化してるだけなので、説明は省くのだ。</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一つ、「ゴール達成</a:t>
            </a:r>
            <a:r>
              <a:rPr kumimoji="1" lang="en-US" altLang="ja-JP" dirty="0"/>
              <a:t>x</a:t>
            </a:r>
            <a:r>
              <a:rPr kumimoji="1" lang="ja-JP" altLang="en-US" dirty="0"/>
              <a:t>」と「ゴール達成</a:t>
            </a:r>
            <a:r>
              <a:rPr kumimoji="1" lang="en-US" altLang="ja-JP" dirty="0"/>
              <a:t>y</a:t>
            </a:r>
            <a:r>
              <a:rPr kumimoji="1" lang="ja-JP" altLang="en-US" dirty="0"/>
              <a:t>」っていう変数は最終的には使わなくなった変数ってことは補足しておくのだ。</a:t>
            </a:r>
            <a:endParaRPr kumimoji="1" lang="en-US" altLang="ja-JP" dirty="0"/>
          </a:p>
        </p:txBody>
      </p:sp>
      <p:sp>
        <p:nvSpPr>
          <p:cNvPr id="4" name="スライド番号プレースホルダー 3">
            <a:extLst>
              <a:ext uri="{FF2B5EF4-FFF2-40B4-BE49-F238E27FC236}">
                <a16:creationId xmlns:a16="http://schemas.microsoft.com/office/drawing/2014/main" id="{6A1D805E-07AF-712E-7527-F1BEEC29B59B}"/>
              </a:ext>
            </a:extLst>
          </p:cNvPr>
          <p:cNvSpPr>
            <a:spLocks noGrp="1"/>
          </p:cNvSpPr>
          <p:nvPr>
            <p:ph type="sldNum" sz="quarter" idx="5"/>
          </p:nvPr>
        </p:nvSpPr>
        <p:spPr/>
        <p:txBody>
          <a:bodyPr/>
          <a:lstStyle/>
          <a:p>
            <a:fld id="{0759FB59-66F4-445F-8AE0-44C0AE319471}" type="slidenum">
              <a:rPr kumimoji="1" lang="ja-JP" altLang="en-US" smtClean="0"/>
              <a:t>39</a:t>
            </a:fld>
            <a:endParaRPr kumimoji="1" lang="ja-JP" altLang="en-US"/>
          </a:p>
        </p:txBody>
      </p:sp>
    </p:spTree>
    <p:extLst>
      <p:ext uri="{BB962C8B-B14F-4D97-AF65-F5344CB8AC3E}">
        <p14:creationId xmlns:p14="http://schemas.microsoft.com/office/powerpoint/2010/main" val="7477635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4D734-D3AA-4CB1-219F-D57B08B120D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11E30C5-ADCE-7BD3-53A3-83D5F912B3B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E9AFC3E-36B1-0315-F1B2-7A0FDC0F9E4D}"/>
              </a:ext>
            </a:extLst>
          </p:cNvPr>
          <p:cNvSpPr>
            <a:spLocks noGrp="1"/>
          </p:cNvSpPr>
          <p:nvPr>
            <p:ph type="body" idx="1"/>
          </p:nvPr>
        </p:nvSpPr>
        <p:spPr/>
        <p:txBody>
          <a:bodyPr/>
          <a:lstStyle/>
          <a:p>
            <a:r>
              <a:rPr kumimoji="1" lang="ja-JP" altLang="en-US" dirty="0"/>
              <a:t>詳しく見るのだ。</a:t>
            </a:r>
            <a:endParaRPr kumimoji="1" lang="en-US" altLang="ja-JP" dirty="0"/>
          </a:p>
          <a:p>
            <a:r>
              <a:rPr kumimoji="1" lang="ja-JP" altLang="en-US" dirty="0"/>
              <a:t>早速一番上に「変数定義」っていう定義関数が出てきて意味が分からないと思うのだ。</a:t>
            </a:r>
          </a:p>
        </p:txBody>
      </p:sp>
      <p:sp>
        <p:nvSpPr>
          <p:cNvPr id="4" name="スライド番号プレースホルダー 3">
            <a:extLst>
              <a:ext uri="{FF2B5EF4-FFF2-40B4-BE49-F238E27FC236}">
                <a16:creationId xmlns:a16="http://schemas.microsoft.com/office/drawing/2014/main" id="{5EAAB962-224A-A0FC-C81B-661E082D001F}"/>
              </a:ext>
            </a:extLst>
          </p:cNvPr>
          <p:cNvSpPr>
            <a:spLocks noGrp="1"/>
          </p:cNvSpPr>
          <p:nvPr>
            <p:ph type="sldNum" sz="quarter" idx="5"/>
          </p:nvPr>
        </p:nvSpPr>
        <p:spPr/>
        <p:txBody>
          <a:bodyPr/>
          <a:lstStyle/>
          <a:p>
            <a:fld id="{0759FB59-66F4-445F-8AE0-44C0AE319471}" type="slidenum">
              <a:rPr kumimoji="1" lang="ja-JP" altLang="en-US" smtClean="0"/>
              <a:t>40</a:t>
            </a:fld>
            <a:endParaRPr kumimoji="1" lang="ja-JP" altLang="en-US"/>
          </a:p>
        </p:txBody>
      </p:sp>
    </p:spTree>
    <p:extLst>
      <p:ext uri="{BB962C8B-B14F-4D97-AF65-F5344CB8AC3E}">
        <p14:creationId xmlns:p14="http://schemas.microsoft.com/office/powerpoint/2010/main" val="123139617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DA3E3-F373-FFD7-02D9-A0EB7EDFE4B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20BAE28-9A29-06C5-3CAA-BB9458637A4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0C9DED6-E9D2-DB41-F0F7-C02AD8273941}"/>
              </a:ext>
            </a:extLst>
          </p:cNvPr>
          <p:cNvSpPr>
            <a:spLocks noGrp="1"/>
          </p:cNvSpPr>
          <p:nvPr>
            <p:ph type="body" idx="1"/>
          </p:nvPr>
        </p:nvSpPr>
        <p:spPr/>
        <p:txBody>
          <a:bodyPr/>
          <a:lstStyle/>
          <a:p>
            <a:r>
              <a:rPr kumimoji="1" lang="ja-JP" altLang="en-US" dirty="0"/>
              <a:t>次に、ユーザーの入力を処理するのだ。</a:t>
            </a:r>
            <a:endParaRPr kumimoji="1" lang="en-US" altLang="ja-JP" dirty="0"/>
          </a:p>
          <a:p>
            <a:r>
              <a:rPr kumimoji="1" lang="ja-JP" altLang="en-US" dirty="0"/>
              <a:t>まずは</a:t>
            </a:r>
            <a:r>
              <a:rPr kumimoji="1" lang="en-US" altLang="ja-JP" dirty="0"/>
              <a:t>x</a:t>
            </a:r>
            <a:r>
              <a:rPr kumimoji="1" lang="ja-JP" altLang="en-US" dirty="0"/>
              <a:t>座標を、変数「ゴール</a:t>
            </a:r>
            <a:r>
              <a:rPr kumimoji="1" lang="en-US" altLang="ja-JP" dirty="0"/>
              <a:t>x</a:t>
            </a:r>
            <a:r>
              <a:rPr kumimoji="1" lang="ja-JP" altLang="en-US" dirty="0"/>
              <a:t>」に入れていくのだ。ユーザーの答えを左から順に見て、最初の</a:t>
            </a:r>
            <a:r>
              <a:rPr kumimoji="1" lang="en-US" altLang="ja-JP" dirty="0"/>
              <a:t>1</a:t>
            </a:r>
            <a:r>
              <a:rPr kumimoji="1" lang="ja-JP" altLang="en-US" dirty="0"/>
              <a:t>文字はそのまま、二文字目以降はすでに「ゴール</a:t>
            </a:r>
            <a:r>
              <a:rPr kumimoji="1" lang="en-US" altLang="ja-JP" dirty="0"/>
              <a:t>x</a:t>
            </a:r>
            <a:r>
              <a:rPr kumimoji="1" lang="ja-JP" altLang="en-US" dirty="0"/>
              <a:t>」に入ってる値を</a:t>
            </a:r>
            <a:r>
              <a:rPr kumimoji="1" lang="en-US" altLang="ja-JP" dirty="0"/>
              <a:t>10</a:t>
            </a:r>
            <a:r>
              <a:rPr kumimoji="1" lang="ja-JP" altLang="en-US" dirty="0"/>
              <a:t>倍した値にプラスして代入するのだ。</a:t>
            </a:r>
            <a:endParaRPr kumimoji="1" lang="en-US" altLang="ja-JP" dirty="0"/>
          </a:p>
          <a:p>
            <a:r>
              <a:rPr kumimoji="1" lang="ja-JP" altLang="en-US" dirty="0"/>
              <a:t>そしてコンマが表れてたら、</a:t>
            </a:r>
            <a:r>
              <a:rPr kumimoji="1" lang="en-US" altLang="ja-JP" dirty="0"/>
              <a:t>x</a:t>
            </a:r>
            <a:r>
              <a:rPr kumimoji="1" lang="ja-JP" altLang="en-US" dirty="0"/>
              <a:t>座標の処理は終わり、</a:t>
            </a:r>
            <a:r>
              <a:rPr kumimoji="1" lang="en-US" altLang="ja-JP" dirty="0"/>
              <a:t>y</a:t>
            </a:r>
            <a:r>
              <a:rPr kumimoji="1" lang="ja-JP" altLang="en-US" dirty="0"/>
              <a:t>座標の処理に移るのだ。その後のやってることは</a:t>
            </a:r>
            <a:r>
              <a:rPr kumimoji="1" lang="en-US" altLang="ja-JP" dirty="0"/>
              <a:t>x</a:t>
            </a:r>
            <a:r>
              <a:rPr kumimoji="1" lang="ja-JP" altLang="en-US" dirty="0"/>
              <a:t>座標の時と同じなんだけど、唯一違う部分は、文字数を</a:t>
            </a:r>
            <a:r>
              <a:rPr kumimoji="1" lang="en-US" altLang="ja-JP" dirty="0"/>
              <a:t>x</a:t>
            </a:r>
            <a:r>
              <a:rPr kumimoji="1" lang="ja-JP" altLang="en-US" dirty="0"/>
              <a:t>座標の文字数分ずらして考えてるのだ。</a:t>
            </a:r>
          </a:p>
        </p:txBody>
      </p:sp>
      <p:sp>
        <p:nvSpPr>
          <p:cNvPr id="4" name="スライド番号プレースホルダー 3">
            <a:extLst>
              <a:ext uri="{FF2B5EF4-FFF2-40B4-BE49-F238E27FC236}">
                <a16:creationId xmlns:a16="http://schemas.microsoft.com/office/drawing/2014/main" id="{896023C6-A4D4-5B2E-AB25-2ECFCEB6B0F5}"/>
              </a:ext>
            </a:extLst>
          </p:cNvPr>
          <p:cNvSpPr>
            <a:spLocks noGrp="1"/>
          </p:cNvSpPr>
          <p:nvPr>
            <p:ph type="sldNum" sz="quarter" idx="5"/>
          </p:nvPr>
        </p:nvSpPr>
        <p:spPr/>
        <p:txBody>
          <a:bodyPr/>
          <a:lstStyle/>
          <a:p>
            <a:fld id="{0759FB59-66F4-445F-8AE0-44C0AE319471}" type="slidenum">
              <a:rPr kumimoji="1" lang="ja-JP" altLang="en-US" smtClean="0"/>
              <a:t>41</a:t>
            </a:fld>
            <a:endParaRPr kumimoji="1" lang="ja-JP" altLang="en-US"/>
          </a:p>
        </p:txBody>
      </p:sp>
    </p:spTree>
    <p:extLst>
      <p:ext uri="{BB962C8B-B14F-4D97-AF65-F5344CB8AC3E}">
        <p14:creationId xmlns:p14="http://schemas.microsoft.com/office/powerpoint/2010/main" val="121726649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7C593-CAB5-9DE7-D7AA-050A6B3A247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C330FAC-5A86-6BC7-262B-176B5F25F97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13AF8B2-083E-11AD-C1A3-5165F541034E}"/>
              </a:ext>
            </a:extLst>
          </p:cNvPr>
          <p:cNvSpPr>
            <a:spLocks noGrp="1"/>
          </p:cNvSpPr>
          <p:nvPr>
            <p:ph type="body" idx="1"/>
          </p:nvPr>
        </p:nvSpPr>
        <p:spPr/>
        <p:txBody>
          <a:bodyPr/>
          <a:lstStyle/>
          <a:p>
            <a:r>
              <a:rPr kumimoji="1" lang="ja-JP" altLang="en-US" dirty="0"/>
              <a:t>そしてこのフェーズ最後なのだ。</a:t>
            </a:r>
            <a:endParaRPr kumimoji="1" lang="en-US" altLang="ja-JP" dirty="0"/>
          </a:p>
          <a:p>
            <a:r>
              <a:rPr kumimoji="1" lang="ja-JP" altLang="en-US" dirty="0"/>
              <a:t>さっきも出てきた「変数定義」関数の、引数が「計算」バージョンなのだ。これが何をする関数かって言うと、</a:t>
            </a:r>
          </a:p>
        </p:txBody>
      </p:sp>
      <p:sp>
        <p:nvSpPr>
          <p:cNvPr id="4" name="スライド番号プレースホルダー 3">
            <a:extLst>
              <a:ext uri="{FF2B5EF4-FFF2-40B4-BE49-F238E27FC236}">
                <a16:creationId xmlns:a16="http://schemas.microsoft.com/office/drawing/2014/main" id="{6B02150E-9FA8-5884-5922-01A2CA696567}"/>
              </a:ext>
            </a:extLst>
          </p:cNvPr>
          <p:cNvSpPr>
            <a:spLocks noGrp="1"/>
          </p:cNvSpPr>
          <p:nvPr>
            <p:ph type="sldNum" sz="quarter" idx="5"/>
          </p:nvPr>
        </p:nvSpPr>
        <p:spPr/>
        <p:txBody>
          <a:bodyPr/>
          <a:lstStyle/>
          <a:p>
            <a:fld id="{0759FB59-66F4-445F-8AE0-44C0AE319471}" type="slidenum">
              <a:rPr kumimoji="1" lang="ja-JP" altLang="en-US" smtClean="0"/>
              <a:t>42</a:t>
            </a:fld>
            <a:endParaRPr kumimoji="1" lang="ja-JP" altLang="en-US"/>
          </a:p>
        </p:txBody>
      </p:sp>
    </p:spTree>
    <p:extLst>
      <p:ext uri="{BB962C8B-B14F-4D97-AF65-F5344CB8AC3E}">
        <p14:creationId xmlns:p14="http://schemas.microsoft.com/office/powerpoint/2010/main" val="96284866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C4FCE-6110-B768-EA07-E40DEC80E87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B46A584-54E7-32DD-121D-A44C3A77762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38B7E73-A1F0-F633-066A-72FA12AF022C}"/>
              </a:ext>
            </a:extLst>
          </p:cNvPr>
          <p:cNvSpPr>
            <a:spLocks noGrp="1"/>
          </p:cNvSpPr>
          <p:nvPr>
            <p:ph type="body" idx="1"/>
          </p:nvPr>
        </p:nvSpPr>
        <p:spPr/>
        <p:txBody>
          <a:bodyPr/>
          <a:lstStyle/>
          <a:p>
            <a:r>
              <a:rPr kumimoji="1" lang="ja-JP" altLang="en-US" dirty="0"/>
              <a:t>変数定義ブロックについて説明するのだ。</a:t>
            </a:r>
            <a:endParaRPr kumimoji="1" lang="en-US" altLang="ja-JP" dirty="0"/>
          </a:p>
          <a:p>
            <a:r>
              <a:rPr kumimoji="1" lang="ja-JP" altLang="en-US" dirty="0"/>
              <a:t>全体像はこんな感じなのだ。</a:t>
            </a:r>
            <a:endParaRPr kumimoji="1" lang="en-US" altLang="ja-JP" dirty="0"/>
          </a:p>
          <a:p>
            <a:r>
              <a:rPr kumimoji="1" lang="ja-JP" altLang="en-US" dirty="0"/>
              <a:t>でも、大きく二つに分けられて、</a:t>
            </a:r>
          </a:p>
        </p:txBody>
      </p:sp>
      <p:sp>
        <p:nvSpPr>
          <p:cNvPr id="4" name="スライド番号プレースホルダー 3">
            <a:extLst>
              <a:ext uri="{FF2B5EF4-FFF2-40B4-BE49-F238E27FC236}">
                <a16:creationId xmlns:a16="http://schemas.microsoft.com/office/drawing/2014/main" id="{66729559-41BE-2975-D4C3-82594C3B6142}"/>
              </a:ext>
            </a:extLst>
          </p:cNvPr>
          <p:cNvSpPr>
            <a:spLocks noGrp="1"/>
          </p:cNvSpPr>
          <p:nvPr>
            <p:ph type="sldNum" sz="quarter" idx="5"/>
          </p:nvPr>
        </p:nvSpPr>
        <p:spPr/>
        <p:txBody>
          <a:bodyPr/>
          <a:lstStyle/>
          <a:p>
            <a:fld id="{0759FB59-66F4-445F-8AE0-44C0AE319471}" type="slidenum">
              <a:rPr kumimoji="1" lang="ja-JP" altLang="en-US" smtClean="0"/>
              <a:t>43</a:t>
            </a:fld>
            <a:endParaRPr kumimoji="1" lang="ja-JP" altLang="en-US"/>
          </a:p>
        </p:txBody>
      </p:sp>
    </p:spTree>
    <p:extLst>
      <p:ext uri="{BB962C8B-B14F-4D97-AF65-F5344CB8AC3E}">
        <p14:creationId xmlns:p14="http://schemas.microsoft.com/office/powerpoint/2010/main" val="353878752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FB407-0D6A-22DB-DCF4-6F713A353FE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6BD255B-9897-972E-0C3C-8DAC0907FC4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7631F3A-21F0-8F97-ECDA-C92BB03A4F07}"/>
              </a:ext>
            </a:extLst>
          </p:cNvPr>
          <p:cNvSpPr>
            <a:spLocks noGrp="1"/>
          </p:cNvSpPr>
          <p:nvPr>
            <p:ph type="body" idx="1"/>
          </p:nvPr>
        </p:nvSpPr>
        <p:spPr/>
        <p:txBody>
          <a:bodyPr/>
          <a:lstStyle/>
          <a:p>
            <a:r>
              <a:rPr kumimoji="1" lang="ja-JP" altLang="en-US" dirty="0"/>
              <a:t>この部分を実行するのだ。</a:t>
            </a:r>
            <a:endParaRPr kumimoji="1" lang="en-US" altLang="ja-JP" dirty="0"/>
          </a:p>
          <a:p>
            <a:r>
              <a:rPr kumimoji="1" lang="ja-JP" altLang="en-US" dirty="0"/>
              <a:t>やってることは簡単で、ゴール座標と今の座標の</a:t>
            </a:r>
            <a:r>
              <a:rPr kumimoji="1" lang="en-US" altLang="ja-JP" dirty="0" err="1"/>
              <a:t>xy</a:t>
            </a:r>
            <a:r>
              <a:rPr kumimoji="1" lang="ja-JP" altLang="en-US" dirty="0"/>
              <a:t>それぞれの差を求めて、その値を使ってゴールまでの距離も求めてるのだ。</a:t>
            </a:r>
            <a:endParaRPr kumimoji="1" lang="en-US" altLang="ja-JP" dirty="0"/>
          </a:p>
          <a:p>
            <a:r>
              <a:rPr kumimoji="1" lang="ja-JP" altLang="en-US" dirty="0"/>
              <a:t>ゴールまでの距離を求めるのには、三平方の定理を使ってるのだ。</a:t>
            </a:r>
            <a:r>
              <a:rPr kumimoji="1" lang="en-US" altLang="ja-JP" dirty="0"/>
              <a:t>2</a:t>
            </a:r>
            <a:r>
              <a:rPr kumimoji="1" lang="ja-JP" altLang="en-US" dirty="0"/>
              <a:t>乗の和が斜辺の</a:t>
            </a:r>
            <a:r>
              <a:rPr kumimoji="1" lang="en-US" altLang="ja-JP" dirty="0"/>
              <a:t>2</a:t>
            </a:r>
            <a:r>
              <a:rPr kumimoji="1" lang="ja-JP" altLang="en-US" dirty="0"/>
              <a:t>乗に等しいてやつなのだ。</a:t>
            </a:r>
          </a:p>
        </p:txBody>
      </p:sp>
      <p:sp>
        <p:nvSpPr>
          <p:cNvPr id="4" name="スライド番号プレースホルダー 3">
            <a:extLst>
              <a:ext uri="{FF2B5EF4-FFF2-40B4-BE49-F238E27FC236}">
                <a16:creationId xmlns:a16="http://schemas.microsoft.com/office/drawing/2014/main" id="{30C12B4F-5BC3-CF51-EABE-BB0632D6D647}"/>
              </a:ext>
            </a:extLst>
          </p:cNvPr>
          <p:cNvSpPr>
            <a:spLocks noGrp="1"/>
          </p:cNvSpPr>
          <p:nvPr>
            <p:ph type="sldNum" sz="quarter" idx="5"/>
          </p:nvPr>
        </p:nvSpPr>
        <p:spPr/>
        <p:txBody>
          <a:bodyPr/>
          <a:lstStyle/>
          <a:p>
            <a:fld id="{0759FB59-66F4-445F-8AE0-44C0AE319471}" type="slidenum">
              <a:rPr kumimoji="1" lang="ja-JP" altLang="en-US" smtClean="0"/>
              <a:t>44</a:t>
            </a:fld>
            <a:endParaRPr kumimoji="1" lang="ja-JP" altLang="en-US"/>
          </a:p>
        </p:txBody>
      </p:sp>
    </p:spTree>
    <p:extLst>
      <p:ext uri="{BB962C8B-B14F-4D97-AF65-F5344CB8AC3E}">
        <p14:creationId xmlns:p14="http://schemas.microsoft.com/office/powerpoint/2010/main" val="389166219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E74E3-B6F2-6B76-ADF6-C25B8596909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3E47550-6082-B971-94B7-FC47A0867A1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712FE2A-9C43-B044-1253-DABD86E17133}"/>
              </a:ext>
            </a:extLst>
          </p:cNvPr>
          <p:cNvSpPr>
            <a:spLocks noGrp="1"/>
          </p:cNvSpPr>
          <p:nvPr>
            <p:ph type="body" idx="1"/>
          </p:nvPr>
        </p:nvSpPr>
        <p:spPr/>
        <p:txBody>
          <a:bodyPr/>
          <a:lstStyle/>
          <a:p>
            <a:r>
              <a:rPr kumimoji="1" lang="ja-JP" altLang="en-US" dirty="0"/>
              <a:t>そしてこのフェーズ最後なのだ。</a:t>
            </a:r>
            <a:endParaRPr kumimoji="1" lang="en-US" altLang="ja-JP" dirty="0"/>
          </a:p>
          <a:p>
            <a:r>
              <a:rPr kumimoji="1" lang="ja-JP" altLang="en-US" dirty="0"/>
              <a:t>さっきも出てきた「変数定義」関数の、引数が「計算」バージョンなのだ。これが何をする関数かって言うと、</a:t>
            </a:r>
          </a:p>
        </p:txBody>
      </p:sp>
      <p:sp>
        <p:nvSpPr>
          <p:cNvPr id="4" name="スライド番号プレースホルダー 3">
            <a:extLst>
              <a:ext uri="{FF2B5EF4-FFF2-40B4-BE49-F238E27FC236}">
                <a16:creationId xmlns:a16="http://schemas.microsoft.com/office/drawing/2014/main" id="{FE093F9D-1942-6559-423A-B0A355C448C2}"/>
              </a:ext>
            </a:extLst>
          </p:cNvPr>
          <p:cNvSpPr>
            <a:spLocks noGrp="1"/>
          </p:cNvSpPr>
          <p:nvPr>
            <p:ph type="sldNum" sz="quarter" idx="5"/>
          </p:nvPr>
        </p:nvSpPr>
        <p:spPr/>
        <p:txBody>
          <a:bodyPr/>
          <a:lstStyle/>
          <a:p>
            <a:fld id="{0759FB59-66F4-445F-8AE0-44C0AE319471}" type="slidenum">
              <a:rPr kumimoji="1" lang="ja-JP" altLang="en-US" smtClean="0"/>
              <a:t>45</a:t>
            </a:fld>
            <a:endParaRPr kumimoji="1" lang="ja-JP" altLang="en-US"/>
          </a:p>
        </p:txBody>
      </p:sp>
    </p:spTree>
    <p:extLst>
      <p:ext uri="{BB962C8B-B14F-4D97-AF65-F5344CB8AC3E}">
        <p14:creationId xmlns:p14="http://schemas.microsoft.com/office/powerpoint/2010/main" val="1189178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BB950-B477-183C-E3BC-2894AFCC062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52D1B33-5949-63CD-25E8-5F66A8932BF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2BB87DB-1F0B-4C46-AE2E-4159D7510B70}"/>
              </a:ext>
            </a:extLst>
          </p:cNvPr>
          <p:cNvSpPr>
            <a:spLocks noGrp="1"/>
          </p:cNvSpPr>
          <p:nvPr>
            <p:ph type="body" idx="1"/>
          </p:nvPr>
        </p:nvSpPr>
        <p:spPr/>
        <p:txBody>
          <a:bodyPr/>
          <a:lstStyle/>
          <a:p>
            <a:r>
              <a:rPr kumimoji="1" lang="ja-JP" altLang="en-US" dirty="0"/>
              <a:t>次にこのフェーズ。メッセージ</a:t>
            </a:r>
            <a:r>
              <a:rPr kumimoji="1" lang="en-US" altLang="ja-JP" dirty="0"/>
              <a:t>1</a:t>
            </a:r>
            <a:r>
              <a:rPr kumimoji="1" lang="ja-JP" altLang="en-US" dirty="0"/>
              <a:t>を受け取るのはここだけだから、さっきの下につなげてもよかったんだけど、見やすさ重視でこうしたのだ。</a:t>
            </a:r>
            <a:endParaRPr kumimoji="1" lang="en-US" altLang="ja-JP" dirty="0"/>
          </a:p>
          <a:p>
            <a:r>
              <a:rPr kumimoji="1" lang="ja-JP" altLang="en-US" dirty="0"/>
              <a:t>ここではクムクムの動きを処理してるのだ。上から順に見ていくのだ。</a:t>
            </a:r>
            <a:endParaRPr kumimoji="1" lang="en-US" altLang="ja-JP" dirty="0"/>
          </a:p>
        </p:txBody>
      </p:sp>
      <p:sp>
        <p:nvSpPr>
          <p:cNvPr id="4" name="スライド番号プレースホルダー 3">
            <a:extLst>
              <a:ext uri="{FF2B5EF4-FFF2-40B4-BE49-F238E27FC236}">
                <a16:creationId xmlns:a16="http://schemas.microsoft.com/office/drawing/2014/main" id="{703C6B95-2C18-F4AC-5234-B95C87550D75}"/>
              </a:ext>
            </a:extLst>
          </p:cNvPr>
          <p:cNvSpPr>
            <a:spLocks noGrp="1"/>
          </p:cNvSpPr>
          <p:nvPr>
            <p:ph type="sldNum" sz="quarter" idx="5"/>
          </p:nvPr>
        </p:nvSpPr>
        <p:spPr/>
        <p:txBody>
          <a:bodyPr/>
          <a:lstStyle/>
          <a:p>
            <a:fld id="{0759FB59-66F4-445F-8AE0-44C0AE319471}" type="slidenum">
              <a:rPr kumimoji="1" lang="ja-JP" altLang="en-US" smtClean="0"/>
              <a:t>46</a:t>
            </a:fld>
            <a:endParaRPr kumimoji="1" lang="ja-JP" altLang="en-US"/>
          </a:p>
        </p:txBody>
      </p:sp>
    </p:spTree>
    <p:extLst>
      <p:ext uri="{BB962C8B-B14F-4D97-AF65-F5344CB8AC3E}">
        <p14:creationId xmlns:p14="http://schemas.microsoft.com/office/powerpoint/2010/main" val="415411530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31F2B-4BA6-F2DC-FA42-119E42BD137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CCEFD39-2700-B750-2DD9-DD779F4245B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1B05FAB-F189-0DD1-26D0-A42B218DE017}"/>
              </a:ext>
            </a:extLst>
          </p:cNvPr>
          <p:cNvSpPr>
            <a:spLocks noGrp="1"/>
          </p:cNvSpPr>
          <p:nvPr>
            <p:ph type="body" idx="1"/>
          </p:nvPr>
        </p:nvSpPr>
        <p:spPr/>
        <p:txBody>
          <a:bodyPr/>
          <a:lstStyle/>
          <a:p>
            <a:r>
              <a:rPr kumimoji="1" lang="ja-JP" altLang="en-US" dirty="0"/>
              <a:t>次にこのフェーズ。メッセージ</a:t>
            </a:r>
            <a:r>
              <a:rPr kumimoji="1" lang="en-US" altLang="ja-JP" dirty="0"/>
              <a:t>1</a:t>
            </a:r>
            <a:r>
              <a:rPr kumimoji="1" lang="ja-JP" altLang="en-US" dirty="0"/>
              <a:t>を受け取るのはここだけだから、さっきの下につなげてもよかったんだけど、見やすさ重視でこうしたのだ。</a:t>
            </a:r>
            <a:endParaRPr kumimoji="1" lang="en-US" altLang="ja-JP" dirty="0"/>
          </a:p>
          <a:p>
            <a:r>
              <a:rPr kumimoji="1" lang="ja-JP" altLang="en-US" dirty="0"/>
              <a:t>ここではクムクムの動きを処理してるのだ。上から順に見ていくのだ。</a:t>
            </a:r>
            <a:endParaRPr kumimoji="1" lang="en-US" altLang="ja-JP" dirty="0"/>
          </a:p>
        </p:txBody>
      </p:sp>
      <p:sp>
        <p:nvSpPr>
          <p:cNvPr id="4" name="スライド番号プレースホルダー 3">
            <a:extLst>
              <a:ext uri="{FF2B5EF4-FFF2-40B4-BE49-F238E27FC236}">
                <a16:creationId xmlns:a16="http://schemas.microsoft.com/office/drawing/2014/main" id="{EAD34EAB-A105-CD4E-698B-DAF4AD1DC5D9}"/>
              </a:ext>
            </a:extLst>
          </p:cNvPr>
          <p:cNvSpPr>
            <a:spLocks noGrp="1"/>
          </p:cNvSpPr>
          <p:nvPr>
            <p:ph type="sldNum" sz="quarter" idx="5"/>
          </p:nvPr>
        </p:nvSpPr>
        <p:spPr/>
        <p:txBody>
          <a:bodyPr/>
          <a:lstStyle/>
          <a:p>
            <a:fld id="{0759FB59-66F4-445F-8AE0-44C0AE319471}" type="slidenum">
              <a:rPr kumimoji="1" lang="ja-JP" altLang="en-US" smtClean="0"/>
              <a:t>47</a:t>
            </a:fld>
            <a:endParaRPr kumimoji="1" lang="ja-JP" altLang="en-US"/>
          </a:p>
        </p:txBody>
      </p:sp>
    </p:spTree>
    <p:extLst>
      <p:ext uri="{BB962C8B-B14F-4D97-AF65-F5344CB8AC3E}">
        <p14:creationId xmlns:p14="http://schemas.microsoft.com/office/powerpoint/2010/main" val="253485238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84A9C-453A-12BB-A1A9-D304D1F98DE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B9AA4D9-80B9-A59D-C2C3-1058DEBC1EA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814F752-F2C6-BAEB-F9E6-FD538916A190}"/>
              </a:ext>
            </a:extLst>
          </p:cNvPr>
          <p:cNvSpPr>
            <a:spLocks noGrp="1"/>
          </p:cNvSpPr>
          <p:nvPr>
            <p:ph type="body" idx="1"/>
          </p:nvPr>
        </p:nvSpPr>
        <p:spPr/>
        <p:txBody>
          <a:bodyPr/>
          <a:lstStyle/>
          <a:p>
            <a:r>
              <a:rPr kumimoji="1" lang="ja-JP" altLang="en-US" dirty="0"/>
              <a:t>次にこのフェーズ。メッセージ</a:t>
            </a:r>
            <a:r>
              <a:rPr kumimoji="1" lang="en-US" altLang="ja-JP" dirty="0"/>
              <a:t>1</a:t>
            </a:r>
            <a:r>
              <a:rPr kumimoji="1" lang="ja-JP" altLang="en-US" dirty="0"/>
              <a:t>を受け取るのはここだけだから、さっきの下につなげてもよかったんだけど、見やすさ重視でこうしたのだ。</a:t>
            </a:r>
            <a:endParaRPr kumimoji="1" lang="en-US" altLang="ja-JP" dirty="0"/>
          </a:p>
          <a:p>
            <a:r>
              <a:rPr kumimoji="1" lang="ja-JP" altLang="en-US" dirty="0"/>
              <a:t>ここではクムクムの動きを処理してるのだ。上から順に見ていくのだ。</a:t>
            </a:r>
            <a:endParaRPr kumimoji="1" lang="en-US" altLang="ja-JP" dirty="0"/>
          </a:p>
        </p:txBody>
      </p:sp>
      <p:sp>
        <p:nvSpPr>
          <p:cNvPr id="4" name="スライド番号プレースホルダー 3">
            <a:extLst>
              <a:ext uri="{FF2B5EF4-FFF2-40B4-BE49-F238E27FC236}">
                <a16:creationId xmlns:a16="http://schemas.microsoft.com/office/drawing/2014/main" id="{86870835-E4F6-A10C-1086-98BC405EABA3}"/>
              </a:ext>
            </a:extLst>
          </p:cNvPr>
          <p:cNvSpPr>
            <a:spLocks noGrp="1"/>
          </p:cNvSpPr>
          <p:nvPr>
            <p:ph type="sldNum" sz="quarter" idx="5"/>
          </p:nvPr>
        </p:nvSpPr>
        <p:spPr/>
        <p:txBody>
          <a:bodyPr/>
          <a:lstStyle/>
          <a:p>
            <a:fld id="{0759FB59-66F4-445F-8AE0-44C0AE319471}" type="slidenum">
              <a:rPr kumimoji="1" lang="ja-JP" altLang="en-US" smtClean="0"/>
              <a:t>48</a:t>
            </a:fld>
            <a:endParaRPr kumimoji="1" lang="ja-JP" altLang="en-US"/>
          </a:p>
        </p:txBody>
      </p:sp>
    </p:spTree>
    <p:extLst>
      <p:ext uri="{BB962C8B-B14F-4D97-AF65-F5344CB8AC3E}">
        <p14:creationId xmlns:p14="http://schemas.microsoft.com/office/powerpoint/2010/main" val="26261284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15FC2-19E1-3E4D-B18E-84F346AEAD6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8D61D91-C378-ED71-299A-A147A71C44E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C60474F-D04D-6031-836A-226F173DC4AC}"/>
              </a:ext>
            </a:extLst>
          </p:cNvPr>
          <p:cNvSpPr>
            <a:spLocks noGrp="1"/>
          </p:cNvSpPr>
          <p:nvPr>
            <p:ph type="body" idx="1"/>
          </p:nvPr>
        </p:nvSpPr>
        <p:spPr/>
        <p:txBody>
          <a:bodyPr/>
          <a:lstStyle/>
          <a:p>
            <a:r>
              <a:rPr kumimoji="1" lang="ja-JP" altLang="en-US" dirty="0"/>
              <a:t>それぞれこんな感じのブロックで構成されてるのだ。</a:t>
            </a:r>
            <a:endParaRPr kumimoji="1" lang="en-US" altLang="ja-JP" dirty="0"/>
          </a:p>
          <a:p>
            <a:r>
              <a:rPr kumimoji="1" lang="ja-JP" altLang="en-US" dirty="0"/>
              <a:t>左右両方やってることは足が左右反転してるだけだから、</a:t>
            </a:r>
            <a:r>
              <a:rPr kumimoji="1" lang="en-US" altLang="ja-JP" dirty="0"/>
              <a:t>30</a:t>
            </a:r>
            <a:r>
              <a:rPr kumimoji="1" lang="ja-JP" altLang="en-US" dirty="0"/>
              <a:t>度回転の方で説明するのだ。</a:t>
            </a:r>
            <a:endParaRPr kumimoji="1" lang="en-US" altLang="ja-JP" dirty="0"/>
          </a:p>
          <a:p>
            <a:r>
              <a:rPr kumimoji="1" lang="ja-JP" altLang="en-US" dirty="0"/>
              <a:t>まずは回転回数を画面に表示してるんだけど、これはデバッグ用だからあんまり気にしないでほしいのだ。</a:t>
            </a:r>
            <a:endParaRPr kumimoji="1" lang="en-US" altLang="ja-JP" dirty="0"/>
          </a:p>
          <a:p>
            <a:r>
              <a:rPr kumimoji="1" lang="ja-JP" altLang="en-US" dirty="0"/>
              <a:t>次に、各モーターを初期位置に戻して、この「回数回繰り返す」の中がメインパートなのだ。</a:t>
            </a:r>
            <a:endParaRPr kumimoji="1" lang="en-US" altLang="ja-JP" dirty="0"/>
          </a:p>
          <a:p>
            <a:r>
              <a:rPr kumimoji="1" lang="ja-JP" altLang="en-US" dirty="0"/>
              <a:t>左足を上げる。右太ももの角度を変える、すなわち左足を前に出す。左足を下す右太ももの角度を</a:t>
            </a:r>
            <a:r>
              <a:rPr kumimoji="1" lang="en-US" altLang="ja-JP" dirty="0"/>
              <a:t>90</a:t>
            </a:r>
            <a:r>
              <a:rPr kumimoji="1" lang="ja-JP" altLang="en-US" dirty="0"/>
              <a:t>度に戻す。角度を</a:t>
            </a:r>
            <a:r>
              <a:rPr kumimoji="1" lang="en-US" altLang="ja-JP" dirty="0"/>
              <a:t>30</a:t>
            </a:r>
            <a:r>
              <a:rPr kumimoji="1" lang="ja-JP" altLang="en-US" dirty="0"/>
              <a:t>度変える。</a:t>
            </a:r>
            <a:endParaRPr kumimoji="1" lang="en-US" altLang="ja-JP" dirty="0"/>
          </a:p>
          <a:p>
            <a:r>
              <a:rPr kumimoji="1" lang="ja-JP" altLang="en-US" dirty="0"/>
              <a:t>二つ補足説明をするのだ。</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一つ目は、左足を前に出すときになんで「</a:t>
            </a:r>
            <a:r>
              <a:rPr kumimoji="1" lang="en-US" altLang="ja-JP" dirty="0"/>
              <a:t>motor foot forward</a:t>
            </a:r>
            <a:r>
              <a:rPr kumimoji="1" lang="ja-JP" altLang="en-US" dirty="0"/>
              <a:t>」を使わないのかなのだ。それは</a:t>
            </a:r>
            <a:r>
              <a:rPr kumimoji="1" lang="en-US" altLang="ja-JP" dirty="0"/>
              <a:t>motor foot forward</a:t>
            </a:r>
            <a:r>
              <a:rPr kumimoji="1" lang="ja-JP" altLang="en-US" dirty="0"/>
              <a:t>が何度動くのかわからないからなのだ。何度かわからないブロックを使うと角度の計算と実際に向いてる角度が合わなくなってしまって、何度も回るうちに大きな差になってしまうのだ。</a:t>
            </a:r>
            <a:endParaRPr kumimoji="1" lang="en-US" altLang="ja-JP" dirty="0"/>
          </a:p>
          <a:p>
            <a:r>
              <a:rPr kumimoji="1" lang="ja-JP" altLang="en-US" dirty="0"/>
              <a:t>二つ目は、角度を変えるのに変数を変えるブロックじゃなくてわざわざ定義関数を使ってることなのだ。これのには意味があるのだ。それを今から説明するのだ。</a:t>
            </a:r>
          </a:p>
        </p:txBody>
      </p:sp>
      <p:sp>
        <p:nvSpPr>
          <p:cNvPr id="4" name="スライド番号プレースホルダー 3">
            <a:extLst>
              <a:ext uri="{FF2B5EF4-FFF2-40B4-BE49-F238E27FC236}">
                <a16:creationId xmlns:a16="http://schemas.microsoft.com/office/drawing/2014/main" id="{68EF7FF4-DF69-FCB7-5518-B4BAECD93D03}"/>
              </a:ext>
            </a:extLst>
          </p:cNvPr>
          <p:cNvSpPr>
            <a:spLocks noGrp="1"/>
          </p:cNvSpPr>
          <p:nvPr>
            <p:ph type="sldNum" sz="quarter" idx="5"/>
          </p:nvPr>
        </p:nvSpPr>
        <p:spPr/>
        <p:txBody>
          <a:bodyPr/>
          <a:lstStyle/>
          <a:p>
            <a:fld id="{0759FB59-66F4-445F-8AE0-44C0AE319471}" type="slidenum">
              <a:rPr kumimoji="1" lang="ja-JP" altLang="en-US" smtClean="0"/>
              <a:t>49</a:t>
            </a:fld>
            <a:endParaRPr kumimoji="1" lang="ja-JP" altLang="en-US"/>
          </a:p>
        </p:txBody>
      </p:sp>
    </p:spTree>
    <p:extLst>
      <p:ext uri="{BB962C8B-B14F-4D97-AF65-F5344CB8AC3E}">
        <p14:creationId xmlns:p14="http://schemas.microsoft.com/office/powerpoint/2010/main" val="352337714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41D2F-B555-C748-1502-D2FFDEC3118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8F023F2-CC34-0F10-7E39-A4DDA65533C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8C83B0F-FC0A-07F2-F859-83702D55A348}"/>
              </a:ext>
            </a:extLst>
          </p:cNvPr>
          <p:cNvSpPr>
            <a:spLocks noGrp="1"/>
          </p:cNvSpPr>
          <p:nvPr>
            <p:ph type="body" idx="1"/>
          </p:nvPr>
        </p:nvSpPr>
        <p:spPr/>
        <p:txBody>
          <a:bodyPr/>
          <a:lstStyle/>
          <a:p>
            <a:r>
              <a:rPr kumimoji="1" lang="ja-JP" altLang="en-US" dirty="0"/>
              <a:t>角度関数の中身はこんな感じなのだ。</a:t>
            </a:r>
            <a:endParaRPr kumimoji="1" lang="en-US" altLang="ja-JP" dirty="0"/>
          </a:p>
          <a:p>
            <a:r>
              <a:rPr kumimoji="1" lang="ja-JP" altLang="en-US" dirty="0"/>
              <a:t>濃いオレンジのリストに追加するブロックは製作中にデバッグ用に使てたリストだから無視してほしいのだ。</a:t>
            </a:r>
            <a:endParaRPr kumimoji="1" lang="en-US" altLang="ja-JP" dirty="0"/>
          </a:p>
          <a:p>
            <a:r>
              <a:rPr kumimoji="1" lang="ja-JP" altLang="en-US" dirty="0"/>
              <a:t>初めに変数角度を、引数として渡された数値分、</a:t>
            </a:r>
            <a:r>
              <a:rPr kumimoji="1" lang="en-US" altLang="ja-JP" dirty="0"/>
              <a:t>30</a:t>
            </a:r>
            <a:r>
              <a:rPr kumimoji="1" lang="ja-JP" altLang="en-US" dirty="0"/>
              <a:t>か</a:t>
            </a:r>
            <a:r>
              <a:rPr kumimoji="1" lang="en-US" altLang="ja-JP" dirty="0"/>
              <a:t>-30</a:t>
            </a:r>
            <a:r>
              <a:rPr kumimoji="1" lang="ja-JP" altLang="en-US" dirty="0"/>
              <a:t>かずつ変えるのだ。</a:t>
            </a:r>
            <a:endParaRPr kumimoji="1" lang="en-US" altLang="ja-JP" dirty="0"/>
          </a:p>
          <a:p>
            <a:r>
              <a:rPr kumimoji="1" lang="ja-JP" altLang="en-US" dirty="0"/>
              <a:t>そして変わった変数角度が</a:t>
            </a:r>
            <a:r>
              <a:rPr kumimoji="1" lang="en-US" altLang="ja-JP" dirty="0"/>
              <a:t>0</a:t>
            </a:r>
            <a:r>
              <a:rPr kumimoji="1" lang="ja-JP" altLang="en-US" dirty="0"/>
              <a:t>未満だったら</a:t>
            </a:r>
            <a:r>
              <a:rPr kumimoji="1" lang="en-US" altLang="ja-JP" dirty="0"/>
              <a:t>360</a:t>
            </a:r>
            <a:r>
              <a:rPr kumimoji="1" lang="ja-JP" altLang="en-US" dirty="0"/>
              <a:t>を足してプラスに変えるのだ。もし変数角度が</a:t>
            </a:r>
            <a:r>
              <a:rPr kumimoji="1" lang="en-US" altLang="ja-JP" dirty="0"/>
              <a:t>360</a:t>
            </a:r>
            <a:r>
              <a:rPr kumimoji="1" lang="ja-JP" altLang="en-US" dirty="0"/>
              <a:t>を超えてた時のために、変数角度を</a:t>
            </a:r>
            <a:r>
              <a:rPr kumimoji="1" lang="en-US" altLang="ja-JP" dirty="0"/>
              <a:t>360</a:t>
            </a:r>
            <a:r>
              <a:rPr kumimoji="1" lang="ja-JP" altLang="en-US" dirty="0"/>
              <a:t>で割った余りを変数角度に代入するようにしてるのだ</a:t>
            </a:r>
          </a:p>
        </p:txBody>
      </p:sp>
      <p:sp>
        <p:nvSpPr>
          <p:cNvPr id="4" name="スライド番号プレースホルダー 3">
            <a:extLst>
              <a:ext uri="{FF2B5EF4-FFF2-40B4-BE49-F238E27FC236}">
                <a16:creationId xmlns:a16="http://schemas.microsoft.com/office/drawing/2014/main" id="{A4603CE1-8769-89B7-0C0D-B6AE557DDBA0}"/>
              </a:ext>
            </a:extLst>
          </p:cNvPr>
          <p:cNvSpPr>
            <a:spLocks noGrp="1"/>
          </p:cNvSpPr>
          <p:nvPr>
            <p:ph type="sldNum" sz="quarter" idx="5"/>
          </p:nvPr>
        </p:nvSpPr>
        <p:spPr/>
        <p:txBody>
          <a:bodyPr/>
          <a:lstStyle/>
          <a:p>
            <a:fld id="{0759FB59-66F4-445F-8AE0-44C0AE319471}" type="slidenum">
              <a:rPr kumimoji="1" lang="ja-JP" altLang="en-US" smtClean="0"/>
              <a:t>50</a:t>
            </a:fld>
            <a:endParaRPr kumimoji="1" lang="ja-JP" altLang="en-US"/>
          </a:p>
        </p:txBody>
      </p:sp>
    </p:spTree>
    <p:extLst>
      <p:ext uri="{BB962C8B-B14F-4D97-AF65-F5344CB8AC3E}">
        <p14:creationId xmlns:p14="http://schemas.microsoft.com/office/powerpoint/2010/main" val="147588939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6303C-2A65-E7BE-4A3B-48746A3C7A2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EB48E5C-DF8A-32B7-03E1-6DFE4E093BF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0EEA5A1-0F0F-4AA6-7007-7C7640056F14}"/>
              </a:ext>
            </a:extLst>
          </p:cNvPr>
          <p:cNvSpPr>
            <a:spLocks noGrp="1"/>
          </p:cNvSpPr>
          <p:nvPr>
            <p:ph type="body" idx="1"/>
          </p:nvPr>
        </p:nvSpPr>
        <p:spPr/>
        <p:txBody>
          <a:bodyPr/>
          <a:lstStyle/>
          <a:p>
            <a:r>
              <a:rPr kumimoji="1" lang="ja-JP" altLang="en-US" dirty="0"/>
              <a:t>それぞれこんな感じのブロックで構成されてるのだ。</a:t>
            </a:r>
            <a:endParaRPr kumimoji="1" lang="en-US" altLang="ja-JP" dirty="0"/>
          </a:p>
          <a:p>
            <a:r>
              <a:rPr kumimoji="1" lang="ja-JP" altLang="en-US" dirty="0"/>
              <a:t>左右両方やってることは足が左右反転してるだけだから、</a:t>
            </a:r>
            <a:r>
              <a:rPr kumimoji="1" lang="en-US" altLang="ja-JP" dirty="0"/>
              <a:t>30</a:t>
            </a:r>
            <a:r>
              <a:rPr kumimoji="1" lang="ja-JP" altLang="en-US" dirty="0"/>
              <a:t>度回転の方で説明するのだ。</a:t>
            </a:r>
            <a:endParaRPr kumimoji="1" lang="en-US" altLang="ja-JP" dirty="0"/>
          </a:p>
          <a:p>
            <a:r>
              <a:rPr kumimoji="1" lang="ja-JP" altLang="en-US" dirty="0"/>
              <a:t>まずは回転回数を画面に表示してるんだけど、これはデバッグ用だからあんまり気にしないでほしいのだ。</a:t>
            </a:r>
            <a:endParaRPr kumimoji="1" lang="en-US" altLang="ja-JP" dirty="0"/>
          </a:p>
          <a:p>
            <a:r>
              <a:rPr kumimoji="1" lang="ja-JP" altLang="en-US" dirty="0"/>
              <a:t>次に、各モーターを初期位置に戻して、この「回数回繰り返す」の中がメインパートなのだ。</a:t>
            </a:r>
            <a:endParaRPr kumimoji="1" lang="en-US" altLang="ja-JP" dirty="0"/>
          </a:p>
          <a:p>
            <a:r>
              <a:rPr kumimoji="1" lang="ja-JP" altLang="en-US" dirty="0"/>
              <a:t>左足を上げる。右太ももの角度を変える、すなわち左足を前に出す。左足を下す右太ももの角度を</a:t>
            </a:r>
            <a:r>
              <a:rPr kumimoji="1" lang="en-US" altLang="ja-JP" dirty="0"/>
              <a:t>90</a:t>
            </a:r>
            <a:r>
              <a:rPr kumimoji="1" lang="ja-JP" altLang="en-US" dirty="0"/>
              <a:t>度に戻す。角度を</a:t>
            </a:r>
            <a:r>
              <a:rPr kumimoji="1" lang="en-US" altLang="ja-JP" dirty="0"/>
              <a:t>30</a:t>
            </a:r>
            <a:r>
              <a:rPr kumimoji="1" lang="ja-JP" altLang="en-US" dirty="0"/>
              <a:t>度変える。</a:t>
            </a:r>
            <a:endParaRPr kumimoji="1" lang="en-US" altLang="ja-JP" dirty="0"/>
          </a:p>
          <a:p>
            <a:r>
              <a:rPr kumimoji="1" lang="ja-JP" altLang="en-US" dirty="0"/>
              <a:t>二つ補足説明をするのだ。</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一つ目は、左足を前に出すときになんで「</a:t>
            </a:r>
            <a:r>
              <a:rPr kumimoji="1" lang="en-US" altLang="ja-JP" dirty="0"/>
              <a:t>motor foot forward</a:t>
            </a:r>
            <a:r>
              <a:rPr kumimoji="1" lang="ja-JP" altLang="en-US" dirty="0"/>
              <a:t>」を使わないのかなのだ。それは</a:t>
            </a:r>
            <a:r>
              <a:rPr kumimoji="1" lang="en-US" altLang="ja-JP" dirty="0"/>
              <a:t>motor foot forward</a:t>
            </a:r>
            <a:r>
              <a:rPr kumimoji="1" lang="ja-JP" altLang="en-US" dirty="0"/>
              <a:t>が何度動くのかわからないからなのだ。何度かわからないブロックを使うと角度の計算と実際に向いてる角度が合わなくなってしまって、何度も回るうちに大きな差になってしまうのだ。</a:t>
            </a:r>
            <a:endParaRPr kumimoji="1" lang="en-US" altLang="ja-JP" dirty="0"/>
          </a:p>
          <a:p>
            <a:r>
              <a:rPr kumimoji="1" lang="ja-JP" altLang="en-US" dirty="0"/>
              <a:t>二つ目は、角度を変えるのに変数を変えるブロックじゃなくてわざわざ定義関数を使ってることなのだ。これのには意味があるのだ。それを今から説明するのだ。</a:t>
            </a:r>
          </a:p>
        </p:txBody>
      </p:sp>
      <p:sp>
        <p:nvSpPr>
          <p:cNvPr id="4" name="スライド番号プレースホルダー 3">
            <a:extLst>
              <a:ext uri="{FF2B5EF4-FFF2-40B4-BE49-F238E27FC236}">
                <a16:creationId xmlns:a16="http://schemas.microsoft.com/office/drawing/2014/main" id="{DAE083B3-5945-ACC4-5EE9-D64E513B1882}"/>
              </a:ext>
            </a:extLst>
          </p:cNvPr>
          <p:cNvSpPr>
            <a:spLocks noGrp="1"/>
          </p:cNvSpPr>
          <p:nvPr>
            <p:ph type="sldNum" sz="quarter" idx="5"/>
          </p:nvPr>
        </p:nvSpPr>
        <p:spPr/>
        <p:txBody>
          <a:bodyPr/>
          <a:lstStyle/>
          <a:p>
            <a:fld id="{0759FB59-66F4-445F-8AE0-44C0AE319471}" type="slidenum">
              <a:rPr kumimoji="1" lang="ja-JP" altLang="en-US" smtClean="0"/>
              <a:t>51</a:t>
            </a:fld>
            <a:endParaRPr kumimoji="1" lang="ja-JP" altLang="en-US"/>
          </a:p>
        </p:txBody>
      </p:sp>
    </p:spTree>
    <p:extLst>
      <p:ext uri="{BB962C8B-B14F-4D97-AF65-F5344CB8AC3E}">
        <p14:creationId xmlns:p14="http://schemas.microsoft.com/office/powerpoint/2010/main" val="352138466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19CAF-7E8F-CBA0-D02F-5F3A3CE5E57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EA6EE8B-0398-CD37-2DA3-2D252A25058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A26E262-3087-20A4-637C-E4315967D927}"/>
              </a:ext>
            </a:extLst>
          </p:cNvPr>
          <p:cNvSpPr>
            <a:spLocks noGrp="1"/>
          </p:cNvSpPr>
          <p:nvPr>
            <p:ph type="body" idx="1"/>
          </p:nvPr>
        </p:nvSpPr>
        <p:spPr/>
        <p:txBody>
          <a:bodyPr/>
          <a:lstStyle/>
          <a:p>
            <a:r>
              <a:rPr kumimoji="1" lang="ja-JP" altLang="en-US" dirty="0"/>
              <a:t>次にこのフェーズ。メッセージ</a:t>
            </a:r>
            <a:r>
              <a:rPr kumimoji="1" lang="en-US" altLang="ja-JP" dirty="0"/>
              <a:t>1</a:t>
            </a:r>
            <a:r>
              <a:rPr kumimoji="1" lang="ja-JP" altLang="en-US" dirty="0"/>
              <a:t>を受け取るのはここだけだから、さっきの下につなげてもよかったんだけど、見やすさ重視でこうしたのだ。</a:t>
            </a:r>
            <a:endParaRPr kumimoji="1" lang="en-US" altLang="ja-JP" dirty="0"/>
          </a:p>
          <a:p>
            <a:r>
              <a:rPr kumimoji="1" lang="ja-JP" altLang="en-US" dirty="0"/>
              <a:t>ここではクムクムの動きを処理してるのだ。上から順に見ていくのだ。</a:t>
            </a:r>
            <a:endParaRPr kumimoji="1" lang="en-US" altLang="ja-JP" dirty="0"/>
          </a:p>
        </p:txBody>
      </p:sp>
      <p:sp>
        <p:nvSpPr>
          <p:cNvPr id="4" name="スライド番号プレースホルダー 3">
            <a:extLst>
              <a:ext uri="{FF2B5EF4-FFF2-40B4-BE49-F238E27FC236}">
                <a16:creationId xmlns:a16="http://schemas.microsoft.com/office/drawing/2014/main" id="{43487F96-8949-9135-6C74-D5F9C46D2ECD}"/>
              </a:ext>
            </a:extLst>
          </p:cNvPr>
          <p:cNvSpPr>
            <a:spLocks noGrp="1"/>
          </p:cNvSpPr>
          <p:nvPr>
            <p:ph type="sldNum" sz="quarter" idx="5"/>
          </p:nvPr>
        </p:nvSpPr>
        <p:spPr/>
        <p:txBody>
          <a:bodyPr/>
          <a:lstStyle/>
          <a:p>
            <a:fld id="{0759FB59-66F4-445F-8AE0-44C0AE319471}" type="slidenum">
              <a:rPr kumimoji="1" lang="ja-JP" altLang="en-US" smtClean="0"/>
              <a:t>52</a:t>
            </a:fld>
            <a:endParaRPr kumimoji="1" lang="ja-JP" altLang="en-US"/>
          </a:p>
        </p:txBody>
      </p:sp>
    </p:spTree>
    <p:extLst>
      <p:ext uri="{BB962C8B-B14F-4D97-AF65-F5344CB8AC3E}">
        <p14:creationId xmlns:p14="http://schemas.microsoft.com/office/powerpoint/2010/main" val="427666907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612DB-DED2-6613-6080-021C4A8F97F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5EBBDB8-5FF0-DCBC-2626-155BFCE2497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812A1EB-3CA3-4515-980C-0C9852998CCA}"/>
              </a:ext>
            </a:extLst>
          </p:cNvPr>
          <p:cNvSpPr>
            <a:spLocks noGrp="1"/>
          </p:cNvSpPr>
          <p:nvPr>
            <p:ph type="body" idx="1"/>
          </p:nvPr>
        </p:nvSpPr>
        <p:spPr/>
        <p:txBody>
          <a:bodyPr/>
          <a:lstStyle/>
          <a:p>
            <a:r>
              <a:rPr kumimoji="1" lang="ja-JP" altLang="en-US" dirty="0"/>
              <a:t>次にこのフェーズ。メッセージ</a:t>
            </a:r>
            <a:r>
              <a:rPr kumimoji="1" lang="en-US" altLang="ja-JP" dirty="0"/>
              <a:t>1</a:t>
            </a:r>
            <a:r>
              <a:rPr kumimoji="1" lang="ja-JP" altLang="en-US" dirty="0"/>
              <a:t>を受け取るのはここだけだから、さっきの下につなげてもよかったんだけど、見やすさ重視でこうしたのだ。</a:t>
            </a:r>
            <a:endParaRPr kumimoji="1" lang="en-US" altLang="ja-JP" dirty="0"/>
          </a:p>
          <a:p>
            <a:r>
              <a:rPr kumimoji="1" lang="ja-JP" altLang="en-US" dirty="0"/>
              <a:t>ここではクムクムの動きを処理してるのだ。上から順に見ていくのだ。</a:t>
            </a:r>
            <a:endParaRPr kumimoji="1" lang="en-US" altLang="ja-JP" dirty="0"/>
          </a:p>
        </p:txBody>
      </p:sp>
      <p:sp>
        <p:nvSpPr>
          <p:cNvPr id="4" name="スライド番号プレースホルダー 3">
            <a:extLst>
              <a:ext uri="{FF2B5EF4-FFF2-40B4-BE49-F238E27FC236}">
                <a16:creationId xmlns:a16="http://schemas.microsoft.com/office/drawing/2014/main" id="{D343FAC9-CE1E-2B8A-49EF-B4822F4E8D6B}"/>
              </a:ext>
            </a:extLst>
          </p:cNvPr>
          <p:cNvSpPr>
            <a:spLocks noGrp="1"/>
          </p:cNvSpPr>
          <p:nvPr>
            <p:ph type="sldNum" sz="quarter" idx="5"/>
          </p:nvPr>
        </p:nvSpPr>
        <p:spPr/>
        <p:txBody>
          <a:bodyPr/>
          <a:lstStyle/>
          <a:p>
            <a:fld id="{0759FB59-66F4-445F-8AE0-44C0AE319471}" type="slidenum">
              <a:rPr kumimoji="1" lang="ja-JP" altLang="en-US" smtClean="0"/>
              <a:t>53</a:t>
            </a:fld>
            <a:endParaRPr kumimoji="1" lang="ja-JP" altLang="en-US"/>
          </a:p>
        </p:txBody>
      </p:sp>
    </p:spTree>
    <p:extLst>
      <p:ext uri="{BB962C8B-B14F-4D97-AF65-F5344CB8AC3E}">
        <p14:creationId xmlns:p14="http://schemas.microsoft.com/office/powerpoint/2010/main" val="213328952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9277D-F2E8-B4A8-E672-6473D65A8DF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D87C2F6-BA0E-00A4-D715-15A96144ACC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C763AC6-F736-4DBC-BA16-9283D2FF6BC4}"/>
              </a:ext>
            </a:extLst>
          </p:cNvPr>
          <p:cNvSpPr>
            <a:spLocks noGrp="1"/>
          </p:cNvSpPr>
          <p:nvPr>
            <p:ph type="body" idx="1"/>
          </p:nvPr>
        </p:nvSpPr>
        <p:spPr/>
        <p:txBody>
          <a:bodyPr/>
          <a:lstStyle/>
          <a:p>
            <a:r>
              <a:rPr kumimoji="1" lang="ja-JP" altLang="en-US" dirty="0"/>
              <a:t>ってことで、メインパート、障害物回避とか歩く制御の説明をするのだ。</a:t>
            </a:r>
            <a:endParaRPr kumimoji="1" lang="en-US" altLang="ja-JP" dirty="0"/>
          </a:p>
          <a:p>
            <a:r>
              <a:rPr kumimoji="1" lang="ja-JP" altLang="en-US" dirty="0"/>
              <a:t>なんだけど、ここは定義関数ばっかりで、見た目はチョーシンプルなのだ。</a:t>
            </a:r>
            <a:endParaRPr kumimoji="1" lang="en-US" altLang="ja-JP" dirty="0"/>
          </a:p>
          <a:p>
            <a:r>
              <a:rPr kumimoji="1" lang="ja-JP" altLang="en-US" dirty="0"/>
              <a:t>まずは障害物回避の定義関数を説明するのだ。</a:t>
            </a:r>
            <a:endParaRPr kumimoji="1" lang="en-US" altLang="ja-JP" dirty="0"/>
          </a:p>
        </p:txBody>
      </p:sp>
      <p:sp>
        <p:nvSpPr>
          <p:cNvPr id="4" name="スライド番号プレースホルダー 3">
            <a:extLst>
              <a:ext uri="{FF2B5EF4-FFF2-40B4-BE49-F238E27FC236}">
                <a16:creationId xmlns:a16="http://schemas.microsoft.com/office/drawing/2014/main" id="{0E7A1567-9726-6CE3-9FE3-BCC1806E6DC5}"/>
              </a:ext>
            </a:extLst>
          </p:cNvPr>
          <p:cNvSpPr>
            <a:spLocks noGrp="1"/>
          </p:cNvSpPr>
          <p:nvPr>
            <p:ph type="sldNum" sz="quarter" idx="5"/>
          </p:nvPr>
        </p:nvSpPr>
        <p:spPr/>
        <p:txBody>
          <a:bodyPr/>
          <a:lstStyle/>
          <a:p>
            <a:fld id="{0759FB59-66F4-445F-8AE0-44C0AE319471}" type="slidenum">
              <a:rPr kumimoji="1" lang="ja-JP" altLang="en-US" smtClean="0"/>
              <a:t>54</a:t>
            </a:fld>
            <a:endParaRPr kumimoji="1" lang="ja-JP" altLang="en-US"/>
          </a:p>
        </p:txBody>
      </p:sp>
    </p:spTree>
    <p:extLst>
      <p:ext uri="{BB962C8B-B14F-4D97-AF65-F5344CB8AC3E}">
        <p14:creationId xmlns:p14="http://schemas.microsoft.com/office/powerpoint/2010/main" val="355370117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0B3A9-3FA2-79C6-ACB6-40B4B213E6B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706C27D-2226-7B7D-0B6D-A723D8EC1BA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DA9E853-A44B-C15B-BBBF-8E9C308FE53F}"/>
              </a:ext>
            </a:extLst>
          </p:cNvPr>
          <p:cNvSpPr>
            <a:spLocks noGrp="1"/>
          </p:cNvSpPr>
          <p:nvPr>
            <p:ph type="body" idx="1"/>
          </p:nvPr>
        </p:nvSpPr>
        <p:spPr/>
        <p:txBody>
          <a:bodyPr/>
          <a:lstStyle/>
          <a:p>
            <a:r>
              <a:rPr kumimoji="1" lang="ja-JP" altLang="en-US" dirty="0"/>
              <a:t>障害物回避の全体像はこんな感じなのだ。</a:t>
            </a:r>
            <a:endParaRPr kumimoji="1" lang="en-US" altLang="ja-JP" dirty="0"/>
          </a:p>
          <a:p>
            <a:r>
              <a:rPr kumimoji="1" lang="ja-JP" altLang="en-US" dirty="0"/>
              <a:t>距離センサーで距離を測る。距離が</a:t>
            </a:r>
            <a:r>
              <a:rPr kumimoji="1" lang="en-US" altLang="ja-JP" dirty="0"/>
              <a:t>50</a:t>
            </a:r>
            <a:r>
              <a:rPr kumimoji="1" lang="ja-JP" altLang="en-US" dirty="0"/>
              <a:t>未満なら「障害物検知」って表示したうえで</a:t>
            </a:r>
            <a:r>
              <a:rPr kumimoji="1" lang="en-US" altLang="ja-JP" dirty="0"/>
              <a:t>30</a:t>
            </a:r>
            <a:r>
              <a:rPr kumimoji="1" lang="ja-JP" altLang="en-US" dirty="0"/>
              <a:t>度回転、すなわち右回転するのだ。</a:t>
            </a:r>
            <a:endParaRPr kumimoji="1" lang="en-US" altLang="ja-JP" dirty="0"/>
          </a:p>
          <a:p>
            <a:r>
              <a:rPr kumimoji="1" lang="ja-JP" altLang="en-US" dirty="0"/>
              <a:t>それを距離が</a:t>
            </a:r>
            <a:r>
              <a:rPr kumimoji="1" lang="en-US" altLang="ja-JP" dirty="0"/>
              <a:t>50</a:t>
            </a:r>
            <a:r>
              <a:rPr kumimoji="1" lang="ja-JP" altLang="en-US" dirty="0"/>
              <a:t>以上になるまで繰り返すのだ。</a:t>
            </a:r>
          </a:p>
        </p:txBody>
      </p:sp>
      <p:sp>
        <p:nvSpPr>
          <p:cNvPr id="4" name="スライド番号プレースホルダー 3">
            <a:extLst>
              <a:ext uri="{FF2B5EF4-FFF2-40B4-BE49-F238E27FC236}">
                <a16:creationId xmlns:a16="http://schemas.microsoft.com/office/drawing/2014/main" id="{BA2F48D6-0DC6-A0FC-21C6-B493A05EF827}"/>
              </a:ext>
            </a:extLst>
          </p:cNvPr>
          <p:cNvSpPr>
            <a:spLocks noGrp="1"/>
          </p:cNvSpPr>
          <p:nvPr>
            <p:ph type="sldNum" sz="quarter" idx="5"/>
          </p:nvPr>
        </p:nvSpPr>
        <p:spPr/>
        <p:txBody>
          <a:bodyPr/>
          <a:lstStyle/>
          <a:p>
            <a:fld id="{0759FB59-66F4-445F-8AE0-44C0AE319471}" type="slidenum">
              <a:rPr kumimoji="1" lang="ja-JP" altLang="en-US" smtClean="0"/>
              <a:t>55</a:t>
            </a:fld>
            <a:endParaRPr kumimoji="1" lang="ja-JP" altLang="en-US"/>
          </a:p>
        </p:txBody>
      </p:sp>
    </p:spTree>
    <p:extLst>
      <p:ext uri="{BB962C8B-B14F-4D97-AF65-F5344CB8AC3E}">
        <p14:creationId xmlns:p14="http://schemas.microsoft.com/office/powerpoint/2010/main" val="307750787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B6AC5-15E3-D938-EEC7-858176ED2B6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33A4CEB-8682-9E23-206E-AFC06395042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67E499D-61F0-C652-C562-513721BE1D88}"/>
              </a:ext>
            </a:extLst>
          </p:cNvPr>
          <p:cNvSpPr>
            <a:spLocks noGrp="1"/>
          </p:cNvSpPr>
          <p:nvPr>
            <p:ph type="body" idx="1"/>
          </p:nvPr>
        </p:nvSpPr>
        <p:spPr/>
        <p:txBody>
          <a:bodyPr/>
          <a:lstStyle/>
          <a:p>
            <a:r>
              <a:rPr kumimoji="1" lang="ja-JP" altLang="en-US" dirty="0"/>
              <a:t>一歩の全体像はこんな感じなのだ。</a:t>
            </a:r>
            <a:endParaRPr kumimoji="1" lang="en-US" altLang="ja-JP" dirty="0"/>
          </a:p>
          <a:p>
            <a:r>
              <a:rPr kumimoji="1" lang="ja-JP" altLang="en-US" dirty="0"/>
              <a:t>やってることはとっても単純なのだ。右足を上げる。左太ももを</a:t>
            </a:r>
            <a:r>
              <a:rPr kumimoji="1" lang="en-US" altLang="ja-JP" dirty="0"/>
              <a:t>120</a:t>
            </a:r>
            <a:r>
              <a:rPr kumimoji="1" lang="ja-JP" altLang="en-US" dirty="0"/>
              <a:t>度に、左太ももを</a:t>
            </a:r>
            <a:r>
              <a:rPr kumimoji="1" lang="en-US" altLang="ja-JP" dirty="0"/>
              <a:t>120</a:t>
            </a:r>
            <a:r>
              <a:rPr kumimoji="1" lang="ja-JP" altLang="en-US" dirty="0"/>
              <a:t>度に、右足を</a:t>
            </a:r>
            <a:r>
              <a:rPr kumimoji="1" lang="en-US" altLang="ja-JP" dirty="0"/>
              <a:t>90</a:t>
            </a:r>
            <a:r>
              <a:rPr kumimoji="1" lang="ja-JP" altLang="en-US" dirty="0"/>
              <a:t>度にする。右足を下す。これを左右反転させてもう一回やるのだ。</a:t>
            </a:r>
            <a:endParaRPr kumimoji="1" lang="en-US" altLang="ja-JP" dirty="0"/>
          </a:p>
          <a:p>
            <a:r>
              <a:rPr kumimoji="1" lang="ja-JP" altLang="en-US" dirty="0"/>
              <a:t>歩き終わったら、</a:t>
            </a:r>
            <a:r>
              <a:rPr kumimoji="1" lang="en-US" altLang="ja-JP" dirty="0"/>
              <a:t>x</a:t>
            </a:r>
            <a:r>
              <a:rPr kumimoji="1" lang="ja-JP" altLang="en-US" dirty="0"/>
              <a:t>座標と</a:t>
            </a:r>
            <a:r>
              <a:rPr kumimoji="1" lang="en-US" altLang="ja-JP" dirty="0"/>
              <a:t>y</a:t>
            </a:r>
            <a:r>
              <a:rPr kumimoji="1" lang="ja-JP" altLang="en-US" dirty="0"/>
              <a:t>座標をそれぞれ更新するのだ。その時に「</a:t>
            </a:r>
            <a:r>
              <a:rPr kumimoji="1" lang="en-US" altLang="ja-JP" dirty="0"/>
              <a:t>x</a:t>
            </a:r>
            <a:r>
              <a:rPr kumimoji="1" lang="ja-JP" altLang="en-US" dirty="0"/>
              <a:t>座標を、角度のサインずつ変える」ってブロックを使ってるんだけど、これは本当に数学の通りだから説明は省くのだ。ただ、数学は</a:t>
            </a:r>
            <a:r>
              <a:rPr kumimoji="1" lang="en-US" altLang="ja-JP" dirty="0"/>
              <a:t>x</a:t>
            </a:r>
            <a:r>
              <a:rPr kumimoji="1" lang="ja-JP" altLang="en-US" dirty="0"/>
              <a:t>軸が</a:t>
            </a:r>
            <a:r>
              <a:rPr kumimoji="1" lang="en-US" altLang="ja-JP" dirty="0"/>
              <a:t>0</a:t>
            </a:r>
            <a:r>
              <a:rPr kumimoji="1" lang="ja-JP" altLang="en-US" dirty="0"/>
              <a:t>度方向</a:t>
            </a:r>
            <a:r>
              <a:rPr kumimoji="1" lang="en-US" altLang="ja-JP" dirty="0"/>
              <a:t>y</a:t>
            </a:r>
            <a:r>
              <a:rPr kumimoji="1" lang="ja-JP" altLang="en-US" dirty="0"/>
              <a:t>軸が</a:t>
            </a:r>
            <a:r>
              <a:rPr kumimoji="1" lang="en-US" altLang="ja-JP" dirty="0"/>
              <a:t>90</a:t>
            </a:r>
            <a:r>
              <a:rPr kumimoji="1" lang="ja-JP" altLang="en-US" dirty="0"/>
              <a:t>度方向に対し、</a:t>
            </a:r>
            <a:r>
              <a:rPr kumimoji="1" lang="en-US" altLang="ja-JP" dirty="0"/>
              <a:t>Scratch</a:t>
            </a:r>
            <a:r>
              <a:rPr kumimoji="1" lang="ja-JP" altLang="en-US" dirty="0"/>
              <a:t>では</a:t>
            </a:r>
            <a:r>
              <a:rPr kumimoji="1" lang="en-US" altLang="ja-JP" dirty="0"/>
              <a:t>x</a:t>
            </a:r>
            <a:r>
              <a:rPr kumimoji="1" lang="ja-JP" altLang="en-US" dirty="0"/>
              <a:t>軸が</a:t>
            </a:r>
            <a:r>
              <a:rPr kumimoji="1" lang="en-US" altLang="ja-JP" dirty="0"/>
              <a:t>90</a:t>
            </a:r>
            <a:r>
              <a:rPr kumimoji="1" lang="ja-JP" altLang="en-US" dirty="0"/>
              <a:t>度方向</a:t>
            </a:r>
            <a:r>
              <a:rPr kumimoji="1" lang="en-US" altLang="ja-JP" dirty="0"/>
              <a:t>y</a:t>
            </a:r>
            <a:r>
              <a:rPr kumimoji="1" lang="ja-JP" altLang="en-US" dirty="0"/>
              <a:t>軸が</a:t>
            </a:r>
            <a:r>
              <a:rPr kumimoji="1" lang="en-US" altLang="ja-JP" dirty="0"/>
              <a:t>0</a:t>
            </a:r>
            <a:r>
              <a:rPr kumimoji="1" lang="ja-JP" altLang="en-US" dirty="0"/>
              <a:t>度方向だから、数学とはサインとコサインが入れ替わってるのだ。</a:t>
            </a:r>
            <a:endParaRPr kumimoji="1" lang="en-US" altLang="ja-JP" dirty="0"/>
          </a:p>
        </p:txBody>
      </p:sp>
      <p:sp>
        <p:nvSpPr>
          <p:cNvPr id="4" name="スライド番号プレースホルダー 3">
            <a:extLst>
              <a:ext uri="{FF2B5EF4-FFF2-40B4-BE49-F238E27FC236}">
                <a16:creationId xmlns:a16="http://schemas.microsoft.com/office/drawing/2014/main" id="{E73EB481-2632-B2AD-E4E4-02A87A9D88D0}"/>
              </a:ext>
            </a:extLst>
          </p:cNvPr>
          <p:cNvSpPr>
            <a:spLocks noGrp="1"/>
          </p:cNvSpPr>
          <p:nvPr>
            <p:ph type="sldNum" sz="quarter" idx="5"/>
          </p:nvPr>
        </p:nvSpPr>
        <p:spPr/>
        <p:txBody>
          <a:bodyPr/>
          <a:lstStyle/>
          <a:p>
            <a:fld id="{0759FB59-66F4-445F-8AE0-44C0AE319471}" type="slidenum">
              <a:rPr kumimoji="1" lang="ja-JP" altLang="en-US" smtClean="0"/>
              <a:t>56</a:t>
            </a:fld>
            <a:endParaRPr kumimoji="1" lang="ja-JP" altLang="en-US"/>
          </a:p>
        </p:txBody>
      </p:sp>
    </p:spTree>
    <p:extLst>
      <p:ext uri="{BB962C8B-B14F-4D97-AF65-F5344CB8AC3E}">
        <p14:creationId xmlns:p14="http://schemas.microsoft.com/office/powerpoint/2010/main" val="255214481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6CBFA-551A-424B-5112-17C824BEB26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BC2E7E9-52EF-4871-8D10-96F771EABCA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BA89205-5146-1013-5285-7A6827D5F30D}"/>
              </a:ext>
            </a:extLst>
          </p:cNvPr>
          <p:cNvSpPr>
            <a:spLocks noGrp="1"/>
          </p:cNvSpPr>
          <p:nvPr>
            <p:ph type="body" idx="1"/>
          </p:nvPr>
        </p:nvSpPr>
        <p:spPr/>
        <p:txBody>
          <a:bodyPr/>
          <a:lstStyle/>
          <a:p>
            <a:r>
              <a:rPr kumimoji="1" lang="ja-JP" altLang="en-US" dirty="0"/>
              <a:t>変数定義ブロックについて説明するのだ。</a:t>
            </a:r>
            <a:endParaRPr kumimoji="1" lang="en-US" altLang="ja-JP" dirty="0"/>
          </a:p>
          <a:p>
            <a:r>
              <a:rPr kumimoji="1" lang="ja-JP" altLang="en-US" dirty="0"/>
              <a:t>全体像はこんな感じなのだ。</a:t>
            </a:r>
            <a:endParaRPr kumimoji="1" lang="en-US" altLang="ja-JP" dirty="0"/>
          </a:p>
          <a:p>
            <a:r>
              <a:rPr kumimoji="1" lang="ja-JP" altLang="en-US" dirty="0"/>
              <a:t>でも、大きく二つに分けられて、</a:t>
            </a:r>
          </a:p>
        </p:txBody>
      </p:sp>
      <p:sp>
        <p:nvSpPr>
          <p:cNvPr id="4" name="スライド番号プレースホルダー 3">
            <a:extLst>
              <a:ext uri="{FF2B5EF4-FFF2-40B4-BE49-F238E27FC236}">
                <a16:creationId xmlns:a16="http://schemas.microsoft.com/office/drawing/2014/main" id="{7EC6A2B4-167E-11D6-94CC-930998986CE3}"/>
              </a:ext>
            </a:extLst>
          </p:cNvPr>
          <p:cNvSpPr>
            <a:spLocks noGrp="1"/>
          </p:cNvSpPr>
          <p:nvPr>
            <p:ph type="sldNum" sz="quarter" idx="5"/>
          </p:nvPr>
        </p:nvSpPr>
        <p:spPr/>
        <p:txBody>
          <a:bodyPr/>
          <a:lstStyle/>
          <a:p>
            <a:fld id="{0759FB59-66F4-445F-8AE0-44C0AE319471}" type="slidenum">
              <a:rPr kumimoji="1" lang="ja-JP" altLang="en-US" smtClean="0"/>
              <a:t>57</a:t>
            </a:fld>
            <a:endParaRPr kumimoji="1" lang="ja-JP" altLang="en-US"/>
          </a:p>
        </p:txBody>
      </p:sp>
    </p:spTree>
    <p:extLst>
      <p:ext uri="{BB962C8B-B14F-4D97-AF65-F5344CB8AC3E}">
        <p14:creationId xmlns:p14="http://schemas.microsoft.com/office/powerpoint/2010/main" val="130708172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80E37-8FC1-4E48-FC6C-2FF8544BCD7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0A1D62D-22A5-7B98-962D-E8B4CC056DB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E66BA2-6AEB-3CD7-3D15-39FA664B820C}"/>
              </a:ext>
            </a:extLst>
          </p:cNvPr>
          <p:cNvSpPr>
            <a:spLocks noGrp="1"/>
          </p:cNvSpPr>
          <p:nvPr>
            <p:ph type="body" idx="1"/>
          </p:nvPr>
        </p:nvSpPr>
        <p:spPr/>
        <p:txBody>
          <a:bodyPr/>
          <a:lstStyle/>
          <a:p>
            <a:r>
              <a:rPr kumimoji="1" lang="ja-JP" altLang="en-US" dirty="0"/>
              <a:t>この部分を実行するのだ。</a:t>
            </a:r>
            <a:endParaRPr kumimoji="1" lang="en-US" altLang="ja-JP" dirty="0"/>
          </a:p>
          <a:p>
            <a:r>
              <a:rPr kumimoji="1" lang="ja-JP" altLang="en-US" dirty="0"/>
              <a:t>やってることは簡単で、ゴール座標と今の座標の</a:t>
            </a:r>
            <a:r>
              <a:rPr kumimoji="1" lang="en-US" altLang="ja-JP" dirty="0" err="1"/>
              <a:t>xy</a:t>
            </a:r>
            <a:r>
              <a:rPr kumimoji="1" lang="ja-JP" altLang="en-US" dirty="0"/>
              <a:t>それぞれの差を求めて、その値を使ってゴールまでの距離も求めてるのだ。</a:t>
            </a:r>
            <a:endParaRPr kumimoji="1" lang="en-US" altLang="ja-JP" dirty="0"/>
          </a:p>
          <a:p>
            <a:r>
              <a:rPr kumimoji="1" lang="ja-JP" altLang="en-US" dirty="0"/>
              <a:t>ゴールまでの距離を求めるのには、三平方の定理を使ってるのだ。</a:t>
            </a:r>
            <a:r>
              <a:rPr kumimoji="1" lang="en-US" altLang="ja-JP" dirty="0"/>
              <a:t>2</a:t>
            </a:r>
            <a:r>
              <a:rPr kumimoji="1" lang="ja-JP" altLang="en-US" dirty="0"/>
              <a:t>乗の和が斜辺の</a:t>
            </a:r>
            <a:r>
              <a:rPr kumimoji="1" lang="en-US" altLang="ja-JP" dirty="0"/>
              <a:t>2</a:t>
            </a:r>
            <a:r>
              <a:rPr kumimoji="1" lang="ja-JP" altLang="en-US" dirty="0"/>
              <a:t>乗に等しいてやつなのだ。</a:t>
            </a:r>
          </a:p>
        </p:txBody>
      </p:sp>
      <p:sp>
        <p:nvSpPr>
          <p:cNvPr id="4" name="スライド番号プレースホルダー 3">
            <a:extLst>
              <a:ext uri="{FF2B5EF4-FFF2-40B4-BE49-F238E27FC236}">
                <a16:creationId xmlns:a16="http://schemas.microsoft.com/office/drawing/2014/main" id="{7C76F75C-09C3-60DB-0451-5A0363E48998}"/>
              </a:ext>
            </a:extLst>
          </p:cNvPr>
          <p:cNvSpPr>
            <a:spLocks noGrp="1"/>
          </p:cNvSpPr>
          <p:nvPr>
            <p:ph type="sldNum" sz="quarter" idx="5"/>
          </p:nvPr>
        </p:nvSpPr>
        <p:spPr/>
        <p:txBody>
          <a:bodyPr/>
          <a:lstStyle/>
          <a:p>
            <a:fld id="{0759FB59-66F4-445F-8AE0-44C0AE319471}" type="slidenum">
              <a:rPr kumimoji="1" lang="ja-JP" altLang="en-US" smtClean="0"/>
              <a:t>58</a:t>
            </a:fld>
            <a:endParaRPr kumimoji="1" lang="ja-JP" altLang="en-US"/>
          </a:p>
        </p:txBody>
      </p:sp>
    </p:spTree>
    <p:extLst>
      <p:ext uri="{BB962C8B-B14F-4D97-AF65-F5344CB8AC3E}">
        <p14:creationId xmlns:p14="http://schemas.microsoft.com/office/powerpoint/2010/main" val="242601816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62261-17D0-BCD8-ADEB-459DFE83D7D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CB3E718-CBB1-84A5-089C-92A74135C3F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F87202D-3365-A1F9-F09C-68EA3EDA9376}"/>
              </a:ext>
            </a:extLst>
          </p:cNvPr>
          <p:cNvSpPr>
            <a:spLocks noGrp="1"/>
          </p:cNvSpPr>
          <p:nvPr>
            <p:ph type="body" idx="1"/>
          </p:nvPr>
        </p:nvSpPr>
        <p:spPr/>
        <p:txBody>
          <a:bodyPr/>
          <a:lstStyle/>
          <a:p>
            <a:r>
              <a:rPr kumimoji="1" lang="ja-JP" altLang="en-US" dirty="0"/>
              <a:t>ってことで、メインパート、障害物回避とか歩く制御の説明をするのだ。</a:t>
            </a:r>
            <a:endParaRPr kumimoji="1" lang="en-US" altLang="ja-JP" dirty="0"/>
          </a:p>
          <a:p>
            <a:r>
              <a:rPr kumimoji="1" lang="ja-JP" altLang="en-US" dirty="0"/>
              <a:t>なんだけど、ここは定義関数ばっかりで、見た目はチョーシンプルなのだ。</a:t>
            </a:r>
            <a:endParaRPr kumimoji="1" lang="en-US" altLang="ja-JP" dirty="0"/>
          </a:p>
          <a:p>
            <a:r>
              <a:rPr kumimoji="1" lang="ja-JP" altLang="en-US" dirty="0"/>
              <a:t>まずは障害物回避の定義関数を説明するのだ。</a:t>
            </a:r>
            <a:endParaRPr kumimoji="1" lang="en-US" altLang="ja-JP" dirty="0"/>
          </a:p>
        </p:txBody>
      </p:sp>
      <p:sp>
        <p:nvSpPr>
          <p:cNvPr id="4" name="スライド番号プレースホルダー 3">
            <a:extLst>
              <a:ext uri="{FF2B5EF4-FFF2-40B4-BE49-F238E27FC236}">
                <a16:creationId xmlns:a16="http://schemas.microsoft.com/office/drawing/2014/main" id="{2339ACD0-9C28-5263-9CBD-933F33358393}"/>
              </a:ext>
            </a:extLst>
          </p:cNvPr>
          <p:cNvSpPr>
            <a:spLocks noGrp="1"/>
          </p:cNvSpPr>
          <p:nvPr>
            <p:ph type="sldNum" sz="quarter" idx="5"/>
          </p:nvPr>
        </p:nvSpPr>
        <p:spPr/>
        <p:txBody>
          <a:bodyPr/>
          <a:lstStyle/>
          <a:p>
            <a:fld id="{0759FB59-66F4-445F-8AE0-44C0AE319471}" type="slidenum">
              <a:rPr kumimoji="1" lang="ja-JP" altLang="en-US" smtClean="0"/>
              <a:t>59</a:t>
            </a:fld>
            <a:endParaRPr kumimoji="1" lang="ja-JP" altLang="en-US"/>
          </a:p>
        </p:txBody>
      </p:sp>
    </p:spTree>
    <p:extLst>
      <p:ext uri="{BB962C8B-B14F-4D97-AF65-F5344CB8AC3E}">
        <p14:creationId xmlns:p14="http://schemas.microsoft.com/office/powerpoint/2010/main" val="183894856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1F797-FA2C-1087-00F6-3D57B32CC23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962CA70-6217-BD42-1DB5-8BA824DACE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0DD16DC-B738-A587-9EB6-4AA1E18105F2}"/>
              </a:ext>
            </a:extLst>
          </p:cNvPr>
          <p:cNvSpPr>
            <a:spLocks noGrp="1"/>
          </p:cNvSpPr>
          <p:nvPr>
            <p:ph type="body" idx="1"/>
          </p:nvPr>
        </p:nvSpPr>
        <p:spPr/>
        <p:txBody>
          <a:bodyPr/>
          <a:lstStyle/>
          <a:p>
            <a:r>
              <a:rPr kumimoji="1" lang="ja-JP" altLang="en-US" dirty="0"/>
              <a:t>次にこのフェーズ。メッセージ</a:t>
            </a:r>
            <a:r>
              <a:rPr kumimoji="1" lang="en-US" altLang="ja-JP" dirty="0"/>
              <a:t>1</a:t>
            </a:r>
            <a:r>
              <a:rPr kumimoji="1" lang="ja-JP" altLang="en-US" dirty="0"/>
              <a:t>を受け取るのはここだけだから、さっきの下につなげてもよかったんだけど、見やすさ重視でこうしたのだ。</a:t>
            </a:r>
            <a:endParaRPr kumimoji="1" lang="en-US" altLang="ja-JP" dirty="0"/>
          </a:p>
          <a:p>
            <a:r>
              <a:rPr kumimoji="1" lang="ja-JP" altLang="en-US" dirty="0"/>
              <a:t>ここではクムクムの動きを処理してるのだ。上から順に見ていくのだ。</a:t>
            </a:r>
            <a:endParaRPr kumimoji="1" lang="en-US" altLang="ja-JP" dirty="0"/>
          </a:p>
        </p:txBody>
      </p:sp>
      <p:sp>
        <p:nvSpPr>
          <p:cNvPr id="4" name="スライド番号プレースホルダー 3">
            <a:extLst>
              <a:ext uri="{FF2B5EF4-FFF2-40B4-BE49-F238E27FC236}">
                <a16:creationId xmlns:a16="http://schemas.microsoft.com/office/drawing/2014/main" id="{53AE633F-4A06-CC9C-7A31-90138E633177}"/>
              </a:ext>
            </a:extLst>
          </p:cNvPr>
          <p:cNvSpPr>
            <a:spLocks noGrp="1"/>
          </p:cNvSpPr>
          <p:nvPr>
            <p:ph type="sldNum" sz="quarter" idx="5"/>
          </p:nvPr>
        </p:nvSpPr>
        <p:spPr/>
        <p:txBody>
          <a:bodyPr/>
          <a:lstStyle/>
          <a:p>
            <a:fld id="{0759FB59-66F4-445F-8AE0-44C0AE319471}" type="slidenum">
              <a:rPr kumimoji="1" lang="ja-JP" altLang="en-US" smtClean="0"/>
              <a:t>60</a:t>
            </a:fld>
            <a:endParaRPr kumimoji="1" lang="ja-JP" altLang="en-US"/>
          </a:p>
        </p:txBody>
      </p:sp>
    </p:spTree>
    <p:extLst>
      <p:ext uri="{BB962C8B-B14F-4D97-AF65-F5344CB8AC3E}">
        <p14:creationId xmlns:p14="http://schemas.microsoft.com/office/powerpoint/2010/main" val="38914791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A6327-8F28-53FD-185A-03768736989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D7E9C8F-D484-1137-216D-3D09F6B2845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BDA69EC-7732-ED44-341D-34A6112F3667}"/>
              </a:ext>
            </a:extLst>
          </p:cNvPr>
          <p:cNvSpPr>
            <a:spLocks noGrp="1"/>
          </p:cNvSpPr>
          <p:nvPr>
            <p:ph type="body" idx="1"/>
          </p:nvPr>
        </p:nvSpPr>
        <p:spPr/>
        <p:txBody>
          <a:bodyPr/>
          <a:lstStyle/>
          <a:p>
            <a:r>
              <a:rPr kumimoji="1" lang="ja-JP" altLang="en-US" dirty="0"/>
              <a:t>クムクムの動きを制御するフェーズでは、これまで説明した内容を、ゴールまでの距離が</a:t>
            </a:r>
            <a:r>
              <a:rPr kumimoji="1" lang="en-US" altLang="ja-JP" dirty="0"/>
              <a:t>1</a:t>
            </a:r>
            <a:r>
              <a:rPr kumimoji="1" lang="ja-JP" altLang="en-US" dirty="0"/>
              <a:t>未満になるまで繰り返すのだ。</a:t>
            </a:r>
            <a:endParaRPr kumimoji="1" lang="en-US" altLang="ja-JP" dirty="0"/>
          </a:p>
          <a:p>
            <a:r>
              <a:rPr kumimoji="1" lang="ja-JP" altLang="en-US" dirty="0"/>
              <a:t>ゴールまでの距離が</a:t>
            </a:r>
            <a:r>
              <a:rPr kumimoji="1" lang="en-US" altLang="ja-JP" dirty="0"/>
              <a:t>1</a:t>
            </a:r>
            <a:r>
              <a:rPr kumimoji="1" lang="ja-JP" altLang="en-US" dirty="0"/>
              <a:t>未満になったら最後、</a:t>
            </a:r>
          </a:p>
        </p:txBody>
      </p:sp>
      <p:sp>
        <p:nvSpPr>
          <p:cNvPr id="4" name="スライド番号プレースホルダー 3">
            <a:extLst>
              <a:ext uri="{FF2B5EF4-FFF2-40B4-BE49-F238E27FC236}">
                <a16:creationId xmlns:a16="http://schemas.microsoft.com/office/drawing/2014/main" id="{88F8AB79-2C8D-5E8F-6BA9-D8A4D9625FB9}"/>
              </a:ext>
            </a:extLst>
          </p:cNvPr>
          <p:cNvSpPr>
            <a:spLocks noGrp="1"/>
          </p:cNvSpPr>
          <p:nvPr>
            <p:ph type="sldNum" sz="quarter" idx="5"/>
          </p:nvPr>
        </p:nvSpPr>
        <p:spPr/>
        <p:txBody>
          <a:bodyPr/>
          <a:lstStyle/>
          <a:p>
            <a:fld id="{0759FB59-66F4-445F-8AE0-44C0AE319471}" type="slidenum">
              <a:rPr kumimoji="1" lang="ja-JP" altLang="en-US" smtClean="0"/>
              <a:t>61</a:t>
            </a:fld>
            <a:endParaRPr kumimoji="1" lang="ja-JP" altLang="en-US"/>
          </a:p>
        </p:txBody>
      </p:sp>
    </p:spTree>
    <p:extLst>
      <p:ext uri="{BB962C8B-B14F-4D97-AF65-F5344CB8AC3E}">
        <p14:creationId xmlns:p14="http://schemas.microsoft.com/office/powerpoint/2010/main" val="223513929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4DB5C-0903-09C9-C14E-AF9EE05C7F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84AB941-1DAE-B9BB-2C5A-A52AEB5AB37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E23CF7E-BD65-548C-09D2-DF60A24DBCD4}"/>
              </a:ext>
            </a:extLst>
          </p:cNvPr>
          <p:cNvSpPr>
            <a:spLocks noGrp="1"/>
          </p:cNvSpPr>
          <p:nvPr>
            <p:ph type="body" idx="1"/>
          </p:nvPr>
        </p:nvSpPr>
        <p:spPr/>
        <p:txBody>
          <a:bodyPr/>
          <a:lstStyle/>
          <a:p>
            <a:r>
              <a:rPr kumimoji="1" lang="ja-JP" altLang="en-US" dirty="0"/>
              <a:t>校歌斉唱の中身はｎこうなってるのだ。</a:t>
            </a:r>
            <a:endParaRPr kumimoji="1" lang="en-US" altLang="ja-JP" dirty="0"/>
          </a:p>
          <a:p>
            <a:r>
              <a:rPr kumimoji="1" lang="ja-JP" altLang="en-US" dirty="0"/>
              <a:t>音を出すブロックでメロディーを作って、各パートごとに歌詞を表示するようにしてるのだ。音を出すブロックは音を出してる時間にかかわらず先先進んじゃう使用らしいから、</a:t>
            </a:r>
            <a:endParaRPr kumimoji="1" lang="en-US" altLang="ja-JP" dirty="0"/>
          </a:p>
          <a:p>
            <a:r>
              <a:rPr kumimoji="1" lang="ja-JP" altLang="en-US" dirty="0"/>
              <a:t>パートごとに定義ブロックで分けてるのは、ただただ縦一列にすると長すぎるのと、作者から受け取ったときにすでに分かれてたからなのだ。原作リスペクトなのだ。</a:t>
            </a:r>
            <a:endParaRPr kumimoji="1" lang="en-US" altLang="ja-JP" dirty="0"/>
          </a:p>
        </p:txBody>
      </p:sp>
      <p:sp>
        <p:nvSpPr>
          <p:cNvPr id="4" name="スライド番号プレースホルダー 3">
            <a:extLst>
              <a:ext uri="{FF2B5EF4-FFF2-40B4-BE49-F238E27FC236}">
                <a16:creationId xmlns:a16="http://schemas.microsoft.com/office/drawing/2014/main" id="{43A1E239-8014-BDEC-758C-DC2B425767EC}"/>
              </a:ext>
            </a:extLst>
          </p:cNvPr>
          <p:cNvSpPr>
            <a:spLocks noGrp="1"/>
          </p:cNvSpPr>
          <p:nvPr>
            <p:ph type="sldNum" sz="quarter" idx="5"/>
          </p:nvPr>
        </p:nvSpPr>
        <p:spPr/>
        <p:txBody>
          <a:bodyPr/>
          <a:lstStyle/>
          <a:p>
            <a:fld id="{0759FB59-66F4-445F-8AE0-44C0AE319471}" type="slidenum">
              <a:rPr kumimoji="1" lang="ja-JP" altLang="en-US" smtClean="0"/>
              <a:t>62</a:t>
            </a:fld>
            <a:endParaRPr kumimoji="1" lang="ja-JP" altLang="en-US"/>
          </a:p>
        </p:txBody>
      </p:sp>
    </p:spTree>
    <p:extLst>
      <p:ext uri="{BB962C8B-B14F-4D97-AF65-F5344CB8AC3E}">
        <p14:creationId xmlns:p14="http://schemas.microsoft.com/office/powerpoint/2010/main" val="217897593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2AE6F-4B28-574B-C2A3-5B99B175DEC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84BED65-DA8F-2035-D4AC-995DFC307AD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35CD6D2-DE83-AA60-8430-6341BCFC8422}"/>
              </a:ext>
            </a:extLst>
          </p:cNvPr>
          <p:cNvSpPr>
            <a:spLocks noGrp="1"/>
          </p:cNvSpPr>
          <p:nvPr>
            <p:ph type="body" idx="1"/>
          </p:nvPr>
        </p:nvSpPr>
        <p:spPr/>
        <p:txBody>
          <a:bodyPr/>
          <a:lstStyle/>
          <a:p>
            <a:r>
              <a:rPr kumimoji="1" lang="ja-JP" altLang="en-US" dirty="0"/>
              <a:t>クムクムの動きを制御するフェーズでは、これまで説明した内容を、ゴールまでの距離が</a:t>
            </a:r>
            <a:r>
              <a:rPr kumimoji="1" lang="en-US" altLang="ja-JP" dirty="0"/>
              <a:t>1</a:t>
            </a:r>
            <a:r>
              <a:rPr kumimoji="1" lang="ja-JP" altLang="en-US" dirty="0"/>
              <a:t>未満になるまで繰り返すのだ。</a:t>
            </a:r>
            <a:endParaRPr kumimoji="1" lang="en-US" altLang="ja-JP" dirty="0"/>
          </a:p>
          <a:p>
            <a:r>
              <a:rPr kumimoji="1" lang="ja-JP" altLang="en-US" dirty="0"/>
              <a:t>ゴールまでの距離が</a:t>
            </a:r>
            <a:r>
              <a:rPr kumimoji="1" lang="en-US" altLang="ja-JP" dirty="0"/>
              <a:t>1</a:t>
            </a:r>
            <a:r>
              <a:rPr kumimoji="1" lang="ja-JP" altLang="en-US" dirty="0"/>
              <a:t>未満になったら最後、</a:t>
            </a:r>
          </a:p>
        </p:txBody>
      </p:sp>
      <p:sp>
        <p:nvSpPr>
          <p:cNvPr id="4" name="スライド番号プレースホルダー 3">
            <a:extLst>
              <a:ext uri="{FF2B5EF4-FFF2-40B4-BE49-F238E27FC236}">
                <a16:creationId xmlns:a16="http://schemas.microsoft.com/office/drawing/2014/main" id="{0B820CC3-6C01-9C38-77E4-70E885422B50}"/>
              </a:ext>
            </a:extLst>
          </p:cNvPr>
          <p:cNvSpPr>
            <a:spLocks noGrp="1"/>
          </p:cNvSpPr>
          <p:nvPr>
            <p:ph type="sldNum" sz="quarter" idx="5"/>
          </p:nvPr>
        </p:nvSpPr>
        <p:spPr/>
        <p:txBody>
          <a:bodyPr/>
          <a:lstStyle/>
          <a:p>
            <a:fld id="{0759FB59-66F4-445F-8AE0-44C0AE319471}" type="slidenum">
              <a:rPr kumimoji="1" lang="ja-JP" altLang="en-US" smtClean="0"/>
              <a:t>63</a:t>
            </a:fld>
            <a:endParaRPr kumimoji="1" lang="ja-JP" altLang="en-US"/>
          </a:p>
        </p:txBody>
      </p:sp>
    </p:spTree>
    <p:extLst>
      <p:ext uri="{BB962C8B-B14F-4D97-AF65-F5344CB8AC3E}">
        <p14:creationId xmlns:p14="http://schemas.microsoft.com/office/powerpoint/2010/main" val="331206786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F829D-AE61-2A58-398B-A3FA0AF3A0B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0862F63-9AF6-EC3D-4260-42D00699AB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323481B-CA05-DEE8-49AD-5D9883D49820}"/>
              </a:ext>
            </a:extLst>
          </p:cNvPr>
          <p:cNvSpPr>
            <a:spLocks noGrp="1"/>
          </p:cNvSpPr>
          <p:nvPr>
            <p:ph type="body" idx="1"/>
          </p:nvPr>
        </p:nvSpPr>
        <p:spPr/>
        <p:txBody>
          <a:bodyPr/>
          <a:lstStyle/>
          <a:p>
            <a:r>
              <a:rPr kumimoji="1" lang="ja-JP" altLang="en-US" dirty="0"/>
              <a:t>次にこのフェーズ。メッセージ</a:t>
            </a:r>
            <a:r>
              <a:rPr kumimoji="1" lang="en-US" altLang="ja-JP" dirty="0"/>
              <a:t>1</a:t>
            </a:r>
            <a:r>
              <a:rPr kumimoji="1" lang="ja-JP" altLang="en-US" dirty="0"/>
              <a:t>を受け取るのはここだけだから、さっきの下につなげてもよかったんだけど、見やすさ重視でこうしたのだ。</a:t>
            </a:r>
            <a:endParaRPr kumimoji="1" lang="en-US" altLang="ja-JP" dirty="0"/>
          </a:p>
          <a:p>
            <a:r>
              <a:rPr kumimoji="1" lang="ja-JP" altLang="en-US" dirty="0"/>
              <a:t>ここではクムクムの動きを処理してるのだ。上から順に見ていくのだ。</a:t>
            </a:r>
            <a:endParaRPr kumimoji="1" lang="en-US" altLang="ja-JP" dirty="0"/>
          </a:p>
        </p:txBody>
      </p:sp>
      <p:sp>
        <p:nvSpPr>
          <p:cNvPr id="4" name="スライド番号プレースホルダー 3">
            <a:extLst>
              <a:ext uri="{FF2B5EF4-FFF2-40B4-BE49-F238E27FC236}">
                <a16:creationId xmlns:a16="http://schemas.microsoft.com/office/drawing/2014/main" id="{B0EB6247-C7F2-6A61-7667-3EFCFEFED567}"/>
              </a:ext>
            </a:extLst>
          </p:cNvPr>
          <p:cNvSpPr>
            <a:spLocks noGrp="1"/>
          </p:cNvSpPr>
          <p:nvPr>
            <p:ph type="sldNum" sz="quarter" idx="5"/>
          </p:nvPr>
        </p:nvSpPr>
        <p:spPr/>
        <p:txBody>
          <a:bodyPr/>
          <a:lstStyle/>
          <a:p>
            <a:fld id="{0759FB59-66F4-445F-8AE0-44C0AE319471}" type="slidenum">
              <a:rPr kumimoji="1" lang="ja-JP" altLang="en-US" smtClean="0"/>
              <a:t>64</a:t>
            </a:fld>
            <a:endParaRPr kumimoji="1" lang="ja-JP" altLang="en-US"/>
          </a:p>
        </p:txBody>
      </p:sp>
    </p:spTree>
    <p:extLst>
      <p:ext uri="{BB962C8B-B14F-4D97-AF65-F5344CB8AC3E}">
        <p14:creationId xmlns:p14="http://schemas.microsoft.com/office/powerpoint/2010/main" val="309291943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133C5-26FB-C9DC-6D84-56DA920A444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8676A48-4AED-D8AD-1D46-2270DFFB54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8EEFE5-C4AB-506B-D928-15F105DF29F5}"/>
              </a:ext>
            </a:extLst>
          </p:cNvPr>
          <p:cNvSpPr>
            <a:spLocks noGrp="1"/>
          </p:cNvSpPr>
          <p:nvPr>
            <p:ph type="body" idx="1"/>
          </p:nvPr>
        </p:nvSpPr>
        <p:spPr/>
        <p:txBody>
          <a:bodyPr/>
          <a:lstStyle/>
          <a:p>
            <a:r>
              <a:rPr kumimoji="1" lang="ja-JP" altLang="en-US"/>
              <a:t>これでプログラム全体全体の説明が終わったのだ。</a:t>
            </a:r>
            <a:endParaRPr kumimoji="1" lang="en-US" altLang="ja-JP" dirty="0"/>
          </a:p>
          <a:p>
            <a:r>
              <a:rPr kumimoji="1" lang="ja-JP" altLang="en-US" dirty="0"/>
              <a:t>実際はプログラムは左の</a:t>
            </a:r>
            <a:r>
              <a:rPr kumimoji="1" lang="en-US" altLang="ja-JP" dirty="0"/>
              <a:t>2</a:t>
            </a:r>
            <a:r>
              <a:rPr kumimoji="1" lang="ja-JP" altLang="en-US" dirty="0"/>
              <a:t>列だけで、右は関数の定義をしてるだけなのだ。</a:t>
            </a:r>
            <a:endParaRPr kumimoji="1" lang="en-US" altLang="ja-JP" dirty="0"/>
          </a:p>
          <a:p>
            <a:r>
              <a:rPr kumimoji="1" lang="ja-JP" altLang="en-US" dirty="0"/>
              <a:t>まぁ、その定義を考えるのが大変だったのだ。</a:t>
            </a:r>
          </a:p>
        </p:txBody>
      </p:sp>
      <p:sp>
        <p:nvSpPr>
          <p:cNvPr id="4" name="スライド番号プレースホルダー 3">
            <a:extLst>
              <a:ext uri="{FF2B5EF4-FFF2-40B4-BE49-F238E27FC236}">
                <a16:creationId xmlns:a16="http://schemas.microsoft.com/office/drawing/2014/main" id="{519E6714-70EC-F032-309B-518FF67348CD}"/>
              </a:ext>
            </a:extLst>
          </p:cNvPr>
          <p:cNvSpPr>
            <a:spLocks noGrp="1"/>
          </p:cNvSpPr>
          <p:nvPr>
            <p:ph type="sldNum" sz="quarter" idx="5"/>
          </p:nvPr>
        </p:nvSpPr>
        <p:spPr/>
        <p:txBody>
          <a:bodyPr/>
          <a:lstStyle/>
          <a:p>
            <a:fld id="{0759FB59-66F4-445F-8AE0-44C0AE319471}" type="slidenum">
              <a:rPr kumimoji="1" lang="ja-JP" altLang="en-US" smtClean="0"/>
              <a:t>65</a:t>
            </a:fld>
            <a:endParaRPr kumimoji="1" lang="ja-JP" altLang="en-US"/>
          </a:p>
        </p:txBody>
      </p:sp>
    </p:spTree>
    <p:extLst>
      <p:ext uri="{BB962C8B-B14F-4D97-AF65-F5344CB8AC3E}">
        <p14:creationId xmlns:p14="http://schemas.microsoft.com/office/powerpoint/2010/main" val="156620206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これで</a:t>
            </a:r>
            <a:r>
              <a:rPr kumimoji="1" lang="en-US" altLang="ja-JP" dirty="0"/>
              <a:t>10</a:t>
            </a:r>
            <a:r>
              <a:rPr kumimoji="1" lang="ja-JP" altLang="en-US" dirty="0"/>
              <a:t>班の発表を終わるのだ！</a:t>
            </a:r>
          </a:p>
        </p:txBody>
      </p:sp>
      <p:sp>
        <p:nvSpPr>
          <p:cNvPr id="4" name="スライド番号プレースホルダー 3"/>
          <p:cNvSpPr>
            <a:spLocks noGrp="1"/>
          </p:cNvSpPr>
          <p:nvPr>
            <p:ph type="sldNum" sz="quarter" idx="5"/>
          </p:nvPr>
        </p:nvSpPr>
        <p:spPr/>
        <p:txBody>
          <a:bodyPr/>
          <a:lstStyle/>
          <a:p>
            <a:fld id="{0759FB59-66F4-445F-8AE0-44C0AE319471}" type="slidenum">
              <a:rPr kumimoji="1" lang="ja-JP" altLang="en-US" smtClean="0"/>
              <a:t>66</a:t>
            </a:fld>
            <a:endParaRPr kumimoji="1" lang="ja-JP" altLang="en-US"/>
          </a:p>
        </p:txBody>
      </p:sp>
    </p:spTree>
    <p:extLst>
      <p:ext uri="{BB962C8B-B14F-4D97-AF65-F5344CB8AC3E}">
        <p14:creationId xmlns:p14="http://schemas.microsoft.com/office/powerpoint/2010/main" val="1564238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F674E-4A43-1D9E-84B3-604152AF905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5B6AEBE-9206-75C2-7150-38F311CF1D1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E629772-66E9-C01C-469A-4C1D00750933}"/>
              </a:ext>
            </a:extLst>
          </p:cNvPr>
          <p:cNvSpPr>
            <a:spLocks noGrp="1"/>
          </p:cNvSpPr>
          <p:nvPr>
            <p:ph type="body" idx="1"/>
          </p:nvPr>
        </p:nvSpPr>
        <p:spPr/>
        <p:txBody>
          <a:bodyPr/>
          <a:lstStyle/>
          <a:p>
            <a:r>
              <a:rPr kumimoji="1" lang="ja-JP" altLang="en-US" dirty="0"/>
              <a:t>これで</a:t>
            </a:r>
            <a:r>
              <a:rPr kumimoji="1" lang="en-US" altLang="ja-JP" dirty="0"/>
              <a:t>10</a:t>
            </a:r>
            <a:r>
              <a:rPr kumimoji="1" lang="ja-JP" altLang="en-US" dirty="0"/>
              <a:t>班の発表を終わるのだ！</a:t>
            </a:r>
          </a:p>
        </p:txBody>
      </p:sp>
      <p:sp>
        <p:nvSpPr>
          <p:cNvPr id="4" name="スライド番号プレースホルダー 3">
            <a:extLst>
              <a:ext uri="{FF2B5EF4-FFF2-40B4-BE49-F238E27FC236}">
                <a16:creationId xmlns:a16="http://schemas.microsoft.com/office/drawing/2014/main" id="{8387B3A8-8D60-6A2B-7A84-19E5453F3A87}"/>
              </a:ext>
            </a:extLst>
          </p:cNvPr>
          <p:cNvSpPr>
            <a:spLocks noGrp="1"/>
          </p:cNvSpPr>
          <p:nvPr>
            <p:ph type="sldNum" sz="quarter" idx="5"/>
          </p:nvPr>
        </p:nvSpPr>
        <p:spPr/>
        <p:txBody>
          <a:bodyPr/>
          <a:lstStyle/>
          <a:p>
            <a:fld id="{0759FB59-66F4-445F-8AE0-44C0AE319471}" type="slidenum">
              <a:rPr kumimoji="1" lang="ja-JP" altLang="en-US" smtClean="0"/>
              <a:t>67</a:t>
            </a:fld>
            <a:endParaRPr kumimoji="1" lang="ja-JP" altLang="en-US"/>
          </a:p>
        </p:txBody>
      </p:sp>
    </p:spTree>
    <p:extLst>
      <p:ext uri="{BB962C8B-B14F-4D97-AF65-F5344CB8AC3E}">
        <p14:creationId xmlns:p14="http://schemas.microsoft.com/office/powerpoint/2010/main" val="716738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FDD01DF-8FB9-10E8-8510-E95C6DB628CD}"/>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35928842-64BB-AA5D-5038-DE85DF47B5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8B6D178C-0A97-A6BF-4391-65F89C7CD416}"/>
              </a:ext>
            </a:extLst>
          </p:cNvPr>
          <p:cNvSpPr>
            <a:spLocks noGrp="1"/>
          </p:cNvSpPr>
          <p:nvPr>
            <p:ph type="dt" sz="half" idx="10"/>
          </p:nvPr>
        </p:nvSpPr>
        <p:spPr/>
        <p:txBody>
          <a:bodyPr/>
          <a:lstStyle/>
          <a:p>
            <a:fld id="{6C6210A9-E2C7-44A4-9BB8-043394574A26}" type="datetimeFigureOut">
              <a:rPr kumimoji="1" lang="ja-JP" altLang="en-US" smtClean="0"/>
              <a:t>2026/7/12</a:t>
            </a:fld>
            <a:endParaRPr kumimoji="1" lang="ja-JP" altLang="en-US"/>
          </a:p>
        </p:txBody>
      </p:sp>
      <p:sp>
        <p:nvSpPr>
          <p:cNvPr id="5" name="フッター プレースホルダー 4">
            <a:extLst>
              <a:ext uri="{FF2B5EF4-FFF2-40B4-BE49-F238E27FC236}">
                <a16:creationId xmlns:a16="http://schemas.microsoft.com/office/drawing/2014/main" id="{68503DBC-1601-0F6C-5F5F-AFB15AB621D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5091E3B-A61F-1D3C-B03F-872385FA1635}"/>
              </a:ext>
            </a:extLst>
          </p:cNvPr>
          <p:cNvSpPr>
            <a:spLocks noGrp="1"/>
          </p:cNvSpPr>
          <p:nvPr>
            <p:ph type="sldNum" sz="quarter" idx="12"/>
          </p:nvPr>
        </p:nvSpPr>
        <p:spPr/>
        <p:txBody>
          <a:bodyPr/>
          <a:lstStyle/>
          <a:p>
            <a:fld id="{441154FD-CF6D-4FA7-9A82-E35785BC9F55}" type="slidenum">
              <a:rPr kumimoji="1" lang="ja-JP" altLang="en-US" smtClean="0"/>
              <a:t>‹#›</a:t>
            </a:fld>
            <a:endParaRPr kumimoji="1" lang="ja-JP" altLang="en-US"/>
          </a:p>
        </p:txBody>
      </p:sp>
    </p:spTree>
    <p:extLst>
      <p:ext uri="{BB962C8B-B14F-4D97-AF65-F5344CB8AC3E}">
        <p14:creationId xmlns:p14="http://schemas.microsoft.com/office/powerpoint/2010/main" val="3054613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45D9812-D2EC-0352-CCF5-BFFB2A982E4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779EB48-F212-DF94-CDF2-62476909CA61}"/>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94A64E9-3E88-407F-22B3-8AF76B103FF0}"/>
              </a:ext>
            </a:extLst>
          </p:cNvPr>
          <p:cNvSpPr>
            <a:spLocks noGrp="1"/>
          </p:cNvSpPr>
          <p:nvPr>
            <p:ph type="dt" sz="half" idx="10"/>
          </p:nvPr>
        </p:nvSpPr>
        <p:spPr/>
        <p:txBody>
          <a:bodyPr/>
          <a:lstStyle/>
          <a:p>
            <a:fld id="{6C6210A9-E2C7-44A4-9BB8-043394574A26}" type="datetimeFigureOut">
              <a:rPr kumimoji="1" lang="ja-JP" altLang="en-US" smtClean="0"/>
              <a:t>2026/7/12</a:t>
            </a:fld>
            <a:endParaRPr kumimoji="1" lang="ja-JP" altLang="en-US"/>
          </a:p>
        </p:txBody>
      </p:sp>
      <p:sp>
        <p:nvSpPr>
          <p:cNvPr id="5" name="フッター プレースホルダー 4">
            <a:extLst>
              <a:ext uri="{FF2B5EF4-FFF2-40B4-BE49-F238E27FC236}">
                <a16:creationId xmlns:a16="http://schemas.microsoft.com/office/drawing/2014/main" id="{933FFF51-49DD-E2E3-5C32-7AF684745C3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29F0351-6189-46BA-9AD5-EF761ECD9CF5}"/>
              </a:ext>
            </a:extLst>
          </p:cNvPr>
          <p:cNvSpPr>
            <a:spLocks noGrp="1"/>
          </p:cNvSpPr>
          <p:nvPr>
            <p:ph type="sldNum" sz="quarter" idx="12"/>
          </p:nvPr>
        </p:nvSpPr>
        <p:spPr/>
        <p:txBody>
          <a:bodyPr/>
          <a:lstStyle/>
          <a:p>
            <a:fld id="{441154FD-CF6D-4FA7-9A82-E35785BC9F55}" type="slidenum">
              <a:rPr kumimoji="1" lang="ja-JP" altLang="en-US" smtClean="0"/>
              <a:t>‹#›</a:t>
            </a:fld>
            <a:endParaRPr kumimoji="1" lang="ja-JP" altLang="en-US"/>
          </a:p>
        </p:txBody>
      </p:sp>
    </p:spTree>
    <p:extLst>
      <p:ext uri="{BB962C8B-B14F-4D97-AF65-F5344CB8AC3E}">
        <p14:creationId xmlns:p14="http://schemas.microsoft.com/office/powerpoint/2010/main" val="26298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DEBA13-8AA1-4AEA-BA50-6D6734F6B9A5}"/>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68CD275-3DCB-5BE0-97E7-E5B50E1FC55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9D92F182-81AD-3A41-A991-955E1F7096CA}"/>
              </a:ext>
            </a:extLst>
          </p:cNvPr>
          <p:cNvSpPr>
            <a:spLocks noGrp="1"/>
          </p:cNvSpPr>
          <p:nvPr>
            <p:ph type="dt" sz="half" idx="10"/>
          </p:nvPr>
        </p:nvSpPr>
        <p:spPr/>
        <p:txBody>
          <a:bodyPr/>
          <a:lstStyle/>
          <a:p>
            <a:fld id="{6C6210A9-E2C7-44A4-9BB8-043394574A26}" type="datetimeFigureOut">
              <a:rPr kumimoji="1" lang="ja-JP" altLang="en-US" smtClean="0"/>
              <a:t>2026/7/12</a:t>
            </a:fld>
            <a:endParaRPr kumimoji="1" lang="ja-JP" altLang="en-US"/>
          </a:p>
        </p:txBody>
      </p:sp>
      <p:sp>
        <p:nvSpPr>
          <p:cNvPr id="5" name="フッター プレースホルダー 4">
            <a:extLst>
              <a:ext uri="{FF2B5EF4-FFF2-40B4-BE49-F238E27FC236}">
                <a16:creationId xmlns:a16="http://schemas.microsoft.com/office/drawing/2014/main" id="{BA13485D-30D5-BDAC-C488-7C75C43AAA8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87C7279-8F97-C0A6-919D-DA09EB0E701C}"/>
              </a:ext>
            </a:extLst>
          </p:cNvPr>
          <p:cNvSpPr>
            <a:spLocks noGrp="1"/>
          </p:cNvSpPr>
          <p:nvPr>
            <p:ph type="sldNum" sz="quarter" idx="12"/>
          </p:nvPr>
        </p:nvSpPr>
        <p:spPr/>
        <p:txBody>
          <a:bodyPr/>
          <a:lstStyle/>
          <a:p>
            <a:fld id="{441154FD-CF6D-4FA7-9A82-E35785BC9F55}" type="slidenum">
              <a:rPr kumimoji="1" lang="ja-JP" altLang="en-US" smtClean="0"/>
              <a:t>‹#›</a:t>
            </a:fld>
            <a:endParaRPr kumimoji="1" lang="ja-JP" altLang="en-US"/>
          </a:p>
        </p:txBody>
      </p:sp>
    </p:spTree>
    <p:extLst>
      <p:ext uri="{BB962C8B-B14F-4D97-AF65-F5344CB8AC3E}">
        <p14:creationId xmlns:p14="http://schemas.microsoft.com/office/powerpoint/2010/main" val="1566872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3660E3-C44F-4512-E06D-72E84878AE8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85861DC-80D8-61E6-09C0-6356453AB164}"/>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668C1931-3B30-1C51-12BB-0CB70899FAA1}"/>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117F45A8-389E-AAAA-439A-293D2B380D0D}"/>
              </a:ext>
            </a:extLst>
          </p:cNvPr>
          <p:cNvSpPr>
            <a:spLocks noGrp="1"/>
          </p:cNvSpPr>
          <p:nvPr>
            <p:ph type="dt" sz="half" idx="10"/>
          </p:nvPr>
        </p:nvSpPr>
        <p:spPr/>
        <p:txBody>
          <a:bodyPr/>
          <a:lstStyle/>
          <a:p>
            <a:fld id="{6C6210A9-E2C7-44A4-9BB8-043394574A26}" type="datetimeFigureOut">
              <a:rPr kumimoji="1" lang="ja-JP" altLang="en-US" smtClean="0"/>
              <a:t>2026/7/12</a:t>
            </a:fld>
            <a:endParaRPr kumimoji="1" lang="ja-JP" altLang="en-US"/>
          </a:p>
        </p:txBody>
      </p:sp>
      <p:sp>
        <p:nvSpPr>
          <p:cNvPr id="6" name="フッター プレースホルダー 5">
            <a:extLst>
              <a:ext uri="{FF2B5EF4-FFF2-40B4-BE49-F238E27FC236}">
                <a16:creationId xmlns:a16="http://schemas.microsoft.com/office/drawing/2014/main" id="{747F6E68-8EB4-07CF-1F66-BDF9E0E070F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5572C16-B4AA-BC95-9AAD-8B989D321D6C}"/>
              </a:ext>
            </a:extLst>
          </p:cNvPr>
          <p:cNvSpPr>
            <a:spLocks noGrp="1"/>
          </p:cNvSpPr>
          <p:nvPr>
            <p:ph type="sldNum" sz="quarter" idx="12"/>
          </p:nvPr>
        </p:nvSpPr>
        <p:spPr/>
        <p:txBody>
          <a:bodyPr/>
          <a:lstStyle/>
          <a:p>
            <a:fld id="{441154FD-CF6D-4FA7-9A82-E35785BC9F55}" type="slidenum">
              <a:rPr kumimoji="1" lang="ja-JP" altLang="en-US" smtClean="0"/>
              <a:t>‹#›</a:t>
            </a:fld>
            <a:endParaRPr kumimoji="1" lang="ja-JP" altLang="en-US"/>
          </a:p>
        </p:txBody>
      </p:sp>
    </p:spTree>
    <p:extLst>
      <p:ext uri="{BB962C8B-B14F-4D97-AF65-F5344CB8AC3E}">
        <p14:creationId xmlns:p14="http://schemas.microsoft.com/office/powerpoint/2010/main" val="20289516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CF92F8-1C0C-E653-CC78-E58460886539}"/>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561290E-395A-B1EA-4783-FCABFCFA87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D9F42EE-40BB-C65B-ACFA-AFEBA17851B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A195479B-39F1-1074-C231-937871070F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E981B83A-F0E9-D987-7642-1EB38B258C33}"/>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D8268E50-247F-FDE2-24EA-84521F655FC4}"/>
              </a:ext>
            </a:extLst>
          </p:cNvPr>
          <p:cNvSpPr>
            <a:spLocks noGrp="1"/>
          </p:cNvSpPr>
          <p:nvPr>
            <p:ph type="dt" sz="half" idx="10"/>
          </p:nvPr>
        </p:nvSpPr>
        <p:spPr/>
        <p:txBody>
          <a:bodyPr/>
          <a:lstStyle/>
          <a:p>
            <a:fld id="{6C6210A9-E2C7-44A4-9BB8-043394574A26}" type="datetimeFigureOut">
              <a:rPr kumimoji="1" lang="ja-JP" altLang="en-US" smtClean="0"/>
              <a:t>2026/7/12</a:t>
            </a:fld>
            <a:endParaRPr kumimoji="1" lang="ja-JP" altLang="en-US"/>
          </a:p>
        </p:txBody>
      </p:sp>
      <p:sp>
        <p:nvSpPr>
          <p:cNvPr id="8" name="フッター プレースホルダー 7">
            <a:extLst>
              <a:ext uri="{FF2B5EF4-FFF2-40B4-BE49-F238E27FC236}">
                <a16:creationId xmlns:a16="http://schemas.microsoft.com/office/drawing/2014/main" id="{2B178CA0-5CFA-0724-56EE-B71F864C997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D62A6CC7-8F94-D605-066D-9E6F58C5C5A2}"/>
              </a:ext>
            </a:extLst>
          </p:cNvPr>
          <p:cNvSpPr>
            <a:spLocks noGrp="1"/>
          </p:cNvSpPr>
          <p:nvPr>
            <p:ph type="sldNum" sz="quarter" idx="12"/>
          </p:nvPr>
        </p:nvSpPr>
        <p:spPr/>
        <p:txBody>
          <a:bodyPr/>
          <a:lstStyle/>
          <a:p>
            <a:fld id="{441154FD-CF6D-4FA7-9A82-E35785BC9F55}" type="slidenum">
              <a:rPr kumimoji="1" lang="ja-JP" altLang="en-US" smtClean="0"/>
              <a:t>‹#›</a:t>
            </a:fld>
            <a:endParaRPr kumimoji="1" lang="ja-JP" altLang="en-US"/>
          </a:p>
        </p:txBody>
      </p:sp>
    </p:spTree>
    <p:extLst>
      <p:ext uri="{BB962C8B-B14F-4D97-AF65-F5344CB8AC3E}">
        <p14:creationId xmlns:p14="http://schemas.microsoft.com/office/powerpoint/2010/main" val="20059874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8DB5E0-ECD0-8F13-9C14-253CF19A6AEB}"/>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721DB99E-4CD3-227F-3C66-F6C7AD52AA3A}"/>
              </a:ext>
            </a:extLst>
          </p:cNvPr>
          <p:cNvSpPr>
            <a:spLocks noGrp="1"/>
          </p:cNvSpPr>
          <p:nvPr>
            <p:ph type="dt" sz="half" idx="10"/>
          </p:nvPr>
        </p:nvSpPr>
        <p:spPr/>
        <p:txBody>
          <a:bodyPr/>
          <a:lstStyle/>
          <a:p>
            <a:fld id="{6C6210A9-E2C7-44A4-9BB8-043394574A26}" type="datetimeFigureOut">
              <a:rPr kumimoji="1" lang="ja-JP" altLang="en-US" smtClean="0"/>
              <a:t>2026/7/12</a:t>
            </a:fld>
            <a:endParaRPr kumimoji="1" lang="ja-JP" altLang="en-US"/>
          </a:p>
        </p:txBody>
      </p:sp>
      <p:sp>
        <p:nvSpPr>
          <p:cNvPr id="4" name="フッター プレースホルダー 3">
            <a:extLst>
              <a:ext uri="{FF2B5EF4-FFF2-40B4-BE49-F238E27FC236}">
                <a16:creationId xmlns:a16="http://schemas.microsoft.com/office/drawing/2014/main" id="{495726A2-4208-2037-20BE-FB4815EC1A3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A133E712-6237-29FA-E9CC-3697BB82B4FA}"/>
              </a:ext>
            </a:extLst>
          </p:cNvPr>
          <p:cNvSpPr>
            <a:spLocks noGrp="1"/>
          </p:cNvSpPr>
          <p:nvPr>
            <p:ph type="sldNum" sz="quarter" idx="12"/>
          </p:nvPr>
        </p:nvSpPr>
        <p:spPr/>
        <p:txBody>
          <a:bodyPr/>
          <a:lstStyle/>
          <a:p>
            <a:fld id="{441154FD-CF6D-4FA7-9A82-E35785BC9F55}" type="slidenum">
              <a:rPr kumimoji="1" lang="ja-JP" altLang="en-US" smtClean="0"/>
              <a:t>‹#›</a:t>
            </a:fld>
            <a:endParaRPr kumimoji="1" lang="ja-JP" altLang="en-US"/>
          </a:p>
        </p:txBody>
      </p:sp>
    </p:spTree>
    <p:extLst>
      <p:ext uri="{BB962C8B-B14F-4D97-AF65-F5344CB8AC3E}">
        <p14:creationId xmlns:p14="http://schemas.microsoft.com/office/powerpoint/2010/main" val="1235073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06B77A62-4AEA-70E3-2555-D3D7A54713D0}"/>
              </a:ext>
            </a:extLst>
          </p:cNvPr>
          <p:cNvSpPr>
            <a:spLocks noGrp="1"/>
          </p:cNvSpPr>
          <p:nvPr>
            <p:ph type="dt" sz="half" idx="10"/>
          </p:nvPr>
        </p:nvSpPr>
        <p:spPr/>
        <p:txBody>
          <a:bodyPr/>
          <a:lstStyle/>
          <a:p>
            <a:fld id="{6C6210A9-E2C7-44A4-9BB8-043394574A26}" type="datetimeFigureOut">
              <a:rPr kumimoji="1" lang="ja-JP" altLang="en-US" smtClean="0"/>
              <a:t>2026/7/12</a:t>
            </a:fld>
            <a:endParaRPr kumimoji="1" lang="ja-JP" altLang="en-US"/>
          </a:p>
        </p:txBody>
      </p:sp>
      <p:sp>
        <p:nvSpPr>
          <p:cNvPr id="3" name="フッター プレースホルダー 2">
            <a:extLst>
              <a:ext uri="{FF2B5EF4-FFF2-40B4-BE49-F238E27FC236}">
                <a16:creationId xmlns:a16="http://schemas.microsoft.com/office/drawing/2014/main" id="{E00FE0EB-890D-BD7C-BA50-3D42BF1515BD}"/>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30D1745-2782-9B80-77D6-CF8CAFD96BE7}"/>
              </a:ext>
            </a:extLst>
          </p:cNvPr>
          <p:cNvSpPr>
            <a:spLocks noGrp="1"/>
          </p:cNvSpPr>
          <p:nvPr>
            <p:ph type="sldNum" sz="quarter" idx="12"/>
          </p:nvPr>
        </p:nvSpPr>
        <p:spPr/>
        <p:txBody>
          <a:bodyPr/>
          <a:lstStyle/>
          <a:p>
            <a:fld id="{441154FD-CF6D-4FA7-9A82-E35785BC9F55}" type="slidenum">
              <a:rPr kumimoji="1" lang="ja-JP" altLang="en-US" smtClean="0"/>
              <a:t>‹#›</a:t>
            </a:fld>
            <a:endParaRPr kumimoji="1" lang="ja-JP" altLang="en-US"/>
          </a:p>
        </p:txBody>
      </p:sp>
    </p:spTree>
    <p:extLst>
      <p:ext uri="{BB962C8B-B14F-4D97-AF65-F5344CB8AC3E}">
        <p14:creationId xmlns:p14="http://schemas.microsoft.com/office/powerpoint/2010/main" val="13573686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06D19A-96CC-5569-3F5B-DE1F61D4243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0F5E42A-D84F-9F53-ACCF-A41B5118A0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AB9F56F2-EBF3-A1C8-686F-4BA3F77B71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90D70CE-AEFF-7460-A121-8795A26AC819}"/>
              </a:ext>
            </a:extLst>
          </p:cNvPr>
          <p:cNvSpPr>
            <a:spLocks noGrp="1"/>
          </p:cNvSpPr>
          <p:nvPr>
            <p:ph type="dt" sz="half" idx="10"/>
          </p:nvPr>
        </p:nvSpPr>
        <p:spPr/>
        <p:txBody>
          <a:bodyPr/>
          <a:lstStyle/>
          <a:p>
            <a:fld id="{6C6210A9-E2C7-44A4-9BB8-043394574A26}" type="datetimeFigureOut">
              <a:rPr kumimoji="1" lang="ja-JP" altLang="en-US" smtClean="0"/>
              <a:t>2026/7/12</a:t>
            </a:fld>
            <a:endParaRPr kumimoji="1" lang="ja-JP" altLang="en-US"/>
          </a:p>
        </p:txBody>
      </p:sp>
      <p:sp>
        <p:nvSpPr>
          <p:cNvPr id="6" name="フッター プレースホルダー 5">
            <a:extLst>
              <a:ext uri="{FF2B5EF4-FFF2-40B4-BE49-F238E27FC236}">
                <a16:creationId xmlns:a16="http://schemas.microsoft.com/office/drawing/2014/main" id="{50997275-97B0-61E4-9F19-8CA89F3C291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B7A7F4C-7285-6932-536B-6A4104B9F467}"/>
              </a:ext>
            </a:extLst>
          </p:cNvPr>
          <p:cNvSpPr>
            <a:spLocks noGrp="1"/>
          </p:cNvSpPr>
          <p:nvPr>
            <p:ph type="sldNum" sz="quarter" idx="12"/>
          </p:nvPr>
        </p:nvSpPr>
        <p:spPr/>
        <p:txBody>
          <a:bodyPr/>
          <a:lstStyle/>
          <a:p>
            <a:fld id="{441154FD-CF6D-4FA7-9A82-E35785BC9F55}" type="slidenum">
              <a:rPr kumimoji="1" lang="ja-JP" altLang="en-US" smtClean="0"/>
              <a:t>‹#›</a:t>
            </a:fld>
            <a:endParaRPr kumimoji="1" lang="ja-JP" altLang="en-US"/>
          </a:p>
        </p:txBody>
      </p:sp>
    </p:spTree>
    <p:extLst>
      <p:ext uri="{BB962C8B-B14F-4D97-AF65-F5344CB8AC3E}">
        <p14:creationId xmlns:p14="http://schemas.microsoft.com/office/powerpoint/2010/main" val="1133928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E55CA3-1EA1-7FAB-A8B8-00A2F219D5F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99373FB1-614F-A9CF-0CD6-E0EB5C6CFB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EE15ECED-AE38-78F5-C757-E7CF040B7D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0769ED3-74D0-BCD7-B873-394E3CA3D346}"/>
              </a:ext>
            </a:extLst>
          </p:cNvPr>
          <p:cNvSpPr>
            <a:spLocks noGrp="1"/>
          </p:cNvSpPr>
          <p:nvPr>
            <p:ph type="dt" sz="half" idx="10"/>
          </p:nvPr>
        </p:nvSpPr>
        <p:spPr/>
        <p:txBody>
          <a:bodyPr/>
          <a:lstStyle/>
          <a:p>
            <a:fld id="{6C6210A9-E2C7-44A4-9BB8-043394574A26}" type="datetimeFigureOut">
              <a:rPr kumimoji="1" lang="ja-JP" altLang="en-US" smtClean="0"/>
              <a:t>2026/7/12</a:t>
            </a:fld>
            <a:endParaRPr kumimoji="1" lang="ja-JP" altLang="en-US"/>
          </a:p>
        </p:txBody>
      </p:sp>
      <p:sp>
        <p:nvSpPr>
          <p:cNvPr id="6" name="フッター プレースホルダー 5">
            <a:extLst>
              <a:ext uri="{FF2B5EF4-FFF2-40B4-BE49-F238E27FC236}">
                <a16:creationId xmlns:a16="http://schemas.microsoft.com/office/drawing/2014/main" id="{11535774-C231-7802-6A11-36061E855D6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DF7420E-2254-49E4-1F22-053413616AC6}"/>
              </a:ext>
            </a:extLst>
          </p:cNvPr>
          <p:cNvSpPr>
            <a:spLocks noGrp="1"/>
          </p:cNvSpPr>
          <p:nvPr>
            <p:ph type="sldNum" sz="quarter" idx="12"/>
          </p:nvPr>
        </p:nvSpPr>
        <p:spPr/>
        <p:txBody>
          <a:bodyPr/>
          <a:lstStyle/>
          <a:p>
            <a:fld id="{441154FD-CF6D-4FA7-9A82-E35785BC9F55}" type="slidenum">
              <a:rPr kumimoji="1" lang="ja-JP" altLang="en-US" smtClean="0"/>
              <a:t>‹#›</a:t>
            </a:fld>
            <a:endParaRPr kumimoji="1" lang="ja-JP" altLang="en-US"/>
          </a:p>
        </p:txBody>
      </p:sp>
    </p:spTree>
    <p:extLst>
      <p:ext uri="{BB962C8B-B14F-4D97-AF65-F5344CB8AC3E}">
        <p14:creationId xmlns:p14="http://schemas.microsoft.com/office/powerpoint/2010/main" val="32115104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5F3A7B-0308-192B-CEFD-A50AC0FCDE48}"/>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BCB9379-2ABC-3009-65CF-4FAE119B551F}"/>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0E8E733-ADBA-2C8E-93D8-E56982361BBE}"/>
              </a:ext>
            </a:extLst>
          </p:cNvPr>
          <p:cNvSpPr>
            <a:spLocks noGrp="1"/>
          </p:cNvSpPr>
          <p:nvPr>
            <p:ph type="dt" sz="half" idx="10"/>
          </p:nvPr>
        </p:nvSpPr>
        <p:spPr/>
        <p:txBody>
          <a:bodyPr/>
          <a:lstStyle/>
          <a:p>
            <a:fld id="{6C6210A9-E2C7-44A4-9BB8-043394574A26}" type="datetimeFigureOut">
              <a:rPr kumimoji="1" lang="ja-JP" altLang="en-US" smtClean="0"/>
              <a:t>2026/7/12</a:t>
            </a:fld>
            <a:endParaRPr kumimoji="1" lang="ja-JP" altLang="en-US"/>
          </a:p>
        </p:txBody>
      </p:sp>
      <p:sp>
        <p:nvSpPr>
          <p:cNvPr id="5" name="フッター プレースホルダー 4">
            <a:extLst>
              <a:ext uri="{FF2B5EF4-FFF2-40B4-BE49-F238E27FC236}">
                <a16:creationId xmlns:a16="http://schemas.microsoft.com/office/drawing/2014/main" id="{BE9E962A-EFAB-2DE3-5810-C8F6C414383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FF17B0E-3453-9DF7-6408-49E99C84AF4C}"/>
              </a:ext>
            </a:extLst>
          </p:cNvPr>
          <p:cNvSpPr>
            <a:spLocks noGrp="1"/>
          </p:cNvSpPr>
          <p:nvPr>
            <p:ph type="sldNum" sz="quarter" idx="12"/>
          </p:nvPr>
        </p:nvSpPr>
        <p:spPr/>
        <p:txBody>
          <a:bodyPr/>
          <a:lstStyle/>
          <a:p>
            <a:fld id="{441154FD-CF6D-4FA7-9A82-E35785BC9F55}" type="slidenum">
              <a:rPr kumimoji="1" lang="ja-JP" altLang="en-US" smtClean="0"/>
              <a:t>‹#›</a:t>
            </a:fld>
            <a:endParaRPr kumimoji="1" lang="ja-JP" altLang="en-US"/>
          </a:p>
        </p:txBody>
      </p:sp>
    </p:spTree>
    <p:extLst>
      <p:ext uri="{BB962C8B-B14F-4D97-AF65-F5344CB8AC3E}">
        <p14:creationId xmlns:p14="http://schemas.microsoft.com/office/powerpoint/2010/main" val="29409476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DCD92A9A-5E65-BE38-95C9-C8F8CCF3B858}"/>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4C3837F-B2DC-79D5-8AA6-39E4346CB30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A5B2054-012C-F094-4086-266772421F83}"/>
              </a:ext>
            </a:extLst>
          </p:cNvPr>
          <p:cNvSpPr>
            <a:spLocks noGrp="1"/>
          </p:cNvSpPr>
          <p:nvPr>
            <p:ph type="dt" sz="half" idx="10"/>
          </p:nvPr>
        </p:nvSpPr>
        <p:spPr/>
        <p:txBody>
          <a:bodyPr/>
          <a:lstStyle/>
          <a:p>
            <a:fld id="{6C6210A9-E2C7-44A4-9BB8-043394574A26}" type="datetimeFigureOut">
              <a:rPr kumimoji="1" lang="ja-JP" altLang="en-US" smtClean="0"/>
              <a:t>2026/7/12</a:t>
            </a:fld>
            <a:endParaRPr kumimoji="1" lang="ja-JP" altLang="en-US"/>
          </a:p>
        </p:txBody>
      </p:sp>
      <p:sp>
        <p:nvSpPr>
          <p:cNvPr id="5" name="フッター プレースホルダー 4">
            <a:extLst>
              <a:ext uri="{FF2B5EF4-FFF2-40B4-BE49-F238E27FC236}">
                <a16:creationId xmlns:a16="http://schemas.microsoft.com/office/drawing/2014/main" id="{1B10DC95-538C-F797-FBFF-ED12C8EA96C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2742AB4-098F-F18C-740A-7DA95DE547C9}"/>
              </a:ext>
            </a:extLst>
          </p:cNvPr>
          <p:cNvSpPr>
            <a:spLocks noGrp="1"/>
          </p:cNvSpPr>
          <p:nvPr>
            <p:ph type="sldNum" sz="quarter" idx="12"/>
          </p:nvPr>
        </p:nvSpPr>
        <p:spPr/>
        <p:txBody>
          <a:bodyPr/>
          <a:lstStyle/>
          <a:p>
            <a:fld id="{441154FD-CF6D-4FA7-9A82-E35785BC9F55}" type="slidenum">
              <a:rPr kumimoji="1" lang="ja-JP" altLang="en-US" smtClean="0"/>
              <a:t>‹#›</a:t>
            </a:fld>
            <a:endParaRPr kumimoji="1" lang="ja-JP" altLang="en-US"/>
          </a:p>
        </p:txBody>
      </p:sp>
    </p:spTree>
    <p:extLst>
      <p:ext uri="{BB962C8B-B14F-4D97-AF65-F5344CB8AC3E}">
        <p14:creationId xmlns:p14="http://schemas.microsoft.com/office/powerpoint/2010/main" val="24801949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F98A8F8-AFD0-344C-A9D4-7D2878535A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BF3232B-7033-BC0F-B1F1-FB65A98D3DE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E0F0560-0539-902D-2142-638394CF92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C6210A9-E2C7-44A4-9BB8-043394574A26}" type="datetimeFigureOut">
              <a:rPr kumimoji="1" lang="ja-JP" altLang="en-US" smtClean="0"/>
              <a:t>2026/7/12</a:t>
            </a:fld>
            <a:endParaRPr kumimoji="1" lang="ja-JP" altLang="en-US"/>
          </a:p>
        </p:txBody>
      </p:sp>
      <p:sp>
        <p:nvSpPr>
          <p:cNvPr id="5" name="フッター プレースホルダー 4">
            <a:extLst>
              <a:ext uri="{FF2B5EF4-FFF2-40B4-BE49-F238E27FC236}">
                <a16:creationId xmlns:a16="http://schemas.microsoft.com/office/drawing/2014/main" id="{9B7237CD-824B-C271-0C14-C3619A0AFD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5A26827A-8610-F716-3A07-D5F3F51CF0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41154FD-CF6D-4FA7-9A82-E35785BC9F55}" type="slidenum">
              <a:rPr kumimoji="1" lang="ja-JP" altLang="en-US" smtClean="0"/>
              <a:t>‹#›</a:t>
            </a:fld>
            <a:endParaRPr kumimoji="1" lang="ja-JP" altLang="en-US"/>
          </a:p>
        </p:txBody>
      </p:sp>
    </p:spTree>
    <p:extLst>
      <p:ext uri="{BB962C8B-B14F-4D97-AF65-F5344CB8AC3E}">
        <p14:creationId xmlns:p14="http://schemas.microsoft.com/office/powerpoint/2010/main" val="892964902"/>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7191B489-6DE8-01E0-3464-4A69025438F4}"/>
              </a:ext>
            </a:extLst>
          </p:cNvPr>
          <p:cNvSpPr txBox="1"/>
          <p:nvPr/>
        </p:nvSpPr>
        <p:spPr>
          <a:xfrm>
            <a:off x="2538412" y="1975782"/>
            <a:ext cx="7115175" cy="1015663"/>
          </a:xfrm>
          <a:prstGeom prst="rect">
            <a:avLst/>
          </a:prstGeom>
          <a:noFill/>
        </p:spPr>
        <p:txBody>
          <a:bodyPr wrap="square" rtlCol="0">
            <a:spAutoFit/>
          </a:bodyPr>
          <a:lstStyle/>
          <a:p>
            <a:pPr algn="ctr"/>
            <a:r>
              <a:rPr kumimoji="1" lang="ja-JP" altLang="en-US" sz="6000" b="1" dirty="0"/>
              <a:t>プログラム仕様書</a:t>
            </a:r>
          </a:p>
        </p:txBody>
      </p:sp>
      <p:sp>
        <p:nvSpPr>
          <p:cNvPr id="7" name="テキスト ボックス 6">
            <a:extLst>
              <a:ext uri="{FF2B5EF4-FFF2-40B4-BE49-F238E27FC236}">
                <a16:creationId xmlns:a16="http://schemas.microsoft.com/office/drawing/2014/main" id="{FED9FBB5-3F51-DD20-6895-DE979A35479B}"/>
              </a:ext>
            </a:extLst>
          </p:cNvPr>
          <p:cNvSpPr txBox="1"/>
          <p:nvPr/>
        </p:nvSpPr>
        <p:spPr>
          <a:xfrm>
            <a:off x="2538412" y="3429001"/>
            <a:ext cx="2805113" cy="1200329"/>
          </a:xfrm>
          <a:prstGeom prst="rect">
            <a:avLst/>
          </a:prstGeom>
          <a:noFill/>
        </p:spPr>
        <p:txBody>
          <a:bodyPr wrap="square" rtlCol="0">
            <a:spAutoFit/>
          </a:bodyPr>
          <a:lstStyle/>
          <a:p>
            <a:r>
              <a:rPr kumimoji="1" lang="en-US" altLang="ja-JP" sz="2400" dirty="0"/>
              <a:t>【</a:t>
            </a:r>
            <a:r>
              <a:rPr kumimoji="1" lang="ja-JP" altLang="en-US" sz="2400" dirty="0"/>
              <a:t>使用環境</a:t>
            </a:r>
            <a:r>
              <a:rPr kumimoji="1" lang="en-US" altLang="ja-JP" sz="2400" dirty="0"/>
              <a:t>】</a:t>
            </a:r>
          </a:p>
          <a:p>
            <a:r>
              <a:rPr lang="ja-JP" altLang="en-US" sz="2400" dirty="0"/>
              <a:t>開発：</a:t>
            </a:r>
            <a:r>
              <a:rPr lang="en-US" altLang="ja-JP" sz="2400" dirty="0"/>
              <a:t>Scratch</a:t>
            </a:r>
          </a:p>
          <a:p>
            <a:r>
              <a:rPr lang="ja-JP" altLang="en-US" sz="2400" dirty="0"/>
              <a:t>運用：</a:t>
            </a:r>
            <a:r>
              <a:rPr lang="en-US" altLang="ja-JP" sz="2400" dirty="0"/>
              <a:t>Qumcum</a:t>
            </a:r>
            <a:endParaRPr kumimoji="1" lang="ja-JP" altLang="en-US" sz="2400" dirty="0"/>
          </a:p>
        </p:txBody>
      </p:sp>
      <p:sp>
        <p:nvSpPr>
          <p:cNvPr id="10" name="テキスト ボックス 9">
            <a:extLst>
              <a:ext uri="{FF2B5EF4-FFF2-40B4-BE49-F238E27FC236}">
                <a16:creationId xmlns:a16="http://schemas.microsoft.com/office/drawing/2014/main" id="{E0785588-9A3F-826F-688C-DFA3C3800A55}"/>
              </a:ext>
            </a:extLst>
          </p:cNvPr>
          <p:cNvSpPr txBox="1"/>
          <p:nvPr/>
        </p:nvSpPr>
        <p:spPr>
          <a:xfrm>
            <a:off x="6096000" y="3429000"/>
            <a:ext cx="2395538" cy="1569660"/>
          </a:xfrm>
          <a:prstGeom prst="rect">
            <a:avLst/>
          </a:prstGeom>
          <a:noFill/>
        </p:spPr>
        <p:txBody>
          <a:bodyPr wrap="square" rtlCol="0">
            <a:spAutoFit/>
          </a:bodyPr>
          <a:lstStyle/>
          <a:p>
            <a:r>
              <a:rPr lang="en-US" altLang="ja-JP" sz="2400" dirty="0"/>
              <a:t>10</a:t>
            </a:r>
            <a:r>
              <a:rPr lang="ja-JP" altLang="en-US" sz="2400" dirty="0"/>
              <a:t>班</a:t>
            </a:r>
            <a:r>
              <a:rPr lang="en-US" altLang="ja-JP" sz="2400" dirty="0"/>
              <a:t>	</a:t>
            </a:r>
            <a:r>
              <a:rPr lang="ja-JP" altLang="en-US" sz="2400" dirty="0"/>
              <a:t>木村湊</a:t>
            </a:r>
            <a:endParaRPr lang="en-US" altLang="ja-JP" sz="2400" dirty="0"/>
          </a:p>
          <a:p>
            <a:r>
              <a:rPr lang="en-US" altLang="ja-JP" sz="2400" dirty="0"/>
              <a:t>	</a:t>
            </a:r>
            <a:r>
              <a:rPr lang="ja-JP" altLang="ja-JP" sz="2400" dirty="0"/>
              <a:t>外間實晃</a:t>
            </a:r>
            <a:endParaRPr lang="en-US" altLang="ja-JP" sz="2400" dirty="0"/>
          </a:p>
          <a:p>
            <a:r>
              <a:rPr lang="en-US" altLang="ja-JP" sz="2400" dirty="0"/>
              <a:t>	</a:t>
            </a:r>
            <a:r>
              <a:rPr lang="ja-JP" altLang="ja-JP" sz="2400" dirty="0"/>
              <a:t>正谷遥陽</a:t>
            </a:r>
            <a:endParaRPr lang="en-US" altLang="ja-JP" sz="2400" dirty="0"/>
          </a:p>
          <a:p>
            <a:r>
              <a:rPr lang="en-US" altLang="ja-JP" sz="2400" dirty="0"/>
              <a:t>	</a:t>
            </a:r>
            <a:r>
              <a:rPr lang="ja-JP" altLang="en-US" sz="2400" dirty="0"/>
              <a:t>吉井海斗</a:t>
            </a:r>
            <a:endParaRPr lang="ja-JP" altLang="en-US" sz="2400" dirty="0">
              <a:latin typeface="+mn-ea"/>
            </a:endParaRPr>
          </a:p>
        </p:txBody>
      </p:sp>
      <p:sp>
        <p:nvSpPr>
          <p:cNvPr id="18" name="四角形: 角を丸くする 17">
            <a:extLst>
              <a:ext uri="{FF2B5EF4-FFF2-40B4-BE49-F238E27FC236}">
                <a16:creationId xmlns:a16="http://schemas.microsoft.com/office/drawing/2014/main" id="{4954CFC6-196E-F558-4BD8-4B385E22C933}"/>
              </a:ext>
            </a:extLst>
          </p:cNvPr>
          <p:cNvSpPr/>
          <p:nvPr/>
        </p:nvSpPr>
        <p:spPr>
          <a:xfrm>
            <a:off x="-4034291" y="955417"/>
            <a:ext cx="4005716" cy="958513"/>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3600" dirty="0"/>
              <a:t>プロジェクト概要</a:t>
            </a:r>
            <a:endParaRPr kumimoji="1" lang="ja-JP" altLang="en-US" sz="3600" dirty="0"/>
          </a:p>
        </p:txBody>
      </p:sp>
      <p:sp>
        <p:nvSpPr>
          <p:cNvPr id="19" name="四角形: 角を丸くする 18">
            <a:extLst>
              <a:ext uri="{FF2B5EF4-FFF2-40B4-BE49-F238E27FC236}">
                <a16:creationId xmlns:a16="http://schemas.microsoft.com/office/drawing/2014/main" id="{761DF599-DA3B-BFCF-CC02-B6D1132E2A4C}"/>
              </a:ext>
            </a:extLst>
          </p:cNvPr>
          <p:cNvSpPr/>
          <p:nvPr/>
        </p:nvSpPr>
        <p:spPr>
          <a:xfrm>
            <a:off x="-4034292" y="2470487"/>
            <a:ext cx="4005716" cy="958513"/>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600" dirty="0"/>
              <a:t>システム要件</a:t>
            </a:r>
          </a:p>
        </p:txBody>
      </p:sp>
      <p:sp>
        <p:nvSpPr>
          <p:cNvPr id="20" name="四角形: 角を丸くする 19">
            <a:extLst>
              <a:ext uri="{FF2B5EF4-FFF2-40B4-BE49-F238E27FC236}">
                <a16:creationId xmlns:a16="http://schemas.microsoft.com/office/drawing/2014/main" id="{9881EDFC-37D7-5C84-96D8-A45B63AC7C7A}"/>
              </a:ext>
            </a:extLst>
          </p:cNvPr>
          <p:cNvSpPr/>
          <p:nvPr/>
        </p:nvSpPr>
        <p:spPr>
          <a:xfrm>
            <a:off x="-4034291" y="3914090"/>
            <a:ext cx="4005716" cy="958513"/>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600" dirty="0"/>
              <a:t>操作手順</a:t>
            </a:r>
          </a:p>
        </p:txBody>
      </p:sp>
      <p:sp>
        <p:nvSpPr>
          <p:cNvPr id="21" name="四角形: 角を丸くする 20">
            <a:extLst>
              <a:ext uri="{FF2B5EF4-FFF2-40B4-BE49-F238E27FC236}">
                <a16:creationId xmlns:a16="http://schemas.microsoft.com/office/drawing/2014/main" id="{9A2BDC12-DA7F-C02A-9071-57E534E56F92}"/>
              </a:ext>
            </a:extLst>
          </p:cNvPr>
          <p:cNvSpPr/>
          <p:nvPr/>
        </p:nvSpPr>
        <p:spPr>
          <a:xfrm>
            <a:off x="-4034293" y="5352455"/>
            <a:ext cx="4005716" cy="958513"/>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3600" dirty="0"/>
              <a:t>プログラム説明</a:t>
            </a:r>
            <a:endParaRPr kumimoji="1" lang="ja-JP" altLang="en-US" sz="3600" dirty="0"/>
          </a:p>
        </p:txBody>
      </p:sp>
    </p:spTree>
    <p:extLst>
      <p:ext uri="{BB962C8B-B14F-4D97-AF65-F5344CB8AC3E}">
        <p14:creationId xmlns:p14="http://schemas.microsoft.com/office/powerpoint/2010/main" val="2544292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4" presetClass="path" presetSubtype="0" decel="50000" fill="hold" grpId="0" nodeType="clickEffect">
                                  <p:stCondLst>
                                    <p:cond delay="0"/>
                                  </p:stCondLst>
                                  <p:childTnLst>
                                    <p:animMotion origin="layout" path="M 0 2.96296E-6 L 0 -0.43797 " pathEditMode="relative" rAng="0" ptsTypes="AA">
                                      <p:cBhvr>
                                        <p:cTn id="6" dur="500" fill="hold"/>
                                        <p:tgtEl>
                                          <p:spTgt spid="6"/>
                                        </p:tgtEl>
                                        <p:attrNameLst>
                                          <p:attrName>ppt_x</p:attrName>
                                          <p:attrName>ppt_y</p:attrName>
                                        </p:attrNameLst>
                                      </p:cBhvr>
                                      <p:rCtr x="0" y="-21898"/>
                                    </p:animMotion>
                                  </p:childTnLst>
                                </p:cTn>
                              </p:par>
                              <p:par>
                                <p:cTn id="7" presetID="42" presetClass="path" presetSubtype="0" decel="50000" fill="hold" grpId="0" nodeType="withEffect">
                                  <p:stCondLst>
                                    <p:cond delay="0"/>
                                  </p:stCondLst>
                                  <p:childTnLst>
                                    <p:animMotion origin="layout" path="M 2.91667E-6 0 L 0.00065 0.50278 " pathEditMode="relative" rAng="0" ptsTypes="AA">
                                      <p:cBhvr>
                                        <p:cTn id="8" dur="500" fill="hold"/>
                                        <p:tgtEl>
                                          <p:spTgt spid="7"/>
                                        </p:tgtEl>
                                        <p:attrNameLst>
                                          <p:attrName>ppt_x</p:attrName>
                                          <p:attrName>ppt_y</p:attrName>
                                        </p:attrNameLst>
                                      </p:cBhvr>
                                      <p:rCtr x="26" y="25139"/>
                                    </p:animMotion>
                                  </p:childTnLst>
                                </p:cTn>
                              </p:par>
                              <p:par>
                                <p:cTn id="9" presetID="42" presetClass="path" presetSubtype="0" decel="50000" fill="hold" grpId="0" nodeType="withEffect">
                                  <p:stCondLst>
                                    <p:cond delay="0"/>
                                  </p:stCondLst>
                                  <p:childTnLst>
                                    <p:animMotion origin="layout" path="M 2.91667E-6 -1.85185E-6 L 0.00013 0.50023 " pathEditMode="relative" rAng="0" ptsTypes="AA">
                                      <p:cBhvr>
                                        <p:cTn id="10" dur="500" fill="hold"/>
                                        <p:tgtEl>
                                          <p:spTgt spid="10"/>
                                        </p:tgtEl>
                                        <p:attrNameLst>
                                          <p:attrName>ppt_x</p:attrName>
                                          <p:attrName>ppt_y</p:attrName>
                                        </p:attrNameLst>
                                      </p:cBhvr>
                                      <p:rCtr x="0" y="25000"/>
                                    </p:animMotion>
                                  </p:childTnLst>
                                </p:cTn>
                              </p:par>
                              <p:par>
                                <p:cTn id="11" presetID="63" presetClass="path" presetSubtype="0" accel="10000" decel="50000" fill="hold" grpId="0" nodeType="withEffect">
                                  <p:stCondLst>
                                    <p:cond delay="400"/>
                                  </p:stCondLst>
                                  <p:childTnLst>
                                    <p:animMotion origin="layout" path="M -3.54167E-6 7.40741E-7 L 0.6336 0.0081 " pathEditMode="relative" rAng="0" ptsTypes="AA">
                                      <p:cBhvr>
                                        <p:cTn id="12" dur="750" fill="hold"/>
                                        <p:tgtEl>
                                          <p:spTgt spid="18"/>
                                        </p:tgtEl>
                                        <p:attrNameLst>
                                          <p:attrName>ppt_x</p:attrName>
                                          <p:attrName>ppt_y</p:attrName>
                                        </p:attrNameLst>
                                      </p:cBhvr>
                                      <p:rCtr x="31680" y="394"/>
                                    </p:animMotion>
                                  </p:childTnLst>
                                </p:cTn>
                              </p:par>
                              <p:par>
                                <p:cTn id="13" presetID="63" presetClass="path" presetSubtype="0" accel="10000" decel="50000" fill="hold" grpId="0" nodeType="withEffect">
                                  <p:stCondLst>
                                    <p:cond delay="500"/>
                                  </p:stCondLst>
                                  <p:childTnLst>
                                    <p:animMotion origin="layout" path="M -3.54167E-6 -2.59259E-6 L 0.6336 -0.00092 " pathEditMode="relative" rAng="0" ptsTypes="AA">
                                      <p:cBhvr>
                                        <p:cTn id="14" dur="750" fill="hold"/>
                                        <p:tgtEl>
                                          <p:spTgt spid="19"/>
                                        </p:tgtEl>
                                        <p:attrNameLst>
                                          <p:attrName>ppt_x</p:attrName>
                                          <p:attrName>ppt_y</p:attrName>
                                        </p:attrNameLst>
                                      </p:cBhvr>
                                      <p:rCtr x="31680" y="-46"/>
                                    </p:animMotion>
                                  </p:childTnLst>
                                </p:cTn>
                              </p:par>
                              <p:par>
                                <p:cTn id="15" presetID="63" presetClass="path" presetSubtype="0" accel="10000" decel="50000" fill="hold" grpId="0" nodeType="withEffect">
                                  <p:stCondLst>
                                    <p:cond delay="600"/>
                                  </p:stCondLst>
                                  <p:childTnLst>
                                    <p:animMotion origin="layout" path="M -3.54167E-6 7.40741E-7 L 0.6336 -0.00579 " pathEditMode="relative" rAng="0" ptsTypes="AA">
                                      <p:cBhvr>
                                        <p:cTn id="16" dur="750" fill="hold"/>
                                        <p:tgtEl>
                                          <p:spTgt spid="20"/>
                                        </p:tgtEl>
                                        <p:attrNameLst>
                                          <p:attrName>ppt_x</p:attrName>
                                          <p:attrName>ppt_y</p:attrName>
                                        </p:attrNameLst>
                                      </p:cBhvr>
                                      <p:rCtr x="31680" y="-301"/>
                                    </p:animMotion>
                                  </p:childTnLst>
                                </p:cTn>
                              </p:par>
                              <p:par>
                                <p:cTn id="17" presetID="63" presetClass="path" presetSubtype="0" accel="10000" decel="50000" fill="hold" grpId="0" nodeType="withEffect">
                                  <p:stCondLst>
                                    <p:cond delay="700"/>
                                  </p:stCondLst>
                                  <p:childTnLst>
                                    <p:animMotion origin="layout" path="M -3.54167E-6 -1.48148E-6 L 0.6336 -0.0044 " pathEditMode="relative" rAng="0" ptsTypes="AA">
                                      <p:cBhvr>
                                        <p:cTn id="18" dur="750" fill="hold"/>
                                        <p:tgtEl>
                                          <p:spTgt spid="21"/>
                                        </p:tgtEl>
                                        <p:attrNameLst>
                                          <p:attrName>ppt_x</p:attrName>
                                          <p:attrName>ppt_y</p:attrName>
                                        </p:attrNameLst>
                                      </p:cBhvr>
                                      <p:rCtr x="31680" y="-23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0" grpId="0"/>
      <p:bldP spid="18" grpId="0" animBg="1"/>
      <p:bldP spid="19" grpId="0" animBg="1"/>
      <p:bldP spid="20" grpId="0" animBg="1"/>
      <p:bldP spid="21"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87726-9C51-6B80-869D-28295A89BA84}"/>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A2472FD4-172D-176B-963C-9D01E9174621}"/>
              </a:ext>
            </a:extLst>
          </p:cNvPr>
          <p:cNvSpPr/>
          <p:nvPr/>
        </p:nvSpPr>
        <p:spPr>
          <a:xfrm>
            <a:off x="-2400" y="1"/>
            <a:ext cx="3049200" cy="457946"/>
          </a:xfrm>
          <a:prstGeom prst="roundRect">
            <a:avLst>
              <a:gd name="adj" fmla="val 7289"/>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C1AD50D5-EF19-220E-3281-6461D5EAA066}"/>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C97079FC-0B8A-8515-CD81-798387C5991A}"/>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システム要件</a:t>
            </a:r>
          </a:p>
        </p:txBody>
      </p:sp>
      <p:sp>
        <p:nvSpPr>
          <p:cNvPr id="11" name="四角形: 角を丸くする 10">
            <a:extLst>
              <a:ext uri="{FF2B5EF4-FFF2-40B4-BE49-F238E27FC236}">
                <a16:creationId xmlns:a16="http://schemas.microsoft.com/office/drawing/2014/main" id="{6D4191FA-FBA0-E21A-7F56-1C614A62D39E}"/>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7DCC7559-3009-3EE7-5121-50312E7840A7}"/>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t>プログラム説明</a:t>
            </a:r>
            <a:endParaRPr kumimoji="1" lang="ja-JP" altLang="en-US" sz="2400" dirty="0"/>
          </a:p>
        </p:txBody>
      </p:sp>
      <p:sp>
        <p:nvSpPr>
          <p:cNvPr id="3" name="テキスト ボックス 2">
            <a:extLst>
              <a:ext uri="{FF2B5EF4-FFF2-40B4-BE49-F238E27FC236}">
                <a16:creationId xmlns:a16="http://schemas.microsoft.com/office/drawing/2014/main" id="{F4843D42-724E-3B36-1B65-FF8B61A929F3}"/>
              </a:ext>
            </a:extLst>
          </p:cNvPr>
          <p:cNvSpPr txBox="1"/>
          <p:nvPr/>
        </p:nvSpPr>
        <p:spPr>
          <a:xfrm>
            <a:off x="1693650" y="2902982"/>
            <a:ext cx="8815388" cy="523220"/>
          </a:xfrm>
          <a:prstGeom prst="rect">
            <a:avLst/>
          </a:prstGeom>
          <a:noFill/>
        </p:spPr>
        <p:txBody>
          <a:bodyPr wrap="square" rtlCol="0">
            <a:spAutoFit/>
          </a:bodyPr>
          <a:lstStyle/>
          <a:p>
            <a:r>
              <a:rPr kumimoji="1" lang="ja-JP" altLang="en-US" sz="2800" dirty="0">
                <a:noFill/>
              </a:rPr>
              <a:t>要件定義</a:t>
            </a:r>
            <a:endParaRPr kumimoji="1" lang="en-US" altLang="ja-JP" sz="2800" dirty="0">
              <a:noFill/>
            </a:endParaRPr>
          </a:p>
        </p:txBody>
      </p:sp>
      <p:sp>
        <p:nvSpPr>
          <p:cNvPr id="4" name="テキスト ボックス 3">
            <a:extLst>
              <a:ext uri="{FF2B5EF4-FFF2-40B4-BE49-F238E27FC236}">
                <a16:creationId xmlns:a16="http://schemas.microsoft.com/office/drawing/2014/main" id="{BB57C5D5-8E1F-79BE-2E29-0374E680062F}"/>
              </a:ext>
            </a:extLst>
          </p:cNvPr>
          <p:cNvSpPr txBox="1"/>
          <p:nvPr/>
        </p:nvSpPr>
        <p:spPr>
          <a:xfrm>
            <a:off x="3374231" y="4359158"/>
            <a:ext cx="8815388" cy="461665"/>
          </a:xfrm>
          <a:prstGeom prst="rect">
            <a:avLst/>
          </a:prstGeom>
          <a:noFill/>
        </p:spPr>
        <p:txBody>
          <a:bodyPr wrap="square" rtlCol="0">
            <a:spAutoFit/>
          </a:bodyPr>
          <a:lstStyle/>
          <a:p>
            <a:r>
              <a:rPr lang="ja-JP" altLang="en-US" sz="2400" dirty="0">
                <a:noFill/>
              </a:rPr>
              <a:t>・接触･衝突の自動回避</a:t>
            </a:r>
            <a:endParaRPr lang="en-US" altLang="ja-JP" sz="2400" dirty="0">
              <a:noFill/>
            </a:endParaRPr>
          </a:p>
        </p:txBody>
      </p:sp>
      <p:sp>
        <p:nvSpPr>
          <p:cNvPr id="5" name="テキスト ボックス 4">
            <a:extLst>
              <a:ext uri="{FF2B5EF4-FFF2-40B4-BE49-F238E27FC236}">
                <a16:creationId xmlns:a16="http://schemas.microsoft.com/office/drawing/2014/main" id="{B33EA24E-26C6-898A-9E9F-6D2B8A36B812}"/>
              </a:ext>
            </a:extLst>
          </p:cNvPr>
          <p:cNvSpPr txBox="1"/>
          <p:nvPr/>
        </p:nvSpPr>
        <p:spPr>
          <a:xfrm>
            <a:off x="3374231" y="4357668"/>
            <a:ext cx="8815388" cy="461665"/>
          </a:xfrm>
          <a:prstGeom prst="rect">
            <a:avLst/>
          </a:prstGeom>
          <a:noFill/>
        </p:spPr>
        <p:txBody>
          <a:bodyPr wrap="square" rtlCol="0">
            <a:spAutoFit/>
          </a:bodyPr>
          <a:lstStyle/>
          <a:p>
            <a:pPr>
              <a:tabLst>
                <a:tab pos="4848225" algn="l"/>
              </a:tabLst>
            </a:pPr>
            <a:r>
              <a:rPr lang="ja-JP" altLang="en-US" sz="2400" dirty="0">
                <a:noFill/>
              </a:rPr>
              <a:t>・目的地までの自動走行</a:t>
            </a:r>
            <a:endParaRPr lang="en-US" altLang="ja-JP" sz="2400" dirty="0">
              <a:noFill/>
            </a:endParaRPr>
          </a:p>
        </p:txBody>
      </p:sp>
      <p:sp>
        <p:nvSpPr>
          <p:cNvPr id="8" name="テキスト ボックス 7">
            <a:extLst>
              <a:ext uri="{FF2B5EF4-FFF2-40B4-BE49-F238E27FC236}">
                <a16:creationId xmlns:a16="http://schemas.microsoft.com/office/drawing/2014/main" id="{3B2F0F21-3C6F-D8B4-7001-90D40CE37311}"/>
              </a:ext>
            </a:extLst>
          </p:cNvPr>
          <p:cNvSpPr txBox="1"/>
          <p:nvPr/>
        </p:nvSpPr>
        <p:spPr>
          <a:xfrm>
            <a:off x="2112750" y="1588437"/>
            <a:ext cx="3987800" cy="584775"/>
          </a:xfrm>
          <a:prstGeom prst="rect">
            <a:avLst/>
          </a:prstGeom>
          <a:noFill/>
        </p:spPr>
        <p:txBody>
          <a:bodyPr wrap="square" rtlCol="0">
            <a:spAutoFit/>
          </a:bodyPr>
          <a:lstStyle/>
          <a:p>
            <a:r>
              <a:rPr kumimoji="1" lang="ja-JP" altLang="en-US" sz="3200" dirty="0">
                <a:noFill/>
              </a:rPr>
              <a:t>タイトル：配膳ロボ</a:t>
            </a:r>
          </a:p>
        </p:txBody>
      </p:sp>
    </p:spTree>
    <p:extLst>
      <p:ext uri="{BB962C8B-B14F-4D97-AF65-F5344CB8AC3E}">
        <p14:creationId xmlns:p14="http://schemas.microsoft.com/office/powerpoint/2010/main" val="287546135"/>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AA800-A9CB-F6FC-A7BD-E6D2421A0D36}"/>
            </a:ext>
          </a:extLst>
        </p:cNvPr>
        <p:cNvGrpSpPr/>
        <p:nvPr/>
      </p:nvGrpSpPr>
      <p:grpSpPr>
        <a:xfrm>
          <a:off x="0" y="0"/>
          <a:ext cx="0" cy="0"/>
          <a:chOff x="0" y="0"/>
          <a:chExt cx="0" cy="0"/>
        </a:xfrm>
      </p:grpSpPr>
      <p:sp>
        <p:nvSpPr>
          <p:cNvPr id="6" name="四角形: 角を丸くする 5">
            <a:extLst>
              <a:ext uri="{FF2B5EF4-FFF2-40B4-BE49-F238E27FC236}">
                <a16:creationId xmlns:a16="http://schemas.microsoft.com/office/drawing/2014/main" id="{192365F6-A189-6578-FCAC-17027AE958A5}"/>
              </a:ext>
            </a:extLst>
          </p:cNvPr>
          <p:cNvSpPr/>
          <p:nvPr/>
        </p:nvSpPr>
        <p:spPr>
          <a:xfrm>
            <a:off x="-2400" y="1"/>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1F12FD86-6A6A-87D8-F0C7-E010550BB0A4}"/>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bg1"/>
                </a:solidFill>
              </a:rPr>
              <a:t>プロジェクト概要</a:t>
            </a:r>
            <a:endParaRPr kumimoji="1" lang="ja-JP" altLang="en-US" sz="2400" dirty="0">
              <a:solidFill>
                <a:schemeClr val="bg1"/>
              </a:solidFill>
            </a:endParaRPr>
          </a:p>
        </p:txBody>
      </p:sp>
      <p:sp>
        <p:nvSpPr>
          <p:cNvPr id="9" name="四角形: 角を丸くする 8">
            <a:extLst>
              <a:ext uri="{FF2B5EF4-FFF2-40B4-BE49-F238E27FC236}">
                <a16:creationId xmlns:a16="http://schemas.microsoft.com/office/drawing/2014/main" id="{2FC0FB50-BAA5-0F14-4C63-9C68B0FFE6A0}"/>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システム要件</a:t>
            </a:r>
          </a:p>
        </p:txBody>
      </p:sp>
      <p:sp>
        <p:nvSpPr>
          <p:cNvPr id="11" name="四角形: 角を丸くする 10">
            <a:extLst>
              <a:ext uri="{FF2B5EF4-FFF2-40B4-BE49-F238E27FC236}">
                <a16:creationId xmlns:a16="http://schemas.microsoft.com/office/drawing/2014/main" id="{AA265D4D-7BD8-B8A3-8983-B5D886E6AA5A}"/>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1DC5564E-05CB-ABB6-E70B-6481C4E3E91D}"/>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t>プログラム説明</a:t>
            </a:r>
            <a:endParaRPr kumimoji="1" lang="ja-JP" altLang="en-US" sz="2400" dirty="0"/>
          </a:p>
        </p:txBody>
      </p:sp>
      <p:sp>
        <p:nvSpPr>
          <p:cNvPr id="3" name="テキスト ボックス 2">
            <a:extLst>
              <a:ext uri="{FF2B5EF4-FFF2-40B4-BE49-F238E27FC236}">
                <a16:creationId xmlns:a16="http://schemas.microsoft.com/office/drawing/2014/main" id="{7F65B4BD-C8F1-46EC-0FE8-3CECBA426DCE}"/>
              </a:ext>
            </a:extLst>
          </p:cNvPr>
          <p:cNvSpPr txBox="1"/>
          <p:nvPr/>
        </p:nvSpPr>
        <p:spPr>
          <a:xfrm>
            <a:off x="1693650" y="2902982"/>
            <a:ext cx="8815388" cy="523220"/>
          </a:xfrm>
          <a:prstGeom prst="rect">
            <a:avLst/>
          </a:prstGeom>
          <a:noFill/>
        </p:spPr>
        <p:txBody>
          <a:bodyPr wrap="square" rtlCol="0">
            <a:spAutoFit/>
          </a:bodyPr>
          <a:lstStyle/>
          <a:p>
            <a:r>
              <a:rPr kumimoji="1" lang="ja-JP" altLang="en-US" sz="2800" dirty="0">
                <a:noFill/>
              </a:rPr>
              <a:t>要件定義</a:t>
            </a:r>
            <a:endParaRPr kumimoji="1" lang="en-US" altLang="ja-JP" sz="2800" dirty="0">
              <a:noFill/>
            </a:endParaRPr>
          </a:p>
        </p:txBody>
      </p:sp>
      <p:sp>
        <p:nvSpPr>
          <p:cNvPr id="4" name="テキスト ボックス 3">
            <a:extLst>
              <a:ext uri="{FF2B5EF4-FFF2-40B4-BE49-F238E27FC236}">
                <a16:creationId xmlns:a16="http://schemas.microsoft.com/office/drawing/2014/main" id="{AD2CBBD0-B039-99F9-AE9C-17361BB437F2}"/>
              </a:ext>
            </a:extLst>
          </p:cNvPr>
          <p:cNvSpPr txBox="1"/>
          <p:nvPr/>
        </p:nvSpPr>
        <p:spPr>
          <a:xfrm>
            <a:off x="3374231" y="4359158"/>
            <a:ext cx="8815388" cy="461665"/>
          </a:xfrm>
          <a:prstGeom prst="rect">
            <a:avLst/>
          </a:prstGeom>
          <a:noFill/>
        </p:spPr>
        <p:txBody>
          <a:bodyPr wrap="square" rtlCol="0">
            <a:spAutoFit/>
          </a:bodyPr>
          <a:lstStyle/>
          <a:p>
            <a:r>
              <a:rPr lang="ja-JP" altLang="en-US" sz="2400" dirty="0">
                <a:noFill/>
              </a:rPr>
              <a:t>・接触･衝突の自動回避</a:t>
            </a:r>
            <a:endParaRPr lang="en-US" altLang="ja-JP" sz="2400" dirty="0">
              <a:noFill/>
            </a:endParaRPr>
          </a:p>
        </p:txBody>
      </p:sp>
      <p:sp>
        <p:nvSpPr>
          <p:cNvPr id="5" name="テキスト ボックス 4">
            <a:extLst>
              <a:ext uri="{FF2B5EF4-FFF2-40B4-BE49-F238E27FC236}">
                <a16:creationId xmlns:a16="http://schemas.microsoft.com/office/drawing/2014/main" id="{B1886BFF-1A4C-B64E-142F-DD0F34FAFFDD}"/>
              </a:ext>
            </a:extLst>
          </p:cNvPr>
          <p:cNvSpPr txBox="1"/>
          <p:nvPr/>
        </p:nvSpPr>
        <p:spPr>
          <a:xfrm>
            <a:off x="3374231" y="4357668"/>
            <a:ext cx="8815388" cy="461665"/>
          </a:xfrm>
          <a:prstGeom prst="rect">
            <a:avLst/>
          </a:prstGeom>
          <a:noFill/>
        </p:spPr>
        <p:txBody>
          <a:bodyPr wrap="square" rtlCol="0">
            <a:spAutoFit/>
          </a:bodyPr>
          <a:lstStyle/>
          <a:p>
            <a:pPr>
              <a:tabLst>
                <a:tab pos="4848225" algn="l"/>
              </a:tabLst>
            </a:pPr>
            <a:r>
              <a:rPr lang="ja-JP" altLang="en-US" sz="2400" dirty="0">
                <a:noFill/>
              </a:rPr>
              <a:t>・目的地までの自動走行</a:t>
            </a:r>
            <a:endParaRPr lang="en-US" altLang="ja-JP" sz="2400" dirty="0">
              <a:noFill/>
            </a:endParaRPr>
          </a:p>
        </p:txBody>
      </p:sp>
      <p:sp>
        <p:nvSpPr>
          <p:cNvPr id="8" name="テキスト ボックス 7">
            <a:extLst>
              <a:ext uri="{FF2B5EF4-FFF2-40B4-BE49-F238E27FC236}">
                <a16:creationId xmlns:a16="http://schemas.microsoft.com/office/drawing/2014/main" id="{D2315A35-4336-D5CA-4D45-E6E83F300A2F}"/>
              </a:ext>
            </a:extLst>
          </p:cNvPr>
          <p:cNvSpPr txBox="1"/>
          <p:nvPr/>
        </p:nvSpPr>
        <p:spPr>
          <a:xfrm>
            <a:off x="2112750" y="1588437"/>
            <a:ext cx="3987800" cy="584775"/>
          </a:xfrm>
          <a:prstGeom prst="rect">
            <a:avLst/>
          </a:prstGeom>
          <a:noFill/>
        </p:spPr>
        <p:txBody>
          <a:bodyPr wrap="square" rtlCol="0">
            <a:spAutoFit/>
          </a:bodyPr>
          <a:lstStyle/>
          <a:p>
            <a:r>
              <a:rPr kumimoji="1" lang="ja-JP" altLang="en-US" sz="3200" dirty="0">
                <a:noFill/>
              </a:rPr>
              <a:t>タイトル：配膳ロボ</a:t>
            </a:r>
          </a:p>
        </p:txBody>
      </p:sp>
    </p:spTree>
    <p:extLst>
      <p:ext uri="{BB962C8B-B14F-4D97-AF65-F5344CB8AC3E}">
        <p14:creationId xmlns:p14="http://schemas.microsoft.com/office/powerpoint/2010/main" val="312728187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7DE49-46F8-A71C-DEB1-837D9DF4F252}"/>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4885C58F-E528-B974-4DF8-2C30969E6C92}"/>
              </a:ext>
            </a:extLst>
          </p:cNvPr>
          <p:cNvSpPr/>
          <p:nvPr/>
        </p:nvSpPr>
        <p:spPr>
          <a:xfrm>
            <a:off x="-2400" y="1"/>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5B6E22A5-0DEF-4954-D3E0-7E12465D54DE}"/>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bg1"/>
                </a:solidFill>
              </a:rPr>
              <a:t>プロジェクト概要</a:t>
            </a:r>
            <a:endParaRPr kumimoji="1" lang="ja-JP" altLang="en-US" sz="2400" dirty="0">
              <a:solidFill>
                <a:schemeClr val="bg1"/>
              </a:solidFill>
            </a:endParaRPr>
          </a:p>
        </p:txBody>
      </p:sp>
      <p:sp>
        <p:nvSpPr>
          <p:cNvPr id="9" name="四角形: 角を丸くする 8">
            <a:extLst>
              <a:ext uri="{FF2B5EF4-FFF2-40B4-BE49-F238E27FC236}">
                <a16:creationId xmlns:a16="http://schemas.microsoft.com/office/drawing/2014/main" id="{CFA964D3-C40F-9FCF-FE4B-2C476E101101}"/>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システム要件</a:t>
            </a:r>
          </a:p>
        </p:txBody>
      </p:sp>
      <p:sp>
        <p:nvSpPr>
          <p:cNvPr id="11" name="四角形: 角を丸くする 10">
            <a:extLst>
              <a:ext uri="{FF2B5EF4-FFF2-40B4-BE49-F238E27FC236}">
                <a16:creationId xmlns:a16="http://schemas.microsoft.com/office/drawing/2014/main" id="{4FFE1B64-46E1-B965-90E9-F025F5012AC5}"/>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CDF52449-0756-D4F0-0008-C27C2618B369}"/>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t>プログラム説明</a:t>
            </a:r>
            <a:endParaRPr kumimoji="1" lang="ja-JP" altLang="en-US" sz="2400" dirty="0"/>
          </a:p>
        </p:txBody>
      </p:sp>
      <p:sp>
        <p:nvSpPr>
          <p:cNvPr id="3" name="テキスト ボックス 2">
            <a:extLst>
              <a:ext uri="{FF2B5EF4-FFF2-40B4-BE49-F238E27FC236}">
                <a16:creationId xmlns:a16="http://schemas.microsoft.com/office/drawing/2014/main" id="{388F88FB-B4EE-8A6A-D0E5-0F2CD15600AF}"/>
              </a:ext>
            </a:extLst>
          </p:cNvPr>
          <p:cNvSpPr txBox="1"/>
          <p:nvPr/>
        </p:nvSpPr>
        <p:spPr>
          <a:xfrm>
            <a:off x="1693650" y="2902982"/>
            <a:ext cx="8815388" cy="523220"/>
          </a:xfrm>
          <a:prstGeom prst="rect">
            <a:avLst/>
          </a:prstGeom>
          <a:noFill/>
        </p:spPr>
        <p:txBody>
          <a:bodyPr wrap="square" rtlCol="0">
            <a:spAutoFit/>
          </a:bodyPr>
          <a:lstStyle/>
          <a:p>
            <a:r>
              <a:rPr kumimoji="1" lang="ja-JP" altLang="en-US" sz="2800" dirty="0">
                <a:noFill/>
              </a:rPr>
              <a:t>要件定義</a:t>
            </a:r>
            <a:endParaRPr kumimoji="1" lang="en-US" altLang="ja-JP" sz="2800" dirty="0">
              <a:noFill/>
            </a:endParaRPr>
          </a:p>
        </p:txBody>
      </p:sp>
      <p:sp>
        <p:nvSpPr>
          <p:cNvPr id="4" name="テキスト ボックス 3">
            <a:extLst>
              <a:ext uri="{FF2B5EF4-FFF2-40B4-BE49-F238E27FC236}">
                <a16:creationId xmlns:a16="http://schemas.microsoft.com/office/drawing/2014/main" id="{E37811C5-C694-C139-4AA9-DBCD5658AC3B}"/>
              </a:ext>
            </a:extLst>
          </p:cNvPr>
          <p:cNvSpPr txBox="1"/>
          <p:nvPr/>
        </p:nvSpPr>
        <p:spPr>
          <a:xfrm>
            <a:off x="3374231" y="4359158"/>
            <a:ext cx="8815388" cy="461665"/>
          </a:xfrm>
          <a:prstGeom prst="rect">
            <a:avLst/>
          </a:prstGeom>
          <a:noFill/>
        </p:spPr>
        <p:txBody>
          <a:bodyPr wrap="square" rtlCol="0">
            <a:spAutoFit/>
          </a:bodyPr>
          <a:lstStyle/>
          <a:p>
            <a:r>
              <a:rPr lang="ja-JP" altLang="en-US" sz="2400" dirty="0">
                <a:noFill/>
              </a:rPr>
              <a:t>・接触･衝突の自動回避</a:t>
            </a:r>
            <a:endParaRPr lang="en-US" altLang="ja-JP" sz="2400" dirty="0">
              <a:noFill/>
            </a:endParaRPr>
          </a:p>
        </p:txBody>
      </p:sp>
      <p:sp>
        <p:nvSpPr>
          <p:cNvPr id="5" name="テキスト ボックス 4">
            <a:extLst>
              <a:ext uri="{FF2B5EF4-FFF2-40B4-BE49-F238E27FC236}">
                <a16:creationId xmlns:a16="http://schemas.microsoft.com/office/drawing/2014/main" id="{A485E36D-2C8A-E00B-7E85-79CBFBAB561B}"/>
              </a:ext>
            </a:extLst>
          </p:cNvPr>
          <p:cNvSpPr txBox="1"/>
          <p:nvPr/>
        </p:nvSpPr>
        <p:spPr>
          <a:xfrm>
            <a:off x="3374231" y="4357668"/>
            <a:ext cx="8815388" cy="461665"/>
          </a:xfrm>
          <a:prstGeom prst="rect">
            <a:avLst/>
          </a:prstGeom>
          <a:noFill/>
        </p:spPr>
        <p:txBody>
          <a:bodyPr wrap="square" rtlCol="0">
            <a:spAutoFit/>
          </a:bodyPr>
          <a:lstStyle/>
          <a:p>
            <a:pPr>
              <a:tabLst>
                <a:tab pos="4848225" algn="l"/>
              </a:tabLst>
            </a:pPr>
            <a:r>
              <a:rPr lang="ja-JP" altLang="en-US" sz="2400" dirty="0">
                <a:noFill/>
              </a:rPr>
              <a:t>・目的地までの自動走行</a:t>
            </a:r>
            <a:endParaRPr lang="en-US" altLang="ja-JP" sz="2400" dirty="0">
              <a:noFill/>
            </a:endParaRPr>
          </a:p>
        </p:txBody>
      </p:sp>
      <p:sp>
        <p:nvSpPr>
          <p:cNvPr id="8" name="テキスト ボックス 7">
            <a:extLst>
              <a:ext uri="{FF2B5EF4-FFF2-40B4-BE49-F238E27FC236}">
                <a16:creationId xmlns:a16="http://schemas.microsoft.com/office/drawing/2014/main" id="{DCE3938B-EE51-8261-BF14-8A3A2177C50A}"/>
              </a:ext>
            </a:extLst>
          </p:cNvPr>
          <p:cNvSpPr txBox="1"/>
          <p:nvPr/>
        </p:nvSpPr>
        <p:spPr>
          <a:xfrm>
            <a:off x="1522200" y="1588437"/>
            <a:ext cx="3987800" cy="584775"/>
          </a:xfrm>
          <a:prstGeom prst="rect">
            <a:avLst/>
          </a:prstGeom>
          <a:noFill/>
        </p:spPr>
        <p:txBody>
          <a:bodyPr wrap="square" rtlCol="0">
            <a:spAutoFit/>
          </a:bodyPr>
          <a:lstStyle/>
          <a:p>
            <a:r>
              <a:rPr kumimoji="1" lang="ja-JP" altLang="en-US" sz="3200" dirty="0"/>
              <a:t>タイトル：配膳ロボ</a:t>
            </a:r>
          </a:p>
        </p:txBody>
      </p:sp>
    </p:spTree>
    <p:extLst>
      <p:ext uri="{BB962C8B-B14F-4D97-AF65-F5344CB8AC3E}">
        <p14:creationId xmlns:p14="http://schemas.microsoft.com/office/powerpoint/2010/main" val="85903768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22CD4-B64C-1896-FAD0-1C64F545424F}"/>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ED076AD3-7576-E2A3-DB2E-7C4D14242B55}"/>
              </a:ext>
            </a:extLst>
          </p:cNvPr>
          <p:cNvSpPr/>
          <p:nvPr/>
        </p:nvSpPr>
        <p:spPr>
          <a:xfrm>
            <a:off x="-2400" y="1"/>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1D3DE81B-3EAF-EE4E-9223-12AA6B0B9B55}"/>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bg1"/>
                </a:solidFill>
              </a:rPr>
              <a:t>プロジェクト概要</a:t>
            </a:r>
            <a:endParaRPr kumimoji="1" lang="ja-JP" altLang="en-US" sz="2400" dirty="0">
              <a:solidFill>
                <a:schemeClr val="bg1"/>
              </a:solidFill>
            </a:endParaRPr>
          </a:p>
        </p:txBody>
      </p:sp>
      <p:sp>
        <p:nvSpPr>
          <p:cNvPr id="9" name="四角形: 角を丸くする 8">
            <a:extLst>
              <a:ext uri="{FF2B5EF4-FFF2-40B4-BE49-F238E27FC236}">
                <a16:creationId xmlns:a16="http://schemas.microsoft.com/office/drawing/2014/main" id="{61F94383-34D1-520A-B4E1-5D8395D99B45}"/>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システム要件</a:t>
            </a:r>
          </a:p>
        </p:txBody>
      </p:sp>
      <p:sp>
        <p:nvSpPr>
          <p:cNvPr id="11" name="四角形: 角を丸くする 10">
            <a:extLst>
              <a:ext uri="{FF2B5EF4-FFF2-40B4-BE49-F238E27FC236}">
                <a16:creationId xmlns:a16="http://schemas.microsoft.com/office/drawing/2014/main" id="{56873FBF-65D2-E034-B89C-56956E224D15}"/>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2EBF0A8D-8DAE-3903-1F03-635DBD926465}"/>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t>プログラム説明</a:t>
            </a:r>
            <a:endParaRPr kumimoji="1" lang="ja-JP" altLang="en-US" sz="2400" dirty="0"/>
          </a:p>
        </p:txBody>
      </p:sp>
      <p:sp>
        <p:nvSpPr>
          <p:cNvPr id="3" name="テキスト ボックス 2">
            <a:extLst>
              <a:ext uri="{FF2B5EF4-FFF2-40B4-BE49-F238E27FC236}">
                <a16:creationId xmlns:a16="http://schemas.microsoft.com/office/drawing/2014/main" id="{B792E36F-B9F3-6401-50F8-D0B480C67DC3}"/>
              </a:ext>
            </a:extLst>
          </p:cNvPr>
          <p:cNvSpPr txBox="1"/>
          <p:nvPr/>
        </p:nvSpPr>
        <p:spPr>
          <a:xfrm>
            <a:off x="1522200" y="2902982"/>
            <a:ext cx="8815388" cy="523220"/>
          </a:xfrm>
          <a:prstGeom prst="rect">
            <a:avLst/>
          </a:prstGeom>
          <a:noFill/>
        </p:spPr>
        <p:txBody>
          <a:bodyPr wrap="square" rtlCol="0">
            <a:spAutoFit/>
          </a:bodyPr>
          <a:lstStyle/>
          <a:p>
            <a:r>
              <a:rPr kumimoji="1" lang="ja-JP" altLang="en-US" sz="2800" dirty="0"/>
              <a:t>要件定義</a:t>
            </a:r>
            <a:endParaRPr kumimoji="1" lang="en-US" altLang="ja-JP" sz="2800" dirty="0"/>
          </a:p>
        </p:txBody>
      </p:sp>
      <p:sp>
        <p:nvSpPr>
          <p:cNvPr id="4" name="テキスト ボックス 3">
            <a:extLst>
              <a:ext uri="{FF2B5EF4-FFF2-40B4-BE49-F238E27FC236}">
                <a16:creationId xmlns:a16="http://schemas.microsoft.com/office/drawing/2014/main" id="{3AF515B8-25BF-DEF7-E192-4C54E8653591}"/>
              </a:ext>
            </a:extLst>
          </p:cNvPr>
          <p:cNvSpPr txBox="1"/>
          <p:nvPr/>
        </p:nvSpPr>
        <p:spPr>
          <a:xfrm>
            <a:off x="3374231" y="4359158"/>
            <a:ext cx="8815388" cy="461665"/>
          </a:xfrm>
          <a:prstGeom prst="rect">
            <a:avLst/>
          </a:prstGeom>
          <a:noFill/>
        </p:spPr>
        <p:txBody>
          <a:bodyPr wrap="square" rtlCol="0">
            <a:spAutoFit/>
          </a:bodyPr>
          <a:lstStyle/>
          <a:p>
            <a:r>
              <a:rPr lang="ja-JP" altLang="en-US" sz="2400" dirty="0">
                <a:noFill/>
              </a:rPr>
              <a:t>・接触･衝突の自動回避</a:t>
            </a:r>
            <a:endParaRPr lang="en-US" altLang="ja-JP" sz="2400" dirty="0">
              <a:noFill/>
            </a:endParaRPr>
          </a:p>
        </p:txBody>
      </p:sp>
      <p:sp>
        <p:nvSpPr>
          <p:cNvPr id="5" name="テキスト ボックス 4">
            <a:extLst>
              <a:ext uri="{FF2B5EF4-FFF2-40B4-BE49-F238E27FC236}">
                <a16:creationId xmlns:a16="http://schemas.microsoft.com/office/drawing/2014/main" id="{2420FD1D-7A56-050B-260F-11DE8D0C65CE}"/>
              </a:ext>
            </a:extLst>
          </p:cNvPr>
          <p:cNvSpPr txBox="1"/>
          <p:nvPr/>
        </p:nvSpPr>
        <p:spPr>
          <a:xfrm>
            <a:off x="3374231" y="4357668"/>
            <a:ext cx="8815388" cy="461665"/>
          </a:xfrm>
          <a:prstGeom prst="rect">
            <a:avLst/>
          </a:prstGeom>
          <a:noFill/>
        </p:spPr>
        <p:txBody>
          <a:bodyPr wrap="square" rtlCol="0">
            <a:spAutoFit/>
          </a:bodyPr>
          <a:lstStyle/>
          <a:p>
            <a:pPr>
              <a:tabLst>
                <a:tab pos="4848225" algn="l"/>
              </a:tabLst>
            </a:pPr>
            <a:r>
              <a:rPr lang="ja-JP" altLang="en-US" sz="2400" dirty="0">
                <a:noFill/>
              </a:rPr>
              <a:t>・目的地までの自動走行</a:t>
            </a:r>
            <a:endParaRPr lang="en-US" altLang="ja-JP" sz="2400" dirty="0">
              <a:noFill/>
            </a:endParaRPr>
          </a:p>
        </p:txBody>
      </p:sp>
      <p:sp>
        <p:nvSpPr>
          <p:cNvPr id="8" name="テキスト ボックス 7">
            <a:extLst>
              <a:ext uri="{FF2B5EF4-FFF2-40B4-BE49-F238E27FC236}">
                <a16:creationId xmlns:a16="http://schemas.microsoft.com/office/drawing/2014/main" id="{26581DAB-06E9-94A1-F586-EFF7E34A4231}"/>
              </a:ext>
            </a:extLst>
          </p:cNvPr>
          <p:cNvSpPr txBox="1"/>
          <p:nvPr/>
        </p:nvSpPr>
        <p:spPr>
          <a:xfrm>
            <a:off x="1522200" y="1588437"/>
            <a:ext cx="3987800" cy="584775"/>
          </a:xfrm>
          <a:prstGeom prst="rect">
            <a:avLst/>
          </a:prstGeom>
          <a:noFill/>
        </p:spPr>
        <p:txBody>
          <a:bodyPr wrap="square" rtlCol="0">
            <a:spAutoFit/>
          </a:bodyPr>
          <a:lstStyle/>
          <a:p>
            <a:r>
              <a:rPr kumimoji="1" lang="ja-JP" altLang="en-US" sz="3200" dirty="0"/>
              <a:t>タイトル：配膳ロボ</a:t>
            </a:r>
          </a:p>
        </p:txBody>
      </p:sp>
    </p:spTree>
    <p:extLst>
      <p:ext uri="{BB962C8B-B14F-4D97-AF65-F5344CB8AC3E}">
        <p14:creationId xmlns:p14="http://schemas.microsoft.com/office/powerpoint/2010/main" val="306321720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35814-37ED-0810-8F97-D4190274CC88}"/>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F7CDEA1B-D8CE-A0B7-64BA-B17E11C960C6}"/>
              </a:ext>
            </a:extLst>
          </p:cNvPr>
          <p:cNvSpPr/>
          <p:nvPr/>
        </p:nvSpPr>
        <p:spPr>
          <a:xfrm>
            <a:off x="-2400" y="1"/>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7FB17AD1-51EA-628F-4270-1F5544435C05}"/>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bg1"/>
                </a:solidFill>
              </a:rPr>
              <a:t>プロジェクト概要</a:t>
            </a:r>
            <a:endParaRPr kumimoji="1" lang="ja-JP" altLang="en-US" sz="2400" dirty="0">
              <a:solidFill>
                <a:schemeClr val="bg1"/>
              </a:solidFill>
            </a:endParaRPr>
          </a:p>
        </p:txBody>
      </p:sp>
      <p:sp>
        <p:nvSpPr>
          <p:cNvPr id="9" name="四角形: 角を丸くする 8">
            <a:extLst>
              <a:ext uri="{FF2B5EF4-FFF2-40B4-BE49-F238E27FC236}">
                <a16:creationId xmlns:a16="http://schemas.microsoft.com/office/drawing/2014/main" id="{A90ADB0E-17A5-2730-94AA-7F242EA17BDD}"/>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システム要件</a:t>
            </a:r>
          </a:p>
        </p:txBody>
      </p:sp>
      <p:sp>
        <p:nvSpPr>
          <p:cNvPr id="11" name="四角形: 角を丸くする 10">
            <a:extLst>
              <a:ext uri="{FF2B5EF4-FFF2-40B4-BE49-F238E27FC236}">
                <a16:creationId xmlns:a16="http://schemas.microsoft.com/office/drawing/2014/main" id="{1A8FE030-0D4A-9B50-BDE7-4D75EA37BB67}"/>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53A56B0C-A73F-F80E-04B2-81812FA07B32}"/>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t>プログラム説明</a:t>
            </a:r>
            <a:endParaRPr kumimoji="1" lang="ja-JP" altLang="en-US" sz="2400" dirty="0"/>
          </a:p>
        </p:txBody>
      </p:sp>
      <p:sp>
        <p:nvSpPr>
          <p:cNvPr id="3" name="テキスト ボックス 2">
            <a:extLst>
              <a:ext uri="{FF2B5EF4-FFF2-40B4-BE49-F238E27FC236}">
                <a16:creationId xmlns:a16="http://schemas.microsoft.com/office/drawing/2014/main" id="{51CB3067-36FC-B709-2E83-A9680C3C6DE0}"/>
              </a:ext>
            </a:extLst>
          </p:cNvPr>
          <p:cNvSpPr txBox="1"/>
          <p:nvPr/>
        </p:nvSpPr>
        <p:spPr>
          <a:xfrm>
            <a:off x="1522200" y="2902982"/>
            <a:ext cx="8815388" cy="523220"/>
          </a:xfrm>
          <a:prstGeom prst="rect">
            <a:avLst/>
          </a:prstGeom>
          <a:noFill/>
        </p:spPr>
        <p:txBody>
          <a:bodyPr wrap="square" rtlCol="0">
            <a:spAutoFit/>
          </a:bodyPr>
          <a:lstStyle/>
          <a:p>
            <a:r>
              <a:rPr kumimoji="1" lang="ja-JP" altLang="en-US" sz="2800" dirty="0"/>
              <a:t>要件定義</a:t>
            </a:r>
            <a:endParaRPr kumimoji="1" lang="en-US" altLang="ja-JP" sz="2800" dirty="0"/>
          </a:p>
        </p:txBody>
      </p:sp>
      <p:sp>
        <p:nvSpPr>
          <p:cNvPr id="4" name="テキスト ボックス 3">
            <a:extLst>
              <a:ext uri="{FF2B5EF4-FFF2-40B4-BE49-F238E27FC236}">
                <a16:creationId xmlns:a16="http://schemas.microsoft.com/office/drawing/2014/main" id="{ED6ECDBC-7910-254F-2346-2588A36DED5D}"/>
              </a:ext>
            </a:extLst>
          </p:cNvPr>
          <p:cNvSpPr txBox="1"/>
          <p:nvPr/>
        </p:nvSpPr>
        <p:spPr>
          <a:xfrm>
            <a:off x="3374231" y="4359158"/>
            <a:ext cx="8815388" cy="461665"/>
          </a:xfrm>
          <a:prstGeom prst="rect">
            <a:avLst/>
          </a:prstGeom>
          <a:noFill/>
        </p:spPr>
        <p:txBody>
          <a:bodyPr wrap="square" rtlCol="0">
            <a:spAutoFit/>
          </a:bodyPr>
          <a:lstStyle/>
          <a:p>
            <a:r>
              <a:rPr lang="ja-JP" altLang="en-US" sz="2400" dirty="0">
                <a:noFill/>
              </a:rPr>
              <a:t>・接触･衝突の自動回避</a:t>
            </a:r>
            <a:endParaRPr lang="en-US" altLang="ja-JP" sz="2400" dirty="0">
              <a:noFill/>
            </a:endParaRPr>
          </a:p>
        </p:txBody>
      </p:sp>
      <p:sp>
        <p:nvSpPr>
          <p:cNvPr id="5" name="テキスト ボックス 4">
            <a:extLst>
              <a:ext uri="{FF2B5EF4-FFF2-40B4-BE49-F238E27FC236}">
                <a16:creationId xmlns:a16="http://schemas.microsoft.com/office/drawing/2014/main" id="{B7A1E6B4-9524-8D27-45E2-4DF3BB1746B5}"/>
              </a:ext>
            </a:extLst>
          </p:cNvPr>
          <p:cNvSpPr txBox="1"/>
          <p:nvPr/>
        </p:nvSpPr>
        <p:spPr>
          <a:xfrm>
            <a:off x="1688306" y="4357668"/>
            <a:ext cx="8815388" cy="461665"/>
          </a:xfrm>
          <a:prstGeom prst="rect">
            <a:avLst/>
          </a:prstGeom>
          <a:noFill/>
        </p:spPr>
        <p:txBody>
          <a:bodyPr wrap="square" rtlCol="0">
            <a:spAutoFit/>
          </a:bodyPr>
          <a:lstStyle/>
          <a:p>
            <a:pPr>
              <a:tabLst>
                <a:tab pos="4848225" algn="l"/>
              </a:tabLst>
            </a:pPr>
            <a:r>
              <a:rPr lang="ja-JP" altLang="en-US" sz="2400" dirty="0"/>
              <a:t>・目的地までの自動走行</a:t>
            </a:r>
            <a:endParaRPr lang="en-US" altLang="ja-JP" sz="2400" dirty="0"/>
          </a:p>
        </p:txBody>
      </p:sp>
      <p:sp>
        <p:nvSpPr>
          <p:cNvPr id="8" name="テキスト ボックス 7">
            <a:extLst>
              <a:ext uri="{FF2B5EF4-FFF2-40B4-BE49-F238E27FC236}">
                <a16:creationId xmlns:a16="http://schemas.microsoft.com/office/drawing/2014/main" id="{C49D5124-B21A-D879-8F16-03AA21E2BFC0}"/>
              </a:ext>
            </a:extLst>
          </p:cNvPr>
          <p:cNvSpPr txBox="1"/>
          <p:nvPr/>
        </p:nvSpPr>
        <p:spPr>
          <a:xfrm>
            <a:off x="1522200" y="1588437"/>
            <a:ext cx="3987800" cy="584775"/>
          </a:xfrm>
          <a:prstGeom prst="rect">
            <a:avLst/>
          </a:prstGeom>
          <a:noFill/>
        </p:spPr>
        <p:txBody>
          <a:bodyPr wrap="square" rtlCol="0">
            <a:spAutoFit/>
          </a:bodyPr>
          <a:lstStyle/>
          <a:p>
            <a:r>
              <a:rPr kumimoji="1" lang="ja-JP" altLang="en-US" sz="3200" dirty="0"/>
              <a:t>タイトル：配膳ロボ</a:t>
            </a:r>
          </a:p>
        </p:txBody>
      </p:sp>
    </p:spTree>
    <p:extLst>
      <p:ext uri="{BB962C8B-B14F-4D97-AF65-F5344CB8AC3E}">
        <p14:creationId xmlns:p14="http://schemas.microsoft.com/office/powerpoint/2010/main" val="270061159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B9F20-537E-A59E-FD09-4097760D132D}"/>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E6262AFB-346A-FA4F-68FB-BE7161EDFF13}"/>
              </a:ext>
            </a:extLst>
          </p:cNvPr>
          <p:cNvSpPr/>
          <p:nvPr/>
        </p:nvSpPr>
        <p:spPr>
          <a:xfrm>
            <a:off x="-2400" y="1"/>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355E5669-BB4B-13CE-51FD-1EB61F78B100}"/>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bg1"/>
                </a:solidFill>
              </a:rPr>
              <a:t>プロジェクト概要</a:t>
            </a:r>
            <a:endParaRPr kumimoji="1" lang="ja-JP" altLang="en-US" sz="2400" dirty="0">
              <a:solidFill>
                <a:schemeClr val="bg1"/>
              </a:solidFill>
            </a:endParaRPr>
          </a:p>
        </p:txBody>
      </p:sp>
      <p:sp>
        <p:nvSpPr>
          <p:cNvPr id="9" name="四角形: 角を丸くする 8">
            <a:extLst>
              <a:ext uri="{FF2B5EF4-FFF2-40B4-BE49-F238E27FC236}">
                <a16:creationId xmlns:a16="http://schemas.microsoft.com/office/drawing/2014/main" id="{03C7A843-06AF-23FE-91FE-9DE4FDFC9AFB}"/>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システム要件</a:t>
            </a:r>
          </a:p>
        </p:txBody>
      </p:sp>
      <p:sp>
        <p:nvSpPr>
          <p:cNvPr id="11" name="四角形: 角を丸くする 10">
            <a:extLst>
              <a:ext uri="{FF2B5EF4-FFF2-40B4-BE49-F238E27FC236}">
                <a16:creationId xmlns:a16="http://schemas.microsoft.com/office/drawing/2014/main" id="{FE0F11B7-7E6E-9DC6-C22B-4FC0A27BD8FE}"/>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113EBC27-8F4D-FCDB-13C0-5E2930E2D144}"/>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t>プログラム説明</a:t>
            </a:r>
            <a:endParaRPr kumimoji="1" lang="ja-JP" altLang="en-US" sz="2400" dirty="0"/>
          </a:p>
        </p:txBody>
      </p:sp>
      <p:sp>
        <p:nvSpPr>
          <p:cNvPr id="3" name="テキスト ボックス 2">
            <a:extLst>
              <a:ext uri="{FF2B5EF4-FFF2-40B4-BE49-F238E27FC236}">
                <a16:creationId xmlns:a16="http://schemas.microsoft.com/office/drawing/2014/main" id="{F8E71AF5-022F-3363-12DA-F2A126D77C38}"/>
              </a:ext>
            </a:extLst>
          </p:cNvPr>
          <p:cNvSpPr txBox="1"/>
          <p:nvPr/>
        </p:nvSpPr>
        <p:spPr>
          <a:xfrm>
            <a:off x="1522200" y="2902982"/>
            <a:ext cx="8815388" cy="523220"/>
          </a:xfrm>
          <a:prstGeom prst="rect">
            <a:avLst/>
          </a:prstGeom>
          <a:noFill/>
        </p:spPr>
        <p:txBody>
          <a:bodyPr wrap="square" rtlCol="0">
            <a:spAutoFit/>
          </a:bodyPr>
          <a:lstStyle/>
          <a:p>
            <a:r>
              <a:rPr kumimoji="1" lang="ja-JP" altLang="en-US" sz="2800" dirty="0"/>
              <a:t>要件定義</a:t>
            </a:r>
            <a:endParaRPr kumimoji="1" lang="en-US" altLang="ja-JP" sz="2800" dirty="0"/>
          </a:p>
        </p:txBody>
      </p:sp>
      <p:sp>
        <p:nvSpPr>
          <p:cNvPr id="4" name="テキスト ボックス 3">
            <a:extLst>
              <a:ext uri="{FF2B5EF4-FFF2-40B4-BE49-F238E27FC236}">
                <a16:creationId xmlns:a16="http://schemas.microsoft.com/office/drawing/2014/main" id="{B5006E5B-B084-4E0F-E1F2-FACB04D481A4}"/>
              </a:ext>
            </a:extLst>
          </p:cNvPr>
          <p:cNvSpPr txBox="1"/>
          <p:nvPr/>
        </p:nvSpPr>
        <p:spPr>
          <a:xfrm>
            <a:off x="1688306" y="4359158"/>
            <a:ext cx="8815388" cy="461665"/>
          </a:xfrm>
          <a:prstGeom prst="rect">
            <a:avLst/>
          </a:prstGeom>
          <a:noFill/>
        </p:spPr>
        <p:txBody>
          <a:bodyPr wrap="square" rtlCol="0">
            <a:spAutoFit/>
          </a:bodyPr>
          <a:lstStyle/>
          <a:p>
            <a:r>
              <a:rPr lang="ja-JP" altLang="en-US" sz="2400" dirty="0"/>
              <a:t>・接触･衝突の自動回避</a:t>
            </a:r>
            <a:endParaRPr lang="en-US" altLang="ja-JP" sz="2400" dirty="0"/>
          </a:p>
        </p:txBody>
      </p:sp>
      <p:sp>
        <p:nvSpPr>
          <p:cNvPr id="5" name="テキスト ボックス 4">
            <a:extLst>
              <a:ext uri="{FF2B5EF4-FFF2-40B4-BE49-F238E27FC236}">
                <a16:creationId xmlns:a16="http://schemas.microsoft.com/office/drawing/2014/main" id="{55E22B89-A579-4B27-6945-EE6CEFD56A66}"/>
              </a:ext>
            </a:extLst>
          </p:cNvPr>
          <p:cNvSpPr txBox="1"/>
          <p:nvPr/>
        </p:nvSpPr>
        <p:spPr>
          <a:xfrm>
            <a:off x="1688306" y="3897493"/>
            <a:ext cx="8815388" cy="461665"/>
          </a:xfrm>
          <a:prstGeom prst="rect">
            <a:avLst/>
          </a:prstGeom>
          <a:noFill/>
        </p:spPr>
        <p:txBody>
          <a:bodyPr wrap="square" rtlCol="0">
            <a:spAutoFit/>
          </a:bodyPr>
          <a:lstStyle/>
          <a:p>
            <a:pPr>
              <a:tabLst>
                <a:tab pos="4848225" algn="l"/>
              </a:tabLst>
            </a:pPr>
            <a:r>
              <a:rPr lang="ja-JP" altLang="en-US" sz="2400" dirty="0"/>
              <a:t>・目的地までの自動走行</a:t>
            </a:r>
            <a:endParaRPr lang="en-US" altLang="ja-JP" sz="2400" dirty="0"/>
          </a:p>
        </p:txBody>
      </p:sp>
      <p:sp>
        <p:nvSpPr>
          <p:cNvPr id="6" name="テキスト ボックス 5">
            <a:extLst>
              <a:ext uri="{FF2B5EF4-FFF2-40B4-BE49-F238E27FC236}">
                <a16:creationId xmlns:a16="http://schemas.microsoft.com/office/drawing/2014/main" id="{F5FD60B9-69E2-7620-F778-DC1E382534E1}"/>
              </a:ext>
            </a:extLst>
          </p:cNvPr>
          <p:cNvSpPr txBox="1"/>
          <p:nvPr/>
        </p:nvSpPr>
        <p:spPr>
          <a:xfrm>
            <a:off x="3374231" y="4360648"/>
            <a:ext cx="8815388" cy="461665"/>
          </a:xfrm>
          <a:prstGeom prst="rect">
            <a:avLst/>
          </a:prstGeom>
          <a:noFill/>
        </p:spPr>
        <p:txBody>
          <a:bodyPr wrap="square" rtlCol="0">
            <a:spAutoFit/>
          </a:bodyPr>
          <a:lstStyle/>
          <a:p>
            <a:r>
              <a:rPr lang="ja-JP" altLang="en-US" sz="2400" dirty="0">
                <a:noFill/>
              </a:rPr>
              <a:t>・音楽再生による周囲への到着通知</a:t>
            </a:r>
            <a:endParaRPr lang="en-US" altLang="ja-JP" sz="2400" dirty="0">
              <a:noFill/>
            </a:endParaRPr>
          </a:p>
        </p:txBody>
      </p:sp>
      <p:sp>
        <p:nvSpPr>
          <p:cNvPr id="8" name="テキスト ボックス 7">
            <a:extLst>
              <a:ext uri="{FF2B5EF4-FFF2-40B4-BE49-F238E27FC236}">
                <a16:creationId xmlns:a16="http://schemas.microsoft.com/office/drawing/2014/main" id="{7E138AD6-AE94-5253-9227-CAEC6C896665}"/>
              </a:ext>
            </a:extLst>
          </p:cNvPr>
          <p:cNvSpPr txBox="1"/>
          <p:nvPr/>
        </p:nvSpPr>
        <p:spPr>
          <a:xfrm>
            <a:off x="1522200" y="1588437"/>
            <a:ext cx="3987800" cy="584775"/>
          </a:xfrm>
          <a:prstGeom prst="rect">
            <a:avLst/>
          </a:prstGeom>
          <a:noFill/>
        </p:spPr>
        <p:txBody>
          <a:bodyPr wrap="square" rtlCol="0">
            <a:spAutoFit/>
          </a:bodyPr>
          <a:lstStyle/>
          <a:p>
            <a:r>
              <a:rPr kumimoji="1" lang="ja-JP" altLang="en-US" sz="3200" dirty="0"/>
              <a:t>タイトル：配膳ロボ</a:t>
            </a:r>
          </a:p>
        </p:txBody>
      </p:sp>
    </p:spTree>
    <p:extLst>
      <p:ext uri="{BB962C8B-B14F-4D97-AF65-F5344CB8AC3E}">
        <p14:creationId xmlns:p14="http://schemas.microsoft.com/office/powerpoint/2010/main" val="155971779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FCA44-281D-7CB8-84FD-33AEB0A5A534}"/>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5DF91B4C-FCA8-C3BC-61E4-3EDBBFA911F8}"/>
              </a:ext>
            </a:extLst>
          </p:cNvPr>
          <p:cNvSpPr/>
          <p:nvPr/>
        </p:nvSpPr>
        <p:spPr>
          <a:xfrm>
            <a:off x="-2400" y="1"/>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034B1048-64CA-1A3D-C3AF-B6FFAFE7A79B}"/>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bg1"/>
                </a:solidFill>
              </a:rPr>
              <a:t>プロジェクト概要</a:t>
            </a:r>
            <a:endParaRPr kumimoji="1" lang="ja-JP" altLang="en-US" sz="2400" dirty="0">
              <a:solidFill>
                <a:schemeClr val="bg1"/>
              </a:solidFill>
            </a:endParaRPr>
          </a:p>
        </p:txBody>
      </p:sp>
      <p:sp>
        <p:nvSpPr>
          <p:cNvPr id="9" name="四角形: 角を丸くする 8">
            <a:extLst>
              <a:ext uri="{FF2B5EF4-FFF2-40B4-BE49-F238E27FC236}">
                <a16:creationId xmlns:a16="http://schemas.microsoft.com/office/drawing/2014/main" id="{6AB5C114-C860-E8F9-8C56-A6ED4F525D3D}"/>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システム要件</a:t>
            </a:r>
          </a:p>
        </p:txBody>
      </p:sp>
      <p:sp>
        <p:nvSpPr>
          <p:cNvPr id="11" name="四角形: 角を丸くする 10">
            <a:extLst>
              <a:ext uri="{FF2B5EF4-FFF2-40B4-BE49-F238E27FC236}">
                <a16:creationId xmlns:a16="http://schemas.microsoft.com/office/drawing/2014/main" id="{F4BF43B8-B8E9-8A2C-1802-1A50652CB409}"/>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578A3EFE-6E1E-A033-9013-63F261DFBBA0}"/>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t>プログラム説明</a:t>
            </a:r>
            <a:endParaRPr kumimoji="1" lang="ja-JP" altLang="en-US" sz="2400" dirty="0"/>
          </a:p>
        </p:txBody>
      </p:sp>
      <p:sp>
        <p:nvSpPr>
          <p:cNvPr id="3" name="テキスト ボックス 2">
            <a:extLst>
              <a:ext uri="{FF2B5EF4-FFF2-40B4-BE49-F238E27FC236}">
                <a16:creationId xmlns:a16="http://schemas.microsoft.com/office/drawing/2014/main" id="{78C29A02-7C2B-9D10-F4FC-02DEE6E558ED}"/>
              </a:ext>
            </a:extLst>
          </p:cNvPr>
          <p:cNvSpPr txBox="1"/>
          <p:nvPr/>
        </p:nvSpPr>
        <p:spPr>
          <a:xfrm>
            <a:off x="1522200" y="2902982"/>
            <a:ext cx="8815388" cy="523220"/>
          </a:xfrm>
          <a:prstGeom prst="rect">
            <a:avLst/>
          </a:prstGeom>
          <a:noFill/>
        </p:spPr>
        <p:txBody>
          <a:bodyPr wrap="square" rtlCol="0">
            <a:spAutoFit/>
          </a:bodyPr>
          <a:lstStyle/>
          <a:p>
            <a:r>
              <a:rPr kumimoji="1" lang="ja-JP" altLang="en-US" sz="2800" dirty="0"/>
              <a:t>要件定義</a:t>
            </a:r>
            <a:endParaRPr kumimoji="1" lang="en-US" altLang="ja-JP" sz="2800" dirty="0"/>
          </a:p>
        </p:txBody>
      </p:sp>
      <p:sp>
        <p:nvSpPr>
          <p:cNvPr id="4" name="テキスト ボックス 3">
            <a:extLst>
              <a:ext uri="{FF2B5EF4-FFF2-40B4-BE49-F238E27FC236}">
                <a16:creationId xmlns:a16="http://schemas.microsoft.com/office/drawing/2014/main" id="{D59FBB22-9176-0819-4C25-CE9AA678FDC9}"/>
              </a:ext>
            </a:extLst>
          </p:cNvPr>
          <p:cNvSpPr txBox="1"/>
          <p:nvPr/>
        </p:nvSpPr>
        <p:spPr>
          <a:xfrm>
            <a:off x="1688306" y="3898983"/>
            <a:ext cx="8815388" cy="461665"/>
          </a:xfrm>
          <a:prstGeom prst="rect">
            <a:avLst/>
          </a:prstGeom>
          <a:noFill/>
        </p:spPr>
        <p:txBody>
          <a:bodyPr wrap="square" rtlCol="0">
            <a:spAutoFit/>
          </a:bodyPr>
          <a:lstStyle/>
          <a:p>
            <a:r>
              <a:rPr lang="ja-JP" altLang="en-US" sz="2400" dirty="0"/>
              <a:t>・接触･衝突の自動回避</a:t>
            </a:r>
            <a:endParaRPr lang="en-US" altLang="ja-JP" sz="2400" dirty="0"/>
          </a:p>
        </p:txBody>
      </p:sp>
      <p:sp>
        <p:nvSpPr>
          <p:cNvPr id="5" name="テキスト ボックス 4">
            <a:extLst>
              <a:ext uri="{FF2B5EF4-FFF2-40B4-BE49-F238E27FC236}">
                <a16:creationId xmlns:a16="http://schemas.microsoft.com/office/drawing/2014/main" id="{DC6E6A58-3F46-CEA3-FB0C-E51CD18B2CBC}"/>
              </a:ext>
            </a:extLst>
          </p:cNvPr>
          <p:cNvSpPr txBox="1"/>
          <p:nvPr/>
        </p:nvSpPr>
        <p:spPr>
          <a:xfrm>
            <a:off x="1688306" y="3437318"/>
            <a:ext cx="8815388" cy="461665"/>
          </a:xfrm>
          <a:prstGeom prst="rect">
            <a:avLst/>
          </a:prstGeom>
          <a:noFill/>
        </p:spPr>
        <p:txBody>
          <a:bodyPr wrap="square" rtlCol="0">
            <a:spAutoFit/>
          </a:bodyPr>
          <a:lstStyle/>
          <a:p>
            <a:pPr>
              <a:tabLst>
                <a:tab pos="4848225" algn="l"/>
              </a:tabLst>
            </a:pPr>
            <a:r>
              <a:rPr lang="ja-JP" altLang="en-US" sz="2400" dirty="0"/>
              <a:t>・目的地までの自動走行</a:t>
            </a:r>
            <a:endParaRPr lang="en-US" altLang="ja-JP" sz="2400" dirty="0"/>
          </a:p>
        </p:txBody>
      </p:sp>
      <p:sp>
        <p:nvSpPr>
          <p:cNvPr id="6" name="テキスト ボックス 5">
            <a:extLst>
              <a:ext uri="{FF2B5EF4-FFF2-40B4-BE49-F238E27FC236}">
                <a16:creationId xmlns:a16="http://schemas.microsoft.com/office/drawing/2014/main" id="{0B81DF67-9171-3EA5-C7BE-EE9BFCBB2CEE}"/>
              </a:ext>
            </a:extLst>
          </p:cNvPr>
          <p:cNvSpPr txBox="1"/>
          <p:nvPr/>
        </p:nvSpPr>
        <p:spPr>
          <a:xfrm>
            <a:off x="1688306" y="4360648"/>
            <a:ext cx="8815388" cy="461665"/>
          </a:xfrm>
          <a:prstGeom prst="rect">
            <a:avLst/>
          </a:prstGeom>
          <a:noFill/>
        </p:spPr>
        <p:txBody>
          <a:bodyPr wrap="square" rtlCol="0">
            <a:spAutoFit/>
          </a:bodyPr>
          <a:lstStyle/>
          <a:p>
            <a:r>
              <a:rPr lang="ja-JP" altLang="en-US" sz="2400" dirty="0"/>
              <a:t>・音楽再生による周囲への到着通知</a:t>
            </a:r>
            <a:endParaRPr lang="en-US" altLang="ja-JP" sz="2400" dirty="0"/>
          </a:p>
        </p:txBody>
      </p:sp>
      <p:sp>
        <p:nvSpPr>
          <p:cNvPr id="8" name="テキスト ボックス 7">
            <a:extLst>
              <a:ext uri="{FF2B5EF4-FFF2-40B4-BE49-F238E27FC236}">
                <a16:creationId xmlns:a16="http://schemas.microsoft.com/office/drawing/2014/main" id="{FD4DCF4E-7C70-BF19-193F-21BA22985598}"/>
              </a:ext>
            </a:extLst>
          </p:cNvPr>
          <p:cNvSpPr txBox="1"/>
          <p:nvPr/>
        </p:nvSpPr>
        <p:spPr>
          <a:xfrm>
            <a:off x="1522200" y="1588437"/>
            <a:ext cx="3987800" cy="584775"/>
          </a:xfrm>
          <a:prstGeom prst="rect">
            <a:avLst/>
          </a:prstGeom>
          <a:noFill/>
        </p:spPr>
        <p:txBody>
          <a:bodyPr wrap="square" rtlCol="0">
            <a:spAutoFit/>
          </a:bodyPr>
          <a:lstStyle/>
          <a:p>
            <a:r>
              <a:rPr kumimoji="1" lang="ja-JP" altLang="en-US" sz="3200" dirty="0"/>
              <a:t>タイトル：配膳ロボ</a:t>
            </a:r>
          </a:p>
        </p:txBody>
      </p:sp>
    </p:spTree>
    <p:extLst>
      <p:ext uri="{BB962C8B-B14F-4D97-AF65-F5344CB8AC3E}">
        <p14:creationId xmlns:p14="http://schemas.microsoft.com/office/powerpoint/2010/main" val="276370920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25F10-AB0C-E33B-7A24-0A0ECEDB1E82}"/>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8DA3C81B-31CE-1424-FE3E-DB91835162BD}"/>
              </a:ext>
            </a:extLst>
          </p:cNvPr>
          <p:cNvSpPr/>
          <p:nvPr/>
        </p:nvSpPr>
        <p:spPr>
          <a:xfrm>
            <a:off x="3046801"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EFA3966E-81F3-B379-5318-E108C15D06D4}"/>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94E33710-FADA-A8E6-BFDB-29CDC9E9CD68}"/>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bg1"/>
                </a:solidFill>
              </a:rPr>
              <a:t>システム要件</a:t>
            </a:r>
          </a:p>
        </p:txBody>
      </p:sp>
      <p:sp>
        <p:nvSpPr>
          <p:cNvPr id="11" name="四角形: 角を丸くする 10">
            <a:extLst>
              <a:ext uri="{FF2B5EF4-FFF2-40B4-BE49-F238E27FC236}">
                <a16:creationId xmlns:a16="http://schemas.microsoft.com/office/drawing/2014/main" id="{02851245-2EB4-FAC4-73F8-CD7CE9DABB48}"/>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FF0D8260-9614-110B-9556-D9D29A5AA545}"/>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t>プログラム説明</a:t>
            </a:r>
            <a:endParaRPr kumimoji="1" lang="ja-JP" altLang="en-US" sz="2400" dirty="0"/>
          </a:p>
        </p:txBody>
      </p:sp>
      <p:sp>
        <p:nvSpPr>
          <p:cNvPr id="7" name="テキスト ボックス 6">
            <a:extLst>
              <a:ext uri="{FF2B5EF4-FFF2-40B4-BE49-F238E27FC236}">
                <a16:creationId xmlns:a16="http://schemas.microsoft.com/office/drawing/2014/main" id="{9EFEEDF9-06BC-F503-2615-8C5D430349CF}"/>
              </a:ext>
            </a:extLst>
          </p:cNvPr>
          <p:cNvSpPr txBox="1"/>
          <p:nvPr/>
        </p:nvSpPr>
        <p:spPr>
          <a:xfrm>
            <a:off x="3819525" y="1171575"/>
            <a:ext cx="2275276" cy="584775"/>
          </a:xfrm>
          <a:prstGeom prst="rect">
            <a:avLst/>
          </a:prstGeom>
          <a:noFill/>
        </p:spPr>
        <p:txBody>
          <a:bodyPr wrap="square" rtlCol="0">
            <a:spAutoFit/>
          </a:bodyPr>
          <a:lstStyle/>
          <a:p>
            <a:r>
              <a:rPr lang="ja-JP" altLang="en-US" sz="3200" dirty="0">
                <a:noFill/>
              </a:rPr>
              <a:t>移動制御</a:t>
            </a:r>
            <a:endParaRPr kumimoji="1" lang="ja-JP" altLang="en-US" sz="3200" dirty="0">
              <a:noFill/>
            </a:endParaRPr>
          </a:p>
        </p:txBody>
      </p:sp>
      <p:sp>
        <p:nvSpPr>
          <p:cNvPr id="10" name="テキスト ボックス 9">
            <a:extLst>
              <a:ext uri="{FF2B5EF4-FFF2-40B4-BE49-F238E27FC236}">
                <a16:creationId xmlns:a16="http://schemas.microsoft.com/office/drawing/2014/main" id="{9F6541FA-32B0-DD9E-B923-449B763FE00D}"/>
              </a:ext>
            </a:extLst>
          </p:cNvPr>
          <p:cNvSpPr txBox="1"/>
          <p:nvPr/>
        </p:nvSpPr>
        <p:spPr>
          <a:xfrm>
            <a:off x="4286250" y="1755127"/>
            <a:ext cx="9516836" cy="461665"/>
          </a:xfrm>
          <a:prstGeom prst="rect">
            <a:avLst/>
          </a:prstGeom>
          <a:noFill/>
        </p:spPr>
        <p:txBody>
          <a:bodyPr wrap="square" rtlCol="0">
            <a:spAutoFit/>
          </a:bodyPr>
          <a:lstStyle/>
          <a:p>
            <a:r>
              <a:rPr lang="en-US" altLang="ja-JP" sz="2400" dirty="0">
                <a:noFill/>
              </a:rPr>
              <a:t>“</a:t>
            </a:r>
            <a:r>
              <a:rPr lang="ja-JP" altLang="en-US" sz="2400" dirty="0">
                <a:noFill/>
              </a:rPr>
              <a:t>向き</a:t>
            </a:r>
            <a:r>
              <a:rPr lang="en-US" altLang="ja-JP" sz="2400" dirty="0">
                <a:noFill/>
              </a:rPr>
              <a:t>”</a:t>
            </a:r>
            <a:r>
              <a:rPr lang="ja-JP" altLang="en-US" sz="2400" dirty="0">
                <a:noFill/>
              </a:rPr>
              <a:t>と</a:t>
            </a:r>
            <a:r>
              <a:rPr lang="en-US" altLang="ja-JP" sz="2400" dirty="0">
                <a:noFill/>
              </a:rPr>
              <a:t>”</a:t>
            </a:r>
            <a:r>
              <a:rPr lang="ja-JP" altLang="en-US" sz="2400" dirty="0">
                <a:noFill/>
              </a:rPr>
              <a:t>歩数</a:t>
            </a:r>
            <a:r>
              <a:rPr lang="en-US" altLang="ja-JP" sz="2400" dirty="0">
                <a:noFill/>
              </a:rPr>
              <a:t>”</a:t>
            </a:r>
            <a:r>
              <a:rPr lang="ja-JP" altLang="en-US" sz="2400" dirty="0">
                <a:noFill/>
              </a:rPr>
              <a:t>による自己位置推定と、目標座標への移動量計算</a:t>
            </a:r>
            <a:endParaRPr lang="en-US" altLang="ja-JP" sz="2400" dirty="0">
              <a:noFill/>
            </a:endParaRPr>
          </a:p>
        </p:txBody>
      </p:sp>
      <p:sp>
        <p:nvSpPr>
          <p:cNvPr id="20" name="テキスト ボックス 19">
            <a:extLst>
              <a:ext uri="{FF2B5EF4-FFF2-40B4-BE49-F238E27FC236}">
                <a16:creationId xmlns:a16="http://schemas.microsoft.com/office/drawing/2014/main" id="{D1AA05F8-2151-F000-9335-EACC20660F86}"/>
              </a:ext>
            </a:extLst>
          </p:cNvPr>
          <p:cNvSpPr txBox="1"/>
          <p:nvPr/>
        </p:nvSpPr>
        <p:spPr>
          <a:xfrm>
            <a:off x="-5226947" y="2902982"/>
            <a:ext cx="5060841" cy="523220"/>
          </a:xfrm>
          <a:prstGeom prst="rect">
            <a:avLst/>
          </a:prstGeom>
          <a:noFill/>
        </p:spPr>
        <p:txBody>
          <a:bodyPr wrap="square" rtlCol="0">
            <a:spAutoFit/>
          </a:bodyPr>
          <a:lstStyle/>
          <a:p>
            <a:r>
              <a:rPr kumimoji="1" lang="ja-JP" altLang="en-US" sz="2800" dirty="0"/>
              <a:t>要件定義</a:t>
            </a:r>
            <a:endParaRPr kumimoji="1" lang="en-US" altLang="ja-JP" sz="2800" dirty="0"/>
          </a:p>
        </p:txBody>
      </p:sp>
      <p:sp>
        <p:nvSpPr>
          <p:cNvPr id="21" name="テキスト ボックス 20">
            <a:extLst>
              <a:ext uri="{FF2B5EF4-FFF2-40B4-BE49-F238E27FC236}">
                <a16:creationId xmlns:a16="http://schemas.microsoft.com/office/drawing/2014/main" id="{BB8090E4-496C-3D2A-135F-8D0EF8905594}"/>
              </a:ext>
            </a:extLst>
          </p:cNvPr>
          <p:cNvSpPr txBox="1"/>
          <p:nvPr/>
        </p:nvSpPr>
        <p:spPr>
          <a:xfrm>
            <a:off x="-5060841" y="3898983"/>
            <a:ext cx="5060841" cy="461665"/>
          </a:xfrm>
          <a:prstGeom prst="rect">
            <a:avLst/>
          </a:prstGeom>
          <a:noFill/>
        </p:spPr>
        <p:txBody>
          <a:bodyPr wrap="square" rtlCol="0">
            <a:spAutoFit/>
          </a:bodyPr>
          <a:lstStyle/>
          <a:p>
            <a:r>
              <a:rPr lang="ja-JP" altLang="en-US" sz="2400" dirty="0"/>
              <a:t>・接触･衝突の自動回避</a:t>
            </a:r>
            <a:endParaRPr lang="en-US" altLang="ja-JP" sz="2400" dirty="0"/>
          </a:p>
        </p:txBody>
      </p:sp>
      <p:sp>
        <p:nvSpPr>
          <p:cNvPr id="22" name="テキスト ボックス 21">
            <a:extLst>
              <a:ext uri="{FF2B5EF4-FFF2-40B4-BE49-F238E27FC236}">
                <a16:creationId xmlns:a16="http://schemas.microsoft.com/office/drawing/2014/main" id="{619167D6-45E0-DF5C-5CF2-C0364CDF0B73}"/>
              </a:ext>
            </a:extLst>
          </p:cNvPr>
          <p:cNvSpPr txBox="1"/>
          <p:nvPr/>
        </p:nvSpPr>
        <p:spPr>
          <a:xfrm>
            <a:off x="-5060841" y="3437318"/>
            <a:ext cx="5060841" cy="461665"/>
          </a:xfrm>
          <a:prstGeom prst="rect">
            <a:avLst/>
          </a:prstGeom>
          <a:noFill/>
        </p:spPr>
        <p:txBody>
          <a:bodyPr wrap="square" rtlCol="0">
            <a:spAutoFit/>
          </a:bodyPr>
          <a:lstStyle/>
          <a:p>
            <a:pPr>
              <a:tabLst>
                <a:tab pos="4848225" algn="l"/>
              </a:tabLst>
            </a:pPr>
            <a:r>
              <a:rPr lang="ja-JP" altLang="en-US" sz="2400" dirty="0"/>
              <a:t>・目的地までの自動走行</a:t>
            </a:r>
            <a:endParaRPr lang="en-US" altLang="ja-JP" sz="2400" dirty="0"/>
          </a:p>
        </p:txBody>
      </p:sp>
      <p:sp>
        <p:nvSpPr>
          <p:cNvPr id="23" name="テキスト ボックス 22">
            <a:extLst>
              <a:ext uri="{FF2B5EF4-FFF2-40B4-BE49-F238E27FC236}">
                <a16:creationId xmlns:a16="http://schemas.microsoft.com/office/drawing/2014/main" id="{6364A0CA-EA72-3C51-EF68-0F295714380C}"/>
              </a:ext>
            </a:extLst>
          </p:cNvPr>
          <p:cNvSpPr txBox="1"/>
          <p:nvPr/>
        </p:nvSpPr>
        <p:spPr>
          <a:xfrm>
            <a:off x="-5060841" y="4360648"/>
            <a:ext cx="5060841" cy="461665"/>
          </a:xfrm>
          <a:prstGeom prst="rect">
            <a:avLst/>
          </a:prstGeom>
          <a:noFill/>
        </p:spPr>
        <p:txBody>
          <a:bodyPr wrap="square" rtlCol="0">
            <a:spAutoFit/>
          </a:bodyPr>
          <a:lstStyle/>
          <a:p>
            <a:r>
              <a:rPr lang="ja-JP" altLang="en-US" sz="2400" dirty="0"/>
              <a:t>・音楽再生による周囲への到着通知</a:t>
            </a:r>
            <a:endParaRPr lang="en-US" altLang="ja-JP" sz="2400" dirty="0"/>
          </a:p>
        </p:txBody>
      </p:sp>
      <p:sp>
        <p:nvSpPr>
          <p:cNvPr id="24" name="テキスト ボックス 23">
            <a:extLst>
              <a:ext uri="{FF2B5EF4-FFF2-40B4-BE49-F238E27FC236}">
                <a16:creationId xmlns:a16="http://schemas.microsoft.com/office/drawing/2014/main" id="{0AF1B62D-A3F0-576B-C759-EBEFC2EFE58B}"/>
              </a:ext>
            </a:extLst>
          </p:cNvPr>
          <p:cNvSpPr txBox="1"/>
          <p:nvPr/>
        </p:nvSpPr>
        <p:spPr>
          <a:xfrm>
            <a:off x="-5226947" y="1588437"/>
            <a:ext cx="3987800" cy="584775"/>
          </a:xfrm>
          <a:prstGeom prst="rect">
            <a:avLst/>
          </a:prstGeom>
          <a:noFill/>
        </p:spPr>
        <p:txBody>
          <a:bodyPr wrap="square" rtlCol="0">
            <a:spAutoFit/>
          </a:bodyPr>
          <a:lstStyle/>
          <a:p>
            <a:r>
              <a:rPr kumimoji="1" lang="ja-JP" altLang="en-US" sz="3200" dirty="0"/>
              <a:t>タイトル：配膳ロボ</a:t>
            </a:r>
          </a:p>
        </p:txBody>
      </p:sp>
    </p:spTree>
    <p:extLst>
      <p:ext uri="{BB962C8B-B14F-4D97-AF65-F5344CB8AC3E}">
        <p14:creationId xmlns:p14="http://schemas.microsoft.com/office/powerpoint/2010/main" val="2299674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B58D2-36D5-5AC1-150D-3CAB5C047211}"/>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E68A9F9C-CC36-1107-6098-15B38039EA5E}"/>
              </a:ext>
            </a:extLst>
          </p:cNvPr>
          <p:cNvSpPr/>
          <p:nvPr/>
        </p:nvSpPr>
        <p:spPr>
          <a:xfrm>
            <a:off x="3046801"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5FF86B7B-43A2-DAE8-B22F-A98A38755C42}"/>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92BC3CDD-1E83-7145-245C-18E518E43F80}"/>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bg1"/>
                </a:solidFill>
              </a:rPr>
              <a:t>システム要件</a:t>
            </a:r>
          </a:p>
        </p:txBody>
      </p:sp>
      <p:sp>
        <p:nvSpPr>
          <p:cNvPr id="11" name="四角形: 角を丸くする 10">
            <a:extLst>
              <a:ext uri="{FF2B5EF4-FFF2-40B4-BE49-F238E27FC236}">
                <a16:creationId xmlns:a16="http://schemas.microsoft.com/office/drawing/2014/main" id="{C318D180-F2E4-2C31-81ED-1D0138F5A49B}"/>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A8AE8E1F-C4AC-4DB7-4088-955E5522F715}"/>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t>プログラム説明</a:t>
            </a:r>
            <a:endParaRPr kumimoji="1" lang="ja-JP" altLang="en-US" sz="2400" dirty="0"/>
          </a:p>
        </p:txBody>
      </p:sp>
      <p:sp>
        <p:nvSpPr>
          <p:cNvPr id="7" name="テキスト ボックス 6">
            <a:extLst>
              <a:ext uri="{FF2B5EF4-FFF2-40B4-BE49-F238E27FC236}">
                <a16:creationId xmlns:a16="http://schemas.microsoft.com/office/drawing/2014/main" id="{E09D6851-FB84-A4DE-4C69-15C44455109D}"/>
              </a:ext>
            </a:extLst>
          </p:cNvPr>
          <p:cNvSpPr txBox="1"/>
          <p:nvPr/>
        </p:nvSpPr>
        <p:spPr>
          <a:xfrm>
            <a:off x="771525" y="1171575"/>
            <a:ext cx="2275276" cy="584775"/>
          </a:xfrm>
          <a:prstGeom prst="rect">
            <a:avLst/>
          </a:prstGeom>
          <a:noFill/>
        </p:spPr>
        <p:txBody>
          <a:bodyPr wrap="square" rtlCol="0">
            <a:spAutoFit/>
          </a:bodyPr>
          <a:lstStyle/>
          <a:p>
            <a:r>
              <a:rPr lang="ja-JP" altLang="en-US" sz="3200" dirty="0"/>
              <a:t>移動制御</a:t>
            </a:r>
            <a:endParaRPr kumimoji="1" lang="ja-JP" altLang="en-US" sz="3200" dirty="0"/>
          </a:p>
        </p:txBody>
      </p:sp>
      <p:sp>
        <p:nvSpPr>
          <p:cNvPr id="10" name="テキスト ボックス 9">
            <a:extLst>
              <a:ext uri="{FF2B5EF4-FFF2-40B4-BE49-F238E27FC236}">
                <a16:creationId xmlns:a16="http://schemas.microsoft.com/office/drawing/2014/main" id="{C22081FD-3988-9F8F-2CFC-F7C689970FC4}"/>
              </a:ext>
            </a:extLst>
          </p:cNvPr>
          <p:cNvSpPr txBox="1"/>
          <p:nvPr/>
        </p:nvSpPr>
        <p:spPr>
          <a:xfrm>
            <a:off x="1238250" y="1755127"/>
            <a:ext cx="10953750" cy="461665"/>
          </a:xfrm>
          <a:prstGeom prst="rect">
            <a:avLst/>
          </a:prstGeom>
          <a:noFill/>
        </p:spPr>
        <p:txBody>
          <a:bodyPr wrap="square" rtlCol="0">
            <a:spAutoFit/>
          </a:bodyPr>
          <a:lstStyle/>
          <a:p>
            <a:r>
              <a:rPr lang="en-US" altLang="ja-JP" sz="2400" dirty="0"/>
              <a:t>“</a:t>
            </a:r>
            <a:r>
              <a:rPr lang="ja-JP" altLang="en-US" sz="2400" dirty="0"/>
              <a:t>向き</a:t>
            </a:r>
            <a:r>
              <a:rPr lang="en-US" altLang="ja-JP" sz="2400" dirty="0"/>
              <a:t>”</a:t>
            </a:r>
            <a:r>
              <a:rPr lang="ja-JP" altLang="en-US" sz="2400" dirty="0"/>
              <a:t>と</a:t>
            </a:r>
            <a:r>
              <a:rPr lang="en-US" altLang="ja-JP" sz="2400" dirty="0"/>
              <a:t>”</a:t>
            </a:r>
            <a:r>
              <a:rPr lang="ja-JP" altLang="en-US" sz="2400" dirty="0"/>
              <a:t>歩数</a:t>
            </a:r>
            <a:r>
              <a:rPr lang="en-US" altLang="ja-JP" sz="2400" dirty="0"/>
              <a:t>”</a:t>
            </a:r>
            <a:r>
              <a:rPr lang="ja-JP" altLang="en-US" sz="2400" dirty="0"/>
              <a:t>による自己位置推定と、目標座標への移動量計算</a:t>
            </a:r>
            <a:endParaRPr lang="en-US" altLang="ja-JP" sz="2400" dirty="0"/>
          </a:p>
        </p:txBody>
      </p:sp>
      <p:cxnSp>
        <p:nvCxnSpPr>
          <p:cNvPr id="5" name="直線コネクタ 4">
            <a:extLst>
              <a:ext uri="{FF2B5EF4-FFF2-40B4-BE49-F238E27FC236}">
                <a16:creationId xmlns:a16="http://schemas.microsoft.com/office/drawing/2014/main" id="{383DA6C6-1074-CDB4-2B3D-E175DD0D9D7E}"/>
              </a:ext>
            </a:extLst>
          </p:cNvPr>
          <p:cNvCxnSpPr/>
          <p:nvPr/>
        </p:nvCxnSpPr>
        <p:spPr>
          <a:xfrm>
            <a:off x="7344629" y="4124790"/>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 name="直線矢印コネクタ 2">
            <a:extLst>
              <a:ext uri="{FF2B5EF4-FFF2-40B4-BE49-F238E27FC236}">
                <a16:creationId xmlns:a16="http://schemas.microsoft.com/office/drawing/2014/main" id="{89118571-2651-133D-6C83-369786076BC9}"/>
              </a:ext>
            </a:extLst>
          </p:cNvPr>
          <p:cNvCxnSpPr/>
          <p:nvPr/>
        </p:nvCxnSpPr>
        <p:spPr>
          <a:xfrm>
            <a:off x="7344629" y="4482990"/>
            <a:ext cx="360000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 name="直線コネクタ 7">
            <a:extLst>
              <a:ext uri="{FF2B5EF4-FFF2-40B4-BE49-F238E27FC236}">
                <a16:creationId xmlns:a16="http://schemas.microsoft.com/office/drawing/2014/main" id="{00EDFF4F-7AA8-C921-67D5-633E6DF33674}"/>
              </a:ext>
            </a:extLst>
          </p:cNvPr>
          <p:cNvCxnSpPr/>
          <p:nvPr/>
        </p:nvCxnSpPr>
        <p:spPr>
          <a:xfrm>
            <a:off x="7344629" y="3764790"/>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4" name="直線矢印コネクタ 3">
            <a:extLst>
              <a:ext uri="{FF2B5EF4-FFF2-40B4-BE49-F238E27FC236}">
                <a16:creationId xmlns:a16="http://schemas.microsoft.com/office/drawing/2014/main" id="{383C01D4-AA58-A4C1-1E2A-1CE0C94D19A7}"/>
              </a:ext>
            </a:extLst>
          </p:cNvPr>
          <p:cNvCxnSpPr>
            <a:cxnSpLocks/>
          </p:cNvCxnSpPr>
          <p:nvPr/>
        </p:nvCxnSpPr>
        <p:spPr>
          <a:xfrm rot="10800000">
            <a:off x="9146141" y="2682990"/>
            <a:ext cx="0" cy="360000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 name="直線矢印コネクタ 5">
            <a:extLst>
              <a:ext uri="{FF2B5EF4-FFF2-40B4-BE49-F238E27FC236}">
                <a16:creationId xmlns:a16="http://schemas.microsoft.com/office/drawing/2014/main" id="{BD099E32-1758-61EE-9F8F-F6443884BB69}"/>
              </a:ext>
            </a:extLst>
          </p:cNvPr>
          <p:cNvCxnSpPr/>
          <p:nvPr/>
        </p:nvCxnSpPr>
        <p:spPr>
          <a:xfrm>
            <a:off x="7346141" y="3404790"/>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16" name="直線矢印コネクタ 15">
            <a:extLst>
              <a:ext uri="{FF2B5EF4-FFF2-40B4-BE49-F238E27FC236}">
                <a16:creationId xmlns:a16="http://schemas.microsoft.com/office/drawing/2014/main" id="{3763E321-89FD-3A46-49E7-634CCE85F255}"/>
              </a:ext>
            </a:extLst>
          </p:cNvPr>
          <p:cNvCxnSpPr/>
          <p:nvPr/>
        </p:nvCxnSpPr>
        <p:spPr>
          <a:xfrm>
            <a:off x="7346141" y="3044790"/>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17" name="直線コネクタ 16">
            <a:extLst>
              <a:ext uri="{FF2B5EF4-FFF2-40B4-BE49-F238E27FC236}">
                <a16:creationId xmlns:a16="http://schemas.microsoft.com/office/drawing/2014/main" id="{01CCE975-AD8F-A226-58DB-130924F0FEC5}"/>
              </a:ext>
            </a:extLst>
          </p:cNvPr>
          <p:cNvCxnSpPr/>
          <p:nvPr/>
        </p:nvCxnSpPr>
        <p:spPr>
          <a:xfrm>
            <a:off x="7344629" y="5882153"/>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41770064-5FB7-B228-8E93-B41160D16DEB}"/>
              </a:ext>
            </a:extLst>
          </p:cNvPr>
          <p:cNvCxnSpPr/>
          <p:nvPr/>
        </p:nvCxnSpPr>
        <p:spPr>
          <a:xfrm>
            <a:off x="7344629" y="5522153"/>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9" name="直線矢印コネクタ 18">
            <a:extLst>
              <a:ext uri="{FF2B5EF4-FFF2-40B4-BE49-F238E27FC236}">
                <a16:creationId xmlns:a16="http://schemas.microsoft.com/office/drawing/2014/main" id="{7DBAD490-7E69-80B1-1EE8-132B06A62910}"/>
              </a:ext>
            </a:extLst>
          </p:cNvPr>
          <p:cNvCxnSpPr/>
          <p:nvPr/>
        </p:nvCxnSpPr>
        <p:spPr>
          <a:xfrm>
            <a:off x="7346141" y="5162153"/>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20" name="直線矢印コネクタ 19">
            <a:extLst>
              <a:ext uri="{FF2B5EF4-FFF2-40B4-BE49-F238E27FC236}">
                <a16:creationId xmlns:a16="http://schemas.microsoft.com/office/drawing/2014/main" id="{40D0429E-490F-2A80-9DF3-DC80F3A1E16D}"/>
              </a:ext>
            </a:extLst>
          </p:cNvPr>
          <p:cNvCxnSpPr/>
          <p:nvPr/>
        </p:nvCxnSpPr>
        <p:spPr>
          <a:xfrm>
            <a:off x="7346141" y="4802153"/>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29" name="直線コネクタ 28">
            <a:extLst>
              <a:ext uri="{FF2B5EF4-FFF2-40B4-BE49-F238E27FC236}">
                <a16:creationId xmlns:a16="http://schemas.microsoft.com/office/drawing/2014/main" id="{66BE8E7F-8D9C-C979-103A-15ECC1F35B50}"/>
              </a:ext>
            </a:extLst>
          </p:cNvPr>
          <p:cNvCxnSpPr/>
          <p:nvPr/>
        </p:nvCxnSpPr>
        <p:spPr>
          <a:xfrm>
            <a:off x="878614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2B9F90F1-376F-47FF-1215-CF017CF4FB3A}"/>
              </a:ext>
            </a:extLst>
          </p:cNvPr>
          <p:cNvCxnSpPr/>
          <p:nvPr/>
        </p:nvCxnSpPr>
        <p:spPr>
          <a:xfrm>
            <a:off x="842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77E7C6C6-C042-DAFA-E22B-837737A28EFD}"/>
              </a:ext>
            </a:extLst>
          </p:cNvPr>
          <p:cNvCxnSpPr/>
          <p:nvPr/>
        </p:nvCxnSpPr>
        <p:spPr>
          <a:xfrm>
            <a:off x="806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4" name="直線コネクタ 33">
            <a:extLst>
              <a:ext uri="{FF2B5EF4-FFF2-40B4-BE49-F238E27FC236}">
                <a16:creationId xmlns:a16="http://schemas.microsoft.com/office/drawing/2014/main" id="{E6DA0507-6E77-2082-3249-B141C531C215}"/>
              </a:ext>
            </a:extLst>
          </p:cNvPr>
          <p:cNvCxnSpPr/>
          <p:nvPr/>
        </p:nvCxnSpPr>
        <p:spPr>
          <a:xfrm>
            <a:off x="770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5" name="直線コネクタ 34">
            <a:extLst>
              <a:ext uri="{FF2B5EF4-FFF2-40B4-BE49-F238E27FC236}">
                <a16:creationId xmlns:a16="http://schemas.microsoft.com/office/drawing/2014/main" id="{0EA25B75-ABDD-5BF6-A210-88AB130708F8}"/>
              </a:ext>
            </a:extLst>
          </p:cNvPr>
          <p:cNvCxnSpPr/>
          <p:nvPr/>
        </p:nvCxnSpPr>
        <p:spPr>
          <a:xfrm>
            <a:off x="10599701" y="2681188"/>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6" name="直線コネクタ 35">
            <a:extLst>
              <a:ext uri="{FF2B5EF4-FFF2-40B4-BE49-F238E27FC236}">
                <a16:creationId xmlns:a16="http://schemas.microsoft.com/office/drawing/2014/main" id="{1EB225D4-DCA9-47EE-C0A6-AFCB43F9E6D0}"/>
              </a:ext>
            </a:extLst>
          </p:cNvPr>
          <p:cNvCxnSpPr/>
          <p:nvPr/>
        </p:nvCxnSpPr>
        <p:spPr>
          <a:xfrm>
            <a:off x="1023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7" name="直線コネクタ 36">
            <a:extLst>
              <a:ext uri="{FF2B5EF4-FFF2-40B4-BE49-F238E27FC236}">
                <a16:creationId xmlns:a16="http://schemas.microsoft.com/office/drawing/2014/main" id="{3D51B63A-1028-67F2-A291-FF62C08FD069}"/>
              </a:ext>
            </a:extLst>
          </p:cNvPr>
          <p:cNvCxnSpPr/>
          <p:nvPr/>
        </p:nvCxnSpPr>
        <p:spPr>
          <a:xfrm>
            <a:off x="987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8" name="直線コネクタ 37">
            <a:extLst>
              <a:ext uri="{FF2B5EF4-FFF2-40B4-BE49-F238E27FC236}">
                <a16:creationId xmlns:a16="http://schemas.microsoft.com/office/drawing/2014/main" id="{BAEF5068-C5FF-1F34-C0F6-E0A10C05C2B2}"/>
              </a:ext>
            </a:extLst>
          </p:cNvPr>
          <p:cNvCxnSpPr/>
          <p:nvPr/>
        </p:nvCxnSpPr>
        <p:spPr>
          <a:xfrm>
            <a:off x="951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sp>
        <p:nvSpPr>
          <p:cNvPr id="39" name="テキスト ボックス 38">
            <a:extLst>
              <a:ext uri="{FF2B5EF4-FFF2-40B4-BE49-F238E27FC236}">
                <a16:creationId xmlns:a16="http://schemas.microsoft.com/office/drawing/2014/main" id="{C5FB7BAE-FBA6-9F70-630C-5A645A99C5AD}"/>
              </a:ext>
            </a:extLst>
          </p:cNvPr>
          <p:cNvSpPr txBox="1"/>
          <p:nvPr/>
        </p:nvSpPr>
        <p:spPr>
          <a:xfrm>
            <a:off x="10878514" y="4157185"/>
            <a:ext cx="267345" cy="584775"/>
          </a:xfrm>
          <a:prstGeom prst="rect">
            <a:avLst/>
          </a:prstGeom>
          <a:noFill/>
        </p:spPr>
        <p:txBody>
          <a:bodyPr wrap="square" rtlCol="0" anchor="t">
            <a:spAutoFit/>
          </a:bodyPr>
          <a:lstStyle/>
          <a:p>
            <a:r>
              <a:rPr kumimoji="1" lang="en-US" altLang="ja-JP" sz="3200" b="1" dirty="0">
                <a:latin typeface="Gigi" panose="04040504060007020D02" pitchFamily="82" charset="0"/>
              </a:rPr>
              <a:t>x</a:t>
            </a:r>
            <a:endParaRPr kumimoji="1" lang="ja-JP" altLang="en-US" sz="3200" b="1" dirty="0">
              <a:latin typeface="Gigi" panose="04040504060007020D02" pitchFamily="82" charset="0"/>
            </a:endParaRPr>
          </a:p>
        </p:txBody>
      </p:sp>
      <p:sp>
        <p:nvSpPr>
          <p:cNvPr id="40" name="テキスト ボックス 39">
            <a:extLst>
              <a:ext uri="{FF2B5EF4-FFF2-40B4-BE49-F238E27FC236}">
                <a16:creationId xmlns:a16="http://schemas.microsoft.com/office/drawing/2014/main" id="{410634D4-C32E-B093-8C9C-2573F0F79AF6}"/>
              </a:ext>
            </a:extLst>
          </p:cNvPr>
          <p:cNvSpPr txBox="1"/>
          <p:nvPr/>
        </p:nvSpPr>
        <p:spPr>
          <a:xfrm>
            <a:off x="8930273" y="2116703"/>
            <a:ext cx="267345" cy="584775"/>
          </a:xfrm>
          <a:prstGeom prst="rect">
            <a:avLst/>
          </a:prstGeom>
          <a:noFill/>
        </p:spPr>
        <p:txBody>
          <a:bodyPr wrap="square" rtlCol="0">
            <a:spAutoFit/>
          </a:bodyPr>
          <a:lstStyle/>
          <a:p>
            <a:r>
              <a:rPr lang="en-US" altLang="ja-JP" sz="3200" b="1" dirty="0">
                <a:latin typeface="Gigi" panose="04040504060007020D02" pitchFamily="82" charset="0"/>
              </a:rPr>
              <a:t>y</a:t>
            </a:r>
            <a:endParaRPr kumimoji="1" lang="ja-JP" altLang="en-US" sz="3200" b="1" dirty="0">
              <a:latin typeface="Gigi" panose="04040504060007020D02" pitchFamily="82" charset="0"/>
            </a:endParaRPr>
          </a:p>
        </p:txBody>
      </p:sp>
      <p:sp>
        <p:nvSpPr>
          <p:cNvPr id="41" name="テキスト ボックス 40">
            <a:extLst>
              <a:ext uri="{FF2B5EF4-FFF2-40B4-BE49-F238E27FC236}">
                <a16:creationId xmlns:a16="http://schemas.microsoft.com/office/drawing/2014/main" id="{BD4FA912-088B-1348-701D-CC5A6170104F}"/>
              </a:ext>
            </a:extLst>
          </p:cNvPr>
          <p:cNvSpPr txBox="1"/>
          <p:nvPr/>
        </p:nvSpPr>
        <p:spPr>
          <a:xfrm>
            <a:off x="9109438" y="2161962"/>
            <a:ext cx="1020485" cy="523220"/>
          </a:xfrm>
          <a:prstGeom prst="rect">
            <a:avLst/>
          </a:prstGeom>
          <a:noFill/>
        </p:spPr>
        <p:txBody>
          <a:bodyPr wrap="square" rtlCol="0">
            <a:spAutoFit/>
          </a:bodyPr>
          <a:lstStyle/>
          <a:p>
            <a:pPr algn="ctr"/>
            <a:r>
              <a:rPr kumimoji="1" lang="en-US" altLang="ja-JP" sz="2800" dirty="0"/>
              <a:t>90°</a:t>
            </a:r>
            <a:endParaRPr kumimoji="1" lang="ja-JP" altLang="en-US" sz="2800" dirty="0"/>
          </a:p>
        </p:txBody>
      </p:sp>
      <p:sp>
        <p:nvSpPr>
          <p:cNvPr id="42" name="テキスト ボックス 41">
            <a:extLst>
              <a:ext uri="{FF2B5EF4-FFF2-40B4-BE49-F238E27FC236}">
                <a16:creationId xmlns:a16="http://schemas.microsoft.com/office/drawing/2014/main" id="{4BEC7121-D22A-B336-F550-07295911430F}"/>
              </a:ext>
            </a:extLst>
          </p:cNvPr>
          <p:cNvSpPr txBox="1"/>
          <p:nvPr/>
        </p:nvSpPr>
        <p:spPr>
          <a:xfrm>
            <a:off x="11144105" y="4233942"/>
            <a:ext cx="1020485" cy="830997"/>
          </a:xfrm>
          <a:prstGeom prst="rect">
            <a:avLst/>
          </a:prstGeom>
          <a:noFill/>
        </p:spPr>
        <p:txBody>
          <a:bodyPr wrap="square" rtlCol="0">
            <a:spAutoFit/>
          </a:bodyPr>
          <a:lstStyle/>
          <a:p>
            <a:r>
              <a:rPr kumimoji="1" lang="en-US" altLang="ja-JP" sz="2800" dirty="0"/>
              <a:t> 0°</a:t>
            </a:r>
          </a:p>
          <a:p>
            <a:r>
              <a:rPr lang="en-US" altLang="ja-JP" sz="2000" dirty="0"/>
              <a:t>(360°)</a:t>
            </a:r>
            <a:endParaRPr kumimoji="1" lang="ja-JP" altLang="en-US" sz="2000" dirty="0"/>
          </a:p>
        </p:txBody>
      </p:sp>
      <p:sp>
        <p:nvSpPr>
          <p:cNvPr id="43" name="テキスト ボックス 42">
            <a:extLst>
              <a:ext uri="{FF2B5EF4-FFF2-40B4-BE49-F238E27FC236}">
                <a16:creationId xmlns:a16="http://schemas.microsoft.com/office/drawing/2014/main" id="{1E4DDF5A-B2C9-9378-FFF2-8DA4CB84DD8A}"/>
              </a:ext>
            </a:extLst>
          </p:cNvPr>
          <p:cNvSpPr txBox="1"/>
          <p:nvPr/>
        </p:nvSpPr>
        <p:spPr>
          <a:xfrm>
            <a:off x="8714717" y="6340542"/>
            <a:ext cx="1020485" cy="523220"/>
          </a:xfrm>
          <a:prstGeom prst="rect">
            <a:avLst/>
          </a:prstGeom>
          <a:noFill/>
        </p:spPr>
        <p:txBody>
          <a:bodyPr wrap="square" rtlCol="0">
            <a:spAutoFit/>
          </a:bodyPr>
          <a:lstStyle/>
          <a:p>
            <a:pPr algn="ctr"/>
            <a:r>
              <a:rPr lang="en-US" altLang="ja-JP" sz="2800" dirty="0"/>
              <a:t>270</a:t>
            </a:r>
            <a:r>
              <a:rPr kumimoji="1" lang="en-US" altLang="ja-JP" sz="2800" dirty="0"/>
              <a:t>°</a:t>
            </a:r>
            <a:endParaRPr kumimoji="1" lang="ja-JP" altLang="en-US" sz="2800" dirty="0"/>
          </a:p>
        </p:txBody>
      </p:sp>
      <p:sp>
        <p:nvSpPr>
          <p:cNvPr id="44" name="テキスト ボックス 43">
            <a:extLst>
              <a:ext uri="{FF2B5EF4-FFF2-40B4-BE49-F238E27FC236}">
                <a16:creationId xmlns:a16="http://schemas.microsoft.com/office/drawing/2014/main" id="{8DC12726-F3A0-09F0-A04A-39A0CC6BAE85}"/>
              </a:ext>
            </a:extLst>
          </p:cNvPr>
          <p:cNvSpPr txBox="1"/>
          <p:nvPr/>
        </p:nvSpPr>
        <p:spPr>
          <a:xfrm>
            <a:off x="6387152" y="4232640"/>
            <a:ext cx="1020485" cy="523220"/>
          </a:xfrm>
          <a:prstGeom prst="rect">
            <a:avLst/>
          </a:prstGeom>
          <a:noFill/>
        </p:spPr>
        <p:txBody>
          <a:bodyPr wrap="square" rtlCol="0">
            <a:spAutoFit/>
          </a:bodyPr>
          <a:lstStyle/>
          <a:p>
            <a:pPr algn="ctr"/>
            <a:r>
              <a:rPr lang="en-US" altLang="ja-JP" sz="2800" dirty="0"/>
              <a:t>18</a:t>
            </a:r>
            <a:r>
              <a:rPr kumimoji="1" lang="en-US" altLang="ja-JP" sz="2800" dirty="0"/>
              <a:t>0°</a:t>
            </a:r>
            <a:endParaRPr kumimoji="1" lang="ja-JP" altLang="en-US" sz="2800" dirty="0"/>
          </a:p>
        </p:txBody>
      </p:sp>
      <p:sp>
        <p:nvSpPr>
          <p:cNvPr id="24" name="矢印: 右 23">
            <a:extLst>
              <a:ext uri="{FF2B5EF4-FFF2-40B4-BE49-F238E27FC236}">
                <a16:creationId xmlns:a16="http://schemas.microsoft.com/office/drawing/2014/main" id="{2C6B948F-928F-B1D8-4BAD-822E11F697A0}"/>
              </a:ext>
            </a:extLst>
          </p:cNvPr>
          <p:cNvSpPr/>
          <p:nvPr/>
        </p:nvSpPr>
        <p:spPr>
          <a:xfrm rot="16200000">
            <a:off x="8967736" y="4113616"/>
            <a:ext cx="356398" cy="378745"/>
          </a:xfrm>
          <a:prstGeom prst="rightArrow">
            <a:avLst>
              <a:gd name="adj1" fmla="val 38683"/>
              <a:gd name="adj2" fmla="val 54009"/>
            </a:avLst>
          </a:prstGeom>
          <a:solidFill>
            <a:schemeClr val="tx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矢印: 下 27">
            <a:extLst>
              <a:ext uri="{FF2B5EF4-FFF2-40B4-BE49-F238E27FC236}">
                <a16:creationId xmlns:a16="http://schemas.microsoft.com/office/drawing/2014/main" id="{4A471842-C6C6-E1BF-9BEB-FCF93E654D2D}"/>
              </a:ext>
            </a:extLst>
          </p:cNvPr>
          <p:cNvSpPr/>
          <p:nvPr/>
        </p:nvSpPr>
        <p:spPr>
          <a:xfrm rot="3380103">
            <a:off x="9579288" y="2701714"/>
            <a:ext cx="1290552" cy="1929418"/>
          </a:xfrm>
          <a:prstGeom prst="downArrow">
            <a:avLst/>
          </a:prstGeom>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altLang="ja-JP" sz="2800" b="1" dirty="0" err="1">
                <a:solidFill>
                  <a:schemeClr val="bg1"/>
                </a:solidFill>
              </a:rPr>
              <a:t>Qumcum</a:t>
            </a:r>
            <a:endParaRPr kumimoji="1" lang="ja-JP" altLang="en-US" sz="2800" b="1" dirty="0">
              <a:solidFill>
                <a:schemeClr val="bg1"/>
              </a:solidFill>
            </a:endParaRPr>
          </a:p>
        </p:txBody>
      </p:sp>
      <p:sp>
        <p:nvSpPr>
          <p:cNvPr id="51" name="テキスト ボックス 50">
            <a:extLst>
              <a:ext uri="{FF2B5EF4-FFF2-40B4-BE49-F238E27FC236}">
                <a16:creationId xmlns:a16="http://schemas.microsoft.com/office/drawing/2014/main" id="{BF557B75-F079-0668-D7A9-11E15ECB2907}"/>
              </a:ext>
            </a:extLst>
          </p:cNvPr>
          <p:cNvSpPr txBox="1"/>
          <p:nvPr/>
        </p:nvSpPr>
        <p:spPr>
          <a:xfrm>
            <a:off x="5215155" y="6143763"/>
            <a:ext cx="281490" cy="523220"/>
          </a:xfrm>
          <a:prstGeom prst="rect">
            <a:avLst/>
          </a:prstGeom>
          <a:noFill/>
        </p:spPr>
        <p:txBody>
          <a:bodyPr wrap="square" rtlCol="0">
            <a:spAutoFit/>
          </a:bodyPr>
          <a:lstStyle/>
          <a:p>
            <a:r>
              <a:rPr lang="en-US" altLang="ja-JP" sz="2800" dirty="0"/>
              <a:t>(</a:t>
            </a:r>
            <a:endParaRPr kumimoji="1" lang="ja-JP" altLang="en-US" sz="2800" dirty="0"/>
          </a:p>
        </p:txBody>
      </p:sp>
      <p:sp>
        <p:nvSpPr>
          <p:cNvPr id="52" name="テキスト ボックス 51">
            <a:extLst>
              <a:ext uri="{FF2B5EF4-FFF2-40B4-BE49-F238E27FC236}">
                <a16:creationId xmlns:a16="http://schemas.microsoft.com/office/drawing/2014/main" id="{F86AD906-C5BA-FE98-3D44-28462D5C3C13}"/>
              </a:ext>
            </a:extLst>
          </p:cNvPr>
          <p:cNvSpPr txBox="1"/>
          <p:nvPr/>
        </p:nvSpPr>
        <p:spPr>
          <a:xfrm>
            <a:off x="6691092" y="6143763"/>
            <a:ext cx="281490" cy="523220"/>
          </a:xfrm>
          <a:prstGeom prst="rect">
            <a:avLst/>
          </a:prstGeom>
          <a:noFill/>
        </p:spPr>
        <p:txBody>
          <a:bodyPr wrap="square" rtlCol="0">
            <a:spAutoFit/>
          </a:bodyPr>
          <a:lstStyle/>
          <a:p>
            <a:r>
              <a:rPr kumimoji="1" lang="en-US" altLang="ja-JP" sz="2800" dirty="0"/>
              <a:t>)</a:t>
            </a:r>
            <a:endParaRPr kumimoji="1" lang="ja-JP" altLang="en-US" sz="2800" dirty="0"/>
          </a:p>
        </p:txBody>
      </p:sp>
      <p:sp>
        <p:nvSpPr>
          <p:cNvPr id="53" name="テキスト ボックス 52">
            <a:extLst>
              <a:ext uri="{FF2B5EF4-FFF2-40B4-BE49-F238E27FC236}">
                <a16:creationId xmlns:a16="http://schemas.microsoft.com/office/drawing/2014/main" id="{4BBABE0A-405C-81ED-4F55-C9FB01DDEAC5}"/>
              </a:ext>
            </a:extLst>
          </p:cNvPr>
          <p:cNvSpPr txBox="1"/>
          <p:nvPr/>
        </p:nvSpPr>
        <p:spPr>
          <a:xfrm>
            <a:off x="5962379" y="6143763"/>
            <a:ext cx="281490" cy="523220"/>
          </a:xfrm>
          <a:prstGeom prst="rect">
            <a:avLst/>
          </a:prstGeom>
          <a:noFill/>
        </p:spPr>
        <p:txBody>
          <a:bodyPr wrap="square" rtlCol="0">
            <a:spAutoFit/>
          </a:bodyPr>
          <a:lstStyle/>
          <a:p>
            <a:r>
              <a:rPr lang="en-US" altLang="ja-JP" sz="2800" dirty="0"/>
              <a:t>,</a:t>
            </a:r>
          </a:p>
        </p:txBody>
      </p:sp>
      <p:sp>
        <p:nvSpPr>
          <p:cNvPr id="57" name="テキスト ボックス 56">
            <a:extLst>
              <a:ext uri="{FF2B5EF4-FFF2-40B4-BE49-F238E27FC236}">
                <a16:creationId xmlns:a16="http://schemas.microsoft.com/office/drawing/2014/main" id="{E39CDD3E-6EF8-2532-35BD-E22F5043D543}"/>
              </a:ext>
            </a:extLst>
          </p:cNvPr>
          <p:cNvSpPr txBox="1"/>
          <p:nvPr/>
        </p:nvSpPr>
        <p:spPr>
          <a:xfrm>
            <a:off x="5496645" y="6143763"/>
            <a:ext cx="851647" cy="523220"/>
          </a:xfrm>
          <a:prstGeom prst="rect">
            <a:avLst/>
          </a:prstGeom>
          <a:noFill/>
        </p:spPr>
        <p:txBody>
          <a:bodyPr wrap="square" rtlCol="0">
            <a:spAutoFit/>
          </a:bodyPr>
          <a:lstStyle/>
          <a:p>
            <a:r>
              <a:rPr kumimoji="1" lang="en-US" altLang="ja-JP" sz="2800" dirty="0"/>
              <a:t>0</a:t>
            </a:r>
            <a:endParaRPr kumimoji="1" lang="ja-JP" altLang="en-US" sz="2800" dirty="0"/>
          </a:p>
        </p:txBody>
      </p:sp>
      <p:sp>
        <p:nvSpPr>
          <p:cNvPr id="68" name="テキスト ボックス 67">
            <a:extLst>
              <a:ext uri="{FF2B5EF4-FFF2-40B4-BE49-F238E27FC236}">
                <a16:creationId xmlns:a16="http://schemas.microsoft.com/office/drawing/2014/main" id="{B913E5CE-49FB-953B-9710-DF018DE48174}"/>
              </a:ext>
            </a:extLst>
          </p:cNvPr>
          <p:cNvSpPr txBox="1"/>
          <p:nvPr/>
        </p:nvSpPr>
        <p:spPr>
          <a:xfrm>
            <a:off x="6289301" y="6143763"/>
            <a:ext cx="851647" cy="523220"/>
          </a:xfrm>
          <a:prstGeom prst="rect">
            <a:avLst/>
          </a:prstGeom>
          <a:noFill/>
        </p:spPr>
        <p:txBody>
          <a:bodyPr wrap="square" rtlCol="0">
            <a:spAutoFit/>
          </a:bodyPr>
          <a:lstStyle/>
          <a:p>
            <a:r>
              <a:rPr kumimoji="1" lang="en-US" altLang="ja-JP" sz="2800" dirty="0"/>
              <a:t>0</a:t>
            </a:r>
            <a:endParaRPr kumimoji="1" lang="ja-JP" altLang="en-US" sz="2800" dirty="0"/>
          </a:p>
        </p:txBody>
      </p:sp>
    </p:spTree>
    <p:extLst>
      <p:ext uri="{BB962C8B-B14F-4D97-AF65-F5344CB8AC3E}">
        <p14:creationId xmlns:p14="http://schemas.microsoft.com/office/powerpoint/2010/main" val="269248000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par>
                                <p:cTn id="8" presetID="22" presetClass="entr" presetSubtype="4"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down)">
                                      <p:cBhvr>
                                        <p:cTn id="10" dur="500"/>
                                        <p:tgtEl>
                                          <p:spTgt spid="3"/>
                                        </p:tgtEl>
                                      </p:cBhvr>
                                    </p:animEffect>
                                  </p:childTnLst>
                                </p:cTn>
                              </p:par>
                              <p:par>
                                <p:cTn id="11" presetID="22" presetClass="entr" presetSubtype="4" fill="hold" nodeType="withEffect">
                                  <p:stCondLst>
                                    <p:cond delay="100"/>
                                  </p:stCondLst>
                                  <p:childTnLst>
                                    <p:set>
                                      <p:cBhvr>
                                        <p:cTn id="12" dur="1" fill="hold">
                                          <p:stCondLst>
                                            <p:cond delay="0"/>
                                          </p:stCondLst>
                                        </p:cTn>
                                        <p:tgtEl>
                                          <p:spTgt spid="34"/>
                                        </p:tgtEl>
                                        <p:attrNameLst>
                                          <p:attrName>style.visibility</p:attrName>
                                        </p:attrNameLst>
                                      </p:cBhvr>
                                      <p:to>
                                        <p:strVal val="visible"/>
                                      </p:to>
                                    </p:set>
                                    <p:animEffect transition="in" filter="wipe(down)">
                                      <p:cBhvr>
                                        <p:cTn id="13" dur="500"/>
                                        <p:tgtEl>
                                          <p:spTgt spid="34"/>
                                        </p:tgtEl>
                                      </p:cBhvr>
                                    </p:animEffect>
                                  </p:childTnLst>
                                </p:cTn>
                              </p:par>
                              <p:par>
                                <p:cTn id="14" presetID="22" presetClass="entr" presetSubtype="4" fill="hold" nodeType="withEffect">
                                  <p:stCondLst>
                                    <p:cond delay="200"/>
                                  </p:stCondLst>
                                  <p:childTnLst>
                                    <p:set>
                                      <p:cBhvr>
                                        <p:cTn id="15" dur="1" fill="hold">
                                          <p:stCondLst>
                                            <p:cond delay="0"/>
                                          </p:stCondLst>
                                        </p:cTn>
                                        <p:tgtEl>
                                          <p:spTgt spid="33"/>
                                        </p:tgtEl>
                                        <p:attrNameLst>
                                          <p:attrName>style.visibility</p:attrName>
                                        </p:attrNameLst>
                                      </p:cBhvr>
                                      <p:to>
                                        <p:strVal val="visible"/>
                                      </p:to>
                                    </p:set>
                                    <p:animEffect transition="in" filter="wipe(down)">
                                      <p:cBhvr>
                                        <p:cTn id="16" dur="500"/>
                                        <p:tgtEl>
                                          <p:spTgt spid="33"/>
                                        </p:tgtEl>
                                      </p:cBhvr>
                                    </p:animEffect>
                                  </p:childTnLst>
                                </p:cTn>
                              </p:par>
                              <p:par>
                                <p:cTn id="17" presetID="22" presetClass="entr" presetSubtype="4" fill="hold" nodeType="withEffect">
                                  <p:stCondLst>
                                    <p:cond delay="300"/>
                                  </p:stCondLst>
                                  <p:childTnLst>
                                    <p:set>
                                      <p:cBhvr>
                                        <p:cTn id="18" dur="1" fill="hold">
                                          <p:stCondLst>
                                            <p:cond delay="0"/>
                                          </p:stCondLst>
                                        </p:cTn>
                                        <p:tgtEl>
                                          <p:spTgt spid="30"/>
                                        </p:tgtEl>
                                        <p:attrNameLst>
                                          <p:attrName>style.visibility</p:attrName>
                                        </p:attrNameLst>
                                      </p:cBhvr>
                                      <p:to>
                                        <p:strVal val="visible"/>
                                      </p:to>
                                    </p:set>
                                    <p:animEffect transition="in" filter="wipe(down)">
                                      <p:cBhvr>
                                        <p:cTn id="19" dur="500"/>
                                        <p:tgtEl>
                                          <p:spTgt spid="30"/>
                                        </p:tgtEl>
                                      </p:cBhvr>
                                    </p:animEffect>
                                  </p:childTnLst>
                                </p:cTn>
                              </p:par>
                              <p:par>
                                <p:cTn id="20" presetID="22" presetClass="entr" presetSubtype="4" fill="hold" nodeType="withEffect">
                                  <p:stCondLst>
                                    <p:cond delay="400"/>
                                  </p:stCondLst>
                                  <p:childTnLst>
                                    <p:set>
                                      <p:cBhvr>
                                        <p:cTn id="21" dur="1" fill="hold">
                                          <p:stCondLst>
                                            <p:cond delay="0"/>
                                          </p:stCondLst>
                                        </p:cTn>
                                        <p:tgtEl>
                                          <p:spTgt spid="29"/>
                                        </p:tgtEl>
                                        <p:attrNameLst>
                                          <p:attrName>style.visibility</p:attrName>
                                        </p:attrNameLst>
                                      </p:cBhvr>
                                      <p:to>
                                        <p:strVal val="visible"/>
                                      </p:to>
                                    </p:set>
                                    <p:animEffect transition="in" filter="wipe(down)">
                                      <p:cBhvr>
                                        <p:cTn id="22" dur="500"/>
                                        <p:tgtEl>
                                          <p:spTgt spid="29"/>
                                        </p:tgtEl>
                                      </p:cBhvr>
                                    </p:animEffect>
                                  </p:childTnLst>
                                </p:cTn>
                              </p:par>
                              <p:par>
                                <p:cTn id="23" presetID="10" presetClass="entr" presetSubtype="0" fill="hold" grpId="0" nodeType="withEffect">
                                  <p:stCondLst>
                                    <p:cond delay="400"/>
                                  </p:stCondLst>
                                  <p:childTnLst>
                                    <p:set>
                                      <p:cBhvr>
                                        <p:cTn id="24" dur="1" fill="hold">
                                          <p:stCondLst>
                                            <p:cond delay="0"/>
                                          </p:stCondLst>
                                        </p:cTn>
                                        <p:tgtEl>
                                          <p:spTgt spid="43"/>
                                        </p:tgtEl>
                                        <p:attrNameLst>
                                          <p:attrName>style.visibility</p:attrName>
                                        </p:attrNameLst>
                                      </p:cBhvr>
                                      <p:to>
                                        <p:strVal val="visible"/>
                                      </p:to>
                                    </p:set>
                                    <p:animEffect transition="in" filter="fade">
                                      <p:cBhvr>
                                        <p:cTn id="25" dur="100"/>
                                        <p:tgtEl>
                                          <p:spTgt spid="43"/>
                                        </p:tgtEl>
                                      </p:cBhvr>
                                    </p:animEffect>
                                  </p:childTnLst>
                                </p:cTn>
                              </p:par>
                              <p:par>
                                <p:cTn id="26" presetID="22" presetClass="entr" presetSubtype="4" fill="hold" nodeType="withEffect">
                                  <p:stCondLst>
                                    <p:cond delay="500"/>
                                  </p:stCondLst>
                                  <p:childTnLst>
                                    <p:set>
                                      <p:cBhvr>
                                        <p:cTn id="27" dur="1" fill="hold">
                                          <p:stCondLst>
                                            <p:cond delay="0"/>
                                          </p:stCondLst>
                                        </p:cTn>
                                        <p:tgtEl>
                                          <p:spTgt spid="38"/>
                                        </p:tgtEl>
                                        <p:attrNameLst>
                                          <p:attrName>style.visibility</p:attrName>
                                        </p:attrNameLst>
                                      </p:cBhvr>
                                      <p:to>
                                        <p:strVal val="visible"/>
                                      </p:to>
                                    </p:set>
                                    <p:animEffect transition="in" filter="wipe(down)">
                                      <p:cBhvr>
                                        <p:cTn id="28" dur="500"/>
                                        <p:tgtEl>
                                          <p:spTgt spid="38"/>
                                        </p:tgtEl>
                                      </p:cBhvr>
                                    </p:animEffect>
                                  </p:childTnLst>
                                </p:cTn>
                              </p:par>
                              <p:par>
                                <p:cTn id="29" presetID="22" presetClass="entr" presetSubtype="4" fill="hold" nodeType="withEffect">
                                  <p:stCondLst>
                                    <p:cond delay="600"/>
                                  </p:stCondLst>
                                  <p:childTnLst>
                                    <p:set>
                                      <p:cBhvr>
                                        <p:cTn id="30" dur="1" fill="hold">
                                          <p:stCondLst>
                                            <p:cond delay="0"/>
                                          </p:stCondLst>
                                        </p:cTn>
                                        <p:tgtEl>
                                          <p:spTgt spid="37"/>
                                        </p:tgtEl>
                                        <p:attrNameLst>
                                          <p:attrName>style.visibility</p:attrName>
                                        </p:attrNameLst>
                                      </p:cBhvr>
                                      <p:to>
                                        <p:strVal val="visible"/>
                                      </p:to>
                                    </p:set>
                                    <p:animEffect transition="in" filter="wipe(down)">
                                      <p:cBhvr>
                                        <p:cTn id="31" dur="500"/>
                                        <p:tgtEl>
                                          <p:spTgt spid="37"/>
                                        </p:tgtEl>
                                      </p:cBhvr>
                                    </p:animEffect>
                                  </p:childTnLst>
                                </p:cTn>
                              </p:par>
                              <p:par>
                                <p:cTn id="32" presetID="22" presetClass="entr" presetSubtype="4" fill="hold" nodeType="withEffect">
                                  <p:stCondLst>
                                    <p:cond delay="700"/>
                                  </p:stCondLst>
                                  <p:childTnLst>
                                    <p:set>
                                      <p:cBhvr>
                                        <p:cTn id="33" dur="1" fill="hold">
                                          <p:stCondLst>
                                            <p:cond delay="0"/>
                                          </p:stCondLst>
                                        </p:cTn>
                                        <p:tgtEl>
                                          <p:spTgt spid="36"/>
                                        </p:tgtEl>
                                        <p:attrNameLst>
                                          <p:attrName>style.visibility</p:attrName>
                                        </p:attrNameLst>
                                      </p:cBhvr>
                                      <p:to>
                                        <p:strVal val="visible"/>
                                      </p:to>
                                    </p:set>
                                    <p:animEffect transition="in" filter="wipe(down)">
                                      <p:cBhvr>
                                        <p:cTn id="34" dur="500"/>
                                        <p:tgtEl>
                                          <p:spTgt spid="36"/>
                                        </p:tgtEl>
                                      </p:cBhvr>
                                    </p:animEffect>
                                  </p:childTnLst>
                                </p:cTn>
                              </p:par>
                              <p:par>
                                <p:cTn id="35" presetID="10" presetClass="entr" presetSubtype="0" fill="hold" grpId="0" nodeType="withEffect">
                                  <p:stCondLst>
                                    <p:cond delay="700"/>
                                  </p:stCondLst>
                                  <p:childTnLst>
                                    <p:set>
                                      <p:cBhvr>
                                        <p:cTn id="36" dur="1" fill="hold">
                                          <p:stCondLst>
                                            <p:cond delay="0"/>
                                          </p:stCondLst>
                                        </p:cTn>
                                        <p:tgtEl>
                                          <p:spTgt spid="41"/>
                                        </p:tgtEl>
                                        <p:attrNameLst>
                                          <p:attrName>style.visibility</p:attrName>
                                        </p:attrNameLst>
                                      </p:cBhvr>
                                      <p:to>
                                        <p:strVal val="visible"/>
                                      </p:to>
                                    </p:set>
                                    <p:animEffect transition="in" filter="fade">
                                      <p:cBhvr>
                                        <p:cTn id="37" dur="100"/>
                                        <p:tgtEl>
                                          <p:spTgt spid="41"/>
                                        </p:tgtEl>
                                      </p:cBhvr>
                                    </p:animEffect>
                                  </p:childTnLst>
                                </p:cTn>
                              </p:par>
                              <p:par>
                                <p:cTn id="38" presetID="22" presetClass="entr" presetSubtype="4" fill="hold" nodeType="withEffect">
                                  <p:stCondLst>
                                    <p:cond delay="800"/>
                                  </p:stCondLst>
                                  <p:childTnLst>
                                    <p:set>
                                      <p:cBhvr>
                                        <p:cTn id="39" dur="1" fill="hold">
                                          <p:stCondLst>
                                            <p:cond delay="0"/>
                                          </p:stCondLst>
                                        </p:cTn>
                                        <p:tgtEl>
                                          <p:spTgt spid="35"/>
                                        </p:tgtEl>
                                        <p:attrNameLst>
                                          <p:attrName>style.visibility</p:attrName>
                                        </p:attrNameLst>
                                      </p:cBhvr>
                                      <p:to>
                                        <p:strVal val="visible"/>
                                      </p:to>
                                    </p:set>
                                    <p:animEffect transition="in" filter="wipe(down)">
                                      <p:cBhvr>
                                        <p:cTn id="40" dur="500"/>
                                        <p:tgtEl>
                                          <p:spTgt spid="35"/>
                                        </p:tgtEl>
                                      </p:cBhvr>
                                    </p:animEffect>
                                  </p:childTnLst>
                                </p:cTn>
                              </p:par>
                              <p:par>
                                <p:cTn id="41" presetID="22" presetClass="entr" presetSubtype="8" fill="hold" nodeType="withEffect">
                                  <p:stCondLst>
                                    <p:cond delay="100"/>
                                  </p:stCondLst>
                                  <p:childTnLst>
                                    <p:set>
                                      <p:cBhvr>
                                        <p:cTn id="42" dur="1" fill="hold">
                                          <p:stCondLst>
                                            <p:cond delay="0"/>
                                          </p:stCondLst>
                                        </p:cTn>
                                        <p:tgtEl>
                                          <p:spTgt spid="17"/>
                                        </p:tgtEl>
                                        <p:attrNameLst>
                                          <p:attrName>style.visibility</p:attrName>
                                        </p:attrNameLst>
                                      </p:cBhvr>
                                      <p:to>
                                        <p:strVal val="visible"/>
                                      </p:to>
                                    </p:set>
                                    <p:animEffect transition="in" filter="wipe(left)">
                                      <p:cBhvr>
                                        <p:cTn id="43" dur="500"/>
                                        <p:tgtEl>
                                          <p:spTgt spid="17"/>
                                        </p:tgtEl>
                                      </p:cBhvr>
                                    </p:animEffect>
                                  </p:childTnLst>
                                </p:cTn>
                              </p:par>
                              <p:par>
                                <p:cTn id="44" presetID="22" presetClass="entr" presetSubtype="8" fill="hold" nodeType="withEffect">
                                  <p:stCondLst>
                                    <p:cond delay="200"/>
                                  </p:stCondLst>
                                  <p:childTnLst>
                                    <p:set>
                                      <p:cBhvr>
                                        <p:cTn id="45" dur="1" fill="hold">
                                          <p:stCondLst>
                                            <p:cond delay="0"/>
                                          </p:stCondLst>
                                        </p:cTn>
                                        <p:tgtEl>
                                          <p:spTgt spid="18"/>
                                        </p:tgtEl>
                                        <p:attrNameLst>
                                          <p:attrName>style.visibility</p:attrName>
                                        </p:attrNameLst>
                                      </p:cBhvr>
                                      <p:to>
                                        <p:strVal val="visible"/>
                                      </p:to>
                                    </p:set>
                                    <p:animEffect transition="in" filter="wipe(left)">
                                      <p:cBhvr>
                                        <p:cTn id="46" dur="500"/>
                                        <p:tgtEl>
                                          <p:spTgt spid="18"/>
                                        </p:tgtEl>
                                      </p:cBhvr>
                                    </p:animEffect>
                                  </p:childTnLst>
                                </p:cTn>
                              </p:par>
                              <p:par>
                                <p:cTn id="47" presetID="22" presetClass="entr" presetSubtype="8" fill="hold" nodeType="withEffect">
                                  <p:stCondLst>
                                    <p:cond delay="300"/>
                                  </p:stCondLst>
                                  <p:childTnLst>
                                    <p:set>
                                      <p:cBhvr>
                                        <p:cTn id="48" dur="1" fill="hold">
                                          <p:stCondLst>
                                            <p:cond delay="0"/>
                                          </p:stCondLst>
                                        </p:cTn>
                                        <p:tgtEl>
                                          <p:spTgt spid="19"/>
                                        </p:tgtEl>
                                        <p:attrNameLst>
                                          <p:attrName>style.visibility</p:attrName>
                                        </p:attrNameLst>
                                      </p:cBhvr>
                                      <p:to>
                                        <p:strVal val="visible"/>
                                      </p:to>
                                    </p:set>
                                    <p:animEffect transition="in" filter="wipe(left)">
                                      <p:cBhvr>
                                        <p:cTn id="49" dur="500"/>
                                        <p:tgtEl>
                                          <p:spTgt spid="19"/>
                                        </p:tgtEl>
                                      </p:cBhvr>
                                    </p:animEffect>
                                  </p:childTnLst>
                                </p:cTn>
                              </p:par>
                              <p:par>
                                <p:cTn id="50" presetID="22" presetClass="entr" presetSubtype="8" fill="hold" nodeType="withEffect">
                                  <p:stCondLst>
                                    <p:cond delay="400"/>
                                  </p:stCondLst>
                                  <p:childTnLst>
                                    <p:set>
                                      <p:cBhvr>
                                        <p:cTn id="51" dur="1" fill="hold">
                                          <p:stCondLst>
                                            <p:cond delay="0"/>
                                          </p:stCondLst>
                                        </p:cTn>
                                        <p:tgtEl>
                                          <p:spTgt spid="20"/>
                                        </p:tgtEl>
                                        <p:attrNameLst>
                                          <p:attrName>style.visibility</p:attrName>
                                        </p:attrNameLst>
                                      </p:cBhvr>
                                      <p:to>
                                        <p:strVal val="visible"/>
                                      </p:to>
                                    </p:set>
                                    <p:animEffect transition="in" filter="wipe(left)">
                                      <p:cBhvr>
                                        <p:cTn id="52" dur="500"/>
                                        <p:tgtEl>
                                          <p:spTgt spid="20"/>
                                        </p:tgtEl>
                                      </p:cBhvr>
                                    </p:animEffect>
                                  </p:childTnLst>
                                </p:cTn>
                              </p:par>
                              <p:par>
                                <p:cTn id="53" presetID="10" presetClass="entr" presetSubtype="0" fill="hold" grpId="0" nodeType="withEffect">
                                  <p:stCondLst>
                                    <p:cond delay="400"/>
                                  </p:stCondLst>
                                  <p:childTnLst>
                                    <p:set>
                                      <p:cBhvr>
                                        <p:cTn id="54" dur="1" fill="hold">
                                          <p:stCondLst>
                                            <p:cond delay="0"/>
                                          </p:stCondLst>
                                        </p:cTn>
                                        <p:tgtEl>
                                          <p:spTgt spid="44"/>
                                        </p:tgtEl>
                                        <p:attrNameLst>
                                          <p:attrName>style.visibility</p:attrName>
                                        </p:attrNameLst>
                                      </p:cBhvr>
                                      <p:to>
                                        <p:strVal val="visible"/>
                                      </p:to>
                                    </p:set>
                                    <p:animEffect transition="in" filter="fade">
                                      <p:cBhvr>
                                        <p:cTn id="55" dur="100"/>
                                        <p:tgtEl>
                                          <p:spTgt spid="44"/>
                                        </p:tgtEl>
                                      </p:cBhvr>
                                    </p:animEffect>
                                  </p:childTnLst>
                                </p:cTn>
                              </p:par>
                              <p:par>
                                <p:cTn id="56" presetID="22" presetClass="entr" presetSubtype="8" fill="hold" nodeType="withEffect">
                                  <p:stCondLst>
                                    <p:cond delay="500"/>
                                  </p:stCondLst>
                                  <p:childTnLst>
                                    <p:set>
                                      <p:cBhvr>
                                        <p:cTn id="57" dur="1" fill="hold">
                                          <p:stCondLst>
                                            <p:cond delay="0"/>
                                          </p:stCondLst>
                                        </p:cTn>
                                        <p:tgtEl>
                                          <p:spTgt spid="5"/>
                                        </p:tgtEl>
                                        <p:attrNameLst>
                                          <p:attrName>style.visibility</p:attrName>
                                        </p:attrNameLst>
                                      </p:cBhvr>
                                      <p:to>
                                        <p:strVal val="visible"/>
                                      </p:to>
                                    </p:set>
                                    <p:animEffect transition="in" filter="wipe(left)">
                                      <p:cBhvr>
                                        <p:cTn id="58" dur="500"/>
                                        <p:tgtEl>
                                          <p:spTgt spid="5"/>
                                        </p:tgtEl>
                                      </p:cBhvr>
                                    </p:animEffect>
                                  </p:childTnLst>
                                </p:cTn>
                              </p:par>
                              <p:par>
                                <p:cTn id="59" presetID="22" presetClass="entr" presetSubtype="8" fill="hold" nodeType="withEffect">
                                  <p:stCondLst>
                                    <p:cond delay="600"/>
                                  </p:stCondLst>
                                  <p:childTnLst>
                                    <p:set>
                                      <p:cBhvr>
                                        <p:cTn id="60" dur="1" fill="hold">
                                          <p:stCondLst>
                                            <p:cond delay="0"/>
                                          </p:stCondLst>
                                        </p:cTn>
                                        <p:tgtEl>
                                          <p:spTgt spid="8"/>
                                        </p:tgtEl>
                                        <p:attrNameLst>
                                          <p:attrName>style.visibility</p:attrName>
                                        </p:attrNameLst>
                                      </p:cBhvr>
                                      <p:to>
                                        <p:strVal val="visible"/>
                                      </p:to>
                                    </p:set>
                                    <p:animEffect transition="in" filter="wipe(left)">
                                      <p:cBhvr>
                                        <p:cTn id="61" dur="500"/>
                                        <p:tgtEl>
                                          <p:spTgt spid="8"/>
                                        </p:tgtEl>
                                      </p:cBhvr>
                                    </p:animEffect>
                                  </p:childTnLst>
                                </p:cTn>
                              </p:par>
                              <p:par>
                                <p:cTn id="62" presetID="22" presetClass="entr" presetSubtype="8" fill="hold" nodeType="withEffect">
                                  <p:stCondLst>
                                    <p:cond delay="700"/>
                                  </p:stCondLst>
                                  <p:childTnLst>
                                    <p:set>
                                      <p:cBhvr>
                                        <p:cTn id="63" dur="1" fill="hold">
                                          <p:stCondLst>
                                            <p:cond delay="0"/>
                                          </p:stCondLst>
                                        </p:cTn>
                                        <p:tgtEl>
                                          <p:spTgt spid="6"/>
                                        </p:tgtEl>
                                        <p:attrNameLst>
                                          <p:attrName>style.visibility</p:attrName>
                                        </p:attrNameLst>
                                      </p:cBhvr>
                                      <p:to>
                                        <p:strVal val="visible"/>
                                      </p:to>
                                    </p:set>
                                    <p:animEffect transition="in" filter="wipe(left)">
                                      <p:cBhvr>
                                        <p:cTn id="64" dur="500"/>
                                        <p:tgtEl>
                                          <p:spTgt spid="6"/>
                                        </p:tgtEl>
                                      </p:cBhvr>
                                    </p:animEffect>
                                  </p:childTnLst>
                                </p:cTn>
                              </p:par>
                              <p:par>
                                <p:cTn id="65" presetID="22" presetClass="entr" presetSubtype="8" fill="hold" nodeType="withEffect">
                                  <p:stCondLst>
                                    <p:cond delay="800"/>
                                  </p:stCondLst>
                                  <p:childTnLst>
                                    <p:set>
                                      <p:cBhvr>
                                        <p:cTn id="66" dur="1" fill="hold">
                                          <p:stCondLst>
                                            <p:cond delay="0"/>
                                          </p:stCondLst>
                                        </p:cTn>
                                        <p:tgtEl>
                                          <p:spTgt spid="16"/>
                                        </p:tgtEl>
                                        <p:attrNameLst>
                                          <p:attrName>style.visibility</p:attrName>
                                        </p:attrNameLst>
                                      </p:cBhvr>
                                      <p:to>
                                        <p:strVal val="visible"/>
                                      </p:to>
                                    </p:set>
                                    <p:animEffect transition="in" filter="wipe(left)">
                                      <p:cBhvr>
                                        <p:cTn id="67" dur="500"/>
                                        <p:tgtEl>
                                          <p:spTgt spid="16"/>
                                        </p:tgtEl>
                                      </p:cBhvr>
                                    </p:animEffect>
                                  </p:childTnLst>
                                </p:cTn>
                              </p:par>
                              <p:par>
                                <p:cTn id="68" presetID="22" presetClass="entr" presetSubtype="8" fill="hold" grpId="0" nodeType="withEffect">
                                  <p:stCondLst>
                                    <p:cond delay="800"/>
                                  </p:stCondLst>
                                  <p:childTnLst>
                                    <p:set>
                                      <p:cBhvr>
                                        <p:cTn id="69" dur="1" fill="hold">
                                          <p:stCondLst>
                                            <p:cond delay="0"/>
                                          </p:stCondLst>
                                        </p:cTn>
                                        <p:tgtEl>
                                          <p:spTgt spid="39"/>
                                        </p:tgtEl>
                                        <p:attrNameLst>
                                          <p:attrName>style.visibility</p:attrName>
                                        </p:attrNameLst>
                                      </p:cBhvr>
                                      <p:to>
                                        <p:strVal val="visible"/>
                                      </p:to>
                                    </p:set>
                                    <p:animEffect transition="in" filter="wipe(left)">
                                      <p:cBhvr>
                                        <p:cTn id="70" dur="500"/>
                                        <p:tgtEl>
                                          <p:spTgt spid="39"/>
                                        </p:tgtEl>
                                      </p:cBhvr>
                                    </p:animEffect>
                                  </p:childTnLst>
                                </p:cTn>
                              </p:par>
                              <p:par>
                                <p:cTn id="71" presetID="10" presetClass="entr" presetSubtype="0" fill="hold" grpId="0" nodeType="withEffect">
                                  <p:stCondLst>
                                    <p:cond delay="800"/>
                                  </p:stCondLst>
                                  <p:childTnLst>
                                    <p:set>
                                      <p:cBhvr>
                                        <p:cTn id="72" dur="1" fill="hold">
                                          <p:stCondLst>
                                            <p:cond delay="0"/>
                                          </p:stCondLst>
                                        </p:cTn>
                                        <p:tgtEl>
                                          <p:spTgt spid="42"/>
                                        </p:tgtEl>
                                        <p:attrNameLst>
                                          <p:attrName>style.visibility</p:attrName>
                                        </p:attrNameLst>
                                      </p:cBhvr>
                                      <p:to>
                                        <p:strVal val="visible"/>
                                      </p:to>
                                    </p:set>
                                    <p:animEffect transition="in" filter="fade">
                                      <p:cBhvr>
                                        <p:cTn id="73" dur="100"/>
                                        <p:tgtEl>
                                          <p:spTgt spid="42"/>
                                        </p:tgtEl>
                                      </p:cBhvr>
                                    </p:animEffect>
                                  </p:childTnLst>
                                </p:cTn>
                              </p:par>
                              <p:par>
                                <p:cTn id="74" presetID="22" presetClass="entr" presetSubtype="4" fill="hold" grpId="0" nodeType="withEffect">
                                  <p:stCondLst>
                                    <p:cond delay="800"/>
                                  </p:stCondLst>
                                  <p:childTnLst>
                                    <p:set>
                                      <p:cBhvr>
                                        <p:cTn id="75" dur="1" fill="hold">
                                          <p:stCondLst>
                                            <p:cond delay="0"/>
                                          </p:stCondLst>
                                        </p:cTn>
                                        <p:tgtEl>
                                          <p:spTgt spid="40"/>
                                        </p:tgtEl>
                                        <p:attrNameLst>
                                          <p:attrName>style.visibility</p:attrName>
                                        </p:attrNameLst>
                                      </p:cBhvr>
                                      <p:to>
                                        <p:strVal val="visible"/>
                                      </p:to>
                                    </p:set>
                                    <p:animEffect transition="in" filter="wipe(down)">
                                      <p:cBhvr>
                                        <p:cTn id="76" dur="500"/>
                                        <p:tgtEl>
                                          <p:spTgt spid="40"/>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24"/>
                                        </p:tgtEl>
                                        <p:attrNameLst>
                                          <p:attrName>style.visibility</p:attrName>
                                        </p:attrNameLst>
                                      </p:cBhvr>
                                      <p:to>
                                        <p:strVal val="visible"/>
                                      </p:to>
                                    </p:set>
                                    <p:animEffect transition="in" filter="fade">
                                      <p:cBhvr>
                                        <p:cTn id="81" dur="100"/>
                                        <p:tgtEl>
                                          <p:spTgt spid="24"/>
                                        </p:tgtEl>
                                      </p:cBhvr>
                                    </p:animEffect>
                                  </p:childTnLst>
                                </p:cTn>
                              </p:par>
                            </p:childTnLst>
                          </p:cTn>
                        </p:par>
                        <p:par>
                          <p:cTn id="82" fill="hold">
                            <p:stCondLst>
                              <p:cond delay="100"/>
                            </p:stCondLst>
                            <p:childTnLst>
                              <p:par>
                                <p:cTn id="83" presetID="10" presetClass="entr" presetSubtype="0" fill="hold" grpId="0" nodeType="afterEffect">
                                  <p:stCondLst>
                                    <p:cond delay="0"/>
                                  </p:stCondLst>
                                  <p:childTnLst>
                                    <p:set>
                                      <p:cBhvr>
                                        <p:cTn id="84" dur="1" fill="hold">
                                          <p:stCondLst>
                                            <p:cond delay="0"/>
                                          </p:stCondLst>
                                        </p:cTn>
                                        <p:tgtEl>
                                          <p:spTgt spid="51"/>
                                        </p:tgtEl>
                                        <p:attrNameLst>
                                          <p:attrName>style.visibility</p:attrName>
                                        </p:attrNameLst>
                                      </p:cBhvr>
                                      <p:to>
                                        <p:strVal val="visible"/>
                                      </p:to>
                                    </p:set>
                                    <p:animEffect transition="in" filter="fade">
                                      <p:cBhvr>
                                        <p:cTn id="85" dur="100"/>
                                        <p:tgtEl>
                                          <p:spTgt spid="51"/>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52"/>
                                        </p:tgtEl>
                                        <p:attrNameLst>
                                          <p:attrName>style.visibility</p:attrName>
                                        </p:attrNameLst>
                                      </p:cBhvr>
                                      <p:to>
                                        <p:strVal val="visible"/>
                                      </p:to>
                                    </p:set>
                                    <p:animEffect transition="in" filter="fade">
                                      <p:cBhvr>
                                        <p:cTn id="88" dur="100"/>
                                        <p:tgtEl>
                                          <p:spTgt spid="52"/>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53"/>
                                        </p:tgtEl>
                                        <p:attrNameLst>
                                          <p:attrName>style.visibility</p:attrName>
                                        </p:attrNameLst>
                                      </p:cBhvr>
                                      <p:to>
                                        <p:strVal val="visible"/>
                                      </p:to>
                                    </p:set>
                                    <p:animEffect transition="in" filter="fade">
                                      <p:cBhvr>
                                        <p:cTn id="91" dur="100"/>
                                        <p:tgtEl>
                                          <p:spTgt spid="53"/>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57"/>
                                        </p:tgtEl>
                                        <p:attrNameLst>
                                          <p:attrName>style.visibility</p:attrName>
                                        </p:attrNameLst>
                                      </p:cBhvr>
                                      <p:to>
                                        <p:strVal val="visible"/>
                                      </p:to>
                                    </p:set>
                                    <p:animEffect transition="in" filter="fade">
                                      <p:cBhvr>
                                        <p:cTn id="94" dur="100"/>
                                        <p:tgtEl>
                                          <p:spTgt spid="57"/>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68"/>
                                        </p:tgtEl>
                                        <p:attrNameLst>
                                          <p:attrName>style.visibility</p:attrName>
                                        </p:attrNameLst>
                                      </p:cBhvr>
                                      <p:to>
                                        <p:strVal val="visible"/>
                                      </p:to>
                                    </p:set>
                                    <p:animEffect transition="in" filter="fade">
                                      <p:cBhvr>
                                        <p:cTn id="97" dur="100"/>
                                        <p:tgtEl>
                                          <p:spTgt spid="68"/>
                                        </p:tgtEl>
                                      </p:cBhvr>
                                    </p:animEffect>
                                  </p:childTnLst>
                                </p:cTn>
                              </p:par>
                            </p:childTnLst>
                          </p:cTn>
                        </p:par>
                        <p:par>
                          <p:cTn id="98" fill="hold">
                            <p:stCondLst>
                              <p:cond delay="200"/>
                            </p:stCondLst>
                            <p:childTnLst>
                              <p:par>
                                <p:cTn id="99" presetID="10" presetClass="entr" presetSubtype="0" fill="hold" grpId="0" nodeType="afterEffect">
                                  <p:stCondLst>
                                    <p:cond delay="0"/>
                                  </p:stCondLst>
                                  <p:childTnLst>
                                    <p:set>
                                      <p:cBhvr>
                                        <p:cTn id="100" dur="1" fill="hold">
                                          <p:stCondLst>
                                            <p:cond delay="0"/>
                                          </p:stCondLst>
                                        </p:cTn>
                                        <p:tgtEl>
                                          <p:spTgt spid="28"/>
                                        </p:tgtEl>
                                        <p:attrNameLst>
                                          <p:attrName>style.visibility</p:attrName>
                                        </p:attrNameLst>
                                      </p:cBhvr>
                                      <p:to>
                                        <p:strVal val="visible"/>
                                      </p:to>
                                    </p:set>
                                    <p:animEffect transition="in" filter="fade">
                                      <p:cBhvr>
                                        <p:cTn id="101" dur="1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p:bldP spid="41" grpId="0"/>
      <p:bldP spid="42" grpId="0"/>
      <p:bldP spid="43" grpId="0"/>
      <p:bldP spid="44" grpId="0"/>
      <p:bldP spid="24" grpId="0" animBg="1"/>
      <p:bldP spid="28" grpId="0" animBg="1"/>
      <p:bldP spid="51" grpId="0"/>
      <p:bldP spid="52" grpId="0"/>
      <p:bldP spid="53" grpId="0"/>
      <p:bldP spid="57" grpId="0"/>
      <p:bldP spid="6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D4A7F-0C6B-1148-4FD8-B68411BC91EB}"/>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EFBC5E28-1A1F-AF70-D78B-3EDF9CC7A754}"/>
              </a:ext>
            </a:extLst>
          </p:cNvPr>
          <p:cNvSpPr/>
          <p:nvPr/>
        </p:nvSpPr>
        <p:spPr>
          <a:xfrm>
            <a:off x="3046801"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7FA2538E-27EE-CE8C-DEA3-16104BFE4D03}"/>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D5743B83-06B6-9B77-E5F9-17B01BFD087E}"/>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bg1"/>
                </a:solidFill>
              </a:rPr>
              <a:t>システム要件</a:t>
            </a:r>
          </a:p>
        </p:txBody>
      </p:sp>
      <p:sp>
        <p:nvSpPr>
          <p:cNvPr id="11" name="四角形: 角を丸くする 10">
            <a:extLst>
              <a:ext uri="{FF2B5EF4-FFF2-40B4-BE49-F238E27FC236}">
                <a16:creationId xmlns:a16="http://schemas.microsoft.com/office/drawing/2014/main" id="{220ABA36-E921-E261-6182-74F4BF67C6AC}"/>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EAF1B086-82CB-BF3D-D61D-9460B0011E29}"/>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t>プログラム説明</a:t>
            </a:r>
            <a:endParaRPr kumimoji="1" lang="ja-JP" altLang="en-US" sz="2400" dirty="0"/>
          </a:p>
        </p:txBody>
      </p:sp>
      <p:sp>
        <p:nvSpPr>
          <p:cNvPr id="7" name="テキスト ボックス 6">
            <a:extLst>
              <a:ext uri="{FF2B5EF4-FFF2-40B4-BE49-F238E27FC236}">
                <a16:creationId xmlns:a16="http://schemas.microsoft.com/office/drawing/2014/main" id="{4A58B218-B349-F4FE-D234-A17E41138C0F}"/>
              </a:ext>
            </a:extLst>
          </p:cNvPr>
          <p:cNvSpPr txBox="1"/>
          <p:nvPr/>
        </p:nvSpPr>
        <p:spPr>
          <a:xfrm>
            <a:off x="771525" y="1171575"/>
            <a:ext cx="2275276" cy="584775"/>
          </a:xfrm>
          <a:prstGeom prst="rect">
            <a:avLst/>
          </a:prstGeom>
          <a:noFill/>
        </p:spPr>
        <p:txBody>
          <a:bodyPr wrap="square" rtlCol="0">
            <a:spAutoFit/>
          </a:bodyPr>
          <a:lstStyle/>
          <a:p>
            <a:r>
              <a:rPr lang="ja-JP" altLang="en-US" sz="3200" dirty="0"/>
              <a:t>移動制御</a:t>
            </a:r>
            <a:endParaRPr kumimoji="1" lang="ja-JP" altLang="en-US" sz="3200" dirty="0"/>
          </a:p>
        </p:txBody>
      </p:sp>
      <p:sp>
        <p:nvSpPr>
          <p:cNvPr id="10" name="テキスト ボックス 9">
            <a:extLst>
              <a:ext uri="{FF2B5EF4-FFF2-40B4-BE49-F238E27FC236}">
                <a16:creationId xmlns:a16="http://schemas.microsoft.com/office/drawing/2014/main" id="{7D7A0630-736E-2141-6278-99C346750599}"/>
              </a:ext>
            </a:extLst>
          </p:cNvPr>
          <p:cNvSpPr txBox="1"/>
          <p:nvPr/>
        </p:nvSpPr>
        <p:spPr>
          <a:xfrm>
            <a:off x="1238250" y="1755127"/>
            <a:ext cx="10953750" cy="461665"/>
          </a:xfrm>
          <a:prstGeom prst="rect">
            <a:avLst/>
          </a:prstGeom>
          <a:noFill/>
        </p:spPr>
        <p:txBody>
          <a:bodyPr wrap="square" rtlCol="0">
            <a:spAutoFit/>
          </a:bodyPr>
          <a:lstStyle/>
          <a:p>
            <a:r>
              <a:rPr lang="en-US" altLang="ja-JP" sz="2400" dirty="0"/>
              <a:t>“</a:t>
            </a:r>
            <a:r>
              <a:rPr lang="ja-JP" altLang="en-US" sz="2400" dirty="0"/>
              <a:t>向き</a:t>
            </a:r>
            <a:r>
              <a:rPr lang="en-US" altLang="ja-JP" sz="2400" dirty="0"/>
              <a:t>”</a:t>
            </a:r>
            <a:r>
              <a:rPr lang="ja-JP" altLang="en-US" sz="2400" dirty="0"/>
              <a:t>と</a:t>
            </a:r>
            <a:r>
              <a:rPr lang="en-US" altLang="ja-JP" sz="2400" dirty="0"/>
              <a:t>”</a:t>
            </a:r>
            <a:r>
              <a:rPr lang="ja-JP" altLang="en-US" sz="2400" dirty="0"/>
              <a:t>歩数</a:t>
            </a:r>
            <a:r>
              <a:rPr lang="en-US" altLang="ja-JP" sz="2400" dirty="0"/>
              <a:t>”</a:t>
            </a:r>
            <a:r>
              <a:rPr lang="ja-JP" altLang="en-US" sz="2400" dirty="0"/>
              <a:t>による自己位置推定と、目標座標への移動量計算</a:t>
            </a:r>
            <a:endParaRPr lang="en-US" altLang="ja-JP" sz="2400" dirty="0"/>
          </a:p>
        </p:txBody>
      </p:sp>
      <p:cxnSp>
        <p:nvCxnSpPr>
          <p:cNvPr id="5" name="直線コネクタ 4">
            <a:extLst>
              <a:ext uri="{FF2B5EF4-FFF2-40B4-BE49-F238E27FC236}">
                <a16:creationId xmlns:a16="http://schemas.microsoft.com/office/drawing/2014/main" id="{00F75199-285E-E992-2778-94BDF006BBDB}"/>
              </a:ext>
            </a:extLst>
          </p:cNvPr>
          <p:cNvCxnSpPr/>
          <p:nvPr/>
        </p:nvCxnSpPr>
        <p:spPr>
          <a:xfrm>
            <a:off x="7344629" y="4124790"/>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 name="直線矢印コネクタ 2">
            <a:extLst>
              <a:ext uri="{FF2B5EF4-FFF2-40B4-BE49-F238E27FC236}">
                <a16:creationId xmlns:a16="http://schemas.microsoft.com/office/drawing/2014/main" id="{6FC7014E-2D9F-F81C-D0AA-1AB0A9D5DA39}"/>
              </a:ext>
            </a:extLst>
          </p:cNvPr>
          <p:cNvCxnSpPr/>
          <p:nvPr/>
        </p:nvCxnSpPr>
        <p:spPr>
          <a:xfrm>
            <a:off x="7344629" y="4482990"/>
            <a:ext cx="360000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 name="直線コネクタ 7">
            <a:extLst>
              <a:ext uri="{FF2B5EF4-FFF2-40B4-BE49-F238E27FC236}">
                <a16:creationId xmlns:a16="http://schemas.microsoft.com/office/drawing/2014/main" id="{80B9D9F0-F3F9-A646-8441-81000290D5A4}"/>
              </a:ext>
            </a:extLst>
          </p:cNvPr>
          <p:cNvCxnSpPr/>
          <p:nvPr/>
        </p:nvCxnSpPr>
        <p:spPr>
          <a:xfrm>
            <a:off x="7344629" y="3764790"/>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4" name="直線矢印コネクタ 3">
            <a:extLst>
              <a:ext uri="{FF2B5EF4-FFF2-40B4-BE49-F238E27FC236}">
                <a16:creationId xmlns:a16="http://schemas.microsoft.com/office/drawing/2014/main" id="{02F76022-2675-02B5-9EDB-7A25C1CD9D4E}"/>
              </a:ext>
            </a:extLst>
          </p:cNvPr>
          <p:cNvCxnSpPr>
            <a:cxnSpLocks/>
          </p:cNvCxnSpPr>
          <p:nvPr/>
        </p:nvCxnSpPr>
        <p:spPr>
          <a:xfrm rot="10800000">
            <a:off x="9146141" y="2682990"/>
            <a:ext cx="0" cy="360000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 name="直線矢印コネクタ 5">
            <a:extLst>
              <a:ext uri="{FF2B5EF4-FFF2-40B4-BE49-F238E27FC236}">
                <a16:creationId xmlns:a16="http://schemas.microsoft.com/office/drawing/2014/main" id="{1774B371-27BF-F314-D1AE-8CD940D89AAE}"/>
              </a:ext>
            </a:extLst>
          </p:cNvPr>
          <p:cNvCxnSpPr/>
          <p:nvPr/>
        </p:nvCxnSpPr>
        <p:spPr>
          <a:xfrm>
            <a:off x="7346141" y="3404790"/>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16" name="直線矢印コネクタ 15">
            <a:extLst>
              <a:ext uri="{FF2B5EF4-FFF2-40B4-BE49-F238E27FC236}">
                <a16:creationId xmlns:a16="http://schemas.microsoft.com/office/drawing/2014/main" id="{B71C8720-AB91-A48E-823D-26EDDC0D2C4E}"/>
              </a:ext>
            </a:extLst>
          </p:cNvPr>
          <p:cNvCxnSpPr/>
          <p:nvPr/>
        </p:nvCxnSpPr>
        <p:spPr>
          <a:xfrm>
            <a:off x="7346141" y="3044790"/>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17" name="直線コネクタ 16">
            <a:extLst>
              <a:ext uri="{FF2B5EF4-FFF2-40B4-BE49-F238E27FC236}">
                <a16:creationId xmlns:a16="http://schemas.microsoft.com/office/drawing/2014/main" id="{BA4E2B69-86B2-7D32-D281-0843A2D6641D}"/>
              </a:ext>
            </a:extLst>
          </p:cNvPr>
          <p:cNvCxnSpPr/>
          <p:nvPr/>
        </p:nvCxnSpPr>
        <p:spPr>
          <a:xfrm>
            <a:off x="7344629" y="5882153"/>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0838DCFB-616B-5921-D520-5E05E69D02EB}"/>
              </a:ext>
            </a:extLst>
          </p:cNvPr>
          <p:cNvCxnSpPr/>
          <p:nvPr/>
        </p:nvCxnSpPr>
        <p:spPr>
          <a:xfrm>
            <a:off x="7344629" y="5522153"/>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9" name="直線矢印コネクタ 18">
            <a:extLst>
              <a:ext uri="{FF2B5EF4-FFF2-40B4-BE49-F238E27FC236}">
                <a16:creationId xmlns:a16="http://schemas.microsoft.com/office/drawing/2014/main" id="{8AA26F8C-7804-4F65-0D9C-41562E8C4E1E}"/>
              </a:ext>
            </a:extLst>
          </p:cNvPr>
          <p:cNvCxnSpPr/>
          <p:nvPr/>
        </p:nvCxnSpPr>
        <p:spPr>
          <a:xfrm>
            <a:off x="7346141" y="5162153"/>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20" name="直線矢印コネクタ 19">
            <a:extLst>
              <a:ext uri="{FF2B5EF4-FFF2-40B4-BE49-F238E27FC236}">
                <a16:creationId xmlns:a16="http://schemas.microsoft.com/office/drawing/2014/main" id="{5A1F8953-88F6-42BB-2B04-9C595D457165}"/>
              </a:ext>
            </a:extLst>
          </p:cNvPr>
          <p:cNvCxnSpPr/>
          <p:nvPr/>
        </p:nvCxnSpPr>
        <p:spPr>
          <a:xfrm>
            <a:off x="7346141" y="4802153"/>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29" name="直線コネクタ 28">
            <a:extLst>
              <a:ext uri="{FF2B5EF4-FFF2-40B4-BE49-F238E27FC236}">
                <a16:creationId xmlns:a16="http://schemas.microsoft.com/office/drawing/2014/main" id="{32454B11-8FEE-97ED-06F6-EA4121FB713B}"/>
              </a:ext>
            </a:extLst>
          </p:cNvPr>
          <p:cNvCxnSpPr/>
          <p:nvPr/>
        </p:nvCxnSpPr>
        <p:spPr>
          <a:xfrm>
            <a:off x="878614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D7AF6DA2-A68F-96C1-E0FC-912F447C9606}"/>
              </a:ext>
            </a:extLst>
          </p:cNvPr>
          <p:cNvCxnSpPr/>
          <p:nvPr/>
        </p:nvCxnSpPr>
        <p:spPr>
          <a:xfrm>
            <a:off x="842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061EF245-2CE8-30F7-F33F-201E56594589}"/>
              </a:ext>
            </a:extLst>
          </p:cNvPr>
          <p:cNvCxnSpPr/>
          <p:nvPr/>
        </p:nvCxnSpPr>
        <p:spPr>
          <a:xfrm>
            <a:off x="806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4" name="直線コネクタ 33">
            <a:extLst>
              <a:ext uri="{FF2B5EF4-FFF2-40B4-BE49-F238E27FC236}">
                <a16:creationId xmlns:a16="http://schemas.microsoft.com/office/drawing/2014/main" id="{894B1E29-D5B1-3955-88C7-6B3B6C839E74}"/>
              </a:ext>
            </a:extLst>
          </p:cNvPr>
          <p:cNvCxnSpPr/>
          <p:nvPr/>
        </p:nvCxnSpPr>
        <p:spPr>
          <a:xfrm>
            <a:off x="770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5" name="直線コネクタ 34">
            <a:extLst>
              <a:ext uri="{FF2B5EF4-FFF2-40B4-BE49-F238E27FC236}">
                <a16:creationId xmlns:a16="http://schemas.microsoft.com/office/drawing/2014/main" id="{2522E043-E3B7-3E8D-16BB-3505AAB22F4B}"/>
              </a:ext>
            </a:extLst>
          </p:cNvPr>
          <p:cNvCxnSpPr/>
          <p:nvPr/>
        </p:nvCxnSpPr>
        <p:spPr>
          <a:xfrm>
            <a:off x="10599701" y="2681188"/>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6" name="直線コネクタ 35">
            <a:extLst>
              <a:ext uri="{FF2B5EF4-FFF2-40B4-BE49-F238E27FC236}">
                <a16:creationId xmlns:a16="http://schemas.microsoft.com/office/drawing/2014/main" id="{78023A80-DA01-A193-FCC7-EFD7C1A9F753}"/>
              </a:ext>
            </a:extLst>
          </p:cNvPr>
          <p:cNvCxnSpPr/>
          <p:nvPr/>
        </p:nvCxnSpPr>
        <p:spPr>
          <a:xfrm>
            <a:off x="1023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7" name="直線コネクタ 36">
            <a:extLst>
              <a:ext uri="{FF2B5EF4-FFF2-40B4-BE49-F238E27FC236}">
                <a16:creationId xmlns:a16="http://schemas.microsoft.com/office/drawing/2014/main" id="{9A508C5E-17BE-3664-AEC1-6F8690F72E94}"/>
              </a:ext>
            </a:extLst>
          </p:cNvPr>
          <p:cNvCxnSpPr/>
          <p:nvPr/>
        </p:nvCxnSpPr>
        <p:spPr>
          <a:xfrm>
            <a:off x="987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8" name="直線コネクタ 37">
            <a:extLst>
              <a:ext uri="{FF2B5EF4-FFF2-40B4-BE49-F238E27FC236}">
                <a16:creationId xmlns:a16="http://schemas.microsoft.com/office/drawing/2014/main" id="{20394E90-AB16-697F-0C06-9A3773A60513}"/>
              </a:ext>
            </a:extLst>
          </p:cNvPr>
          <p:cNvCxnSpPr/>
          <p:nvPr/>
        </p:nvCxnSpPr>
        <p:spPr>
          <a:xfrm>
            <a:off x="951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sp>
        <p:nvSpPr>
          <p:cNvPr id="39" name="テキスト ボックス 38">
            <a:extLst>
              <a:ext uri="{FF2B5EF4-FFF2-40B4-BE49-F238E27FC236}">
                <a16:creationId xmlns:a16="http://schemas.microsoft.com/office/drawing/2014/main" id="{D627D619-C5FD-BDCD-6CCA-1E4ACF355410}"/>
              </a:ext>
            </a:extLst>
          </p:cNvPr>
          <p:cNvSpPr txBox="1"/>
          <p:nvPr/>
        </p:nvSpPr>
        <p:spPr>
          <a:xfrm>
            <a:off x="10878514" y="4157185"/>
            <a:ext cx="267345" cy="584775"/>
          </a:xfrm>
          <a:prstGeom prst="rect">
            <a:avLst/>
          </a:prstGeom>
          <a:noFill/>
        </p:spPr>
        <p:txBody>
          <a:bodyPr wrap="square" rtlCol="0" anchor="t">
            <a:spAutoFit/>
          </a:bodyPr>
          <a:lstStyle/>
          <a:p>
            <a:r>
              <a:rPr kumimoji="1" lang="en-US" altLang="ja-JP" sz="3200" b="1" dirty="0">
                <a:latin typeface="Gigi" panose="04040504060007020D02" pitchFamily="82" charset="0"/>
              </a:rPr>
              <a:t>x</a:t>
            </a:r>
            <a:endParaRPr kumimoji="1" lang="ja-JP" altLang="en-US" sz="3200" b="1" dirty="0">
              <a:latin typeface="Gigi" panose="04040504060007020D02" pitchFamily="82" charset="0"/>
            </a:endParaRPr>
          </a:p>
        </p:txBody>
      </p:sp>
      <p:sp>
        <p:nvSpPr>
          <p:cNvPr id="40" name="テキスト ボックス 39">
            <a:extLst>
              <a:ext uri="{FF2B5EF4-FFF2-40B4-BE49-F238E27FC236}">
                <a16:creationId xmlns:a16="http://schemas.microsoft.com/office/drawing/2014/main" id="{35279EA4-58C3-7139-6BA8-FC5DF8A67575}"/>
              </a:ext>
            </a:extLst>
          </p:cNvPr>
          <p:cNvSpPr txBox="1"/>
          <p:nvPr/>
        </p:nvSpPr>
        <p:spPr>
          <a:xfrm>
            <a:off x="8930273" y="2116703"/>
            <a:ext cx="267345" cy="584775"/>
          </a:xfrm>
          <a:prstGeom prst="rect">
            <a:avLst/>
          </a:prstGeom>
          <a:noFill/>
        </p:spPr>
        <p:txBody>
          <a:bodyPr wrap="square" rtlCol="0">
            <a:spAutoFit/>
          </a:bodyPr>
          <a:lstStyle/>
          <a:p>
            <a:r>
              <a:rPr lang="en-US" altLang="ja-JP" sz="3200" b="1" dirty="0">
                <a:latin typeface="Gigi" panose="04040504060007020D02" pitchFamily="82" charset="0"/>
              </a:rPr>
              <a:t>y</a:t>
            </a:r>
            <a:endParaRPr kumimoji="1" lang="ja-JP" altLang="en-US" sz="3200" b="1" dirty="0">
              <a:latin typeface="Gigi" panose="04040504060007020D02" pitchFamily="82" charset="0"/>
            </a:endParaRPr>
          </a:p>
        </p:txBody>
      </p:sp>
      <p:sp>
        <p:nvSpPr>
          <p:cNvPr id="41" name="テキスト ボックス 40">
            <a:extLst>
              <a:ext uri="{FF2B5EF4-FFF2-40B4-BE49-F238E27FC236}">
                <a16:creationId xmlns:a16="http://schemas.microsoft.com/office/drawing/2014/main" id="{FBEFEF38-F20A-ABB6-072C-A43A9F3317E2}"/>
              </a:ext>
            </a:extLst>
          </p:cNvPr>
          <p:cNvSpPr txBox="1"/>
          <p:nvPr/>
        </p:nvSpPr>
        <p:spPr>
          <a:xfrm>
            <a:off x="9109438" y="2161962"/>
            <a:ext cx="1020485" cy="523220"/>
          </a:xfrm>
          <a:prstGeom prst="rect">
            <a:avLst/>
          </a:prstGeom>
          <a:noFill/>
        </p:spPr>
        <p:txBody>
          <a:bodyPr wrap="square" rtlCol="0">
            <a:spAutoFit/>
          </a:bodyPr>
          <a:lstStyle/>
          <a:p>
            <a:pPr algn="ctr"/>
            <a:r>
              <a:rPr kumimoji="1" lang="en-US" altLang="ja-JP" sz="2800" dirty="0"/>
              <a:t>90°</a:t>
            </a:r>
            <a:endParaRPr kumimoji="1" lang="ja-JP" altLang="en-US" sz="2800" dirty="0"/>
          </a:p>
        </p:txBody>
      </p:sp>
      <p:sp>
        <p:nvSpPr>
          <p:cNvPr id="42" name="テキスト ボックス 41">
            <a:extLst>
              <a:ext uri="{FF2B5EF4-FFF2-40B4-BE49-F238E27FC236}">
                <a16:creationId xmlns:a16="http://schemas.microsoft.com/office/drawing/2014/main" id="{6E6D4DDE-51FB-7577-D7DA-01997EA3C94D}"/>
              </a:ext>
            </a:extLst>
          </p:cNvPr>
          <p:cNvSpPr txBox="1"/>
          <p:nvPr/>
        </p:nvSpPr>
        <p:spPr>
          <a:xfrm>
            <a:off x="11144105" y="4233942"/>
            <a:ext cx="1020485" cy="830997"/>
          </a:xfrm>
          <a:prstGeom prst="rect">
            <a:avLst/>
          </a:prstGeom>
          <a:noFill/>
        </p:spPr>
        <p:txBody>
          <a:bodyPr wrap="square" rtlCol="0">
            <a:spAutoFit/>
          </a:bodyPr>
          <a:lstStyle/>
          <a:p>
            <a:r>
              <a:rPr kumimoji="1" lang="en-US" altLang="ja-JP" sz="2800" dirty="0"/>
              <a:t> 0°</a:t>
            </a:r>
          </a:p>
          <a:p>
            <a:r>
              <a:rPr lang="en-US" altLang="ja-JP" sz="2000" dirty="0"/>
              <a:t>(360°)</a:t>
            </a:r>
            <a:endParaRPr kumimoji="1" lang="ja-JP" altLang="en-US" sz="2000" dirty="0"/>
          </a:p>
        </p:txBody>
      </p:sp>
      <p:sp>
        <p:nvSpPr>
          <p:cNvPr id="43" name="テキスト ボックス 42">
            <a:extLst>
              <a:ext uri="{FF2B5EF4-FFF2-40B4-BE49-F238E27FC236}">
                <a16:creationId xmlns:a16="http://schemas.microsoft.com/office/drawing/2014/main" id="{711FE59D-CC61-4C5B-F4B8-9BF341CAFB7F}"/>
              </a:ext>
            </a:extLst>
          </p:cNvPr>
          <p:cNvSpPr txBox="1"/>
          <p:nvPr/>
        </p:nvSpPr>
        <p:spPr>
          <a:xfrm>
            <a:off x="8714717" y="6340542"/>
            <a:ext cx="1020485" cy="523220"/>
          </a:xfrm>
          <a:prstGeom prst="rect">
            <a:avLst/>
          </a:prstGeom>
          <a:noFill/>
        </p:spPr>
        <p:txBody>
          <a:bodyPr wrap="square" rtlCol="0">
            <a:spAutoFit/>
          </a:bodyPr>
          <a:lstStyle/>
          <a:p>
            <a:pPr algn="ctr"/>
            <a:r>
              <a:rPr lang="en-US" altLang="ja-JP" sz="2800" dirty="0"/>
              <a:t>270</a:t>
            </a:r>
            <a:r>
              <a:rPr kumimoji="1" lang="en-US" altLang="ja-JP" sz="2800" dirty="0"/>
              <a:t>°</a:t>
            </a:r>
            <a:endParaRPr kumimoji="1" lang="ja-JP" altLang="en-US" sz="2800" dirty="0"/>
          </a:p>
        </p:txBody>
      </p:sp>
      <p:sp>
        <p:nvSpPr>
          <p:cNvPr id="44" name="テキスト ボックス 43">
            <a:extLst>
              <a:ext uri="{FF2B5EF4-FFF2-40B4-BE49-F238E27FC236}">
                <a16:creationId xmlns:a16="http://schemas.microsoft.com/office/drawing/2014/main" id="{DDEF057A-774E-9440-956D-EB3B5C5173C9}"/>
              </a:ext>
            </a:extLst>
          </p:cNvPr>
          <p:cNvSpPr txBox="1"/>
          <p:nvPr/>
        </p:nvSpPr>
        <p:spPr>
          <a:xfrm>
            <a:off x="6387152" y="4232640"/>
            <a:ext cx="1020485" cy="523220"/>
          </a:xfrm>
          <a:prstGeom prst="rect">
            <a:avLst/>
          </a:prstGeom>
          <a:noFill/>
        </p:spPr>
        <p:txBody>
          <a:bodyPr wrap="square" rtlCol="0">
            <a:spAutoFit/>
          </a:bodyPr>
          <a:lstStyle/>
          <a:p>
            <a:pPr algn="ctr"/>
            <a:r>
              <a:rPr lang="en-US" altLang="ja-JP" sz="2800" dirty="0"/>
              <a:t>18</a:t>
            </a:r>
            <a:r>
              <a:rPr kumimoji="1" lang="en-US" altLang="ja-JP" sz="2800" dirty="0"/>
              <a:t>0°</a:t>
            </a:r>
            <a:endParaRPr kumimoji="1" lang="ja-JP" altLang="en-US" sz="2800" dirty="0"/>
          </a:p>
        </p:txBody>
      </p:sp>
      <p:sp>
        <p:nvSpPr>
          <p:cNvPr id="14" name="矢印: 右 13">
            <a:extLst>
              <a:ext uri="{FF2B5EF4-FFF2-40B4-BE49-F238E27FC236}">
                <a16:creationId xmlns:a16="http://schemas.microsoft.com/office/drawing/2014/main" id="{72D151BD-B799-A3AC-7F9E-BC6A8591D884}"/>
              </a:ext>
            </a:extLst>
          </p:cNvPr>
          <p:cNvSpPr/>
          <p:nvPr/>
        </p:nvSpPr>
        <p:spPr>
          <a:xfrm rot="16200000">
            <a:off x="8967736" y="4113616"/>
            <a:ext cx="356398" cy="378745"/>
          </a:xfrm>
          <a:prstGeom prst="rightArrow">
            <a:avLst>
              <a:gd name="adj1" fmla="val 38683"/>
              <a:gd name="adj2" fmla="val 54009"/>
            </a:avLst>
          </a:prstGeom>
          <a:solidFill>
            <a:schemeClr val="tx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テキスト ボックス 44">
            <a:extLst>
              <a:ext uri="{FF2B5EF4-FFF2-40B4-BE49-F238E27FC236}">
                <a16:creationId xmlns:a16="http://schemas.microsoft.com/office/drawing/2014/main" id="{083154D8-816E-CBCC-DC34-04C4C5363F7C}"/>
              </a:ext>
            </a:extLst>
          </p:cNvPr>
          <p:cNvSpPr txBox="1"/>
          <p:nvPr/>
        </p:nvSpPr>
        <p:spPr>
          <a:xfrm>
            <a:off x="0" y="3432223"/>
            <a:ext cx="6095813" cy="523220"/>
          </a:xfrm>
          <a:prstGeom prst="rect">
            <a:avLst/>
          </a:prstGeom>
          <a:noFill/>
        </p:spPr>
        <p:txBody>
          <a:bodyPr wrap="square" rtlCol="0">
            <a:spAutoFit/>
          </a:bodyPr>
          <a:lstStyle/>
          <a:p>
            <a:pPr algn="ctr"/>
            <a:r>
              <a:rPr lang="ja-JP" altLang="en-US" sz="2800" dirty="0"/>
              <a:t>     </a:t>
            </a:r>
            <a:r>
              <a:rPr lang="en-US" altLang="ja-JP" sz="2800" dirty="0"/>
              <a:t>°</a:t>
            </a:r>
            <a:r>
              <a:rPr lang="ja-JP" altLang="en-US" sz="2800" dirty="0"/>
              <a:t>を向いて一歩進む</a:t>
            </a:r>
            <a:endParaRPr lang="en-US" altLang="ja-JP" sz="2800" dirty="0"/>
          </a:p>
        </p:txBody>
      </p:sp>
      <p:sp>
        <p:nvSpPr>
          <p:cNvPr id="46" name="テキスト ボックス 45">
            <a:extLst>
              <a:ext uri="{FF2B5EF4-FFF2-40B4-BE49-F238E27FC236}">
                <a16:creationId xmlns:a16="http://schemas.microsoft.com/office/drawing/2014/main" id="{870F6B2B-B2D9-9644-EB70-8DC15280425C}"/>
              </a:ext>
            </a:extLst>
          </p:cNvPr>
          <p:cNvSpPr txBox="1"/>
          <p:nvPr/>
        </p:nvSpPr>
        <p:spPr>
          <a:xfrm>
            <a:off x="3174655" y="3981179"/>
            <a:ext cx="252600" cy="954107"/>
          </a:xfrm>
          <a:prstGeom prst="rect">
            <a:avLst/>
          </a:prstGeom>
          <a:noFill/>
        </p:spPr>
        <p:txBody>
          <a:bodyPr wrap="square">
            <a:spAutoFit/>
          </a:bodyPr>
          <a:lstStyle/>
          <a:p>
            <a:pPr algn="ctr"/>
            <a:r>
              <a:rPr kumimoji="1" lang="ja-JP" altLang="en-US" sz="2800" dirty="0">
                <a:noFill/>
              </a:rPr>
              <a:t>＝</a:t>
            </a:r>
            <a:endParaRPr kumimoji="1" lang="en-US" altLang="ja-JP" sz="2800" dirty="0">
              <a:noFill/>
            </a:endParaRPr>
          </a:p>
          <a:p>
            <a:pPr algn="ctr"/>
            <a:r>
              <a:rPr lang="ja-JP" altLang="en-US" sz="2800" dirty="0">
                <a:noFill/>
              </a:rPr>
              <a:t>、</a:t>
            </a:r>
            <a:endParaRPr lang="en-US" altLang="ja-JP" sz="2800" dirty="0">
              <a:noFill/>
            </a:endParaRPr>
          </a:p>
        </p:txBody>
      </p:sp>
      <p:sp>
        <p:nvSpPr>
          <p:cNvPr id="47" name="テキスト ボックス 46">
            <a:extLst>
              <a:ext uri="{FF2B5EF4-FFF2-40B4-BE49-F238E27FC236}">
                <a16:creationId xmlns:a16="http://schemas.microsoft.com/office/drawing/2014/main" id="{14CA0400-D784-C681-65E4-96E383FB2D3B}"/>
              </a:ext>
            </a:extLst>
          </p:cNvPr>
          <p:cNvSpPr txBox="1"/>
          <p:nvPr/>
        </p:nvSpPr>
        <p:spPr>
          <a:xfrm>
            <a:off x="1254314" y="3444240"/>
            <a:ext cx="563279" cy="523220"/>
          </a:xfrm>
          <a:prstGeom prst="rect">
            <a:avLst/>
          </a:prstGeom>
          <a:noFill/>
        </p:spPr>
        <p:txBody>
          <a:bodyPr wrap="square">
            <a:spAutoFit/>
          </a:bodyPr>
          <a:lstStyle/>
          <a:p>
            <a:pPr algn="r"/>
            <a:r>
              <a:rPr lang="en-US" altLang="ja-JP" sz="2800" dirty="0"/>
              <a:t>90</a:t>
            </a:r>
            <a:endParaRPr lang="ja-JP" altLang="en-US" sz="2800" dirty="0"/>
          </a:p>
        </p:txBody>
      </p:sp>
      <p:sp>
        <p:nvSpPr>
          <p:cNvPr id="48" name="テキスト ボックス 47">
            <a:extLst>
              <a:ext uri="{FF2B5EF4-FFF2-40B4-BE49-F238E27FC236}">
                <a16:creationId xmlns:a16="http://schemas.microsoft.com/office/drawing/2014/main" id="{1C00C852-CAD2-10F6-A644-458C4D424A12}"/>
              </a:ext>
            </a:extLst>
          </p:cNvPr>
          <p:cNvSpPr txBox="1"/>
          <p:nvPr/>
        </p:nvSpPr>
        <p:spPr>
          <a:xfrm>
            <a:off x="361901" y="4336485"/>
            <a:ext cx="1993574" cy="584775"/>
          </a:xfrm>
          <a:prstGeom prst="rect">
            <a:avLst/>
          </a:prstGeom>
          <a:noFill/>
        </p:spPr>
        <p:txBody>
          <a:bodyPr wrap="square">
            <a:spAutoFit/>
          </a:bodyPr>
          <a:lstStyle/>
          <a:p>
            <a:r>
              <a:rPr lang="en-US" altLang="ja-JP" sz="3200" dirty="0">
                <a:noFill/>
              </a:rPr>
              <a:t>x</a:t>
            </a:r>
            <a:r>
              <a:rPr lang="ja-JP" altLang="en-US" sz="3200" dirty="0">
                <a:noFill/>
              </a:rPr>
              <a:t>軸方向に </a:t>
            </a:r>
          </a:p>
        </p:txBody>
      </p:sp>
      <p:sp>
        <p:nvSpPr>
          <p:cNvPr id="49" name="テキスト ボックス 48">
            <a:extLst>
              <a:ext uri="{FF2B5EF4-FFF2-40B4-BE49-F238E27FC236}">
                <a16:creationId xmlns:a16="http://schemas.microsoft.com/office/drawing/2014/main" id="{7071C322-CDE6-54D8-5F88-F548B90DCD9F}"/>
              </a:ext>
            </a:extLst>
          </p:cNvPr>
          <p:cNvSpPr txBox="1"/>
          <p:nvPr/>
        </p:nvSpPr>
        <p:spPr>
          <a:xfrm>
            <a:off x="3302366" y="4373910"/>
            <a:ext cx="1791099" cy="523220"/>
          </a:xfrm>
          <a:prstGeom prst="rect">
            <a:avLst/>
          </a:prstGeom>
          <a:noFill/>
        </p:spPr>
        <p:txBody>
          <a:bodyPr wrap="square">
            <a:spAutoFit/>
          </a:bodyPr>
          <a:lstStyle/>
          <a:p>
            <a:r>
              <a:rPr lang="en-US" altLang="ja-JP" sz="2800" dirty="0">
                <a:noFill/>
              </a:rPr>
              <a:t>y</a:t>
            </a:r>
            <a:r>
              <a:rPr lang="ja-JP" altLang="en-US" sz="2800" dirty="0">
                <a:noFill/>
              </a:rPr>
              <a:t>軸方向に </a:t>
            </a:r>
          </a:p>
        </p:txBody>
      </p:sp>
      <p:sp>
        <p:nvSpPr>
          <p:cNvPr id="50" name="テキスト ボックス 49">
            <a:extLst>
              <a:ext uri="{FF2B5EF4-FFF2-40B4-BE49-F238E27FC236}">
                <a16:creationId xmlns:a16="http://schemas.microsoft.com/office/drawing/2014/main" id="{49D73502-3259-8D91-5249-36645FC7EB2E}"/>
              </a:ext>
            </a:extLst>
          </p:cNvPr>
          <p:cNvSpPr txBox="1"/>
          <p:nvPr/>
        </p:nvSpPr>
        <p:spPr>
          <a:xfrm>
            <a:off x="4962309" y="4326175"/>
            <a:ext cx="787182" cy="523220"/>
          </a:xfrm>
          <a:prstGeom prst="rect">
            <a:avLst/>
          </a:prstGeom>
          <a:noFill/>
        </p:spPr>
        <p:txBody>
          <a:bodyPr wrap="square">
            <a:spAutoFit/>
          </a:bodyPr>
          <a:lstStyle/>
          <a:p>
            <a:r>
              <a:rPr lang="en-US" altLang="ja-JP" sz="2800" dirty="0">
                <a:noFill/>
              </a:rPr>
              <a:t>+1</a:t>
            </a:r>
          </a:p>
        </p:txBody>
      </p:sp>
      <p:sp>
        <p:nvSpPr>
          <p:cNvPr id="51" name="テキスト ボックス 50">
            <a:extLst>
              <a:ext uri="{FF2B5EF4-FFF2-40B4-BE49-F238E27FC236}">
                <a16:creationId xmlns:a16="http://schemas.microsoft.com/office/drawing/2014/main" id="{88BD8581-C44E-8E2C-504A-0862C30CEB2E}"/>
              </a:ext>
            </a:extLst>
          </p:cNvPr>
          <p:cNvSpPr txBox="1"/>
          <p:nvPr/>
        </p:nvSpPr>
        <p:spPr>
          <a:xfrm>
            <a:off x="2220227" y="4359720"/>
            <a:ext cx="675616" cy="523220"/>
          </a:xfrm>
          <a:prstGeom prst="rect">
            <a:avLst/>
          </a:prstGeom>
          <a:noFill/>
        </p:spPr>
        <p:txBody>
          <a:bodyPr wrap="square">
            <a:spAutoFit/>
          </a:bodyPr>
          <a:lstStyle/>
          <a:p>
            <a:r>
              <a:rPr lang="en-US" altLang="ja-JP" sz="2800" dirty="0">
                <a:noFill/>
              </a:rPr>
              <a:t>±0</a:t>
            </a:r>
          </a:p>
        </p:txBody>
      </p:sp>
      <p:sp>
        <p:nvSpPr>
          <p:cNvPr id="55" name="テキスト ボックス 54">
            <a:extLst>
              <a:ext uri="{FF2B5EF4-FFF2-40B4-BE49-F238E27FC236}">
                <a16:creationId xmlns:a16="http://schemas.microsoft.com/office/drawing/2014/main" id="{C630BAC5-9716-3029-AE37-2F4C8CB346C7}"/>
              </a:ext>
            </a:extLst>
          </p:cNvPr>
          <p:cNvSpPr txBox="1"/>
          <p:nvPr/>
        </p:nvSpPr>
        <p:spPr>
          <a:xfrm>
            <a:off x="5215155" y="6143763"/>
            <a:ext cx="281490" cy="523220"/>
          </a:xfrm>
          <a:prstGeom prst="rect">
            <a:avLst/>
          </a:prstGeom>
          <a:noFill/>
        </p:spPr>
        <p:txBody>
          <a:bodyPr wrap="square" rtlCol="0">
            <a:spAutoFit/>
          </a:bodyPr>
          <a:lstStyle/>
          <a:p>
            <a:r>
              <a:rPr lang="en-US" altLang="ja-JP" sz="2800" dirty="0"/>
              <a:t>(</a:t>
            </a:r>
            <a:endParaRPr kumimoji="1" lang="ja-JP" altLang="en-US" sz="2800" dirty="0"/>
          </a:p>
        </p:txBody>
      </p:sp>
      <p:sp>
        <p:nvSpPr>
          <p:cNvPr id="56" name="テキスト ボックス 55">
            <a:extLst>
              <a:ext uri="{FF2B5EF4-FFF2-40B4-BE49-F238E27FC236}">
                <a16:creationId xmlns:a16="http://schemas.microsoft.com/office/drawing/2014/main" id="{270DC14A-523C-36C1-E6A3-5E5F8238E1F5}"/>
              </a:ext>
            </a:extLst>
          </p:cNvPr>
          <p:cNvSpPr txBox="1"/>
          <p:nvPr/>
        </p:nvSpPr>
        <p:spPr>
          <a:xfrm>
            <a:off x="6691092" y="6143763"/>
            <a:ext cx="281490" cy="523220"/>
          </a:xfrm>
          <a:prstGeom prst="rect">
            <a:avLst/>
          </a:prstGeom>
          <a:noFill/>
        </p:spPr>
        <p:txBody>
          <a:bodyPr wrap="square" rtlCol="0">
            <a:spAutoFit/>
          </a:bodyPr>
          <a:lstStyle/>
          <a:p>
            <a:r>
              <a:rPr kumimoji="1" lang="en-US" altLang="ja-JP" sz="2800" dirty="0"/>
              <a:t>)</a:t>
            </a:r>
            <a:endParaRPr kumimoji="1" lang="ja-JP" altLang="en-US" sz="2800" dirty="0"/>
          </a:p>
        </p:txBody>
      </p:sp>
      <p:sp>
        <p:nvSpPr>
          <p:cNvPr id="57" name="テキスト ボックス 56">
            <a:extLst>
              <a:ext uri="{FF2B5EF4-FFF2-40B4-BE49-F238E27FC236}">
                <a16:creationId xmlns:a16="http://schemas.microsoft.com/office/drawing/2014/main" id="{EA574A7F-95E6-3597-399B-889DEB96B1E9}"/>
              </a:ext>
            </a:extLst>
          </p:cNvPr>
          <p:cNvSpPr txBox="1"/>
          <p:nvPr/>
        </p:nvSpPr>
        <p:spPr>
          <a:xfrm>
            <a:off x="5962379" y="6143763"/>
            <a:ext cx="281490" cy="523220"/>
          </a:xfrm>
          <a:prstGeom prst="rect">
            <a:avLst/>
          </a:prstGeom>
          <a:noFill/>
        </p:spPr>
        <p:txBody>
          <a:bodyPr wrap="square" rtlCol="0">
            <a:spAutoFit/>
          </a:bodyPr>
          <a:lstStyle/>
          <a:p>
            <a:r>
              <a:rPr lang="en-US" altLang="ja-JP" sz="2800" dirty="0"/>
              <a:t>,</a:t>
            </a:r>
          </a:p>
        </p:txBody>
      </p:sp>
      <p:sp>
        <p:nvSpPr>
          <p:cNvPr id="58" name="テキスト ボックス 57">
            <a:extLst>
              <a:ext uri="{FF2B5EF4-FFF2-40B4-BE49-F238E27FC236}">
                <a16:creationId xmlns:a16="http://schemas.microsoft.com/office/drawing/2014/main" id="{59B1805C-E207-7B86-CC75-103E16C94723}"/>
              </a:ext>
            </a:extLst>
          </p:cNvPr>
          <p:cNvSpPr txBox="1"/>
          <p:nvPr/>
        </p:nvSpPr>
        <p:spPr>
          <a:xfrm>
            <a:off x="5496645" y="6143763"/>
            <a:ext cx="851647" cy="523220"/>
          </a:xfrm>
          <a:prstGeom prst="rect">
            <a:avLst/>
          </a:prstGeom>
          <a:noFill/>
        </p:spPr>
        <p:txBody>
          <a:bodyPr wrap="square" rtlCol="0">
            <a:spAutoFit/>
          </a:bodyPr>
          <a:lstStyle/>
          <a:p>
            <a:r>
              <a:rPr kumimoji="1" lang="en-US" altLang="ja-JP" sz="2800" dirty="0"/>
              <a:t>0</a:t>
            </a:r>
            <a:endParaRPr kumimoji="1" lang="ja-JP" altLang="en-US" sz="2800" dirty="0"/>
          </a:p>
        </p:txBody>
      </p:sp>
      <p:sp>
        <p:nvSpPr>
          <p:cNvPr id="59" name="テキスト ボックス 58">
            <a:extLst>
              <a:ext uri="{FF2B5EF4-FFF2-40B4-BE49-F238E27FC236}">
                <a16:creationId xmlns:a16="http://schemas.microsoft.com/office/drawing/2014/main" id="{101C62CF-03C9-AE49-1551-C3F3BC4918BF}"/>
              </a:ext>
            </a:extLst>
          </p:cNvPr>
          <p:cNvSpPr txBox="1"/>
          <p:nvPr/>
        </p:nvSpPr>
        <p:spPr>
          <a:xfrm>
            <a:off x="6289301" y="6143763"/>
            <a:ext cx="851647" cy="523220"/>
          </a:xfrm>
          <a:prstGeom prst="rect">
            <a:avLst/>
          </a:prstGeom>
          <a:noFill/>
        </p:spPr>
        <p:txBody>
          <a:bodyPr wrap="square" rtlCol="0">
            <a:spAutoFit/>
          </a:bodyPr>
          <a:lstStyle/>
          <a:p>
            <a:r>
              <a:rPr kumimoji="1" lang="en-US" altLang="ja-JP" sz="2800" dirty="0"/>
              <a:t>0</a:t>
            </a:r>
            <a:endParaRPr kumimoji="1" lang="ja-JP" altLang="en-US" sz="2800" dirty="0"/>
          </a:p>
        </p:txBody>
      </p:sp>
      <p:sp>
        <p:nvSpPr>
          <p:cNvPr id="66" name="テキスト ボックス 65">
            <a:extLst>
              <a:ext uri="{FF2B5EF4-FFF2-40B4-BE49-F238E27FC236}">
                <a16:creationId xmlns:a16="http://schemas.microsoft.com/office/drawing/2014/main" id="{04FFC9FE-97B5-26BC-4F5D-6517EBC2BC1E}"/>
              </a:ext>
            </a:extLst>
          </p:cNvPr>
          <p:cNvSpPr txBox="1"/>
          <p:nvPr/>
        </p:nvSpPr>
        <p:spPr>
          <a:xfrm>
            <a:off x="6289301" y="6296163"/>
            <a:ext cx="851647" cy="523220"/>
          </a:xfrm>
          <a:prstGeom prst="rect">
            <a:avLst/>
          </a:prstGeom>
          <a:noFill/>
        </p:spPr>
        <p:txBody>
          <a:bodyPr wrap="square" rtlCol="0">
            <a:spAutoFit/>
          </a:bodyPr>
          <a:lstStyle/>
          <a:p>
            <a:r>
              <a:rPr lang="en-US" altLang="ja-JP" sz="2800" dirty="0">
                <a:noFill/>
              </a:rPr>
              <a:t>1</a:t>
            </a:r>
            <a:endParaRPr kumimoji="1" lang="ja-JP" altLang="en-US" sz="2800" dirty="0">
              <a:noFill/>
            </a:endParaRPr>
          </a:p>
        </p:txBody>
      </p:sp>
      <p:sp>
        <p:nvSpPr>
          <p:cNvPr id="60" name="テキスト ボックス 59">
            <a:extLst>
              <a:ext uri="{FF2B5EF4-FFF2-40B4-BE49-F238E27FC236}">
                <a16:creationId xmlns:a16="http://schemas.microsoft.com/office/drawing/2014/main" id="{700431B5-F839-5F7C-68D8-37178C30548C}"/>
              </a:ext>
            </a:extLst>
          </p:cNvPr>
          <p:cNvSpPr txBox="1"/>
          <p:nvPr/>
        </p:nvSpPr>
        <p:spPr>
          <a:xfrm>
            <a:off x="5496645" y="6296163"/>
            <a:ext cx="851647" cy="523220"/>
          </a:xfrm>
          <a:prstGeom prst="rect">
            <a:avLst/>
          </a:prstGeom>
          <a:noFill/>
        </p:spPr>
        <p:txBody>
          <a:bodyPr wrap="square" rtlCol="0">
            <a:spAutoFit/>
          </a:bodyPr>
          <a:lstStyle/>
          <a:p>
            <a:r>
              <a:rPr kumimoji="1" lang="en-US" altLang="ja-JP" sz="2800" dirty="0">
                <a:noFill/>
              </a:rPr>
              <a:t>0</a:t>
            </a:r>
            <a:endParaRPr kumimoji="1" lang="ja-JP" altLang="en-US" sz="2800" dirty="0">
              <a:noFill/>
            </a:endParaRPr>
          </a:p>
        </p:txBody>
      </p:sp>
    </p:spTree>
    <p:extLst>
      <p:ext uri="{BB962C8B-B14F-4D97-AF65-F5344CB8AC3E}">
        <p14:creationId xmlns:p14="http://schemas.microsoft.com/office/powerpoint/2010/main" val="148722831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2FD0C-5268-A28D-F8E9-25D49F6F5CD6}"/>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1AF8F0B5-A1CD-2464-846C-9D0944864411}"/>
              </a:ext>
            </a:extLst>
          </p:cNvPr>
          <p:cNvSpPr/>
          <p:nvPr/>
        </p:nvSpPr>
        <p:spPr>
          <a:xfrm>
            <a:off x="3046801"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DFA4E679-71F4-998C-BE8E-060570629A70}"/>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D24EB5AC-C575-2E1A-230D-96A2ED496CD7}"/>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bg1"/>
                </a:solidFill>
              </a:rPr>
              <a:t>システム要件</a:t>
            </a:r>
          </a:p>
        </p:txBody>
      </p:sp>
      <p:sp>
        <p:nvSpPr>
          <p:cNvPr id="11" name="四角形: 角を丸くする 10">
            <a:extLst>
              <a:ext uri="{FF2B5EF4-FFF2-40B4-BE49-F238E27FC236}">
                <a16:creationId xmlns:a16="http://schemas.microsoft.com/office/drawing/2014/main" id="{76B7F997-8853-3342-E866-BFB78C9072C2}"/>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B387277B-9AC0-1CB9-62BA-0C20C3914E35}"/>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t>プログラム説明</a:t>
            </a:r>
            <a:endParaRPr kumimoji="1" lang="ja-JP" altLang="en-US" sz="2400" dirty="0"/>
          </a:p>
        </p:txBody>
      </p:sp>
      <p:sp>
        <p:nvSpPr>
          <p:cNvPr id="7" name="テキスト ボックス 6">
            <a:extLst>
              <a:ext uri="{FF2B5EF4-FFF2-40B4-BE49-F238E27FC236}">
                <a16:creationId xmlns:a16="http://schemas.microsoft.com/office/drawing/2014/main" id="{59EEE792-9430-198E-6B99-D84FD0F74FF8}"/>
              </a:ext>
            </a:extLst>
          </p:cNvPr>
          <p:cNvSpPr txBox="1"/>
          <p:nvPr/>
        </p:nvSpPr>
        <p:spPr>
          <a:xfrm>
            <a:off x="771525" y="1171575"/>
            <a:ext cx="2275276" cy="584775"/>
          </a:xfrm>
          <a:prstGeom prst="rect">
            <a:avLst/>
          </a:prstGeom>
          <a:noFill/>
        </p:spPr>
        <p:txBody>
          <a:bodyPr wrap="square" rtlCol="0">
            <a:spAutoFit/>
          </a:bodyPr>
          <a:lstStyle/>
          <a:p>
            <a:r>
              <a:rPr lang="ja-JP" altLang="en-US" sz="3200" dirty="0"/>
              <a:t>移動制御</a:t>
            </a:r>
            <a:endParaRPr kumimoji="1" lang="ja-JP" altLang="en-US" sz="3200" dirty="0"/>
          </a:p>
        </p:txBody>
      </p:sp>
      <p:sp>
        <p:nvSpPr>
          <p:cNvPr id="10" name="テキスト ボックス 9">
            <a:extLst>
              <a:ext uri="{FF2B5EF4-FFF2-40B4-BE49-F238E27FC236}">
                <a16:creationId xmlns:a16="http://schemas.microsoft.com/office/drawing/2014/main" id="{42DA7868-EAA0-3F8E-861F-48C40F225084}"/>
              </a:ext>
            </a:extLst>
          </p:cNvPr>
          <p:cNvSpPr txBox="1"/>
          <p:nvPr/>
        </p:nvSpPr>
        <p:spPr>
          <a:xfrm>
            <a:off x="1238250" y="1755127"/>
            <a:ext cx="10953750" cy="461665"/>
          </a:xfrm>
          <a:prstGeom prst="rect">
            <a:avLst/>
          </a:prstGeom>
          <a:noFill/>
        </p:spPr>
        <p:txBody>
          <a:bodyPr wrap="square" rtlCol="0">
            <a:spAutoFit/>
          </a:bodyPr>
          <a:lstStyle/>
          <a:p>
            <a:r>
              <a:rPr lang="en-US" altLang="ja-JP" sz="2400" dirty="0"/>
              <a:t>“</a:t>
            </a:r>
            <a:r>
              <a:rPr lang="ja-JP" altLang="en-US" sz="2400" dirty="0"/>
              <a:t>向き</a:t>
            </a:r>
            <a:r>
              <a:rPr lang="en-US" altLang="ja-JP" sz="2400" dirty="0"/>
              <a:t>”</a:t>
            </a:r>
            <a:r>
              <a:rPr lang="ja-JP" altLang="en-US" sz="2400" dirty="0"/>
              <a:t>と</a:t>
            </a:r>
            <a:r>
              <a:rPr lang="en-US" altLang="ja-JP" sz="2400" dirty="0"/>
              <a:t>”</a:t>
            </a:r>
            <a:r>
              <a:rPr lang="ja-JP" altLang="en-US" sz="2400" dirty="0"/>
              <a:t>歩数</a:t>
            </a:r>
            <a:r>
              <a:rPr lang="en-US" altLang="ja-JP" sz="2400" dirty="0"/>
              <a:t>”</a:t>
            </a:r>
            <a:r>
              <a:rPr lang="ja-JP" altLang="en-US" sz="2400" dirty="0"/>
              <a:t>による自己位置推定と、目標座標への移動量計算</a:t>
            </a:r>
            <a:endParaRPr lang="en-US" altLang="ja-JP" sz="2400" dirty="0"/>
          </a:p>
        </p:txBody>
      </p:sp>
      <p:cxnSp>
        <p:nvCxnSpPr>
          <p:cNvPr id="5" name="直線コネクタ 4">
            <a:extLst>
              <a:ext uri="{FF2B5EF4-FFF2-40B4-BE49-F238E27FC236}">
                <a16:creationId xmlns:a16="http://schemas.microsoft.com/office/drawing/2014/main" id="{3E0D5C06-DC3C-62D9-D5CF-31C049D5ABAE}"/>
              </a:ext>
            </a:extLst>
          </p:cNvPr>
          <p:cNvCxnSpPr/>
          <p:nvPr/>
        </p:nvCxnSpPr>
        <p:spPr>
          <a:xfrm>
            <a:off x="7344629" y="4124790"/>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 name="直線矢印コネクタ 2">
            <a:extLst>
              <a:ext uri="{FF2B5EF4-FFF2-40B4-BE49-F238E27FC236}">
                <a16:creationId xmlns:a16="http://schemas.microsoft.com/office/drawing/2014/main" id="{851A57E8-5224-54B5-2B44-BBC14AB7CB29}"/>
              </a:ext>
            </a:extLst>
          </p:cNvPr>
          <p:cNvCxnSpPr/>
          <p:nvPr/>
        </p:nvCxnSpPr>
        <p:spPr>
          <a:xfrm>
            <a:off x="7344629" y="4482990"/>
            <a:ext cx="360000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 name="直線コネクタ 7">
            <a:extLst>
              <a:ext uri="{FF2B5EF4-FFF2-40B4-BE49-F238E27FC236}">
                <a16:creationId xmlns:a16="http://schemas.microsoft.com/office/drawing/2014/main" id="{02E12DEC-B773-E048-5260-B6258B908296}"/>
              </a:ext>
            </a:extLst>
          </p:cNvPr>
          <p:cNvCxnSpPr/>
          <p:nvPr/>
        </p:nvCxnSpPr>
        <p:spPr>
          <a:xfrm>
            <a:off x="7344629" y="3764790"/>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4" name="直線矢印コネクタ 3">
            <a:extLst>
              <a:ext uri="{FF2B5EF4-FFF2-40B4-BE49-F238E27FC236}">
                <a16:creationId xmlns:a16="http://schemas.microsoft.com/office/drawing/2014/main" id="{5D9EB38C-59D3-A33A-3D3F-20C238F83D7A}"/>
              </a:ext>
            </a:extLst>
          </p:cNvPr>
          <p:cNvCxnSpPr>
            <a:cxnSpLocks/>
          </p:cNvCxnSpPr>
          <p:nvPr/>
        </p:nvCxnSpPr>
        <p:spPr>
          <a:xfrm rot="10800000">
            <a:off x="9146141" y="2682990"/>
            <a:ext cx="0" cy="360000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 name="直線矢印コネクタ 5">
            <a:extLst>
              <a:ext uri="{FF2B5EF4-FFF2-40B4-BE49-F238E27FC236}">
                <a16:creationId xmlns:a16="http://schemas.microsoft.com/office/drawing/2014/main" id="{8C2AE1D2-7C6C-76F6-C918-D6CC64838278}"/>
              </a:ext>
            </a:extLst>
          </p:cNvPr>
          <p:cNvCxnSpPr/>
          <p:nvPr/>
        </p:nvCxnSpPr>
        <p:spPr>
          <a:xfrm>
            <a:off x="7346141" y="3404790"/>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16" name="直線矢印コネクタ 15">
            <a:extLst>
              <a:ext uri="{FF2B5EF4-FFF2-40B4-BE49-F238E27FC236}">
                <a16:creationId xmlns:a16="http://schemas.microsoft.com/office/drawing/2014/main" id="{D6D662A7-18B2-EABB-39A6-E4AB815BBD7E}"/>
              </a:ext>
            </a:extLst>
          </p:cNvPr>
          <p:cNvCxnSpPr/>
          <p:nvPr/>
        </p:nvCxnSpPr>
        <p:spPr>
          <a:xfrm>
            <a:off x="7346141" y="3044790"/>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17" name="直線コネクタ 16">
            <a:extLst>
              <a:ext uri="{FF2B5EF4-FFF2-40B4-BE49-F238E27FC236}">
                <a16:creationId xmlns:a16="http://schemas.microsoft.com/office/drawing/2014/main" id="{6448A4ED-15A9-8AE7-EA69-AA5FF8875F13}"/>
              </a:ext>
            </a:extLst>
          </p:cNvPr>
          <p:cNvCxnSpPr/>
          <p:nvPr/>
        </p:nvCxnSpPr>
        <p:spPr>
          <a:xfrm>
            <a:off x="7344629" y="5882153"/>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9DD348A0-E13F-B2FB-B440-89BD394485BD}"/>
              </a:ext>
            </a:extLst>
          </p:cNvPr>
          <p:cNvCxnSpPr/>
          <p:nvPr/>
        </p:nvCxnSpPr>
        <p:spPr>
          <a:xfrm>
            <a:off x="7344629" y="5522153"/>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9" name="直線矢印コネクタ 18">
            <a:extLst>
              <a:ext uri="{FF2B5EF4-FFF2-40B4-BE49-F238E27FC236}">
                <a16:creationId xmlns:a16="http://schemas.microsoft.com/office/drawing/2014/main" id="{92FC99E6-47F4-BC11-F1B1-2FA85B8172DA}"/>
              </a:ext>
            </a:extLst>
          </p:cNvPr>
          <p:cNvCxnSpPr/>
          <p:nvPr/>
        </p:nvCxnSpPr>
        <p:spPr>
          <a:xfrm>
            <a:off x="7346141" y="5162153"/>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20" name="直線矢印コネクタ 19">
            <a:extLst>
              <a:ext uri="{FF2B5EF4-FFF2-40B4-BE49-F238E27FC236}">
                <a16:creationId xmlns:a16="http://schemas.microsoft.com/office/drawing/2014/main" id="{67C657F2-AE70-EBFE-9551-4AB6AB253B04}"/>
              </a:ext>
            </a:extLst>
          </p:cNvPr>
          <p:cNvCxnSpPr/>
          <p:nvPr/>
        </p:nvCxnSpPr>
        <p:spPr>
          <a:xfrm>
            <a:off x="7346141" y="4802153"/>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29" name="直線コネクタ 28">
            <a:extLst>
              <a:ext uri="{FF2B5EF4-FFF2-40B4-BE49-F238E27FC236}">
                <a16:creationId xmlns:a16="http://schemas.microsoft.com/office/drawing/2014/main" id="{CBC53BC8-8F4E-D4A2-2906-BAD89D50969D}"/>
              </a:ext>
            </a:extLst>
          </p:cNvPr>
          <p:cNvCxnSpPr/>
          <p:nvPr/>
        </p:nvCxnSpPr>
        <p:spPr>
          <a:xfrm>
            <a:off x="878614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D6DA2A52-AFAE-3F7C-C7BE-FA4F769CD6D4}"/>
              </a:ext>
            </a:extLst>
          </p:cNvPr>
          <p:cNvCxnSpPr/>
          <p:nvPr/>
        </p:nvCxnSpPr>
        <p:spPr>
          <a:xfrm>
            <a:off x="842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626E361F-9894-C22A-9B0F-48EBFD61D339}"/>
              </a:ext>
            </a:extLst>
          </p:cNvPr>
          <p:cNvCxnSpPr/>
          <p:nvPr/>
        </p:nvCxnSpPr>
        <p:spPr>
          <a:xfrm>
            <a:off x="806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4" name="直線コネクタ 33">
            <a:extLst>
              <a:ext uri="{FF2B5EF4-FFF2-40B4-BE49-F238E27FC236}">
                <a16:creationId xmlns:a16="http://schemas.microsoft.com/office/drawing/2014/main" id="{F654DE84-80E4-0FA4-46F9-B643E316CC79}"/>
              </a:ext>
            </a:extLst>
          </p:cNvPr>
          <p:cNvCxnSpPr/>
          <p:nvPr/>
        </p:nvCxnSpPr>
        <p:spPr>
          <a:xfrm>
            <a:off x="770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5" name="直線コネクタ 34">
            <a:extLst>
              <a:ext uri="{FF2B5EF4-FFF2-40B4-BE49-F238E27FC236}">
                <a16:creationId xmlns:a16="http://schemas.microsoft.com/office/drawing/2014/main" id="{7CAD6414-7CC5-6A00-8E81-686904A37CE6}"/>
              </a:ext>
            </a:extLst>
          </p:cNvPr>
          <p:cNvCxnSpPr/>
          <p:nvPr/>
        </p:nvCxnSpPr>
        <p:spPr>
          <a:xfrm>
            <a:off x="10599701" y="2681188"/>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6" name="直線コネクタ 35">
            <a:extLst>
              <a:ext uri="{FF2B5EF4-FFF2-40B4-BE49-F238E27FC236}">
                <a16:creationId xmlns:a16="http://schemas.microsoft.com/office/drawing/2014/main" id="{D988F4AC-FC64-7F9F-E159-D51A7B249B9F}"/>
              </a:ext>
            </a:extLst>
          </p:cNvPr>
          <p:cNvCxnSpPr/>
          <p:nvPr/>
        </p:nvCxnSpPr>
        <p:spPr>
          <a:xfrm>
            <a:off x="1023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7" name="直線コネクタ 36">
            <a:extLst>
              <a:ext uri="{FF2B5EF4-FFF2-40B4-BE49-F238E27FC236}">
                <a16:creationId xmlns:a16="http://schemas.microsoft.com/office/drawing/2014/main" id="{4C5919DB-2DCA-BA98-6319-D0F4BAF521E3}"/>
              </a:ext>
            </a:extLst>
          </p:cNvPr>
          <p:cNvCxnSpPr/>
          <p:nvPr/>
        </p:nvCxnSpPr>
        <p:spPr>
          <a:xfrm>
            <a:off x="987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8" name="直線コネクタ 37">
            <a:extLst>
              <a:ext uri="{FF2B5EF4-FFF2-40B4-BE49-F238E27FC236}">
                <a16:creationId xmlns:a16="http://schemas.microsoft.com/office/drawing/2014/main" id="{0A2B3464-1577-6175-8EDD-1CE41E426309}"/>
              </a:ext>
            </a:extLst>
          </p:cNvPr>
          <p:cNvCxnSpPr/>
          <p:nvPr/>
        </p:nvCxnSpPr>
        <p:spPr>
          <a:xfrm>
            <a:off x="951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sp>
        <p:nvSpPr>
          <p:cNvPr id="39" name="テキスト ボックス 38">
            <a:extLst>
              <a:ext uri="{FF2B5EF4-FFF2-40B4-BE49-F238E27FC236}">
                <a16:creationId xmlns:a16="http://schemas.microsoft.com/office/drawing/2014/main" id="{7AF9080D-13F8-8318-480B-6611018E5813}"/>
              </a:ext>
            </a:extLst>
          </p:cNvPr>
          <p:cNvSpPr txBox="1"/>
          <p:nvPr/>
        </p:nvSpPr>
        <p:spPr>
          <a:xfrm>
            <a:off x="10878514" y="4157185"/>
            <a:ext cx="267345" cy="584775"/>
          </a:xfrm>
          <a:prstGeom prst="rect">
            <a:avLst/>
          </a:prstGeom>
          <a:noFill/>
        </p:spPr>
        <p:txBody>
          <a:bodyPr wrap="square" rtlCol="0" anchor="t">
            <a:spAutoFit/>
          </a:bodyPr>
          <a:lstStyle/>
          <a:p>
            <a:r>
              <a:rPr kumimoji="1" lang="en-US" altLang="ja-JP" sz="3200" b="1" dirty="0">
                <a:latin typeface="Gigi" panose="04040504060007020D02" pitchFamily="82" charset="0"/>
              </a:rPr>
              <a:t>x</a:t>
            </a:r>
            <a:endParaRPr kumimoji="1" lang="ja-JP" altLang="en-US" sz="3200" b="1" dirty="0">
              <a:latin typeface="Gigi" panose="04040504060007020D02" pitchFamily="82" charset="0"/>
            </a:endParaRPr>
          </a:p>
        </p:txBody>
      </p:sp>
      <p:sp>
        <p:nvSpPr>
          <p:cNvPr id="40" name="テキスト ボックス 39">
            <a:extLst>
              <a:ext uri="{FF2B5EF4-FFF2-40B4-BE49-F238E27FC236}">
                <a16:creationId xmlns:a16="http://schemas.microsoft.com/office/drawing/2014/main" id="{A0FC0256-5C75-6696-C26F-0FC719EFFE61}"/>
              </a:ext>
            </a:extLst>
          </p:cNvPr>
          <p:cNvSpPr txBox="1"/>
          <p:nvPr/>
        </p:nvSpPr>
        <p:spPr>
          <a:xfrm>
            <a:off x="8930273" y="2116703"/>
            <a:ext cx="267345" cy="584775"/>
          </a:xfrm>
          <a:prstGeom prst="rect">
            <a:avLst/>
          </a:prstGeom>
          <a:noFill/>
        </p:spPr>
        <p:txBody>
          <a:bodyPr wrap="square" rtlCol="0">
            <a:spAutoFit/>
          </a:bodyPr>
          <a:lstStyle/>
          <a:p>
            <a:r>
              <a:rPr lang="en-US" altLang="ja-JP" sz="3200" b="1" dirty="0">
                <a:latin typeface="Gigi" panose="04040504060007020D02" pitchFamily="82" charset="0"/>
              </a:rPr>
              <a:t>y</a:t>
            </a:r>
            <a:endParaRPr kumimoji="1" lang="ja-JP" altLang="en-US" sz="3200" b="1" dirty="0">
              <a:latin typeface="Gigi" panose="04040504060007020D02" pitchFamily="82" charset="0"/>
            </a:endParaRPr>
          </a:p>
        </p:txBody>
      </p:sp>
      <p:sp>
        <p:nvSpPr>
          <p:cNvPr id="41" name="テキスト ボックス 40">
            <a:extLst>
              <a:ext uri="{FF2B5EF4-FFF2-40B4-BE49-F238E27FC236}">
                <a16:creationId xmlns:a16="http://schemas.microsoft.com/office/drawing/2014/main" id="{766551F5-AA10-D527-A88B-7427AD034F74}"/>
              </a:ext>
            </a:extLst>
          </p:cNvPr>
          <p:cNvSpPr txBox="1"/>
          <p:nvPr/>
        </p:nvSpPr>
        <p:spPr>
          <a:xfrm>
            <a:off x="9109438" y="2161962"/>
            <a:ext cx="1020485" cy="523220"/>
          </a:xfrm>
          <a:prstGeom prst="rect">
            <a:avLst/>
          </a:prstGeom>
          <a:noFill/>
        </p:spPr>
        <p:txBody>
          <a:bodyPr wrap="square" rtlCol="0">
            <a:spAutoFit/>
          </a:bodyPr>
          <a:lstStyle/>
          <a:p>
            <a:pPr algn="ctr"/>
            <a:r>
              <a:rPr kumimoji="1" lang="en-US" altLang="ja-JP" sz="2800" dirty="0"/>
              <a:t>90°</a:t>
            </a:r>
            <a:endParaRPr kumimoji="1" lang="ja-JP" altLang="en-US" sz="2800" dirty="0"/>
          </a:p>
        </p:txBody>
      </p:sp>
      <p:sp>
        <p:nvSpPr>
          <p:cNvPr id="42" name="テキスト ボックス 41">
            <a:extLst>
              <a:ext uri="{FF2B5EF4-FFF2-40B4-BE49-F238E27FC236}">
                <a16:creationId xmlns:a16="http://schemas.microsoft.com/office/drawing/2014/main" id="{979C6C30-66B8-0DAE-B048-7260E7E2DF48}"/>
              </a:ext>
            </a:extLst>
          </p:cNvPr>
          <p:cNvSpPr txBox="1"/>
          <p:nvPr/>
        </p:nvSpPr>
        <p:spPr>
          <a:xfrm>
            <a:off x="11144105" y="4233942"/>
            <a:ext cx="1020485" cy="830997"/>
          </a:xfrm>
          <a:prstGeom prst="rect">
            <a:avLst/>
          </a:prstGeom>
          <a:noFill/>
        </p:spPr>
        <p:txBody>
          <a:bodyPr wrap="square" rtlCol="0">
            <a:spAutoFit/>
          </a:bodyPr>
          <a:lstStyle/>
          <a:p>
            <a:r>
              <a:rPr kumimoji="1" lang="en-US" altLang="ja-JP" sz="2800" dirty="0"/>
              <a:t> 0°</a:t>
            </a:r>
          </a:p>
          <a:p>
            <a:r>
              <a:rPr lang="en-US" altLang="ja-JP" sz="2000" dirty="0"/>
              <a:t>(360°)</a:t>
            </a:r>
            <a:endParaRPr kumimoji="1" lang="ja-JP" altLang="en-US" sz="2000" dirty="0"/>
          </a:p>
        </p:txBody>
      </p:sp>
      <p:sp>
        <p:nvSpPr>
          <p:cNvPr id="43" name="テキスト ボックス 42">
            <a:extLst>
              <a:ext uri="{FF2B5EF4-FFF2-40B4-BE49-F238E27FC236}">
                <a16:creationId xmlns:a16="http://schemas.microsoft.com/office/drawing/2014/main" id="{49E1D723-989E-8AA0-B4A7-E34D0A2DD19A}"/>
              </a:ext>
            </a:extLst>
          </p:cNvPr>
          <p:cNvSpPr txBox="1"/>
          <p:nvPr/>
        </p:nvSpPr>
        <p:spPr>
          <a:xfrm>
            <a:off x="8714717" y="6340542"/>
            <a:ext cx="1020485" cy="523220"/>
          </a:xfrm>
          <a:prstGeom prst="rect">
            <a:avLst/>
          </a:prstGeom>
          <a:noFill/>
        </p:spPr>
        <p:txBody>
          <a:bodyPr wrap="square" rtlCol="0">
            <a:spAutoFit/>
          </a:bodyPr>
          <a:lstStyle/>
          <a:p>
            <a:pPr algn="ctr"/>
            <a:r>
              <a:rPr lang="en-US" altLang="ja-JP" sz="2800" dirty="0"/>
              <a:t>270</a:t>
            </a:r>
            <a:r>
              <a:rPr kumimoji="1" lang="en-US" altLang="ja-JP" sz="2800" dirty="0"/>
              <a:t>°</a:t>
            </a:r>
            <a:endParaRPr kumimoji="1" lang="ja-JP" altLang="en-US" sz="2800" dirty="0"/>
          </a:p>
        </p:txBody>
      </p:sp>
      <p:sp>
        <p:nvSpPr>
          <p:cNvPr id="44" name="テキスト ボックス 43">
            <a:extLst>
              <a:ext uri="{FF2B5EF4-FFF2-40B4-BE49-F238E27FC236}">
                <a16:creationId xmlns:a16="http://schemas.microsoft.com/office/drawing/2014/main" id="{68A1CBA3-9584-612D-3685-C0EF9817A28D}"/>
              </a:ext>
            </a:extLst>
          </p:cNvPr>
          <p:cNvSpPr txBox="1"/>
          <p:nvPr/>
        </p:nvSpPr>
        <p:spPr>
          <a:xfrm>
            <a:off x="6387152" y="4232640"/>
            <a:ext cx="1020485" cy="523220"/>
          </a:xfrm>
          <a:prstGeom prst="rect">
            <a:avLst/>
          </a:prstGeom>
          <a:noFill/>
        </p:spPr>
        <p:txBody>
          <a:bodyPr wrap="square" rtlCol="0">
            <a:spAutoFit/>
          </a:bodyPr>
          <a:lstStyle/>
          <a:p>
            <a:pPr algn="ctr"/>
            <a:r>
              <a:rPr lang="en-US" altLang="ja-JP" sz="2800" dirty="0"/>
              <a:t>18</a:t>
            </a:r>
            <a:r>
              <a:rPr kumimoji="1" lang="en-US" altLang="ja-JP" sz="2800" dirty="0"/>
              <a:t>0°</a:t>
            </a:r>
            <a:endParaRPr kumimoji="1" lang="ja-JP" altLang="en-US" sz="2800" dirty="0"/>
          </a:p>
        </p:txBody>
      </p:sp>
      <p:sp>
        <p:nvSpPr>
          <p:cNvPr id="24" name="矢印: 右 23">
            <a:extLst>
              <a:ext uri="{FF2B5EF4-FFF2-40B4-BE49-F238E27FC236}">
                <a16:creationId xmlns:a16="http://schemas.microsoft.com/office/drawing/2014/main" id="{4827B811-F8A2-0234-CA8A-E85A33403333}"/>
              </a:ext>
            </a:extLst>
          </p:cNvPr>
          <p:cNvSpPr/>
          <p:nvPr/>
        </p:nvSpPr>
        <p:spPr>
          <a:xfrm rot="16200000">
            <a:off x="8967736" y="3751666"/>
            <a:ext cx="356398" cy="378745"/>
          </a:xfrm>
          <a:prstGeom prst="rightArrow">
            <a:avLst>
              <a:gd name="adj1" fmla="val 38683"/>
              <a:gd name="adj2" fmla="val 54009"/>
            </a:avLst>
          </a:prstGeom>
          <a:solidFill>
            <a:schemeClr val="tx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テキスト ボックス 46">
            <a:extLst>
              <a:ext uri="{FF2B5EF4-FFF2-40B4-BE49-F238E27FC236}">
                <a16:creationId xmlns:a16="http://schemas.microsoft.com/office/drawing/2014/main" id="{64707783-0A24-A155-5892-77E7ECE695ED}"/>
              </a:ext>
            </a:extLst>
          </p:cNvPr>
          <p:cNvSpPr txBox="1"/>
          <p:nvPr/>
        </p:nvSpPr>
        <p:spPr>
          <a:xfrm>
            <a:off x="0" y="3432223"/>
            <a:ext cx="6095813" cy="523220"/>
          </a:xfrm>
          <a:prstGeom prst="rect">
            <a:avLst/>
          </a:prstGeom>
          <a:noFill/>
        </p:spPr>
        <p:txBody>
          <a:bodyPr wrap="square" rtlCol="0">
            <a:spAutoFit/>
          </a:bodyPr>
          <a:lstStyle/>
          <a:p>
            <a:pPr algn="ctr"/>
            <a:r>
              <a:rPr lang="ja-JP" altLang="en-US" sz="2800" dirty="0"/>
              <a:t>     </a:t>
            </a:r>
            <a:r>
              <a:rPr lang="en-US" altLang="ja-JP" sz="2800" dirty="0"/>
              <a:t>°</a:t>
            </a:r>
            <a:r>
              <a:rPr lang="ja-JP" altLang="en-US" sz="2800" dirty="0"/>
              <a:t>を向いて一歩進む</a:t>
            </a:r>
            <a:endParaRPr lang="en-US" altLang="ja-JP" sz="2800" dirty="0"/>
          </a:p>
        </p:txBody>
      </p:sp>
      <p:sp>
        <p:nvSpPr>
          <p:cNvPr id="48" name="テキスト ボックス 47">
            <a:extLst>
              <a:ext uri="{FF2B5EF4-FFF2-40B4-BE49-F238E27FC236}">
                <a16:creationId xmlns:a16="http://schemas.microsoft.com/office/drawing/2014/main" id="{8B7C5E0B-BF05-D667-4612-A9811423E0CF}"/>
              </a:ext>
            </a:extLst>
          </p:cNvPr>
          <p:cNvSpPr txBox="1"/>
          <p:nvPr/>
        </p:nvSpPr>
        <p:spPr>
          <a:xfrm>
            <a:off x="3174655" y="3801879"/>
            <a:ext cx="252600" cy="954107"/>
          </a:xfrm>
          <a:prstGeom prst="rect">
            <a:avLst/>
          </a:prstGeom>
          <a:noFill/>
        </p:spPr>
        <p:txBody>
          <a:bodyPr wrap="square">
            <a:spAutoFit/>
          </a:bodyPr>
          <a:lstStyle/>
          <a:p>
            <a:pPr algn="ctr"/>
            <a:r>
              <a:rPr kumimoji="1" lang="ja-JP" altLang="en-US" sz="2800" dirty="0"/>
              <a:t>＝</a:t>
            </a:r>
            <a:endParaRPr kumimoji="1" lang="en-US" altLang="ja-JP" sz="2800" dirty="0"/>
          </a:p>
          <a:p>
            <a:pPr algn="ctr"/>
            <a:r>
              <a:rPr lang="ja-JP" altLang="en-US" sz="2800" dirty="0"/>
              <a:t>、</a:t>
            </a:r>
            <a:endParaRPr lang="en-US" altLang="ja-JP" sz="2800" dirty="0"/>
          </a:p>
        </p:txBody>
      </p:sp>
      <p:sp>
        <p:nvSpPr>
          <p:cNvPr id="49" name="テキスト ボックス 48">
            <a:extLst>
              <a:ext uri="{FF2B5EF4-FFF2-40B4-BE49-F238E27FC236}">
                <a16:creationId xmlns:a16="http://schemas.microsoft.com/office/drawing/2014/main" id="{AD0D267A-DFB2-3EAB-DCFF-9506EAA01381}"/>
              </a:ext>
            </a:extLst>
          </p:cNvPr>
          <p:cNvSpPr txBox="1"/>
          <p:nvPr/>
        </p:nvSpPr>
        <p:spPr>
          <a:xfrm>
            <a:off x="1254314" y="3444240"/>
            <a:ext cx="563279" cy="523220"/>
          </a:xfrm>
          <a:prstGeom prst="rect">
            <a:avLst/>
          </a:prstGeom>
          <a:noFill/>
        </p:spPr>
        <p:txBody>
          <a:bodyPr wrap="square">
            <a:spAutoFit/>
          </a:bodyPr>
          <a:lstStyle/>
          <a:p>
            <a:pPr algn="r"/>
            <a:r>
              <a:rPr lang="en-US" altLang="ja-JP" sz="2800" dirty="0"/>
              <a:t>90</a:t>
            </a:r>
            <a:endParaRPr lang="ja-JP" altLang="en-US" sz="2800" dirty="0"/>
          </a:p>
        </p:txBody>
      </p:sp>
      <p:sp>
        <p:nvSpPr>
          <p:cNvPr id="50" name="テキスト ボックス 49">
            <a:extLst>
              <a:ext uri="{FF2B5EF4-FFF2-40B4-BE49-F238E27FC236}">
                <a16:creationId xmlns:a16="http://schemas.microsoft.com/office/drawing/2014/main" id="{0207AE09-9F1D-3F76-8C18-6BD359631DC9}"/>
              </a:ext>
            </a:extLst>
          </p:cNvPr>
          <p:cNvSpPr txBox="1"/>
          <p:nvPr/>
        </p:nvSpPr>
        <p:spPr>
          <a:xfrm>
            <a:off x="361901" y="4157185"/>
            <a:ext cx="1993574" cy="584775"/>
          </a:xfrm>
          <a:prstGeom prst="rect">
            <a:avLst/>
          </a:prstGeom>
          <a:noFill/>
        </p:spPr>
        <p:txBody>
          <a:bodyPr wrap="square">
            <a:spAutoFit/>
          </a:bodyPr>
          <a:lstStyle/>
          <a:p>
            <a:r>
              <a:rPr lang="en-US" altLang="ja-JP" sz="3200" dirty="0"/>
              <a:t>x</a:t>
            </a:r>
            <a:r>
              <a:rPr lang="ja-JP" altLang="en-US" sz="3200" dirty="0"/>
              <a:t>軸方向に </a:t>
            </a:r>
          </a:p>
        </p:txBody>
      </p:sp>
      <p:sp>
        <p:nvSpPr>
          <p:cNvPr id="51" name="テキスト ボックス 50">
            <a:extLst>
              <a:ext uri="{FF2B5EF4-FFF2-40B4-BE49-F238E27FC236}">
                <a16:creationId xmlns:a16="http://schemas.microsoft.com/office/drawing/2014/main" id="{47FEF801-5086-567D-3FB4-3129C77C22DC}"/>
              </a:ext>
            </a:extLst>
          </p:cNvPr>
          <p:cNvSpPr txBox="1"/>
          <p:nvPr/>
        </p:nvSpPr>
        <p:spPr>
          <a:xfrm>
            <a:off x="3302366" y="4194610"/>
            <a:ext cx="1791099" cy="523220"/>
          </a:xfrm>
          <a:prstGeom prst="rect">
            <a:avLst/>
          </a:prstGeom>
          <a:noFill/>
        </p:spPr>
        <p:txBody>
          <a:bodyPr wrap="square">
            <a:spAutoFit/>
          </a:bodyPr>
          <a:lstStyle/>
          <a:p>
            <a:r>
              <a:rPr lang="en-US" altLang="ja-JP" sz="2800" dirty="0"/>
              <a:t>y</a:t>
            </a:r>
            <a:r>
              <a:rPr lang="ja-JP" altLang="en-US" sz="2800" dirty="0"/>
              <a:t>軸方向に </a:t>
            </a:r>
          </a:p>
        </p:txBody>
      </p:sp>
      <p:sp>
        <p:nvSpPr>
          <p:cNvPr id="52" name="テキスト ボックス 51">
            <a:extLst>
              <a:ext uri="{FF2B5EF4-FFF2-40B4-BE49-F238E27FC236}">
                <a16:creationId xmlns:a16="http://schemas.microsoft.com/office/drawing/2014/main" id="{84E3AC1A-5D96-2EBB-4261-A34CD1A984E8}"/>
              </a:ext>
            </a:extLst>
          </p:cNvPr>
          <p:cNvSpPr txBox="1"/>
          <p:nvPr/>
        </p:nvSpPr>
        <p:spPr>
          <a:xfrm>
            <a:off x="4962309" y="4146875"/>
            <a:ext cx="787182" cy="523220"/>
          </a:xfrm>
          <a:prstGeom prst="rect">
            <a:avLst/>
          </a:prstGeom>
          <a:noFill/>
        </p:spPr>
        <p:txBody>
          <a:bodyPr wrap="square">
            <a:spAutoFit/>
          </a:bodyPr>
          <a:lstStyle/>
          <a:p>
            <a:r>
              <a:rPr lang="en-US" altLang="ja-JP" sz="2800" dirty="0"/>
              <a:t>+1</a:t>
            </a:r>
          </a:p>
        </p:txBody>
      </p:sp>
      <p:sp>
        <p:nvSpPr>
          <p:cNvPr id="53" name="テキスト ボックス 52">
            <a:extLst>
              <a:ext uri="{FF2B5EF4-FFF2-40B4-BE49-F238E27FC236}">
                <a16:creationId xmlns:a16="http://schemas.microsoft.com/office/drawing/2014/main" id="{8D29222D-2BB5-3132-5705-27F74512AFB5}"/>
              </a:ext>
            </a:extLst>
          </p:cNvPr>
          <p:cNvSpPr txBox="1"/>
          <p:nvPr/>
        </p:nvSpPr>
        <p:spPr>
          <a:xfrm>
            <a:off x="2220227" y="4180420"/>
            <a:ext cx="675616" cy="523220"/>
          </a:xfrm>
          <a:prstGeom prst="rect">
            <a:avLst/>
          </a:prstGeom>
          <a:noFill/>
        </p:spPr>
        <p:txBody>
          <a:bodyPr wrap="square">
            <a:spAutoFit/>
          </a:bodyPr>
          <a:lstStyle/>
          <a:p>
            <a:r>
              <a:rPr lang="en-US" altLang="ja-JP" sz="2800" dirty="0"/>
              <a:t>±0</a:t>
            </a:r>
          </a:p>
        </p:txBody>
      </p:sp>
      <p:sp>
        <p:nvSpPr>
          <p:cNvPr id="55" name="テキスト ボックス 54">
            <a:extLst>
              <a:ext uri="{FF2B5EF4-FFF2-40B4-BE49-F238E27FC236}">
                <a16:creationId xmlns:a16="http://schemas.microsoft.com/office/drawing/2014/main" id="{DAACB0F5-AF60-42FE-7399-1550F6EAC95C}"/>
              </a:ext>
            </a:extLst>
          </p:cNvPr>
          <p:cNvSpPr txBox="1"/>
          <p:nvPr/>
        </p:nvSpPr>
        <p:spPr>
          <a:xfrm>
            <a:off x="5215155" y="6143763"/>
            <a:ext cx="281490" cy="523220"/>
          </a:xfrm>
          <a:prstGeom prst="rect">
            <a:avLst/>
          </a:prstGeom>
          <a:noFill/>
        </p:spPr>
        <p:txBody>
          <a:bodyPr wrap="square" rtlCol="0">
            <a:spAutoFit/>
          </a:bodyPr>
          <a:lstStyle/>
          <a:p>
            <a:r>
              <a:rPr lang="en-US" altLang="ja-JP" sz="2800" dirty="0"/>
              <a:t>(</a:t>
            </a:r>
            <a:endParaRPr kumimoji="1" lang="ja-JP" altLang="en-US" sz="2800" dirty="0"/>
          </a:p>
        </p:txBody>
      </p:sp>
      <p:sp>
        <p:nvSpPr>
          <p:cNvPr id="56" name="テキスト ボックス 55">
            <a:extLst>
              <a:ext uri="{FF2B5EF4-FFF2-40B4-BE49-F238E27FC236}">
                <a16:creationId xmlns:a16="http://schemas.microsoft.com/office/drawing/2014/main" id="{9C6E5CE8-653A-C704-9F72-442F66437CF8}"/>
              </a:ext>
            </a:extLst>
          </p:cNvPr>
          <p:cNvSpPr txBox="1"/>
          <p:nvPr/>
        </p:nvSpPr>
        <p:spPr>
          <a:xfrm>
            <a:off x="6691092" y="6143763"/>
            <a:ext cx="281490" cy="523220"/>
          </a:xfrm>
          <a:prstGeom prst="rect">
            <a:avLst/>
          </a:prstGeom>
          <a:noFill/>
        </p:spPr>
        <p:txBody>
          <a:bodyPr wrap="square" rtlCol="0">
            <a:spAutoFit/>
          </a:bodyPr>
          <a:lstStyle/>
          <a:p>
            <a:r>
              <a:rPr kumimoji="1" lang="en-US" altLang="ja-JP" sz="2800" dirty="0"/>
              <a:t>)</a:t>
            </a:r>
            <a:endParaRPr kumimoji="1" lang="ja-JP" altLang="en-US" sz="2800" dirty="0"/>
          </a:p>
        </p:txBody>
      </p:sp>
      <p:sp>
        <p:nvSpPr>
          <p:cNvPr id="57" name="テキスト ボックス 56">
            <a:extLst>
              <a:ext uri="{FF2B5EF4-FFF2-40B4-BE49-F238E27FC236}">
                <a16:creationId xmlns:a16="http://schemas.microsoft.com/office/drawing/2014/main" id="{EBA66E4D-83BF-B4D2-BE84-B61A994AD029}"/>
              </a:ext>
            </a:extLst>
          </p:cNvPr>
          <p:cNvSpPr txBox="1"/>
          <p:nvPr/>
        </p:nvSpPr>
        <p:spPr>
          <a:xfrm>
            <a:off x="5962379" y="6143763"/>
            <a:ext cx="281490" cy="523220"/>
          </a:xfrm>
          <a:prstGeom prst="rect">
            <a:avLst/>
          </a:prstGeom>
          <a:noFill/>
        </p:spPr>
        <p:txBody>
          <a:bodyPr wrap="square" rtlCol="0">
            <a:spAutoFit/>
          </a:bodyPr>
          <a:lstStyle/>
          <a:p>
            <a:r>
              <a:rPr lang="en-US" altLang="ja-JP" sz="2800" dirty="0"/>
              <a:t>,</a:t>
            </a:r>
          </a:p>
        </p:txBody>
      </p:sp>
      <p:sp>
        <p:nvSpPr>
          <p:cNvPr id="58" name="テキスト ボックス 57">
            <a:extLst>
              <a:ext uri="{FF2B5EF4-FFF2-40B4-BE49-F238E27FC236}">
                <a16:creationId xmlns:a16="http://schemas.microsoft.com/office/drawing/2014/main" id="{0E684C41-E9D5-0281-7096-4E5842569EBB}"/>
              </a:ext>
            </a:extLst>
          </p:cNvPr>
          <p:cNvSpPr txBox="1"/>
          <p:nvPr/>
        </p:nvSpPr>
        <p:spPr>
          <a:xfrm>
            <a:off x="5496645" y="6143763"/>
            <a:ext cx="851647" cy="523220"/>
          </a:xfrm>
          <a:prstGeom prst="rect">
            <a:avLst/>
          </a:prstGeom>
          <a:noFill/>
        </p:spPr>
        <p:txBody>
          <a:bodyPr wrap="square" rtlCol="0">
            <a:spAutoFit/>
          </a:bodyPr>
          <a:lstStyle/>
          <a:p>
            <a:r>
              <a:rPr kumimoji="1" lang="en-US" altLang="ja-JP" sz="2800" dirty="0"/>
              <a:t>0</a:t>
            </a:r>
            <a:endParaRPr kumimoji="1" lang="ja-JP" altLang="en-US" sz="2800" dirty="0"/>
          </a:p>
        </p:txBody>
      </p:sp>
      <p:sp>
        <p:nvSpPr>
          <p:cNvPr id="59" name="テキスト ボックス 58">
            <a:extLst>
              <a:ext uri="{FF2B5EF4-FFF2-40B4-BE49-F238E27FC236}">
                <a16:creationId xmlns:a16="http://schemas.microsoft.com/office/drawing/2014/main" id="{BE6EAE5E-8702-2202-CC22-F3B404570275}"/>
              </a:ext>
            </a:extLst>
          </p:cNvPr>
          <p:cNvSpPr txBox="1"/>
          <p:nvPr/>
        </p:nvSpPr>
        <p:spPr>
          <a:xfrm>
            <a:off x="6289301" y="6143763"/>
            <a:ext cx="851647" cy="523220"/>
          </a:xfrm>
          <a:prstGeom prst="rect">
            <a:avLst/>
          </a:prstGeom>
          <a:noFill/>
        </p:spPr>
        <p:txBody>
          <a:bodyPr wrap="square" rtlCol="0">
            <a:spAutoFit/>
          </a:bodyPr>
          <a:lstStyle/>
          <a:p>
            <a:r>
              <a:rPr lang="en-US" altLang="ja-JP" sz="2800" dirty="0"/>
              <a:t>1</a:t>
            </a:r>
            <a:endParaRPr kumimoji="1" lang="ja-JP" altLang="en-US" sz="2800" dirty="0"/>
          </a:p>
        </p:txBody>
      </p:sp>
      <p:sp>
        <p:nvSpPr>
          <p:cNvPr id="67" name="テキスト ボックス 66">
            <a:extLst>
              <a:ext uri="{FF2B5EF4-FFF2-40B4-BE49-F238E27FC236}">
                <a16:creationId xmlns:a16="http://schemas.microsoft.com/office/drawing/2014/main" id="{F7FB467D-000B-3F81-7F24-03EC5665AC48}"/>
              </a:ext>
            </a:extLst>
          </p:cNvPr>
          <p:cNvSpPr txBox="1"/>
          <p:nvPr/>
        </p:nvSpPr>
        <p:spPr>
          <a:xfrm>
            <a:off x="6289301" y="5991363"/>
            <a:ext cx="851647" cy="523220"/>
          </a:xfrm>
          <a:prstGeom prst="rect">
            <a:avLst/>
          </a:prstGeom>
          <a:noFill/>
        </p:spPr>
        <p:txBody>
          <a:bodyPr wrap="square" rtlCol="0">
            <a:spAutoFit/>
          </a:bodyPr>
          <a:lstStyle/>
          <a:p>
            <a:r>
              <a:rPr kumimoji="1" lang="en-US" altLang="ja-JP" sz="2800" dirty="0">
                <a:noFill/>
              </a:rPr>
              <a:t>0</a:t>
            </a:r>
            <a:endParaRPr kumimoji="1" lang="ja-JP" altLang="en-US" sz="2800" dirty="0">
              <a:noFill/>
            </a:endParaRPr>
          </a:p>
        </p:txBody>
      </p:sp>
      <p:sp>
        <p:nvSpPr>
          <p:cNvPr id="68" name="テキスト ボックス 67">
            <a:extLst>
              <a:ext uri="{FF2B5EF4-FFF2-40B4-BE49-F238E27FC236}">
                <a16:creationId xmlns:a16="http://schemas.microsoft.com/office/drawing/2014/main" id="{55E95CCC-4F20-C196-0C93-F89D87BB0439}"/>
              </a:ext>
            </a:extLst>
          </p:cNvPr>
          <p:cNvSpPr txBox="1"/>
          <p:nvPr/>
        </p:nvSpPr>
        <p:spPr>
          <a:xfrm>
            <a:off x="5496645" y="5991363"/>
            <a:ext cx="851647" cy="523220"/>
          </a:xfrm>
          <a:prstGeom prst="rect">
            <a:avLst/>
          </a:prstGeom>
          <a:noFill/>
        </p:spPr>
        <p:txBody>
          <a:bodyPr wrap="square" rtlCol="0">
            <a:spAutoFit/>
          </a:bodyPr>
          <a:lstStyle/>
          <a:p>
            <a:r>
              <a:rPr kumimoji="1" lang="en-US" altLang="ja-JP" sz="2800" dirty="0">
                <a:noFill/>
              </a:rPr>
              <a:t>0</a:t>
            </a:r>
            <a:endParaRPr kumimoji="1" lang="ja-JP" altLang="en-US" sz="2800" dirty="0">
              <a:noFill/>
            </a:endParaRPr>
          </a:p>
        </p:txBody>
      </p:sp>
      <p:sp>
        <p:nvSpPr>
          <p:cNvPr id="69" name="テキスト ボックス 68">
            <a:extLst>
              <a:ext uri="{FF2B5EF4-FFF2-40B4-BE49-F238E27FC236}">
                <a16:creationId xmlns:a16="http://schemas.microsoft.com/office/drawing/2014/main" id="{7F7FF980-F777-7599-946D-39D9EA0B084E}"/>
              </a:ext>
            </a:extLst>
          </p:cNvPr>
          <p:cNvSpPr txBox="1"/>
          <p:nvPr/>
        </p:nvSpPr>
        <p:spPr>
          <a:xfrm>
            <a:off x="1254314" y="3507740"/>
            <a:ext cx="563279" cy="523220"/>
          </a:xfrm>
          <a:prstGeom prst="rect">
            <a:avLst/>
          </a:prstGeom>
          <a:noFill/>
        </p:spPr>
        <p:txBody>
          <a:bodyPr wrap="square">
            <a:spAutoFit/>
          </a:bodyPr>
          <a:lstStyle/>
          <a:p>
            <a:pPr algn="r"/>
            <a:r>
              <a:rPr lang="en-US" altLang="ja-JP" sz="2800" dirty="0">
                <a:noFill/>
              </a:rPr>
              <a:t>0</a:t>
            </a:r>
            <a:endParaRPr lang="ja-JP" altLang="en-US" sz="2800" dirty="0">
              <a:noFill/>
            </a:endParaRPr>
          </a:p>
        </p:txBody>
      </p:sp>
    </p:spTree>
    <p:extLst>
      <p:ext uri="{BB962C8B-B14F-4D97-AF65-F5344CB8AC3E}">
        <p14:creationId xmlns:p14="http://schemas.microsoft.com/office/powerpoint/2010/main" val="71287222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D9270-3AFB-EED9-5CE9-A9597BEED792}"/>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950D1DE7-9959-FAD4-FF67-0154CBE4CCE4}"/>
              </a:ext>
            </a:extLst>
          </p:cNvPr>
          <p:cNvSpPr/>
          <p:nvPr/>
        </p:nvSpPr>
        <p:spPr>
          <a:xfrm>
            <a:off x="3046801"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612E507D-49EE-8591-BCBC-451F07677C31}"/>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F20DD83A-DCC3-78BC-6D4E-BC530C029B60}"/>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bg1"/>
                </a:solidFill>
              </a:rPr>
              <a:t>システム要件</a:t>
            </a:r>
          </a:p>
        </p:txBody>
      </p:sp>
      <p:sp>
        <p:nvSpPr>
          <p:cNvPr id="11" name="四角形: 角を丸くする 10">
            <a:extLst>
              <a:ext uri="{FF2B5EF4-FFF2-40B4-BE49-F238E27FC236}">
                <a16:creationId xmlns:a16="http://schemas.microsoft.com/office/drawing/2014/main" id="{4A0678B2-91C5-30A3-6CE3-A68389156E87}"/>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59455FF9-E390-9E00-76AE-15A51211F060}"/>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t>プログラム説明</a:t>
            </a:r>
            <a:endParaRPr kumimoji="1" lang="ja-JP" altLang="en-US" sz="2400" dirty="0"/>
          </a:p>
        </p:txBody>
      </p:sp>
      <p:sp>
        <p:nvSpPr>
          <p:cNvPr id="7" name="テキスト ボックス 6">
            <a:extLst>
              <a:ext uri="{FF2B5EF4-FFF2-40B4-BE49-F238E27FC236}">
                <a16:creationId xmlns:a16="http://schemas.microsoft.com/office/drawing/2014/main" id="{3269A4CB-57FD-B48C-C7DB-5974ADA2BB40}"/>
              </a:ext>
            </a:extLst>
          </p:cNvPr>
          <p:cNvSpPr txBox="1"/>
          <p:nvPr/>
        </p:nvSpPr>
        <p:spPr>
          <a:xfrm>
            <a:off x="771525" y="1171575"/>
            <a:ext cx="2275276" cy="584775"/>
          </a:xfrm>
          <a:prstGeom prst="rect">
            <a:avLst/>
          </a:prstGeom>
          <a:noFill/>
        </p:spPr>
        <p:txBody>
          <a:bodyPr wrap="square" rtlCol="0">
            <a:spAutoFit/>
          </a:bodyPr>
          <a:lstStyle/>
          <a:p>
            <a:r>
              <a:rPr lang="ja-JP" altLang="en-US" sz="3200" dirty="0"/>
              <a:t>移動制御</a:t>
            </a:r>
            <a:endParaRPr kumimoji="1" lang="ja-JP" altLang="en-US" sz="3200" dirty="0"/>
          </a:p>
        </p:txBody>
      </p:sp>
      <p:sp>
        <p:nvSpPr>
          <p:cNvPr id="10" name="テキスト ボックス 9">
            <a:extLst>
              <a:ext uri="{FF2B5EF4-FFF2-40B4-BE49-F238E27FC236}">
                <a16:creationId xmlns:a16="http://schemas.microsoft.com/office/drawing/2014/main" id="{5F03B93C-2641-5BEF-2381-E6C8A1A18696}"/>
              </a:ext>
            </a:extLst>
          </p:cNvPr>
          <p:cNvSpPr txBox="1"/>
          <p:nvPr/>
        </p:nvSpPr>
        <p:spPr>
          <a:xfrm>
            <a:off x="1238250" y="1755127"/>
            <a:ext cx="10953750" cy="461665"/>
          </a:xfrm>
          <a:prstGeom prst="rect">
            <a:avLst/>
          </a:prstGeom>
          <a:noFill/>
        </p:spPr>
        <p:txBody>
          <a:bodyPr wrap="square" rtlCol="0">
            <a:spAutoFit/>
          </a:bodyPr>
          <a:lstStyle/>
          <a:p>
            <a:r>
              <a:rPr lang="en-US" altLang="ja-JP" sz="2400" dirty="0"/>
              <a:t>“</a:t>
            </a:r>
            <a:r>
              <a:rPr lang="ja-JP" altLang="en-US" sz="2400" dirty="0"/>
              <a:t>向き</a:t>
            </a:r>
            <a:r>
              <a:rPr lang="en-US" altLang="ja-JP" sz="2400" dirty="0"/>
              <a:t>”</a:t>
            </a:r>
            <a:r>
              <a:rPr lang="ja-JP" altLang="en-US" sz="2400" dirty="0"/>
              <a:t>と</a:t>
            </a:r>
            <a:r>
              <a:rPr lang="en-US" altLang="ja-JP" sz="2400" dirty="0"/>
              <a:t>”</a:t>
            </a:r>
            <a:r>
              <a:rPr lang="ja-JP" altLang="en-US" sz="2400" dirty="0"/>
              <a:t>歩数</a:t>
            </a:r>
            <a:r>
              <a:rPr lang="en-US" altLang="ja-JP" sz="2400" dirty="0"/>
              <a:t>”</a:t>
            </a:r>
            <a:r>
              <a:rPr lang="ja-JP" altLang="en-US" sz="2400" dirty="0"/>
              <a:t>による自己位置推定と、目標座標への移動量計算</a:t>
            </a:r>
            <a:endParaRPr lang="en-US" altLang="ja-JP" sz="2400" dirty="0"/>
          </a:p>
        </p:txBody>
      </p:sp>
      <p:cxnSp>
        <p:nvCxnSpPr>
          <p:cNvPr id="5" name="直線コネクタ 4">
            <a:extLst>
              <a:ext uri="{FF2B5EF4-FFF2-40B4-BE49-F238E27FC236}">
                <a16:creationId xmlns:a16="http://schemas.microsoft.com/office/drawing/2014/main" id="{82DD9DAA-38DE-4993-3D75-CE176C4B092B}"/>
              </a:ext>
            </a:extLst>
          </p:cNvPr>
          <p:cNvCxnSpPr/>
          <p:nvPr/>
        </p:nvCxnSpPr>
        <p:spPr>
          <a:xfrm>
            <a:off x="7344629" y="4124790"/>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 name="直線矢印コネクタ 2">
            <a:extLst>
              <a:ext uri="{FF2B5EF4-FFF2-40B4-BE49-F238E27FC236}">
                <a16:creationId xmlns:a16="http://schemas.microsoft.com/office/drawing/2014/main" id="{D404CF56-8490-FAEC-1065-7F28AE612D16}"/>
              </a:ext>
            </a:extLst>
          </p:cNvPr>
          <p:cNvCxnSpPr/>
          <p:nvPr/>
        </p:nvCxnSpPr>
        <p:spPr>
          <a:xfrm>
            <a:off x="7344629" y="4482990"/>
            <a:ext cx="360000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 name="直線コネクタ 7">
            <a:extLst>
              <a:ext uri="{FF2B5EF4-FFF2-40B4-BE49-F238E27FC236}">
                <a16:creationId xmlns:a16="http://schemas.microsoft.com/office/drawing/2014/main" id="{CFA2D986-769B-4C60-60F2-6E7BA2387D9A}"/>
              </a:ext>
            </a:extLst>
          </p:cNvPr>
          <p:cNvCxnSpPr/>
          <p:nvPr/>
        </p:nvCxnSpPr>
        <p:spPr>
          <a:xfrm>
            <a:off x="7344629" y="3764790"/>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4" name="直線矢印コネクタ 3">
            <a:extLst>
              <a:ext uri="{FF2B5EF4-FFF2-40B4-BE49-F238E27FC236}">
                <a16:creationId xmlns:a16="http://schemas.microsoft.com/office/drawing/2014/main" id="{BB9B6A11-C017-9B8B-C5E5-94424B09FBFE}"/>
              </a:ext>
            </a:extLst>
          </p:cNvPr>
          <p:cNvCxnSpPr>
            <a:cxnSpLocks/>
          </p:cNvCxnSpPr>
          <p:nvPr/>
        </p:nvCxnSpPr>
        <p:spPr>
          <a:xfrm rot="10800000">
            <a:off x="9146141" y="2682990"/>
            <a:ext cx="0" cy="360000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 name="直線矢印コネクタ 5">
            <a:extLst>
              <a:ext uri="{FF2B5EF4-FFF2-40B4-BE49-F238E27FC236}">
                <a16:creationId xmlns:a16="http://schemas.microsoft.com/office/drawing/2014/main" id="{6D7A891B-FF40-4D7F-6C01-C5795ACDB4A7}"/>
              </a:ext>
            </a:extLst>
          </p:cNvPr>
          <p:cNvCxnSpPr/>
          <p:nvPr/>
        </p:nvCxnSpPr>
        <p:spPr>
          <a:xfrm>
            <a:off x="7346141" y="3404790"/>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16" name="直線矢印コネクタ 15">
            <a:extLst>
              <a:ext uri="{FF2B5EF4-FFF2-40B4-BE49-F238E27FC236}">
                <a16:creationId xmlns:a16="http://schemas.microsoft.com/office/drawing/2014/main" id="{A9DAF031-2440-FC75-5140-D7643FF71A31}"/>
              </a:ext>
            </a:extLst>
          </p:cNvPr>
          <p:cNvCxnSpPr/>
          <p:nvPr/>
        </p:nvCxnSpPr>
        <p:spPr>
          <a:xfrm>
            <a:off x="7346141" y="3044790"/>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17" name="直線コネクタ 16">
            <a:extLst>
              <a:ext uri="{FF2B5EF4-FFF2-40B4-BE49-F238E27FC236}">
                <a16:creationId xmlns:a16="http://schemas.microsoft.com/office/drawing/2014/main" id="{1B0F3AA1-E2D6-0BD0-1433-D305A255862D}"/>
              </a:ext>
            </a:extLst>
          </p:cNvPr>
          <p:cNvCxnSpPr/>
          <p:nvPr/>
        </p:nvCxnSpPr>
        <p:spPr>
          <a:xfrm>
            <a:off x="7344629" y="5882153"/>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22392433-01BF-2C15-1076-5EB7C4470772}"/>
              </a:ext>
            </a:extLst>
          </p:cNvPr>
          <p:cNvCxnSpPr/>
          <p:nvPr/>
        </p:nvCxnSpPr>
        <p:spPr>
          <a:xfrm>
            <a:off x="7344629" y="5522153"/>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9" name="直線矢印コネクタ 18">
            <a:extLst>
              <a:ext uri="{FF2B5EF4-FFF2-40B4-BE49-F238E27FC236}">
                <a16:creationId xmlns:a16="http://schemas.microsoft.com/office/drawing/2014/main" id="{BBECC1E5-6549-A6AD-B720-1B29493956C1}"/>
              </a:ext>
            </a:extLst>
          </p:cNvPr>
          <p:cNvCxnSpPr/>
          <p:nvPr/>
        </p:nvCxnSpPr>
        <p:spPr>
          <a:xfrm>
            <a:off x="7346141" y="5162153"/>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20" name="直線矢印コネクタ 19">
            <a:extLst>
              <a:ext uri="{FF2B5EF4-FFF2-40B4-BE49-F238E27FC236}">
                <a16:creationId xmlns:a16="http://schemas.microsoft.com/office/drawing/2014/main" id="{9B2B2BA5-D8EF-E3D4-B6DE-A9C6F13EC9C9}"/>
              </a:ext>
            </a:extLst>
          </p:cNvPr>
          <p:cNvCxnSpPr/>
          <p:nvPr/>
        </p:nvCxnSpPr>
        <p:spPr>
          <a:xfrm>
            <a:off x="7346141" y="4802153"/>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29" name="直線コネクタ 28">
            <a:extLst>
              <a:ext uri="{FF2B5EF4-FFF2-40B4-BE49-F238E27FC236}">
                <a16:creationId xmlns:a16="http://schemas.microsoft.com/office/drawing/2014/main" id="{01E07911-69CF-0603-7C57-FA3FD64A847C}"/>
              </a:ext>
            </a:extLst>
          </p:cNvPr>
          <p:cNvCxnSpPr/>
          <p:nvPr/>
        </p:nvCxnSpPr>
        <p:spPr>
          <a:xfrm>
            <a:off x="878614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83DE406D-78AF-F6F0-9DB7-20CF0DF5875F}"/>
              </a:ext>
            </a:extLst>
          </p:cNvPr>
          <p:cNvCxnSpPr/>
          <p:nvPr/>
        </p:nvCxnSpPr>
        <p:spPr>
          <a:xfrm>
            <a:off x="842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FF7A321F-AFF2-62F5-1A76-693E98CDB492}"/>
              </a:ext>
            </a:extLst>
          </p:cNvPr>
          <p:cNvCxnSpPr/>
          <p:nvPr/>
        </p:nvCxnSpPr>
        <p:spPr>
          <a:xfrm>
            <a:off x="806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4" name="直線コネクタ 33">
            <a:extLst>
              <a:ext uri="{FF2B5EF4-FFF2-40B4-BE49-F238E27FC236}">
                <a16:creationId xmlns:a16="http://schemas.microsoft.com/office/drawing/2014/main" id="{FB5AAE36-D5B0-113B-EAEB-DC8DABA609F7}"/>
              </a:ext>
            </a:extLst>
          </p:cNvPr>
          <p:cNvCxnSpPr/>
          <p:nvPr/>
        </p:nvCxnSpPr>
        <p:spPr>
          <a:xfrm>
            <a:off x="770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5" name="直線コネクタ 34">
            <a:extLst>
              <a:ext uri="{FF2B5EF4-FFF2-40B4-BE49-F238E27FC236}">
                <a16:creationId xmlns:a16="http://schemas.microsoft.com/office/drawing/2014/main" id="{E630088D-8E44-B608-DB09-4A8893A2619C}"/>
              </a:ext>
            </a:extLst>
          </p:cNvPr>
          <p:cNvCxnSpPr/>
          <p:nvPr/>
        </p:nvCxnSpPr>
        <p:spPr>
          <a:xfrm>
            <a:off x="10599701" y="2681188"/>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6" name="直線コネクタ 35">
            <a:extLst>
              <a:ext uri="{FF2B5EF4-FFF2-40B4-BE49-F238E27FC236}">
                <a16:creationId xmlns:a16="http://schemas.microsoft.com/office/drawing/2014/main" id="{61E53598-E083-D795-92DE-EEF2E5DEEDFE}"/>
              </a:ext>
            </a:extLst>
          </p:cNvPr>
          <p:cNvCxnSpPr/>
          <p:nvPr/>
        </p:nvCxnSpPr>
        <p:spPr>
          <a:xfrm>
            <a:off x="1023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7" name="直線コネクタ 36">
            <a:extLst>
              <a:ext uri="{FF2B5EF4-FFF2-40B4-BE49-F238E27FC236}">
                <a16:creationId xmlns:a16="http://schemas.microsoft.com/office/drawing/2014/main" id="{0CFC239F-002C-ADE3-36B6-BE4CDF460B62}"/>
              </a:ext>
            </a:extLst>
          </p:cNvPr>
          <p:cNvCxnSpPr/>
          <p:nvPr/>
        </p:nvCxnSpPr>
        <p:spPr>
          <a:xfrm>
            <a:off x="987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8" name="直線コネクタ 37">
            <a:extLst>
              <a:ext uri="{FF2B5EF4-FFF2-40B4-BE49-F238E27FC236}">
                <a16:creationId xmlns:a16="http://schemas.microsoft.com/office/drawing/2014/main" id="{FC495632-AA17-C4FB-7E5D-1FD4B782E4AB}"/>
              </a:ext>
            </a:extLst>
          </p:cNvPr>
          <p:cNvCxnSpPr/>
          <p:nvPr/>
        </p:nvCxnSpPr>
        <p:spPr>
          <a:xfrm>
            <a:off x="951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sp>
        <p:nvSpPr>
          <p:cNvPr id="39" name="テキスト ボックス 38">
            <a:extLst>
              <a:ext uri="{FF2B5EF4-FFF2-40B4-BE49-F238E27FC236}">
                <a16:creationId xmlns:a16="http://schemas.microsoft.com/office/drawing/2014/main" id="{39602DA5-D9C5-6540-34D1-34DEA3D91F57}"/>
              </a:ext>
            </a:extLst>
          </p:cNvPr>
          <p:cNvSpPr txBox="1"/>
          <p:nvPr/>
        </p:nvSpPr>
        <p:spPr>
          <a:xfrm>
            <a:off x="10878514" y="4157185"/>
            <a:ext cx="267345" cy="584775"/>
          </a:xfrm>
          <a:prstGeom prst="rect">
            <a:avLst/>
          </a:prstGeom>
          <a:noFill/>
        </p:spPr>
        <p:txBody>
          <a:bodyPr wrap="square" rtlCol="0" anchor="t">
            <a:spAutoFit/>
          </a:bodyPr>
          <a:lstStyle/>
          <a:p>
            <a:r>
              <a:rPr kumimoji="1" lang="en-US" altLang="ja-JP" sz="3200" b="1" dirty="0">
                <a:latin typeface="Gigi" panose="04040504060007020D02" pitchFamily="82" charset="0"/>
              </a:rPr>
              <a:t>x</a:t>
            </a:r>
            <a:endParaRPr kumimoji="1" lang="ja-JP" altLang="en-US" sz="3200" b="1" dirty="0">
              <a:latin typeface="Gigi" panose="04040504060007020D02" pitchFamily="82" charset="0"/>
            </a:endParaRPr>
          </a:p>
        </p:txBody>
      </p:sp>
      <p:sp>
        <p:nvSpPr>
          <p:cNvPr id="40" name="テキスト ボックス 39">
            <a:extLst>
              <a:ext uri="{FF2B5EF4-FFF2-40B4-BE49-F238E27FC236}">
                <a16:creationId xmlns:a16="http://schemas.microsoft.com/office/drawing/2014/main" id="{0ED58769-005E-DEB0-00B7-E82CDF9D2B63}"/>
              </a:ext>
            </a:extLst>
          </p:cNvPr>
          <p:cNvSpPr txBox="1"/>
          <p:nvPr/>
        </p:nvSpPr>
        <p:spPr>
          <a:xfrm>
            <a:off x="8930273" y="2116703"/>
            <a:ext cx="267345" cy="584775"/>
          </a:xfrm>
          <a:prstGeom prst="rect">
            <a:avLst/>
          </a:prstGeom>
          <a:noFill/>
        </p:spPr>
        <p:txBody>
          <a:bodyPr wrap="square" rtlCol="0">
            <a:spAutoFit/>
          </a:bodyPr>
          <a:lstStyle/>
          <a:p>
            <a:r>
              <a:rPr lang="en-US" altLang="ja-JP" sz="3200" b="1" dirty="0">
                <a:latin typeface="Gigi" panose="04040504060007020D02" pitchFamily="82" charset="0"/>
              </a:rPr>
              <a:t>y</a:t>
            </a:r>
            <a:endParaRPr kumimoji="1" lang="ja-JP" altLang="en-US" sz="3200" b="1" dirty="0">
              <a:latin typeface="Gigi" panose="04040504060007020D02" pitchFamily="82" charset="0"/>
            </a:endParaRPr>
          </a:p>
        </p:txBody>
      </p:sp>
      <p:sp>
        <p:nvSpPr>
          <p:cNvPr id="41" name="テキスト ボックス 40">
            <a:extLst>
              <a:ext uri="{FF2B5EF4-FFF2-40B4-BE49-F238E27FC236}">
                <a16:creationId xmlns:a16="http://schemas.microsoft.com/office/drawing/2014/main" id="{D75973FB-F7C0-83DF-776C-7C2EAFBA054A}"/>
              </a:ext>
            </a:extLst>
          </p:cNvPr>
          <p:cNvSpPr txBox="1"/>
          <p:nvPr/>
        </p:nvSpPr>
        <p:spPr>
          <a:xfrm>
            <a:off x="9109438" y="2161962"/>
            <a:ext cx="1020485" cy="523220"/>
          </a:xfrm>
          <a:prstGeom prst="rect">
            <a:avLst/>
          </a:prstGeom>
          <a:noFill/>
        </p:spPr>
        <p:txBody>
          <a:bodyPr wrap="square" rtlCol="0">
            <a:spAutoFit/>
          </a:bodyPr>
          <a:lstStyle/>
          <a:p>
            <a:pPr algn="ctr"/>
            <a:r>
              <a:rPr kumimoji="1" lang="en-US" altLang="ja-JP" sz="2800" dirty="0"/>
              <a:t>90°</a:t>
            </a:r>
            <a:endParaRPr kumimoji="1" lang="ja-JP" altLang="en-US" sz="2800" dirty="0"/>
          </a:p>
        </p:txBody>
      </p:sp>
      <p:sp>
        <p:nvSpPr>
          <p:cNvPr id="42" name="テキスト ボックス 41">
            <a:extLst>
              <a:ext uri="{FF2B5EF4-FFF2-40B4-BE49-F238E27FC236}">
                <a16:creationId xmlns:a16="http://schemas.microsoft.com/office/drawing/2014/main" id="{4EE24FC4-ED70-ACFB-1D68-A81AE8D601A8}"/>
              </a:ext>
            </a:extLst>
          </p:cNvPr>
          <p:cNvSpPr txBox="1"/>
          <p:nvPr/>
        </p:nvSpPr>
        <p:spPr>
          <a:xfrm>
            <a:off x="11144105" y="4233942"/>
            <a:ext cx="1020485" cy="830997"/>
          </a:xfrm>
          <a:prstGeom prst="rect">
            <a:avLst/>
          </a:prstGeom>
          <a:noFill/>
        </p:spPr>
        <p:txBody>
          <a:bodyPr wrap="square" rtlCol="0">
            <a:spAutoFit/>
          </a:bodyPr>
          <a:lstStyle/>
          <a:p>
            <a:r>
              <a:rPr kumimoji="1" lang="en-US" altLang="ja-JP" sz="2800" dirty="0"/>
              <a:t> 0°</a:t>
            </a:r>
          </a:p>
          <a:p>
            <a:r>
              <a:rPr lang="en-US" altLang="ja-JP" sz="2000" dirty="0"/>
              <a:t>(360°)</a:t>
            </a:r>
            <a:endParaRPr kumimoji="1" lang="ja-JP" altLang="en-US" sz="2000" dirty="0"/>
          </a:p>
        </p:txBody>
      </p:sp>
      <p:sp>
        <p:nvSpPr>
          <p:cNvPr id="43" name="テキスト ボックス 42">
            <a:extLst>
              <a:ext uri="{FF2B5EF4-FFF2-40B4-BE49-F238E27FC236}">
                <a16:creationId xmlns:a16="http://schemas.microsoft.com/office/drawing/2014/main" id="{53B6AC95-82F8-6D10-523D-D4CA03D4BF86}"/>
              </a:ext>
            </a:extLst>
          </p:cNvPr>
          <p:cNvSpPr txBox="1"/>
          <p:nvPr/>
        </p:nvSpPr>
        <p:spPr>
          <a:xfrm>
            <a:off x="8714717" y="6340542"/>
            <a:ext cx="1020485" cy="523220"/>
          </a:xfrm>
          <a:prstGeom prst="rect">
            <a:avLst/>
          </a:prstGeom>
          <a:noFill/>
        </p:spPr>
        <p:txBody>
          <a:bodyPr wrap="square" rtlCol="0">
            <a:spAutoFit/>
          </a:bodyPr>
          <a:lstStyle/>
          <a:p>
            <a:pPr algn="ctr"/>
            <a:r>
              <a:rPr lang="en-US" altLang="ja-JP" sz="2800" dirty="0"/>
              <a:t>270</a:t>
            </a:r>
            <a:r>
              <a:rPr kumimoji="1" lang="en-US" altLang="ja-JP" sz="2800" dirty="0"/>
              <a:t>°</a:t>
            </a:r>
            <a:endParaRPr kumimoji="1" lang="ja-JP" altLang="en-US" sz="2800" dirty="0"/>
          </a:p>
        </p:txBody>
      </p:sp>
      <p:sp>
        <p:nvSpPr>
          <p:cNvPr id="44" name="テキスト ボックス 43">
            <a:extLst>
              <a:ext uri="{FF2B5EF4-FFF2-40B4-BE49-F238E27FC236}">
                <a16:creationId xmlns:a16="http://schemas.microsoft.com/office/drawing/2014/main" id="{AD17DA35-2B07-4256-97D6-897AE18B06CF}"/>
              </a:ext>
            </a:extLst>
          </p:cNvPr>
          <p:cNvSpPr txBox="1"/>
          <p:nvPr/>
        </p:nvSpPr>
        <p:spPr>
          <a:xfrm>
            <a:off x="6387152" y="4232640"/>
            <a:ext cx="1020485" cy="523220"/>
          </a:xfrm>
          <a:prstGeom prst="rect">
            <a:avLst/>
          </a:prstGeom>
          <a:noFill/>
        </p:spPr>
        <p:txBody>
          <a:bodyPr wrap="square" rtlCol="0">
            <a:spAutoFit/>
          </a:bodyPr>
          <a:lstStyle/>
          <a:p>
            <a:pPr algn="ctr"/>
            <a:r>
              <a:rPr lang="en-US" altLang="ja-JP" sz="2800" dirty="0"/>
              <a:t>18</a:t>
            </a:r>
            <a:r>
              <a:rPr kumimoji="1" lang="en-US" altLang="ja-JP" sz="2800" dirty="0"/>
              <a:t>0°</a:t>
            </a:r>
            <a:endParaRPr kumimoji="1" lang="ja-JP" altLang="en-US" sz="2800" dirty="0"/>
          </a:p>
        </p:txBody>
      </p:sp>
      <p:sp>
        <p:nvSpPr>
          <p:cNvPr id="24" name="矢印: 右 23">
            <a:extLst>
              <a:ext uri="{FF2B5EF4-FFF2-40B4-BE49-F238E27FC236}">
                <a16:creationId xmlns:a16="http://schemas.microsoft.com/office/drawing/2014/main" id="{17FBCFA3-E9BB-082F-EA85-F820C72C8EC0}"/>
              </a:ext>
            </a:extLst>
          </p:cNvPr>
          <p:cNvSpPr/>
          <p:nvPr/>
        </p:nvSpPr>
        <p:spPr>
          <a:xfrm>
            <a:off x="9148718" y="3932646"/>
            <a:ext cx="356398" cy="378745"/>
          </a:xfrm>
          <a:prstGeom prst="rightArrow">
            <a:avLst>
              <a:gd name="adj1" fmla="val 38683"/>
              <a:gd name="adj2" fmla="val 54009"/>
            </a:avLst>
          </a:prstGeom>
          <a:solidFill>
            <a:schemeClr val="tx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テキスト ボックス 50">
            <a:extLst>
              <a:ext uri="{FF2B5EF4-FFF2-40B4-BE49-F238E27FC236}">
                <a16:creationId xmlns:a16="http://schemas.microsoft.com/office/drawing/2014/main" id="{FCBC665E-17C7-8F13-6218-CF11B621D715}"/>
              </a:ext>
            </a:extLst>
          </p:cNvPr>
          <p:cNvSpPr txBox="1"/>
          <p:nvPr/>
        </p:nvSpPr>
        <p:spPr>
          <a:xfrm>
            <a:off x="0" y="3432223"/>
            <a:ext cx="6095813" cy="523220"/>
          </a:xfrm>
          <a:prstGeom prst="rect">
            <a:avLst/>
          </a:prstGeom>
          <a:noFill/>
        </p:spPr>
        <p:txBody>
          <a:bodyPr wrap="square" rtlCol="0">
            <a:spAutoFit/>
          </a:bodyPr>
          <a:lstStyle/>
          <a:p>
            <a:pPr algn="ctr"/>
            <a:r>
              <a:rPr lang="ja-JP" altLang="en-US" sz="2800" dirty="0"/>
              <a:t>     </a:t>
            </a:r>
            <a:r>
              <a:rPr lang="en-US" altLang="ja-JP" sz="2800" dirty="0"/>
              <a:t>°</a:t>
            </a:r>
            <a:r>
              <a:rPr lang="ja-JP" altLang="en-US" sz="2800" dirty="0"/>
              <a:t>を向いて一歩進む</a:t>
            </a:r>
            <a:endParaRPr lang="en-US" altLang="ja-JP" sz="2800" dirty="0"/>
          </a:p>
        </p:txBody>
      </p:sp>
      <p:sp>
        <p:nvSpPr>
          <p:cNvPr id="52" name="テキスト ボックス 51">
            <a:extLst>
              <a:ext uri="{FF2B5EF4-FFF2-40B4-BE49-F238E27FC236}">
                <a16:creationId xmlns:a16="http://schemas.microsoft.com/office/drawing/2014/main" id="{E010D31E-D8DD-84B2-98FF-32997641289B}"/>
              </a:ext>
            </a:extLst>
          </p:cNvPr>
          <p:cNvSpPr txBox="1"/>
          <p:nvPr/>
        </p:nvSpPr>
        <p:spPr>
          <a:xfrm>
            <a:off x="3174655" y="3801879"/>
            <a:ext cx="252600" cy="954107"/>
          </a:xfrm>
          <a:prstGeom prst="rect">
            <a:avLst/>
          </a:prstGeom>
          <a:noFill/>
        </p:spPr>
        <p:txBody>
          <a:bodyPr wrap="square">
            <a:spAutoFit/>
          </a:bodyPr>
          <a:lstStyle/>
          <a:p>
            <a:pPr algn="ctr"/>
            <a:r>
              <a:rPr kumimoji="1" lang="ja-JP" altLang="en-US" sz="2800" dirty="0"/>
              <a:t>＝</a:t>
            </a:r>
            <a:endParaRPr kumimoji="1" lang="en-US" altLang="ja-JP" sz="2800" dirty="0"/>
          </a:p>
          <a:p>
            <a:pPr algn="ctr"/>
            <a:r>
              <a:rPr lang="ja-JP" altLang="en-US" sz="2800" dirty="0"/>
              <a:t>、</a:t>
            </a:r>
            <a:endParaRPr lang="en-US" altLang="ja-JP" sz="2800" dirty="0"/>
          </a:p>
        </p:txBody>
      </p:sp>
      <p:sp>
        <p:nvSpPr>
          <p:cNvPr id="53" name="テキスト ボックス 52">
            <a:extLst>
              <a:ext uri="{FF2B5EF4-FFF2-40B4-BE49-F238E27FC236}">
                <a16:creationId xmlns:a16="http://schemas.microsoft.com/office/drawing/2014/main" id="{0BEE9750-5E44-AF7D-5182-3DD48331417B}"/>
              </a:ext>
            </a:extLst>
          </p:cNvPr>
          <p:cNvSpPr txBox="1"/>
          <p:nvPr/>
        </p:nvSpPr>
        <p:spPr>
          <a:xfrm>
            <a:off x="1254314" y="3444240"/>
            <a:ext cx="563279" cy="523220"/>
          </a:xfrm>
          <a:prstGeom prst="rect">
            <a:avLst/>
          </a:prstGeom>
          <a:noFill/>
        </p:spPr>
        <p:txBody>
          <a:bodyPr wrap="square">
            <a:spAutoFit/>
          </a:bodyPr>
          <a:lstStyle/>
          <a:p>
            <a:pPr algn="r"/>
            <a:r>
              <a:rPr lang="en-US" altLang="ja-JP" sz="2800" dirty="0"/>
              <a:t>0</a:t>
            </a:r>
            <a:endParaRPr lang="ja-JP" altLang="en-US" sz="2800" dirty="0"/>
          </a:p>
        </p:txBody>
      </p:sp>
      <p:sp>
        <p:nvSpPr>
          <p:cNvPr id="54" name="テキスト ボックス 53">
            <a:extLst>
              <a:ext uri="{FF2B5EF4-FFF2-40B4-BE49-F238E27FC236}">
                <a16:creationId xmlns:a16="http://schemas.microsoft.com/office/drawing/2014/main" id="{1A1E2045-D3BC-B3E6-D592-F9F89E5ABA56}"/>
              </a:ext>
            </a:extLst>
          </p:cNvPr>
          <p:cNvSpPr txBox="1"/>
          <p:nvPr/>
        </p:nvSpPr>
        <p:spPr>
          <a:xfrm>
            <a:off x="361901" y="4157185"/>
            <a:ext cx="1993574" cy="584775"/>
          </a:xfrm>
          <a:prstGeom prst="rect">
            <a:avLst/>
          </a:prstGeom>
          <a:noFill/>
        </p:spPr>
        <p:txBody>
          <a:bodyPr wrap="square">
            <a:spAutoFit/>
          </a:bodyPr>
          <a:lstStyle/>
          <a:p>
            <a:r>
              <a:rPr lang="en-US" altLang="ja-JP" sz="3200" dirty="0"/>
              <a:t>x</a:t>
            </a:r>
            <a:r>
              <a:rPr lang="ja-JP" altLang="en-US" sz="3200" dirty="0"/>
              <a:t>軸方向に </a:t>
            </a:r>
          </a:p>
        </p:txBody>
      </p:sp>
      <p:sp>
        <p:nvSpPr>
          <p:cNvPr id="55" name="テキスト ボックス 54">
            <a:extLst>
              <a:ext uri="{FF2B5EF4-FFF2-40B4-BE49-F238E27FC236}">
                <a16:creationId xmlns:a16="http://schemas.microsoft.com/office/drawing/2014/main" id="{5CFA7C54-5F87-FF92-2600-27F34AD494D5}"/>
              </a:ext>
            </a:extLst>
          </p:cNvPr>
          <p:cNvSpPr txBox="1"/>
          <p:nvPr/>
        </p:nvSpPr>
        <p:spPr>
          <a:xfrm>
            <a:off x="3302366" y="4194610"/>
            <a:ext cx="1791099" cy="523220"/>
          </a:xfrm>
          <a:prstGeom prst="rect">
            <a:avLst/>
          </a:prstGeom>
          <a:noFill/>
        </p:spPr>
        <p:txBody>
          <a:bodyPr wrap="square">
            <a:spAutoFit/>
          </a:bodyPr>
          <a:lstStyle/>
          <a:p>
            <a:r>
              <a:rPr lang="en-US" altLang="ja-JP" sz="2800" dirty="0"/>
              <a:t>y</a:t>
            </a:r>
            <a:r>
              <a:rPr lang="ja-JP" altLang="en-US" sz="2800" dirty="0"/>
              <a:t>軸方向に </a:t>
            </a:r>
          </a:p>
        </p:txBody>
      </p:sp>
      <p:sp>
        <p:nvSpPr>
          <p:cNvPr id="56" name="テキスト ボックス 55">
            <a:extLst>
              <a:ext uri="{FF2B5EF4-FFF2-40B4-BE49-F238E27FC236}">
                <a16:creationId xmlns:a16="http://schemas.microsoft.com/office/drawing/2014/main" id="{FDEAE920-16D7-6FE6-7F8F-8DDC3011D459}"/>
              </a:ext>
            </a:extLst>
          </p:cNvPr>
          <p:cNvSpPr txBox="1"/>
          <p:nvPr/>
        </p:nvSpPr>
        <p:spPr>
          <a:xfrm>
            <a:off x="4962309" y="4397895"/>
            <a:ext cx="787182" cy="523220"/>
          </a:xfrm>
          <a:prstGeom prst="rect">
            <a:avLst/>
          </a:prstGeom>
          <a:noFill/>
        </p:spPr>
        <p:txBody>
          <a:bodyPr wrap="square">
            <a:spAutoFit/>
          </a:bodyPr>
          <a:lstStyle/>
          <a:p>
            <a:r>
              <a:rPr lang="en-US" altLang="ja-JP" sz="2800" dirty="0">
                <a:noFill/>
              </a:rPr>
              <a:t>±0</a:t>
            </a:r>
          </a:p>
        </p:txBody>
      </p:sp>
      <p:sp>
        <p:nvSpPr>
          <p:cNvPr id="57" name="テキスト ボックス 56">
            <a:extLst>
              <a:ext uri="{FF2B5EF4-FFF2-40B4-BE49-F238E27FC236}">
                <a16:creationId xmlns:a16="http://schemas.microsoft.com/office/drawing/2014/main" id="{2CD2DA1C-A2B7-50CE-E466-3571B974A1A4}"/>
              </a:ext>
            </a:extLst>
          </p:cNvPr>
          <p:cNvSpPr txBox="1"/>
          <p:nvPr/>
        </p:nvSpPr>
        <p:spPr>
          <a:xfrm>
            <a:off x="2220227" y="4386615"/>
            <a:ext cx="675616" cy="523220"/>
          </a:xfrm>
          <a:prstGeom prst="rect">
            <a:avLst/>
          </a:prstGeom>
          <a:noFill/>
        </p:spPr>
        <p:txBody>
          <a:bodyPr wrap="square">
            <a:spAutoFit/>
          </a:bodyPr>
          <a:lstStyle/>
          <a:p>
            <a:r>
              <a:rPr lang="en-US" altLang="ja-JP" sz="2800" dirty="0">
                <a:noFill/>
              </a:rPr>
              <a:t>+1</a:t>
            </a:r>
          </a:p>
        </p:txBody>
      </p:sp>
      <p:sp>
        <p:nvSpPr>
          <p:cNvPr id="59" name="テキスト ボックス 58">
            <a:extLst>
              <a:ext uri="{FF2B5EF4-FFF2-40B4-BE49-F238E27FC236}">
                <a16:creationId xmlns:a16="http://schemas.microsoft.com/office/drawing/2014/main" id="{AC24CD6B-A063-8F41-FA5F-94A49A0925BC}"/>
              </a:ext>
            </a:extLst>
          </p:cNvPr>
          <p:cNvSpPr txBox="1"/>
          <p:nvPr/>
        </p:nvSpPr>
        <p:spPr>
          <a:xfrm>
            <a:off x="1254313" y="3264940"/>
            <a:ext cx="563279" cy="523220"/>
          </a:xfrm>
          <a:prstGeom prst="rect">
            <a:avLst/>
          </a:prstGeom>
          <a:noFill/>
        </p:spPr>
        <p:txBody>
          <a:bodyPr wrap="square">
            <a:spAutoFit/>
          </a:bodyPr>
          <a:lstStyle/>
          <a:p>
            <a:pPr algn="r"/>
            <a:r>
              <a:rPr lang="en-US" altLang="ja-JP" sz="2800" dirty="0">
                <a:noFill/>
              </a:rPr>
              <a:t>90</a:t>
            </a:r>
            <a:endParaRPr lang="ja-JP" altLang="en-US" sz="2800" dirty="0">
              <a:noFill/>
            </a:endParaRPr>
          </a:p>
        </p:txBody>
      </p:sp>
      <p:sp>
        <p:nvSpPr>
          <p:cNvPr id="60" name="テキスト ボックス 59">
            <a:extLst>
              <a:ext uri="{FF2B5EF4-FFF2-40B4-BE49-F238E27FC236}">
                <a16:creationId xmlns:a16="http://schemas.microsoft.com/office/drawing/2014/main" id="{C36FCD73-1B20-6540-4982-06D8B1EA2FCA}"/>
              </a:ext>
            </a:extLst>
          </p:cNvPr>
          <p:cNvSpPr txBox="1"/>
          <p:nvPr/>
        </p:nvSpPr>
        <p:spPr>
          <a:xfrm>
            <a:off x="4962309" y="3967575"/>
            <a:ext cx="787182" cy="523220"/>
          </a:xfrm>
          <a:prstGeom prst="rect">
            <a:avLst/>
          </a:prstGeom>
          <a:noFill/>
        </p:spPr>
        <p:txBody>
          <a:bodyPr wrap="square">
            <a:spAutoFit/>
          </a:bodyPr>
          <a:lstStyle/>
          <a:p>
            <a:r>
              <a:rPr lang="en-US" altLang="ja-JP" sz="2800" dirty="0">
                <a:noFill/>
              </a:rPr>
              <a:t>+1</a:t>
            </a:r>
          </a:p>
        </p:txBody>
      </p:sp>
      <p:sp>
        <p:nvSpPr>
          <p:cNvPr id="61" name="テキスト ボックス 60">
            <a:extLst>
              <a:ext uri="{FF2B5EF4-FFF2-40B4-BE49-F238E27FC236}">
                <a16:creationId xmlns:a16="http://schemas.microsoft.com/office/drawing/2014/main" id="{4A54D06E-67EB-44F3-631E-5C82F81B21A7}"/>
              </a:ext>
            </a:extLst>
          </p:cNvPr>
          <p:cNvSpPr txBox="1"/>
          <p:nvPr/>
        </p:nvSpPr>
        <p:spPr>
          <a:xfrm>
            <a:off x="2220227" y="4001120"/>
            <a:ext cx="675616" cy="523220"/>
          </a:xfrm>
          <a:prstGeom prst="rect">
            <a:avLst/>
          </a:prstGeom>
          <a:noFill/>
        </p:spPr>
        <p:txBody>
          <a:bodyPr wrap="square">
            <a:spAutoFit/>
          </a:bodyPr>
          <a:lstStyle/>
          <a:p>
            <a:r>
              <a:rPr lang="en-US" altLang="ja-JP" sz="2800" dirty="0">
                <a:noFill/>
              </a:rPr>
              <a:t>±0</a:t>
            </a:r>
          </a:p>
        </p:txBody>
      </p:sp>
      <p:sp>
        <p:nvSpPr>
          <p:cNvPr id="67" name="テキスト ボックス 66">
            <a:extLst>
              <a:ext uri="{FF2B5EF4-FFF2-40B4-BE49-F238E27FC236}">
                <a16:creationId xmlns:a16="http://schemas.microsoft.com/office/drawing/2014/main" id="{5A46B2C6-06C2-1657-A1F3-C45C29EB8014}"/>
              </a:ext>
            </a:extLst>
          </p:cNvPr>
          <p:cNvSpPr txBox="1"/>
          <p:nvPr/>
        </p:nvSpPr>
        <p:spPr>
          <a:xfrm>
            <a:off x="5215155" y="6143763"/>
            <a:ext cx="281490" cy="523220"/>
          </a:xfrm>
          <a:prstGeom prst="rect">
            <a:avLst/>
          </a:prstGeom>
          <a:noFill/>
        </p:spPr>
        <p:txBody>
          <a:bodyPr wrap="square" rtlCol="0">
            <a:spAutoFit/>
          </a:bodyPr>
          <a:lstStyle/>
          <a:p>
            <a:r>
              <a:rPr lang="en-US" altLang="ja-JP" sz="2800" dirty="0"/>
              <a:t>(</a:t>
            </a:r>
            <a:endParaRPr kumimoji="1" lang="ja-JP" altLang="en-US" sz="2800" dirty="0"/>
          </a:p>
        </p:txBody>
      </p:sp>
      <p:sp>
        <p:nvSpPr>
          <p:cNvPr id="68" name="テキスト ボックス 67">
            <a:extLst>
              <a:ext uri="{FF2B5EF4-FFF2-40B4-BE49-F238E27FC236}">
                <a16:creationId xmlns:a16="http://schemas.microsoft.com/office/drawing/2014/main" id="{088021C3-0489-FA24-63B9-84A324B0F932}"/>
              </a:ext>
            </a:extLst>
          </p:cNvPr>
          <p:cNvSpPr txBox="1"/>
          <p:nvPr/>
        </p:nvSpPr>
        <p:spPr>
          <a:xfrm>
            <a:off x="6691092" y="6143763"/>
            <a:ext cx="281490" cy="523220"/>
          </a:xfrm>
          <a:prstGeom prst="rect">
            <a:avLst/>
          </a:prstGeom>
          <a:noFill/>
        </p:spPr>
        <p:txBody>
          <a:bodyPr wrap="square" rtlCol="0">
            <a:spAutoFit/>
          </a:bodyPr>
          <a:lstStyle/>
          <a:p>
            <a:r>
              <a:rPr kumimoji="1" lang="en-US" altLang="ja-JP" sz="2800" dirty="0"/>
              <a:t>)</a:t>
            </a:r>
            <a:endParaRPr kumimoji="1" lang="ja-JP" altLang="en-US" sz="2800" dirty="0"/>
          </a:p>
        </p:txBody>
      </p:sp>
      <p:sp>
        <p:nvSpPr>
          <p:cNvPr id="69" name="テキスト ボックス 68">
            <a:extLst>
              <a:ext uri="{FF2B5EF4-FFF2-40B4-BE49-F238E27FC236}">
                <a16:creationId xmlns:a16="http://schemas.microsoft.com/office/drawing/2014/main" id="{9497CF33-C0F5-46FA-008B-D4000FF4EFB6}"/>
              </a:ext>
            </a:extLst>
          </p:cNvPr>
          <p:cNvSpPr txBox="1"/>
          <p:nvPr/>
        </p:nvSpPr>
        <p:spPr>
          <a:xfrm>
            <a:off x="5962379" y="6143763"/>
            <a:ext cx="281490" cy="523220"/>
          </a:xfrm>
          <a:prstGeom prst="rect">
            <a:avLst/>
          </a:prstGeom>
          <a:noFill/>
        </p:spPr>
        <p:txBody>
          <a:bodyPr wrap="square" rtlCol="0">
            <a:spAutoFit/>
          </a:bodyPr>
          <a:lstStyle/>
          <a:p>
            <a:r>
              <a:rPr lang="en-US" altLang="ja-JP" sz="2800" dirty="0"/>
              <a:t>,</a:t>
            </a:r>
          </a:p>
        </p:txBody>
      </p:sp>
      <p:sp>
        <p:nvSpPr>
          <p:cNvPr id="70" name="テキスト ボックス 69">
            <a:extLst>
              <a:ext uri="{FF2B5EF4-FFF2-40B4-BE49-F238E27FC236}">
                <a16:creationId xmlns:a16="http://schemas.microsoft.com/office/drawing/2014/main" id="{D5EB67D3-5513-00B7-5891-B93618647FD3}"/>
              </a:ext>
            </a:extLst>
          </p:cNvPr>
          <p:cNvSpPr txBox="1"/>
          <p:nvPr/>
        </p:nvSpPr>
        <p:spPr>
          <a:xfrm>
            <a:off x="5496645" y="6143763"/>
            <a:ext cx="851647" cy="523220"/>
          </a:xfrm>
          <a:prstGeom prst="rect">
            <a:avLst/>
          </a:prstGeom>
          <a:noFill/>
        </p:spPr>
        <p:txBody>
          <a:bodyPr wrap="square" rtlCol="0">
            <a:spAutoFit/>
          </a:bodyPr>
          <a:lstStyle/>
          <a:p>
            <a:r>
              <a:rPr lang="en-US" altLang="ja-JP" sz="2800" dirty="0"/>
              <a:t>0</a:t>
            </a:r>
            <a:endParaRPr kumimoji="1" lang="ja-JP" altLang="en-US" sz="2800" dirty="0"/>
          </a:p>
        </p:txBody>
      </p:sp>
      <p:sp>
        <p:nvSpPr>
          <p:cNvPr id="71" name="テキスト ボックス 70">
            <a:extLst>
              <a:ext uri="{FF2B5EF4-FFF2-40B4-BE49-F238E27FC236}">
                <a16:creationId xmlns:a16="http://schemas.microsoft.com/office/drawing/2014/main" id="{D51AC97B-B6FB-24B7-ABA0-D524B0A9AB82}"/>
              </a:ext>
            </a:extLst>
          </p:cNvPr>
          <p:cNvSpPr txBox="1"/>
          <p:nvPr/>
        </p:nvSpPr>
        <p:spPr>
          <a:xfrm>
            <a:off x="6289301" y="6143763"/>
            <a:ext cx="851647" cy="523220"/>
          </a:xfrm>
          <a:prstGeom prst="rect">
            <a:avLst/>
          </a:prstGeom>
          <a:noFill/>
        </p:spPr>
        <p:txBody>
          <a:bodyPr wrap="square" rtlCol="0">
            <a:spAutoFit/>
          </a:bodyPr>
          <a:lstStyle/>
          <a:p>
            <a:r>
              <a:rPr lang="en-US" altLang="ja-JP" sz="2800" dirty="0"/>
              <a:t>1</a:t>
            </a:r>
            <a:endParaRPr kumimoji="1" lang="ja-JP" altLang="en-US" sz="2800" dirty="0"/>
          </a:p>
        </p:txBody>
      </p:sp>
      <p:sp>
        <p:nvSpPr>
          <p:cNvPr id="72" name="テキスト ボックス 71">
            <a:extLst>
              <a:ext uri="{FF2B5EF4-FFF2-40B4-BE49-F238E27FC236}">
                <a16:creationId xmlns:a16="http://schemas.microsoft.com/office/drawing/2014/main" id="{B921BE10-CF75-C0E9-A7CC-067240C79804}"/>
              </a:ext>
            </a:extLst>
          </p:cNvPr>
          <p:cNvSpPr txBox="1"/>
          <p:nvPr/>
        </p:nvSpPr>
        <p:spPr>
          <a:xfrm>
            <a:off x="5496645" y="6296163"/>
            <a:ext cx="851647" cy="523220"/>
          </a:xfrm>
          <a:prstGeom prst="rect">
            <a:avLst/>
          </a:prstGeom>
          <a:noFill/>
        </p:spPr>
        <p:txBody>
          <a:bodyPr wrap="square" rtlCol="0">
            <a:spAutoFit/>
          </a:bodyPr>
          <a:lstStyle/>
          <a:p>
            <a:r>
              <a:rPr kumimoji="1" lang="en-US" altLang="ja-JP" sz="2800" dirty="0">
                <a:noFill/>
              </a:rPr>
              <a:t>1</a:t>
            </a:r>
            <a:endParaRPr kumimoji="1" lang="ja-JP" altLang="en-US" sz="2800" dirty="0">
              <a:noFill/>
            </a:endParaRPr>
          </a:p>
        </p:txBody>
      </p:sp>
      <p:sp>
        <p:nvSpPr>
          <p:cNvPr id="73" name="テキスト ボックス 72">
            <a:extLst>
              <a:ext uri="{FF2B5EF4-FFF2-40B4-BE49-F238E27FC236}">
                <a16:creationId xmlns:a16="http://schemas.microsoft.com/office/drawing/2014/main" id="{CCE588B2-FB83-1D82-F6D9-BD7FF682174E}"/>
              </a:ext>
            </a:extLst>
          </p:cNvPr>
          <p:cNvSpPr txBox="1"/>
          <p:nvPr/>
        </p:nvSpPr>
        <p:spPr>
          <a:xfrm>
            <a:off x="6289301" y="6296163"/>
            <a:ext cx="851647" cy="523220"/>
          </a:xfrm>
          <a:prstGeom prst="rect">
            <a:avLst/>
          </a:prstGeom>
          <a:noFill/>
        </p:spPr>
        <p:txBody>
          <a:bodyPr wrap="square" rtlCol="0">
            <a:spAutoFit/>
          </a:bodyPr>
          <a:lstStyle/>
          <a:p>
            <a:r>
              <a:rPr lang="en-US" altLang="ja-JP" sz="2800" dirty="0">
                <a:noFill/>
              </a:rPr>
              <a:t>1</a:t>
            </a:r>
            <a:endParaRPr kumimoji="1" lang="ja-JP" altLang="en-US" sz="2800" dirty="0">
              <a:noFill/>
            </a:endParaRPr>
          </a:p>
        </p:txBody>
      </p:sp>
    </p:spTree>
    <p:extLst>
      <p:ext uri="{BB962C8B-B14F-4D97-AF65-F5344CB8AC3E}">
        <p14:creationId xmlns:p14="http://schemas.microsoft.com/office/powerpoint/2010/main" val="38074451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B38DE-9C21-4BE4-F24D-DDC442AC518F}"/>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03E40157-1081-822A-2EFF-F64AC38D79DF}"/>
              </a:ext>
            </a:extLst>
          </p:cNvPr>
          <p:cNvSpPr/>
          <p:nvPr/>
        </p:nvSpPr>
        <p:spPr>
          <a:xfrm>
            <a:off x="3046801"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4444A083-814D-0D16-3420-D12B937B79D7}"/>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96C709CD-4623-8C5A-9B7F-7E54566BF1FA}"/>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bg1"/>
                </a:solidFill>
              </a:rPr>
              <a:t>システム要件</a:t>
            </a:r>
          </a:p>
        </p:txBody>
      </p:sp>
      <p:sp>
        <p:nvSpPr>
          <p:cNvPr id="11" name="四角形: 角を丸くする 10">
            <a:extLst>
              <a:ext uri="{FF2B5EF4-FFF2-40B4-BE49-F238E27FC236}">
                <a16:creationId xmlns:a16="http://schemas.microsoft.com/office/drawing/2014/main" id="{07102967-9AFB-28DD-DA0E-0A52A37CBDFE}"/>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24A55DE3-EC48-7F8D-8E30-5EFEB9991F24}"/>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t>プログラム説明</a:t>
            </a:r>
            <a:endParaRPr kumimoji="1" lang="ja-JP" altLang="en-US" sz="2400" dirty="0"/>
          </a:p>
        </p:txBody>
      </p:sp>
      <p:sp>
        <p:nvSpPr>
          <p:cNvPr id="7" name="テキスト ボックス 6">
            <a:extLst>
              <a:ext uri="{FF2B5EF4-FFF2-40B4-BE49-F238E27FC236}">
                <a16:creationId xmlns:a16="http://schemas.microsoft.com/office/drawing/2014/main" id="{14FD5963-6A6B-ED3F-0974-517A0AD842D7}"/>
              </a:ext>
            </a:extLst>
          </p:cNvPr>
          <p:cNvSpPr txBox="1"/>
          <p:nvPr/>
        </p:nvSpPr>
        <p:spPr>
          <a:xfrm>
            <a:off x="771525" y="1171575"/>
            <a:ext cx="2275276" cy="584775"/>
          </a:xfrm>
          <a:prstGeom prst="rect">
            <a:avLst/>
          </a:prstGeom>
          <a:noFill/>
        </p:spPr>
        <p:txBody>
          <a:bodyPr wrap="square" rtlCol="0">
            <a:spAutoFit/>
          </a:bodyPr>
          <a:lstStyle/>
          <a:p>
            <a:r>
              <a:rPr lang="ja-JP" altLang="en-US" sz="3200" dirty="0"/>
              <a:t>移動制御</a:t>
            </a:r>
            <a:endParaRPr kumimoji="1" lang="ja-JP" altLang="en-US" sz="3200" dirty="0"/>
          </a:p>
        </p:txBody>
      </p:sp>
      <p:sp>
        <p:nvSpPr>
          <p:cNvPr id="10" name="テキスト ボックス 9">
            <a:extLst>
              <a:ext uri="{FF2B5EF4-FFF2-40B4-BE49-F238E27FC236}">
                <a16:creationId xmlns:a16="http://schemas.microsoft.com/office/drawing/2014/main" id="{7DDCF3DE-5F20-3AC0-E3BD-5725CF672846}"/>
              </a:ext>
            </a:extLst>
          </p:cNvPr>
          <p:cNvSpPr txBox="1"/>
          <p:nvPr/>
        </p:nvSpPr>
        <p:spPr>
          <a:xfrm>
            <a:off x="1238250" y="1755127"/>
            <a:ext cx="10953750" cy="461665"/>
          </a:xfrm>
          <a:prstGeom prst="rect">
            <a:avLst/>
          </a:prstGeom>
          <a:noFill/>
        </p:spPr>
        <p:txBody>
          <a:bodyPr wrap="square" rtlCol="0">
            <a:spAutoFit/>
          </a:bodyPr>
          <a:lstStyle/>
          <a:p>
            <a:r>
              <a:rPr lang="en-US" altLang="ja-JP" sz="2400" dirty="0"/>
              <a:t>“</a:t>
            </a:r>
            <a:r>
              <a:rPr lang="ja-JP" altLang="en-US" sz="2400" dirty="0"/>
              <a:t>向き</a:t>
            </a:r>
            <a:r>
              <a:rPr lang="en-US" altLang="ja-JP" sz="2400" dirty="0"/>
              <a:t>”</a:t>
            </a:r>
            <a:r>
              <a:rPr lang="ja-JP" altLang="en-US" sz="2400" dirty="0"/>
              <a:t>と</a:t>
            </a:r>
            <a:r>
              <a:rPr lang="en-US" altLang="ja-JP" sz="2400" dirty="0"/>
              <a:t>”</a:t>
            </a:r>
            <a:r>
              <a:rPr lang="ja-JP" altLang="en-US" sz="2400" dirty="0"/>
              <a:t>歩数</a:t>
            </a:r>
            <a:r>
              <a:rPr lang="en-US" altLang="ja-JP" sz="2400" dirty="0"/>
              <a:t>”</a:t>
            </a:r>
            <a:r>
              <a:rPr lang="ja-JP" altLang="en-US" sz="2400" dirty="0"/>
              <a:t>による自己位置推定と、目標座標への移動量計算</a:t>
            </a:r>
            <a:endParaRPr lang="en-US" altLang="ja-JP" sz="2400" dirty="0"/>
          </a:p>
        </p:txBody>
      </p:sp>
      <p:cxnSp>
        <p:nvCxnSpPr>
          <p:cNvPr id="5" name="直線コネクタ 4">
            <a:extLst>
              <a:ext uri="{FF2B5EF4-FFF2-40B4-BE49-F238E27FC236}">
                <a16:creationId xmlns:a16="http://schemas.microsoft.com/office/drawing/2014/main" id="{8458FFAA-2178-ECEE-2C6B-756E7961F56E}"/>
              </a:ext>
            </a:extLst>
          </p:cNvPr>
          <p:cNvCxnSpPr/>
          <p:nvPr/>
        </p:nvCxnSpPr>
        <p:spPr>
          <a:xfrm>
            <a:off x="7344629" y="4124790"/>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 name="直線矢印コネクタ 2">
            <a:extLst>
              <a:ext uri="{FF2B5EF4-FFF2-40B4-BE49-F238E27FC236}">
                <a16:creationId xmlns:a16="http://schemas.microsoft.com/office/drawing/2014/main" id="{67069AA7-F081-B792-FF46-68ED89DC0B73}"/>
              </a:ext>
            </a:extLst>
          </p:cNvPr>
          <p:cNvCxnSpPr/>
          <p:nvPr/>
        </p:nvCxnSpPr>
        <p:spPr>
          <a:xfrm>
            <a:off x="7344629" y="4482990"/>
            <a:ext cx="360000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 name="直線コネクタ 7">
            <a:extLst>
              <a:ext uri="{FF2B5EF4-FFF2-40B4-BE49-F238E27FC236}">
                <a16:creationId xmlns:a16="http://schemas.microsoft.com/office/drawing/2014/main" id="{DCB90C4C-BDF5-A673-8E1C-CAC075026E87}"/>
              </a:ext>
            </a:extLst>
          </p:cNvPr>
          <p:cNvCxnSpPr/>
          <p:nvPr/>
        </p:nvCxnSpPr>
        <p:spPr>
          <a:xfrm>
            <a:off x="7344629" y="3764790"/>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4" name="直線矢印コネクタ 3">
            <a:extLst>
              <a:ext uri="{FF2B5EF4-FFF2-40B4-BE49-F238E27FC236}">
                <a16:creationId xmlns:a16="http://schemas.microsoft.com/office/drawing/2014/main" id="{0AF4CB99-F2FF-2B8D-D392-51590853E01B}"/>
              </a:ext>
            </a:extLst>
          </p:cNvPr>
          <p:cNvCxnSpPr>
            <a:cxnSpLocks/>
          </p:cNvCxnSpPr>
          <p:nvPr/>
        </p:nvCxnSpPr>
        <p:spPr>
          <a:xfrm rot="10800000">
            <a:off x="9146141" y="2682990"/>
            <a:ext cx="0" cy="360000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 name="直線矢印コネクタ 5">
            <a:extLst>
              <a:ext uri="{FF2B5EF4-FFF2-40B4-BE49-F238E27FC236}">
                <a16:creationId xmlns:a16="http://schemas.microsoft.com/office/drawing/2014/main" id="{4A2B73BB-DF65-A197-5126-209388E03463}"/>
              </a:ext>
            </a:extLst>
          </p:cNvPr>
          <p:cNvCxnSpPr/>
          <p:nvPr/>
        </p:nvCxnSpPr>
        <p:spPr>
          <a:xfrm>
            <a:off x="7346141" y="3404790"/>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16" name="直線矢印コネクタ 15">
            <a:extLst>
              <a:ext uri="{FF2B5EF4-FFF2-40B4-BE49-F238E27FC236}">
                <a16:creationId xmlns:a16="http://schemas.microsoft.com/office/drawing/2014/main" id="{2E380C15-DE68-0ACE-000C-CF9563AA44A3}"/>
              </a:ext>
            </a:extLst>
          </p:cNvPr>
          <p:cNvCxnSpPr/>
          <p:nvPr/>
        </p:nvCxnSpPr>
        <p:spPr>
          <a:xfrm>
            <a:off x="7346141" y="3044790"/>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17" name="直線コネクタ 16">
            <a:extLst>
              <a:ext uri="{FF2B5EF4-FFF2-40B4-BE49-F238E27FC236}">
                <a16:creationId xmlns:a16="http://schemas.microsoft.com/office/drawing/2014/main" id="{AD5AF373-9F4B-7265-2B0D-6844877B615B}"/>
              </a:ext>
            </a:extLst>
          </p:cNvPr>
          <p:cNvCxnSpPr/>
          <p:nvPr/>
        </p:nvCxnSpPr>
        <p:spPr>
          <a:xfrm>
            <a:off x="7344629" y="5882153"/>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542BDC7F-789F-3445-2D46-51168A59DA3C}"/>
              </a:ext>
            </a:extLst>
          </p:cNvPr>
          <p:cNvCxnSpPr/>
          <p:nvPr/>
        </p:nvCxnSpPr>
        <p:spPr>
          <a:xfrm>
            <a:off x="7344629" y="5522153"/>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9" name="直線矢印コネクタ 18">
            <a:extLst>
              <a:ext uri="{FF2B5EF4-FFF2-40B4-BE49-F238E27FC236}">
                <a16:creationId xmlns:a16="http://schemas.microsoft.com/office/drawing/2014/main" id="{56EB78E3-E1BB-954B-80FD-7950FFAF92D2}"/>
              </a:ext>
            </a:extLst>
          </p:cNvPr>
          <p:cNvCxnSpPr/>
          <p:nvPr/>
        </p:nvCxnSpPr>
        <p:spPr>
          <a:xfrm>
            <a:off x="7346141" y="5162153"/>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20" name="直線矢印コネクタ 19">
            <a:extLst>
              <a:ext uri="{FF2B5EF4-FFF2-40B4-BE49-F238E27FC236}">
                <a16:creationId xmlns:a16="http://schemas.microsoft.com/office/drawing/2014/main" id="{DB357838-88EF-895C-FAF4-888E27F5C7BC}"/>
              </a:ext>
            </a:extLst>
          </p:cNvPr>
          <p:cNvCxnSpPr/>
          <p:nvPr/>
        </p:nvCxnSpPr>
        <p:spPr>
          <a:xfrm>
            <a:off x="7346141" y="4802153"/>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29" name="直線コネクタ 28">
            <a:extLst>
              <a:ext uri="{FF2B5EF4-FFF2-40B4-BE49-F238E27FC236}">
                <a16:creationId xmlns:a16="http://schemas.microsoft.com/office/drawing/2014/main" id="{291B1192-DC86-6537-3758-66F1FE09D6C4}"/>
              </a:ext>
            </a:extLst>
          </p:cNvPr>
          <p:cNvCxnSpPr/>
          <p:nvPr/>
        </p:nvCxnSpPr>
        <p:spPr>
          <a:xfrm>
            <a:off x="878614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7764D3FD-F573-3ADC-9598-A57853EFC4DB}"/>
              </a:ext>
            </a:extLst>
          </p:cNvPr>
          <p:cNvCxnSpPr/>
          <p:nvPr/>
        </p:nvCxnSpPr>
        <p:spPr>
          <a:xfrm>
            <a:off x="842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85B7C978-76AE-844F-49E9-D3ABE3E46E01}"/>
              </a:ext>
            </a:extLst>
          </p:cNvPr>
          <p:cNvCxnSpPr/>
          <p:nvPr/>
        </p:nvCxnSpPr>
        <p:spPr>
          <a:xfrm>
            <a:off x="806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4" name="直線コネクタ 33">
            <a:extLst>
              <a:ext uri="{FF2B5EF4-FFF2-40B4-BE49-F238E27FC236}">
                <a16:creationId xmlns:a16="http://schemas.microsoft.com/office/drawing/2014/main" id="{A43012F6-C93F-8782-5ACC-4E0A7F458D0B}"/>
              </a:ext>
            </a:extLst>
          </p:cNvPr>
          <p:cNvCxnSpPr/>
          <p:nvPr/>
        </p:nvCxnSpPr>
        <p:spPr>
          <a:xfrm>
            <a:off x="770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5" name="直線コネクタ 34">
            <a:extLst>
              <a:ext uri="{FF2B5EF4-FFF2-40B4-BE49-F238E27FC236}">
                <a16:creationId xmlns:a16="http://schemas.microsoft.com/office/drawing/2014/main" id="{1C1489B7-3082-F2E8-5D8E-45132E2E51FE}"/>
              </a:ext>
            </a:extLst>
          </p:cNvPr>
          <p:cNvCxnSpPr/>
          <p:nvPr/>
        </p:nvCxnSpPr>
        <p:spPr>
          <a:xfrm>
            <a:off x="10599701" y="2681188"/>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6" name="直線コネクタ 35">
            <a:extLst>
              <a:ext uri="{FF2B5EF4-FFF2-40B4-BE49-F238E27FC236}">
                <a16:creationId xmlns:a16="http://schemas.microsoft.com/office/drawing/2014/main" id="{9ADF1637-58A4-C22E-82B8-8BF47262A81D}"/>
              </a:ext>
            </a:extLst>
          </p:cNvPr>
          <p:cNvCxnSpPr/>
          <p:nvPr/>
        </p:nvCxnSpPr>
        <p:spPr>
          <a:xfrm>
            <a:off x="1023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7" name="直線コネクタ 36">
            <a:extLst>
              <a:ext uri="{FF2B5EF4-FFF2-40B4-BE49-F238E27FC236}">
                <a16:creationId xmlns:a16="http://schemas.microsoft.com/office/drawing/2014/main" id="{792BBD58-AFED-0A9C-27C3-A2F9077C5C5A}"/>
              </a:ext>
            </a:extLst>
          </p:cNvPr>
          <p:cNvCxnSpPr/>
          <p:nvPr/>
        </p:nvCxnSpPr>
        <p:spPr>
          <a:xfrm>
            <a:off x="987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8" name="直線コネクタ 37">
            <a:extLst>
              <a:ext uri="{FF2B5EF4-FFF2-40B4-BE49-F238E27FC236}">
                <a16:creationId xmlns:a16="http://schemas.microsoft.com/office/drawing/2014/main" id="{4EF5A6E6-97E2-1847-5BE4-19903704B8F5}"/>
              </a:ext>
            </a:extLst>
          </p:cNvPr>
          <p:cNvCxnSpPr/>
          <p:nvPr/>
        </p:nvCxnSpPr>
        <p:spPr>
          <a:xfrm>
            <a:off x="951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sp>
        <p:nvSpPr>
          <p:cNvPr id="39" name="テキスト ボックス 38">
            <a:extLst>
              <a:ext uri="{FF2B5EF4-FFF2-40B4-BE49-F238E27FC236}">
                <a16:creationId xmlns:a16="http://schemas.microsoft.com/office/drawing/2014/main" id="{CE511A99-F8D5-5361-8A32-12BC822C849F}"/>
              </a:ext>
            </a:extLst>
          </p:cNvPr>
          <p:cNvSpPr txBox="1"/>
          <p:nvPr/>
        </p:nvSpPr>
        <p:spPr>
          <a:xfrm>
            <a:off x="10878514" y="4157185"/>
            <a:ext cx="267345" cy="584775"/>
          </a:xfrm>
          <a:prstGeom prst="rect">
            <a:avLst/>
          </a:prstGeom>
          <a:noFill/>
        </p:spPr>
        <p:txBody>
          <a:bodyPr wrap="square" rtlCol="0" anchor="t">
            <a:spAutoFit/>
          </a:bodyPr>
          <a:lstStyle/>
          <a:p>
            <a:r>
              <a:rPr kumimoji="1" lang="en-US" altLang="ja-JP" sz="3200" b="1" dirty="0">
                <a:latin typeface="Gigi" panose="04040504060007020D02" pitchFamily="82" charset="0"/>
              </a:rPr>
              <a:t>x</a:t>
            </a:r>
            <a:endParaRPr kumimoji="1" lang="ja-JP" altLang="en-US" sz="3200" b="1" dirty="0">
              <a:latin typeface="Gigi" panose="04040504060007020D02" pitchFamily="82" charset="0"/>
            </a:endParaRPr>
          </a:p>
        </p:txBody>
      </p:sp>
      <p:sp>
        <p:nvSpPr>
          <p:cNvPr id="40" name="テキスト ボックス 39">
            <a:extLst>
              <a:ext uri="{FF2B5EF4-FFF2-40B4-BE49-F238E27FC236}">
                <a16:creationId xmlns:a16="http://schemas.microsoft.com/office/drawing/2014/main" id="{692A4C9C-BA3D-BF19-61CD-3A07EE217AC5}"/>
              </a:ext>
            </a:extLst>
          </p:cNvPr>
          <p:cNvSpPr txBox="1"/>
          <p:nvPr/>
        </p:nvSpPr>
        <p:spPr>
          <a:xfrm>
            <a:off x="8930273" y="2116703"/>
            <a:ext cx="267345" cy="584775"/>
          </a:xfrm>
          <a:prstGeom prst="rect">
            <a:avLst/>
          </a:prstGeom>
          <a:noFill/>
        </p:spPr>
        <p:txBody>
          <a:bodyPr wrap="square" rtlCol="0">
            <a:spAutoFit/>
          </a:bodyPr>
          <a:lstStyle/>
          <a:p>
            <a:r>
              <a:rPr lang="en-US" altLang="ja-JP" sz="3200" b="1" dirty="0">
                <a:latin typeface="Gigi" panose="04040504060007020D02" pitchFamily="82" charset="0"/>
              </a:rPr>
              <a:t>y</a:t>
            </a:r>
            <a:endParaRPr kumimoji="1" lang="ja-JP" altLang="en-US" sz="3200" b="1" dirty="0">
              <a:latin typeface="Gigi" panose="04040504060007020D02" pitchFamily="82" charset="0"/>
            </a:endParaRPr>
          </a:p>
        </p:txBody>
      </p:sp>
      <p:sp>
        <p:nvSpPr>
          <p:cNvPr id="41" name="テキスト ボックス 40">
            <a:extLst>
              <a:ext uri="{FF2B5EF4-FFF2-40B4-BE49-F238E27FC236}">
                <a16:creationId xmlns:a16="http://schemas.microsoft.com/office/drawing/2014/main" id="{BF40FA94-298C-2C63-770E-7A10AC9623D9}"/>
              </a:ext>
            </a:extLst>
          </p:cNvPr>
          <p:cNvSpPr txBox="1"/>
          <p:nvPr/>
        </p:nvSpPr>
        <p:spPr>
          <a:xfrm>
            <a:off x="9109438" y="2161962"/>
            <a:ext cx="1020485" cy="523220"/>
          </a:xfrm>
          <a:prstGeom prst="rect">
            <a:avLst/>
          </a:prstGeom>
          <a:noFill/>
        </p:spPr>
        <p:txBody>
          <a:bodyPr wrap="square" rtlCol="0">
            <a:spAutoFit/>
          </a:bodyPr>
          <a:lstStyle/>
          <a:p>
            <a:pPr algn="ctr"/>
            <a:r>
              <a:rPr kumimoji="1" lang="en-US" altLang="ja-JP" sz="2800" dirty="0"/>
              <a:t>90°</a:t>
            </a:r>
            <a:endParaRPr kumimoji="1" lang="ja-JP" altLang="en-US" sz="2800" dirty="0"/>
          </a:p>
        </p:txBody>
      </p:sp>
      <p:sp>
        <p:nvSpPr>
          <p:cNvPr id="42" name="テキスト ボックス 41">
            <a:extLst>
              <a:ext uri="{FF2B5EF4-FFF2-40B4-BE49-F238E27FC236}">
                <a16:creationId xmlns:a16="http://schemas.microsoft.com/office/drawing/2014/main" id="{906675D2-E004-8ED0-BD11-6A9DF15978C8}"/>
              </a:ext>
            </a:extLst>
          </p:cNvPr>
          <p:cNvSpPr txBox="1"/>
          <p:nvPr/>
        </p:nvSpPr>
        <p:spPr>
          <a:xfrm>
            <a:off x="11144105" y="4233942"/>
            <a:ext cx="1020485" cy="830997"/>
          </a:xfrm>
          <a:prstGeom prst="rect">
            <a:avLst/>
          </a:prstGeom>
          <a:noFill/>
        </p:spPr>
        <p:txBody>
          <a:bodyPr wrap="square" rtlCol="0">
            <a:spAutoFit/>
          </a:bodyPr>
          <a:lstStyle/>
          <a:p>
            <a:r>
              <a:rPr kumimoji="1" lang="en-US" altLang="ja-JP" sz="2800" dirty="0"/>
              <a:t> 0°</a:t>
            </a:r>
          </a:p>
          <a:p>
            <a:r>
              <a:rPr lang="en-US" altLang="ja-JP" sz="2000" dirty="0"/>
              <a:t>(360°)</a:t>
            </a:r>
            <a:endParaRPr kumimoji="1" lang="ja-JP" altLang="en-US" sz="2000" dirty="0"/>
          </a:p>
        </p:txBody>
      </p:sp>
      <p:sp>
        <p:nvSpPr>
          <p:cNvPr id="43" name="テキスト ボックス 42">
            <a:extLst>
              <a:ext uri="{FF2B5EF4-FFF2-40B4-BE49-F238E27FC236}">
                <a16:creationId xmlns:a16="http://schemas.microsoft.com/office/drawing/2014/main" id="{8B68CC79-D8B3-B33A-3577-72793C28A0EF}"/>
              </a:ext>
            </a:extLst>
          </p:cNvPr>
          <p:cNvSpPr txBox="1"/>
          <p:nvPr/>
        </p:nvSpPr>
        <p:spPr>
          <a:xfrm>
            <a:off x="8714717" y="6340542"/>
            <a:ext cx="1020485" cy="523220"/>
          </a:xfrm>
          <a:prstGeom prst="rect">
            <a:avLst/>
          </a:prstGeom>
          <a:noFill/>
        </p:spPr>
        <p:txBody>
          <a:bodyPr wrap="square" rtlCol="0">
            <a:spAutoFit/>
          </a:bodyPr>
          <a:lstStyle/>
          <a:p>
            <a:pPr algn="ctr"/>
            <a:r>
              <a:rPr lang="en-US" altLang="ja-JP" sz="2800" dirty="0"/>
              <a:t>270</a:t>
            </a:r>
            <a:r>
              <a:rPr kumimoji="1" lang="en-US" altLang="ja-JP" sz="2800" dirty="0"/>
              <a:t>°</a:t>
            </a:r>
            <a:endParaRPr kumimoji="1" lang="ja-JP" altLang="en-US" sz="2800" dirty="0"/>
          </a:p>
        </p:txBody>
      </p:sp>
      <p:sp>
        <p:nvSpPr>
          <p:cNvPr id="44" name="テキスト ボックス 43">
            <a:extLst>
              <a:ext uri="{FF2B5EF4-FFF2-40B4-BE49-F238E27FC236}">
                <a16:creationId xmlns:a16="http://schemas.microsoft.com/office/drawing/2014/main" id="{C6E0B1B1-E17A-C564-1FDC-93E190CC50B5}"/>
              </a:ext>
            </a:extLst>
          </p:cNvPr>
          <p:cNvSpPr txBox="1"/>
          <p:nvPr/>
        </p:nvSpPr>
        <p:spPr>
          <a:xfrm>
            <a:off x="6387152" y="4232640"/>
            <a:ext cx="1020485" cy="523220"/>
          </a:xfrm>
          <a:prstGeom prst="rect">
            <a:avLst/>
          </a:prstGeom>
          <a:noFill/>
        </p:spPr>
        <p:txBody>
          <a:bodyPr wrap="square" rtlCol="0">
            <a:spAutoFit/>
          </a:bodyPr>
          <a:lstStyle/>
          <a:p>
            <a:pPr algn="ctr"/>
            <a:r>
              <a:rPr lang="en-US" altLang="ja-JP" sz="2800" dirty="0"/>
              <a:t>18</a:t>
            </a:r>
            <a:r>
              <a:rPr kumimoji="1" lang="en-US" altLang="ja-JP" sz="2800" dirty="0"/>
              <a:t>0°</a:t>
            </a:r>
            <a:endParaRPr kumimoji="1" lang="ja-JP" altLang="en-US" sz="2800" dirty="0"/>
          </a:p>
        </p:txBody>
      </p:sp>
      <p:sp>
        <p:nvSpPr>
          <p:cNvPr id="24" name="矢印: 右 23">
            <a:extLst>
              <a:ext uri="{FF2B5EF4-FFF2-40B4-BE49-F238E27FC236}">
                <a16:creationId xmlns:a16="http://schemas.microsoft.com/office/drawing/2014/main" id="{07EAB848-E82F-3E86-26F0-9A9277943BAA}"/>
              </a:ext>
            </a:extLst>
          </p:cNvPr>
          <p:cNvSpPr/>
          <p:nvPr/>
        </p:nvSpPr>
        <p:spPr>
          <a:xfrm>
            <a:off x="9523368" y="3932646"/>
            <a:ext cx="356398" cy="378745"/>
          </a:xfrm>
          <a:prstGeom prst="rightArrow">
            <a:avLst>
              <a:gd name="adj1" fmla="val 38683"/>
              <a:gd name="adj2" fmla="val 54009"/>
            </a:avLst>
          </a:prstGeom>
          <a:solidFill>
            <a:schemeClr val="tx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テキスト ボックス 67">
            <a:extLst>
              <a:ext uri="{FF2B5EF4-FFF2-40B4-BE49-F238E27FC236}">
                <a16:creationId xmlns:a16="http://schemas.microsoft.com/office/drawing/2014/main" id="{DE7C37BC-B9BD-C8D3-0AD0-43D9A2EFF78C}"/>
              </a:ext>
            </a:extLst>
          </p:cNvPr>
          <p:cNvSpPr txBox="1"/>
          <p:nvPr/>
        </p:nvSpPr>
        <p:spPr>
          <a:xfrm>
            <a:off x="0" y="3432223"/>
            <a:ext cx="6095813" cy="523220"/>
          </a:xfrm>
          <a:prstGeom prst="rect">
            <a:avLst/>
          </a:prstGeom>
          <a:noFill/>
        </p:spPr>
        <p:txBody>
          <a:bodyPr wrap="square" rtlCol="0">
            <a:spAutoFit/>
          </a:bodyPr>
          <a:lstStyle/>
          <a:p>
            <a:pPr algn="ctr"/>
            <a:r>
              <a:rPr lang="ja-JP" altLang="en-US" sz="2800" dirty="0"/>
              <a:t>     </a:t>
            </a:r>
            <a:r>
              <a:rPr lang="en-US" altLang="ja-JP" sz="2800" dirty="0"/>
              <a:t>°</a:t>
            </a:r>
            <a:r>
              <a:rPr lang="ja-JP" altLang="en-US" sz="2800" dirty="0"/>
              <a:t>を向いて一歩進む</a:t>
            </a:r>
            <a:endParaRPr lang="en-US" altLang="ja-JP" sz="2800" dirty="0"/>
          </a:p>
        </p:txBody>
      </p:sp>
      <p:sp>
        <p:nvSpPr>
          <p:cNvPr id="70" name="テキスト ボックス 69">
            <a:extLst>
              <a:ext uri="{FF2B5EF4-FFF2-40B4-BE49-F238E27FC236}">
                <a16:creationId xmlns:a16="http://schemas.microsoft.com/office/drawing/2014/main" id="{2AFEC947-8301-0D55-6331-38BA0AF114DE}"/>
              </a:ext>
            </a:extLst>
          </p:cNvPr>
          <p:cNvSpPr txBox="1"/>
          <p:nvPr/>
        </p:nvSpPr>
        <p:spPr>
          <a:xfrm>
            <a:off x="3174655" y="3801879"/>
            <a:ext cx="252600" cy="954107"/>
          </a:xfrm>
          <a:prstGeom prst="rect">
            <a:avLst/>
          </a:prstGeom>
          <a:noFill/>
        </p:spPr>
        <p:txBody>
          <a:bodyPr wrap="square">
            <a:spAutoFit/>
          </a:bodyPr>
          <a:lstStyle/>
          <a:p>
            <a:pPr algn="ctr"/>
            <a:r>
              <a:rPr kumimoji="1" lang="ja-JP" altLang="en-US" sz="2800" dirty="0"/>
              <a:t>＝</a:t>
            </a:r>
            <a:endParaRPr kumimoji="1" lang="en-US" altLang="ja-JP" sz="2800" dirty="0"/>
          </a:p>
          <a:p>
            <a:pPr algn="ctr"/>
            <a:r>
              <a:rPr lang="ja-JP" altLang="en-US" sz="2800" dirty="0"/>
              <a:t>、</a:t>
            </a:r>
            <a:endParaRPr lang="en-US" altLang="ja-JP" sz="2800" dirty="0"/>
          </a:p>
        </p:txBody>
      </p:sp>
      <p:sp>
        <p:nvSpPr>
          <p:cNvPr id="74" name="テキスト ボックス 73">
            <a:extLst>
              <a:ext uri="{FF2B5EF4-FFF2-40B4-BE49-F238E27FC236}">
                <a16:creationId xmlns:a16="http://schemas.microsoft.com/office/drawing/2014/main" id="{1447F4BF-A086-1F2B-E5A3-2EA80C4CD4CE}"/>
              </a:ext>
            </a:extLst>
          </p:cNvPr>
          <p:cNvSpPr txBox="1"/>
          <p:nvPr/>
        </p:nvSpPr>
        <p:spPr>
          <a:xfrm>
            <a:off x="1254314" y="3444240"/>
            <a:ext cx="563279" cy="523220"/>
          </a:xfrm>
          <a:prstGeom prst="rect">
            <a:avLst/>
          </a:prstGeom>
          <a:noFill/>
        </p:spPr>
        <p:txBody>
          <a:bodyPr wrap="square">
            <a:spAutoFit/>
          </a:bodyPr>
          <a:lstStyle/>
          <a:p>
            <a:pPr algn="r"/>
            <a:r>
              <a:rPr lang="en-US" altLang="ja-JP" sz="2800" dirty="0"/>
              <a:t>0</a:t>
            </a:r>
            <a:endParaRPr lang="ja-JP" altLang="en-US" sz="2800" dirty="0"/>
          </a:p>
        </p:txBody>
      </p:sp>
      <p:sp>
        <p:nvSpPr>
          <p:cNvPr id="75" name="テキスト ボックス 74">
            <a:extLst>
              <a:ext uri="{FF2B5EF4-FFF2-40B4-BE49-F238E27FC236}">
                <a16:creationId xmlns:a16="http://schemas.microsoft.com/office/drawing/2014/main" id="{5E8EB70D-AC42-94FC-F1C2-CA1CF423F4FD}"/>
              </a:ext>
            </a:extLst>
          </p:cNvPr>
          <p:cNvSpPr txBox="1"/>
          <p:nvPr/>
        </p:nvSpPr>
        <p:spPr>
          <a:xfrm>
            <a:off x="361901" y="4157185"/>
            <a:ext cx="1993574" cy="584775"/>
          </a:xfrm>
          <a:prstGeom prst="rect">
            <a:avLst/>
          </a:prstGeom>
          <a:noFill/>
        </p:spPr>
        <p:txBody>
          <a:bodyPr wrap="square">
            <a:spAutoFit/>
          </a:bodyPr>
          <a:lstStyle/>
          <a:p>
            <a:r>
              <a:rPr lang="en-US" altLang="ja-JP" sz="3200" dirty="0"/>
              <a:t>x</a:t>
            </a:r>
            <a:r>
              <a:rPr lang="ja-JP" altLang="en-US" sz="3200" dirty="0"/>
              <a:t>軸方向に </a:t>
            </a:r>
          </a:p>
        </p:txBody>
      </p:sp>
      <p:sp>
        <p:nvSpPr>
          <p:cNvPr id="76" name="テキスト ボックス 75">
            <a:extLst>
              <a:ext uri="{FF2B5EF4-FFF2-40B4-BE49-F238E27FC236}">
                <a16:creationId xmlns:a16="http://schemas.microsoft.com/office/drawing/2014/main" id="{7545BA70-62C7-3D57-E161-F81560DB4438}"/>
              </a:ext>
            </a:extLst>
          </p:cNvPr>
          <p:cNvSpPr txBox="1"/>
          <p:nvPr/>
        </p:nvSpPr>
        <p:spPr>
          <a:xfrm>
            <a:off x="3302366" y="4194610"/>
            <a:ext cx="1791099" cy="523220"/>
          </a:xfrm>
          <a:prstGeom prst="rect">
            <a:avLst/>
          </a:prstGeom>
          <a:noFill/>
        </p:spPr>
        <p:txBody>
          <a:bodyPr wrap="square">
            <a:spAutoFit/>
          </a:bodyPr>
          <a:lstStyle/>
          <a:p>
            <a:r>
              <a:rPr lang="en-US" altLang="ja-JP" sz="2800" dirty="0"/>
              <a:t>y</a:t>
            </a:r>
            <a:r>
              <a:rPr lang="ja-JP" altLang="en-US" sz="2800" dirty="0"/>
              <a:t>軸方向に </a:t>
            </a:r>
          </a:p>
        </p:txBody>
      </p:sp>
      <p:sp>
        <p:nvSpPr>
          <p:cNvPr id="79" name="テキスト ボックス 78">
            <a:extLst>
              <a:ext uri="{FF2B5EF4-FFF2-40B4-BE49-F238E27FC236}">
                <a16:creationId xmlns:a16="http://schemas.microsoft.com/office/drawing/2014/main" id="{007B9C87-FC73-8BC8-4E1F-4BC2723F3137}"/>
              </a:ext>
            </a:extLst>
          </p:cNvPr>
          <p:cNvSpPr txBox="1"/>
          <p:nvPr/>
        </p:nvSpPr>
        <p:spPr>
          <a:xfrm>
            <a:off x="4962309" y="4146875"/>
            <a:ext cx="787182" cy="523220"/>
          </a:xfrm>
          <a:prstGeom prst="rect">
            <a:avLst/>
          </a:prstGeom>
          <a:noFill/>
        </p:spPr>
        <p:txBody>
          <a:bodyPr wrap="square">
            <a:spAutoFit/>
          </a:bodyPr>
          <a:lstStyle/>
          <a:p>
            <a:r>
              <a:rPr lang="en-US" altLang="ja-JP" sz="2800" dirty="0"/>
              <a:t>±0</a:t>
            </a:r>
          </a:p>
        </p:txBody>
      </p:sp>
      <p:sp>
        <p:nvSpPr>
          <p:cNvPr id="83" name="テキスト ボックス 82">
            <a:extLst>
              <a:ext uri="{FF2B5EF4-FFF2-40B4-BE49-F238E27FC236}">
                <a16:creationId xmlns:a16="http://schemas.microsoft.com/office/drawing/2014/main" id="{E179DFEB-DB08-BFB1-2CA6-5DB2AFB24490}"/>
              </a:ext>
            </a:extLst>
          </p:cNvPr>
          <p:cNvSpPr txBox="1"/>
          <p:nvPr/>
        </p:nvSpPr>
        <p:spPr>
          <a:xfrm>
            <a:off x="2220227" y="4135595"/>
            <a:ext cx="675616" cy="523220"/>
          </a:xfrm>
          <a:prstGeom prst="rect">
            <a:avLst/>
          </a:prstGeom>
          <a:noFill/>
        </p:spPr>
        <p:txBody>
          <a:bodyPr wrap="square">
            <a:spAutoFit/>
          </a:bodyPr>
          <a:lstStyle/>
          <a:p>
            <a:r>
              <a:rPr lang="en-US" altLang="ja-JP" sz="2800" dirty="0"/>
              <a:t>+1</a:t>
            </a:r>
          </a:p>
        </p:txBody>
      </p:sp>
      <p:sp>
        <p:nvSpPr>
          <p:cNvPr id="85" name="テキスト ボックス 84">
            <a:extLst>
              <a:ext uri="{FF2B5EF4-FFF2-40B4-BE49-F238E27FC236}">
                <a16:creationId xmlns:a16="http://schemas.microsoft.com/office/drawing/2014/main" id="{647F8F40-AD86-B129-5741-94D9ED90C6D3}"/>
              </a:ext>
            </a:extLst>
          </p:cNvPr>
          <p:cNvSpPr txBox="1"/>
          <p:nvPr/>
        </p:nvSpPr>
        <p:spPr>
          <a:xfrm>
            <a:off x="1254314" y="3596640"/>
            <a:ext cx="563279" cy="523220"/>
          </a:xfrm>
          <a:prstGeom prst="rect">
            <a:avLst/>
          </a:prstGeom>
          <a:noFill/>
        </p:spPr>
        <p:txBody>
          <a:bodyPr wrap="square">
            <a:spAutoFit/>
          </a:bodyPr>
          <a:lstStyle/>
          <a:p>
            <a:pPr algn="r"/>
            <a:r>
              <a:rPr lang="en-US" altLang="ja-JP" sz="2800" dirty="0">
                <a:noFill/>
              </a:rPr>
              <a:t>30</a:t>
            </a:r>
            <a:endParaRPr lang="ja-JP" altLang="en-US" sz="2800" dirty="0">
              <a:noFill/>
            </a:endParaRPr>
          </a:p>
        </p:txBody>
      </p:sp>
      <p:sp>
        <p:nvSpPr>
          <p:cNvPr id="91" name="テキスト ボックス 90">
            <a:extLst>
              <a:ext uri="{FF2B5EF4-FFF2-40B4-BE49-F238E27FC236}">
                <a16:creationId xmlns:a16="http://schemas.microsoft.com/office/drawing/2014/main" id="{C4CB6A81-95E7-6392-73B2-A1A94C081D61}"/>
              </a:ext>
            </a:extLst>
          </p:cNvPr>
          <p:cNvSpPr txBox="1"/>
          <p:nvPr/>
        </p:nvSpPr>
        <p:spPr>
          <a:xfrm>
            <a:off x="5215155" y="6143763"/>
            <a:ext cx="281490" cy="523220"/>
          </a:xfrm>
          <a:prstGeom prst="rect">
            <a:avLst/>
          </a:prstGeom>
          <a:noFill/>
        </p:spPr>
        <p:txBody>
          <a:bodyPr wrap="square" rtlCol="0">
            <a:spAutoFit/>
          </a:bodyPr>
          <a:lstStyle/>
          <a:p>
            <a:r>
              <a:rPr lang="en-US" altLang="ja-JP" sz="2800" dirty="0"/>
              <a:t>(</a:t>
            </a:r>
            <a:endParaRPr kumimoji="1" lang="ja-JP" altLang="en-US" sz="2800" dirty="0"/>
          </a:p>
        </p:txBody>
      </p:sp>
      <p:sp>
        <p:nvSpPr>
          <p:cNvPr id="92" name="テキスト ボックス 91">
            <a:extLst>
              <a:ext uri="{FF2B5EF4-FFF2-40B4-BE49-F238E27FC236}">
                <a16:creationId xmlns:a16="http://schemas.microsoft.com/office/drawing/2014/main" id="{CF2B3966-7767-9240-C896-B2A95BD2FD73}"/>
              </a:ext>
            </a:extLst>
          </p:cNvPr>
          <p:cNvSpPr txBox="1"/>
          <p:nvPr/>
        </p:nvSpPr>
        <p:spPr>
          <a:xfrm>
            <a:off x="6691092" y="6143763"/>
            <a:ext cx="281490" cy="523220"/>
          </a:xfrm>
          <a:prstGeom prst="rect">
            <a:avLst/>
          </a:prstGeom>
          <a:noFill/>
        </p:spPr>
        <p:txBody>
          <a:bodyPr wrap="square" rtlCol="0">
            <a:spAutoFit/>
          </a:bodyPr>
          <a:lstStyle/>
          <a:p>
            <a:r>
              <a:rPr kumimoji="1" lang="en-US" altLang="ja-JP" sz="2800" dirty="0"/>
              <a:t>)</a:t>
            </a:r>
            <a:endParaRPr kumimoji="1" lang="ja-JP" altLang="en-US" sz="2800" dirty="0"/>
          </a:p>
        </p:txBody>
      </p:sp>
      <p:sp>
        <p:nvSpPr>
          <p:cNvPr id="93" name="テキスト ボックス 92">
            <a:extLst>
              <a:ext uri="{FF2B5EF4-FFF2-40B4-BE49-F238E27FC236}">
                <a16:creationId xmlns:a16="http://schemas.microsoft.com/office/drawing/2014/main" id="{5A351F9F-40D9-E687-7AD2-455D198C086D}"/>
              </a:ext>
            </a:extLst>
          </p:cNvPr>
          <p:cNvSpPr txBox="1"/>
          <p:nvPr/>
        </p:nvSpPr>
        <p:spPr>
          <a:xfrm>
            <a:off x="5962379" y="6143763"/>
            <a:ext cx="281490" cy="523220"/>
          </a:xfrm>
          <a:prstGeom prst="rect">
            <a:avLst/>
          </a:prstGeom>
          <a:noFill/>
        </p:spPr>
        <p:txBody>
          <a:bodyPr wrap="square" rtlCol="0">
            <a:spAutoFit/>
          </a:bodyPr>
          <a:lstStyle/>
          <a:p>
            <a:r>
              <a:rPr lang="en-US" altLang="ja-JP" sz="2800" dirty="0"/>
              <a:t>,</a:t>
            </a:r>
          </a:p>
        </p:txBody>
      </p:sp>
      <p:sp>
        <p:nvSpPr>
          <p:cNvPr id="94" name="テキスト ボックス 93">
            <a:extLst>
              <a:ext uri="{FF2B5EF4-FFF2-40B4-BE49-F238E27FC236}">
                <a16:creationId xmlns:a16="http://schemas.microsoft.com/office/drawing/2014/main" id="{C16FD9E2-5746-BCC1-3F51-5A6BC1971F2E}"/>
              </a:ext>
            </a:extLst>
          </p:cNvPr>
          <p:cNvSpPr txBox="1"/>
          <p:nvPr/>
        </p:nvSpPr>
        <p:spPr>
          <a:xfrm>
            <a:off x="5496645" y="6143763"/>
            <a:ext cx="851647" cy="523220"/>
          </a:xfrm>
          <a:prstGeom prst="rect">
            <a:avLst/>
          </a:prstGeom>
          <a:noFill/>
        </p:spPr>
        <p:txBody>
          <a:bodyPr wrap="square" rtlCol="0">
            <a:spAutoFit/>
          </a:bodyPr>
          <a:lstStyle/>
          <a:p>
            <a:r>
              <a:rPr kumimoji="1" lang="en-US" altLang="ja-JP" sz="2800" dirty="0"/>
              <a:t>1</a:t>
            </a:r>
            <a:endParaRPr kumimoji="1" lang="ja-JP" altLang="en-US" sz="2800" dirty="0"/>
          </a:p>
        </p:txBody>
      </p:sp>
      <p:sp>
        <p:nvSpPr>
          <p:cNvPr id="95" name="テキスト ボックス 94">
            <a:extLst>
              <a:ext uri="{FF2B5EF4-FFF2-40B4-BE49-F238E27FC236}">
                <a16:creationId xmlns:a16="http://schemas.microsoft.com/office/drawing/2014/main" id="{0BAC74BC-C7A3-B827-A7AD-50BAD67AF6FB}"/>
              </a:ext>
            </a:extLst>
          </p:cNvPr>
          <p:cNvSpPr txBox="1"/>
          <p:nvPr/>
        </p:nvSpPr>
        <p:spPr>
          <a:xfrm>
            <a:off x="6289301" y="6143763"/>
            <a:ext cx="851647" cy="523220"/>
          </a:xfrm>
          <a:prstGeom prst="rect">
            <a:avLst/>
          </a:prstGeom>
          <a:noFill/>
        </p:spPr>
        <p:txBody>
          <a:bodyPr wrap="square" rtlCol="0">
            <a:spAutoFit/>
          </a:bodyPr>
          <a:lstStyle/>
          <a:p>
            <a:r>
              <a:rPr kumimoji="1" lang="en-US" altLang="ja-JP" sz="2800" dirty="0"/>
              <a:t>1</a:t>
            </a:r>
            <a:endParaRPr kumimoji="1" lang="ja-JP" altLang="en-US" sz="2800" dirty="0"/>
          </a:p>
        </p:txBody>
      </p:sp>
      <p:sp>
        <p:nvSpPr>
          <p:cNvPr id="98" name="テキスト ボックス 97">
            <a:extLst>
              <a:ext uri="{FF2B5EF4-FFF2-40B4-BE49-F238E27FC236}">
                <a16:creationId xmlns:a16="http://schemas.microsoft.com/office/drawing/2014/main" id="{5CF1A7F0-B494-2673-705B-3176E1E72612}"/>
              </a:ext>
            </a:extLst>
          </p:cNvPr>
          <p:cNvSpPr txBox="1"/>
          <p:nvPr/>
        </p:nvSpPr>
        <p:spPr>
          <a:xfrm>
            <a:off x="6289301" y="5991363"/>
            <a:ext cx="851647" cy="523220"/>
          </a:xfrm>
          <a:prstGeom prst="rect">
            <a:avLst/>
          </a:prstGeom>
          <a:noFill/>
        </p:spPr>
        <p:txBody>
          <a:bodyPr wrap="square" rtlCol="0">
            <a:spAutoFit/>
          </a:bodyPr>
          <a:lstStyle/>
          <a:p>
            <a:r>
              <a:rPr kumimoji="1" lang="en-US" altLang="ja-JP" sz="2800" dirty="0">
                <a:noFill/>
              </a:rPr>
              <a:t>1</a:t>
            </a:r>
            <a:endParaRPr kumimoji="1" lang="ja-JP" altLang="en-US" sz="2800" dirty="0">
              <a:noFill/>
            </a:endParaRPr>
          </a:p>
        </p:txBody>
      </p:sp>
      <p:sp>
        <p:nvSpPr>
          <p:cNvPr id="99" name="テキスト ボックス 98">
            <a:extLst>
              <a:ext uri="{FF2B5EF4-FFF2-40B4-BE49-F238E27FC236}">
                <a16:creationId xmlns:a16="http://schemas.microsoft.com/office/drawing/2014/main" id="{6A456759-1380-2DD1-768D-ECB503538636}"/>
              </a:ext>
            </a:extLst>
          </p:cNvPr>
          <p:cNvSpPr txBox="1"/>
          <p:nvPr/>
        </p:nvSpPr>
        <p:spPr>
          <a:xfrm>
            <a:off x="5496645" y="5991363"/>
            <a:ext cx="851647" cy="523220"/>
          </a:xfrm>
          <a:prstGeom prst="rect">
            <a:avLst/>
          </a:prstGeom>
          <a:noFill/>
        </p:spPr>
        <p:txBody>
          <a:bodyPr wrap="square" rtlCol="0">
            <a:spAutoFit/>
          </a:bodyPr>
          <a:lstStyle/>
          <a:p>
            <a:r>
              <a:rPr lang="en-US" altLang="ja-JP" sz="2800" dirty="0">
                <a:noFill/>
              </a:rPr>
              <a:t>0</a:t>
            </a:r>
            <a:endParaRPr kumimoji="1" lang="ja-JP" altLang="en-US" sz="2800" dirty="0">
              <a:noFill/>
            </a:endParaRPr>
          </a:p>
        </p:txBody>
      </p:sp>
    </p:spTree>
    <p:extLst>
      <p:ext uri="{BB962C8B-B14F-4D97-AF65-F5344CB8AC3E}">
        <p14:creationId xmlns:p14="http://schemas.microsoft.com/office/powerpoint/2010/main" val="223287932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2EBD6-4672-D81A-83BB-FA86DA3C3954}"/>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B9619D2E-1D8B-9E43-353E-798DD03000D6}"/>
              </a:ext>
            </a:extLst>
          </p:cNvPr>
          <p:cNvSpPr/>
          <p:nvPr/>
        </p:nvSpPr>
        <p:spPr>
          <a:xfrm>
            <a:off x="3046801"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D873CA49-AA47-D9AE-E4DA-A968EEE678CE}"/>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07BAC7CC-79D7-17F0-0010-5D0811D1C01C}"/>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bg1"/>
                </a:solidFill>
              </a:rPr>
              <a:t>システム要件</a:t>
            </a:r>
          </a:p>
        </p:txBody>
      </p:sp>
      <p:sp>
        <p:nvSpPr>
          <p:cNvPr id="11" name="四角形: 角を丸くする 10">
            <a:extLst>
              <a:ext uri="{FF2B5EF4-FFF2-40B4-BE49-F238E27FC236}">
                <a16:creationId xmlns:a16="http://schemas.microsoft.com/office/drawing/2014/main" id="{4DAFF475-71E8-AECE-A988-F8B1FDA02E71}"/>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BAB2233A-8194-7FDF-1051-1348B732E64E}"/>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t>プログラム説明</a:t>
            </a:r>
            <a:endParaRPr kumimoji="1" lang="ja-JP" altLang="en-US" sz="2400" dirty="0"/>
          </a:p>
        </p:txBody>
      </p:sp>
      <p:sp>
        <p:nvSpPr>
          <p:cNvPr id="7" name="テキスト ボックス 6">
            <a:extLst>
              <a:ext uri="{FF2B5EF4-FFF2-40B4-BE49-F238E27FC236}">
                <a16:creationId xmlns:a16="http://schemas.microsoft.com/office/drawing/2014/main" id="{405081B6-3B58-64C2-BB2E-33F99A327CB7}"/>
              </a:ext>
            </a:extLst>
          </p:cNvPr>
          <p:cNvSpPr txBox="1"/>
          <p:nvPr/>
        </p:nvSpPr>
        <p:spPr>
          <a:xfrm>
            <a:off x="771525" y="1171575"/>
            <a:ext cx="2275276" cy="584775"/>
          </a:xfrm>
          <a:prstGeom prst="rect">
            <a:avLst/>
          </a:prstGeom>
          <a:noFill/>
        </p:spPr>
        <p:txBody>
          <a:bodyPr wrap="square" rtlCol="0">
            <a:spAutoFit/>
          </a:bodyPr>
          <a:lstStyle/>
          <a:p>
            <a:r>
              <a:rPr lang="ja-JP" altLang="en-US" sz="3200" dirty="0"/>
              <a:t>移動制御</a:t>
            </a:r>
            <a:endParaRPr kumimoji="1" lang="ja-JP" altLang="en-US" sz="3200" dirty="0"/>
          </a:p>
        </p:txBody>
      </p:sp>
      <p:sp>
        <p:nvSpPr>
          <p:cNvPr id="10" name="テキスト ボックス 9">
            <a:extLst>
              <a:ext uri="{FF2B5EF4-FFF2-40B4-BE49-F238E27FC236}">
                <a16:creationId xmlns:a16="http://schemas.microsoft.com/office/drawing/2014/main" id="{5B56E688-89DC-FA7C-1B5F-9D0708CB9B7A}"/>
              </a:ext>
            </a:extLst>
          </p:cNvPr>
          <p:cNvSpPr txBox="1"/>
          <p:nvPr/>
        </p:nvSpPr>
        <p:spPr>
          <a:xfrm>
            <a:off x="1238250" y="1755127"/>
            <a:ext cx="10953750" cy="461665"/>
          </a:xfrm>
          <a:prstGeom prst="rect">
            <a:avLst/>
          </a:prstGeom>
          <a:noFill/>
        </p:spPr>
        <p:txBody>
          <a:bodyPr wrap="square" rtlCol="0">
            <a:spAutoFit/>
          </a:bodyPr>
          <a:lstStyle/>
          <a:p>
            <a:r>
              <a:rPr lang="en-US" altLang="ja-JP" sz="2400" dirty="0"/>
              <a:t>“</a:t>
            </a:r>
            <a:r>
              <a:rPr lang="ja-JP" altLang="en-US" sz="2400" dirty="0"/>
              <a:t>向き</a:t>
            </a:r>
            <a:r>
              <a:rPr lang="en-US" altLang="ja-JP" sz="2400" dirty="0"/>
              <a:t>”</a:t>
            </a:r>
            <a:r>
              <a:rPr lang="ja-JP" altLang="en-US" sz="2400" dirty="0"/>
              <a:t>と</a:t>
            </a:r>
            <a:r>
              <a:rPr lang="en-US" altLang="ja-JP" sz="2400" dirty="0"/>
              <a:t>”</a:t>
            </a:r>
            <a:r>
              <a:rPr lang="ja-JP" altLang="en-US" sz="2400" dirty="0"/>
              <a:t>歩数</a:t>
            </a:r>
            <a:r>
              <a:rPr lang="en-US" altLang="ja-JP" sz="2400" dirty="0"/>
              <a:t>”</a:t>
            </a:r>
            <a:r>
              <a:rPr lang="ja-JP" altLang="en-US" sz="2400" dirty="0"/>
              <a:t>による自己位置推定と、目標座標への移動量計算</a:t>
            </a:r>
            <a:endParaRPr lang="en-US" altLang="ja-JP" sz="2400" dirty="0"/>
          </a:p>
        </p:txBody>
      </p:sp>
      <p:cxnSp>
        <p:nvCxnSpPr>
          <p:cNvPr id="5" name="直線コネクタ 4">
            <a:extLst>
              <a:ext uri="{FF2B5EF4-FFF2-40B4-BE49-F238E27FC236}">
                <a16:creationId xmlns:a16="http://schemas.microsoft.com/office/drawing/2014/main" id="{60EC9652-73D9-2DA3-271F-24C4BFD50880}"/>
              </a:ext>
            </a:extLst>
          </p:cNvPr>
          <p:cNvCxnSpPr/>
          <p:nvPr/>
        </p:nvCxnSpPr>
        <p:spPr>
          <a:xfrm>
            <a:off x="7344629" y="4124790"/>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 name="直線矢印コネクタ 2">
            <a:extLst>
              <a:ext uri="{FF2B5EF4-FFF2-40B4-BE49-F238E27FC236}">
                <a16:creationId xmlns:a16="http://schemas.microsoft.com/office/drawing/2014/main" id="{F1DAE05F-C729-351D-12FC-56B59500E556}"/>
              </a:ext>
            </a:extLst>
          </p:cNvPr>
          <p:cNvCxnSpPr/>
          <p:nvPr/>
        </p:nvCxnSpPr>
        <p:spPr>
          <a:xfrm>
            <a:off x="7344629" y="4482990"/>
            <a:ext cx="360000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 name="直線コネクタ 7">
            <a:extLst>
              <a:ext uri="{FF2B5EF4-FFF2-40B4-BE49-F238E27FC236}">
                <a16:creationId xmlns:a16="http://schemas.microsoft.com/office/drawing/2014/main" id="{ABCC7A83-B52C-A5B2-7930-8508ADDE62EB}"/>
              </a:ext>
            </a:extLst>
          </p:cNvPr>
          <p:cNvCxnSpPr/>
          <p:nvPr/>
        </p:nvCxnSpPr>
        <p:spPr>
          <a:xfrm>
            <a:off x="7344629" y="3764790"/>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4" name="直線矢印コネクタ 3">
            <a:extLst>
              <a:ext uri="{FF2B5EF4-FFF2-40B4-BE49-F238E27FC236}">
                <a16:creationId xmlns:a16="http://schemas.microsoft.com/office/drawing/2014/main" id="{69A18E8A-2DC2-A1D7-6C93-3D09B689935F}"/>
              </a:ext>
            </a:extLst>
          </p:cNvPr>
          <p:cNvCxnSpPr>
            <a:cxnSpLocks/>
          </p:cNvCxnSpPr>
          <p:nvPr/>
        </p:nvCxnSpPr>
        <p:spPr>
          <a:xfrm rot="10800000">
            <a:off x="9146141" y="2682990"/>
            <a:ext cx="0" cy="360000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 name="直線矢印コネクタ 5">
            <a:extLst>
              <a:ext uri="{FF2B5EF4-FFF2-40B4-BE49-F238E27FC236}">
                <a16:creationId xmlns:a16="http://schemas.microsoft.com/office/drawing/2014/main" id="{EA9D0C32-18D5-6CCD-EBF4-8876273F9EEA}"/>
              </a:ext>
            </a:extLst>
          </p:cNvPr>
          <p:cNvCxnSpPr/>
          <p:nvPr/>
        </p:nvCxnSpPr>
        <p:spPr>
          <a:xfrm>
            <a:off x="7346141" y="3404790"/>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16" name="直線矢印コネクタ 15">
            <a:extLst>
              <a:ext uri="{FF2B5EF4-FFF2-40B4-BE49-F238E27FC236}">
                <a16:creationId xmlns:a16="http://schemas.microsoft.com/office/drawing/2014/main" id="{6414AAA5-5818-C4E1-518E-1C2A2DF4ACCA}"/>
              </a:ext>
            </a:extLst>
          </p:cNvPr>
          <p:cNvCxnSpPr/>
          <p:nvPr/>
        </p:nvCxnSpPr>
        <p:spPr>
          <a:xfrm>
            <a:off x="7346141" y="3044790"/>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17" name="直線コネクタ 16">
            <a:extLst>
              <a:ext uri="{FF2B5EF4-FFF2-40B4-BE49-F238E27FC236}">
                <a16:creationId xmlns:a16="http://schemas.microsoft.com/office/drawing/2014/main" id="{22547ACC-8C19-5991-D07D-8C50E3165583}"/>
              </a:ext>
            </a:extLst>
          </p:cNvPr>
          <p:cNvCxnSpPr/>
          <p:nvPr/>
        </p:nvCxnSpPr>
        <p:spPr>
          <a:xfrm>
            <a:off x="7344629" y="5882153"/>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7785490F-3F6E-2C3E-C6EF-1FCF800B9137}"/>
              </a:ext>
            </a:extLst>
          </p:cNvPr>
          <p:cNvCxnSpPr/>
          <p:nvPr/>
        </p:nvCxnSpPr>
        <p:spPr>
          <a:xfrm>
            <a:off x="7344629" y="5522153"/>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9" name="直線矢印コネクタ 18">
            <a:extLst>
              <a:ext uri="{FF2B5EF4-FFF2-40B4-BE49-F238E27FC236}">
                <a16:creationId xmlns:a16="http://schemas.microsoft.com/office/drawing/2014/main" id="{38643371-8121-F5F5-546F-8D26AF8406CA}"/>
              </a:ext>
            </a:extLst>
          </p:cNvPr>
          <p:cNvCxnSpPr/>
          <p:nvPr/>
        </p:nvCxnSpPr>
        <p:spPr>
          <a:xfrm>
            <a:off x="7346141" y="5162153"/>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20" name="直線矢印コネクタ 19">
            <a:extLst>
              <a:ext uri="{FF2B5EF4-FFF2-40B4-BE49-F238E27FC236}">
                <a16:creationId xmlns:a16="http://schemas.microsoft.com/office/drawing/2014/main" id="{32A7B0AC-1BA4-EC06-61F3-756FD73996EB}"/>
              </a:ext>
            </a:extLst>
          </p:cNvPr>
          <p:cNvCxnSpPr/>
          <p:nvPr/>
        </p:nvCxnSpPr>
        <p:spPr>
          <a:xfrm>
            <a:off x="7346141" y="4802153"/>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29" name="直線コネクタ 28">
            <a:extLst>
              <a:ext uri="{FF2B5EF4-FFF2-40B4-BE49-F238E27FC236}">
                <a16:creationId xmlns:a16="http://schemas.microsoft.com/office/drawing/2014/main" id="{B2D1A3E8-E353-FCFB-6B0D-A1DE27F6F399}"/>
              </a:ext>
            </a:extLst>
          </p:cNvPr>
          <p:cNvCxnSpPr/>
          <p:nvPr/>
        </p:nvCxnSpPr>
        <p:spPr>
          <a:xfrm>
            <a:off x="878614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E9172DEC-A72B-13BF-16BD-74E117D3548F}"/>
              </a:ext>
            </a:extLst>
          </p:cNvPr>
          <p:cNvCxnSpPr/>
          <p:nvPr/>
        </p:nvCxnSpPr>
        <p:spPr>
          <a:xfrm>
            <a:off x="842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88425B03-A985-3C60-78B8-51D8FBAE03A8}"/>
              </a:ext>
            </a:extLst>
          </p:cNvPr>
          <p:cNvCxnSpPr/>
          <p:nvPr/>
        </p:nvCxnSpPr>
        <p:spPr>
          <a:xfrm>
            <a:off x="806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4" name="直線コネクタ 33">
            <a:extLst>
              <a:ext uri="{FF2B5EF4-FFF2-40B4-BE49-F238E27FC236}">
                <a16:creationId xmlns:a16="http://schemas.microsoft.com/office/drawing/2014/main" id="{F2F2B206-7064-0A68-25D0-EC89EEEB7DF1}"/>
              </a:ext>
            </a:extLst>
          </p:cNvPr>
          <p:cNvCxnSpPr/>
          <p:nvPr/>
        </p:nvCxnSpPr>
        <p:spPr>
          <a:xfrm>
            <a:off x="770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5" name="直線コネクタ 34">
            <a:extLst>
              <a:ext uri="{FF2B5EF4-FFF2-40B4-BE49-F238E27FC236}">
                <a16:creationId xmlns:a16="http://schemas.microsoft.com/office/drawing/2014/main" id="{DF289B65-3EB3-048C-835B-8EFFDBBF91F3}"/>
              </a:ext>
            </a:extLst>
          </p:cNvPr>
          <p:cNvCxnSpPr/>
          <p:nvPr/>
        </p:nvCxnSpPr>
        <p:spPr>
          <a:xfrm>
            <a:off x="10599701" y="2681188"/>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6" name="直線コネクタ 35">
            <a:extLst>
              <a:ext uri="{FF2B5EF4-FFF2-40B4-BE49-F238E27FC236}">
                <a16:creationId xmlns:a16="http://schemas.microsoft.com/office/drawing/2014/main" id="{728272CC-952E-0635-7F07-3B9C80D8750D}"/>
              </a:ext>
            </a:extLst>
          </p:cNvPr>
          <p:cNvCxnSpPr/>
          <p:nvPr/>
        </p:nvCxnSpPr>
        <p:spPr>
          <a:xfrm>
            <a:off x="1023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7" name="直線コネクタ 36">
            <a:extLst>
              <a:ext uri="{FF2B5EF4-FFF2-40B4-BE49-F238E27FC236}">
                <a16:creationId xmlns:a16="http://schemas.microsoft.com/office/drawing/2014/main" id="{B4590B98-2848-CB3C-1FA9-27C120C44ED7}"/>
              </a:ext>
            </a:extLst>
          </p:cNvPr>
          <p:cNvCxnSpPr/>
          <p:nvPr/>
        </p:nvCxnSpPr>
        <p:spPr>
          <a:xfrm>
            <a:off x="987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8" name="直線コネクタ 37">
            <a:extLst>
              <a:ext uri="{FF2B5EF4-FFF2-40B4-BE49-F238E27FC236}">
                <a16:creationId xmlns:a16="http://schemas.microsoft.com/office/drawing/2014/main" id="{EF0F2ED3-9338-0B1D-4242-2326A7846529}"/>
              </a:ext>
            </a:extLst>
          </p:cNvPr>
          <p:cNvCxnSpPr/>
          <p:nvPr/>
        </p:nvCxnSpPr>
        <p:spPr>
          <a:xfrm>
            <a:off x="951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sp>
        <p:nvSpPr>
          <p:cNvPr id="39" name="テキスト ボックス 38">
            <a:extLst>
              <a:ext uri="{FF2B5EF4-FFF2-40B4-BE49-F238E27FC236}">
                <a16:creationId xmlns:a16="http://schemas.microsoft.com/office/drawing/2014/main" id="{73E2F3B3-32AB-D0D5-C5B3-3A93C3E1B651}"/>
              </a:ext>
            </a:extLst>
          </p:cNvPr>
          <p:cNvSpPr txBox="1"/>
          <p:nvPr/>
        </p:nvSpPr>
        <p:spPr>
          <a:xfrm>
            <a:off x="10878514" y="4157185"/>
            <a:ext cx="267345" cy="584775"/>
          </a:xfrm>
          <a:prstGeom prst="rect">
            <a:avLst/>
          </a:prstGeom>
          <a:noFill/>
        </p:spPr>
        <p:txBody>
          <a:bodyPr wrap="square" rtlCol="0" anchor="t">
            <a:spAutoFit/>
          </a:bodyPr>
          <a:lstStyle/>
          <a:p>
            <a:r>
              <a:rPr kumimoji="1" lang="en-US" altLang="ja-JP" sz="3200" b="1" dirty="0">
                <a:latin typeface="Gigi" panose="04040504060007020D02" pitchFamily="82" charset="0"/>
              </a:rPr>
              <a:t>x</a:t>
            </a:r>
            <a:endParaRPr kumimoji="1" lang="ja-JP" altLang="en-US" sz="3200" b="1" dirty="0">
              <a:latin typeface="Gigi" panose="04040504060007020D02" pitchFamily="82" charset="0"/>
            </a:endParaRPr>
          </a:p>
        </p:txBody>
      </p:sp>
      <p:sp>
        <p:nvSpPr>
          <p:cNvPr id="40" name="テキスト ボックス 39">
            <a:extLst>
              <a:ext uri="{FF2B5EF4-FFF2-40B4-BE49-F238E27FC236}">
                <a16:creationId xmlns:a16="http://schemas.microsoft.com/office/drawing/2014/main" id="{EFAAC710-1E35-2D4C-5238-59DC9D7C23FF}"/>
              </a:ext>
            </a:extLst>
          </p:cNvPr>
          <p:cNvSpPr txBox="1"/>
          <p:nvPr/>
        </p:nvSpPr>
        <p:spPr>
          <a:xfrm>
            <a:off x="8930273" y="2116703"/>
            <a:ext cx="267345" cy="584775"/>
          </a:xfrm>
          <a:prstGeom prst="rect">
            <a:avLst/>
          </a:prstGeom>
          <a:noFill/>
        </p:spPr>
        <p:txBody>
          <a:bodyPr wrap="square" rtlCol="0">
            <a:spAutoFit/>
          </a:bodyPr>
          <a:lstStyle/>
          <a:p>
            <a:r>
              <a:rPr lang="en-US" altLang="ja-JP" sz="3200" b="1" dirty="0">
                <a:latin typeface="Gigi" panose="04040504060007020D02" pitchFamily="82" charset="0"/>
              </a:rPr>
              <a:t>y</a:t>
            </a:r>
            <a:endParaRPr kumimoji="1" lang="ja-JP" altLang="en-US" sz="3200" b="1" dirty="0">
              <a:latin typeface="Gigi" panose="04040504060007020D02" pitchFamily="82" charset="0"/>
            </a:endParaRPr>
          </a:p>
        </p:txBody>
      </p:sp>
      <p:sp>
        <p:nvSpPr>
          <p:cNvPr id="41" name="テキスト ボックス 40">
            <a:extLst>
              <a:ext uri="{FF2B5EF4-FFF2-40B4-BE49-F238E27FC236}">
                <a16:creationId xmlns:a16="http://schemas.microsoft.com/office/drawing/2014/main" id="{BEB6C5D9-545B-7153-84A0-FE37C96AE7B4}"/>
              </a:ext>
            </a:extLst>
          </p:cNvPr>
          <p:cNvSpPr txBox="1"/>
          <p:nvPr/>
        </p:nvSpPr>
        <p:spPr>
          <a:xfrm>
            <a:off x="9109438" y="2161962"/>
            <a:ext cx="1020485" cy="523220"/>
          </a:xfrm>
          <a:prstGeom prst="rect">
            <a:avLst/>
          </a:prstGeom>
          <a:noFill/>
        </p:spPr>
        <p:txBody>
          <a:bodyPr wrap="square" rtlCol="0">
            <a:spAutoFit/>
          </a:bodyPr>
          <a:lstStyle/>
          <a:p>
            <a:pPr algn="ctr"/>
            <a:r>
              <a:rPr kumimoji="1" lang="en-US" altLang="ja-JP" sz="2800" dirty="0"/>
              <a:t>90°</a:t>
            </a:r>
            <a:endParaRPr kumimoji="1" lang="ja-JP" altLang="en-US" sz="2800" dirty="0"/>
          </a:p>
        </p:txBody>
      </p:sp>
      <p:sp>
        <p:nvSpPr>
          <p:cNvPr id="42" name="テキスト ボックス 41">
            <a:extLst>
              <a:ext uri="{FF2B5EF4-FFF2-40B4-BE49-F238E27FC236}">
                <a16:creationId xmlns:a16="http://schemas.microsoft.com/office/drawing/2014/main" id="{0925FF18-8008-2426-357A-970DDD526E5F}"/>
              </a:ext>
            </a:extLst>
          </p:cNvPr>
          <p:cNvSpPr txBox="1"/>
          <p:nvPr/>
        </p:nvSpPr>
        <p:spPr>
          <a:xfrm>
            <a:off x="11144105" y="4233942"/>
            <a:ext cx="1020485" cy="830997"/>
          </a:xfrm>
          <a:prstGeom prst="rect">
            <a:avLst/>
          </a:prstGeom>
          <a:noFill/>
        </p:spPr>
        <p:txBody>
          <a:bodyPr wrap="square" rtlCol="0">
            <a:spAutoFit/>
          </a:bodyPr>
          <a:lstStyle/>
          <a:p>
            <a:r>
              <a:rPr kumimoji="1" lang="en-US" altLang="ja-JP" sz="2800" dirty="0"/>
              <a:t> 0°</a:t>
            </a:r>
          </a:p>
          <a:p>
            <a:r>
              <a:rPr lang="en-US" altLang="ja-JP" sz="2000" dirty="0"/>
              <a:t>(360°)</a:t>
            </a:r>
            <a:endParaRPr kumimoji="1" lang="ja-JP" altLang="en-US" sz="2000" dirty="0"/>
          </a:p>
        </p:txBody>
      </p:sp>
      <p:sp>
        <p:nvSpPr>
          <p:cNvPr id="43" name="テキスト ボックス 42">
            <a:extLst>
              <a:ext uri="{FF2B5EF4-FFF2-40B4-BE49-F238E27FC236}">
                <a16:creationId xmlns:a16="http://schemas.microsoft.com/office/drawing/2014/main" id="{0DBA4F98-B0A6-12FB-4C7E-4D37E94BC50E}"/>
              </a:ext>
            </a:extLst>
          </p:cNvPr>
          <p:cNvSpPr txBox="1"/>
          <p:nvPr/>
        </p:nvSpPr>
        <p:spPr>
          <a:xfrm>
            <a:off x="8714717" y="6340542"/>
            <a:ext cx="1020485" cy="523220"/>
          </a:xfrm>
          <a:prstGeom prst="rect">
            <a:avLst/>
          </a:prstGeom>
          <a:noFill/>
        </p:spPr>
        <p:txBody>
          <a:bodyPr wrap="square" rtlCol="0">
            <a:spAutoFit/>
          </a:bodyPr>
          <a:lstStyle/>
          <a:p>
            <a:pPr algn="ctr"/>
            <a:r>
              <a:rPr lang="en-US" altLang="ja-JP" sz="2800" dirty="0"/>
              <a:t>270</a:t>
            </a:r>
            <a:r>
              <a:rPr kumimoji="1" lang="en-US" altLang="ja-JP" sz="2800" dirty="0"/>
              <a:t>°</a:t>
            </a:r>
            <a:endParaRPr kumimoji="1" lang="ja-JP" altLang="en-US" sz="2800" dirty="0"/>
          </a:p>
        </p:txBody>
      </p:sp>
      <p:sp>
        <p:nvSpPr>
          <p:cNvPr id="44" name="テキスト ボックス 43">
            <a:extLst>
              <a:ext uri="{FF2B5EF4-FFF2-40B4-BE49-F238E27FC236}">
                <a16:creationId xmlns:a16="http://schemas.microsoft.com/office/drawing/2014/main" id="{330ACF8B-ED5F-3921-B7AA-FC6125BB4002}"/>
              </a:ext>
            </a:extLst>
          </p:cNvPr>
          <p:cNvSpPr txBox="1"/>
          <p:nvPr/>
        </p:nvSpPr>
        <p:spPr>
          <a:xfrm>
            <a:off x="6387152" y="4232640"/>
            <a:ext cx="1020485" cy="523220"/>
          </a:xfrm>
          <a:prstGeom prst="rect">
            <a:avLst/>
          </a:prstGeom>
          <a:noFill/>
        </p:spPr>
        <p:txBody>
          <a:bodyPr wrap="square" rtlCol="0">
            <a:spAutoFit/>
          </a:bodyPr>
          <a:lstStyle/>
          <a:p>
            <a:pPr algn="ctr"/>
            <a:r>
              <a:rPr lang="en-US" altLang="ja-JP" sz="2800" dirty="0"/>
              <a:t>18</a:t>
            </a:r>
            <a:r>
              <a:rPr kumimoji="1" lang="en-US" altLang="ja-JP" sz="2800" dirty="0"/>
              <a:t>0°</a:t>
            </a:r>
            <a:endParaRPr kumimoji="1" lang="ja-JP" altLang="en-US" sz="2800" dirty="0"/>
          </a:p>
        </p:txBody>
      </p:sp>
      <p:sp>
        <p:nvSpPr>
          <p:cNvPr id="24" name="矢印: 右 23">
            <a:extLst>
              <a:ext uri="{FF2B5EF4-FFF2-40B4-BE49-F238E27FC236}">
                <a16:creationId xmlns:a16="http://schemas.microsoft.com/office/drawing/2014/main" id="{DA845600-5EDD-E903-82D5-386432579121}"/>
              </a:ext>
            </a:extLst>
          </p:cNvPr>
          <p:cNvSpPr/>
          <p:nvPr/>
        </p:nvSpPr>
        <p:spPr>
          <a:xfrm rot="19800000">
            <a:off x="9506701" y="3832633"/>
            <a:ext cx="356398" cy="378745"/>
          </a:xfrm>
          <a:prstGeom prst="rightArrow">
            <a:avLst>
              <a:gd name="adj1" fmla="val 38683"/>
              <a:gd name="adj2" fmla="val 54009"/>
            </a:avLst>
          </a:prstGeom>
          <a:solidFill>
            <a:schemeClr val="tx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444B0766-D8AD-B41D-ED00-3DD012097B19}"/>
              </a:ext>
            </a:extLst>
          </p:cNvPr>
          <p:cNvSpPr txBox="1"/>
          <p:nvPr/>
        </p:nvSpPr>
        <p:spPr>
          <a:xfrm>
            <a:off x="0" y="3432223"/>
            <a:ext cx="6095813" cy="523220"/>
          </a:xfrm>
          <a:prstGeom prst="rect">
            <a:avLst/>
          </a:prstGeom>
          <a:noFill/>
        </p:spPr>
        <p:txBody>
          <a:bodyPr wrap="square" rtlCol="0">
            <a:spAutoFit/>
          </a:bodyPr>
          <a:lstStyle/>
          <a:p>
            <a:pPr algn="ctr"/>
            <a:r>
              <a:rPr lang="ja-JP" altLang="en-US" sz="2800" dirty="0"/>
              <a:t>     </a:t>
            </a:r>
            <a:r>
              <a:rPr lang="en-US" altLang="ja-JP" sz="2800" dirty="0"/>
              <a:t>°</a:t>
            </a:r>
            <a:r>
              <a:rPr lang="ja-JP" altLang="en-US" sz="2800" dirty="0"/>
              <a:t>を向いて一歩進む</a:t>
            </a:r>
            <a:endParaRPr lang="en-US" altLang="ja-JP" sz="2800" dirty="0"/>
          </a:p>
        </p:txBody>
      </p:sp>
      <p:sp>
        <p:nvSpPr>
          <p:cNvPr id="23" name="テキスト ボックス 22">
            <a:extLst>
              <a:ext uri="{FF2B5EF4-FFF2-40B4-BE49-F238E27FC236}">
                <a16:creationId xmlns:a16="http://schemas.microsoft.com/office/drawing/2014/main" id="{535321BB-C100-DFF5-D0B6-D6A1ADBACDD5}"/>
              </a:ext>
            </a:extLst>
          </p:cNvPr>
          <p:cNvSpPr txBox="1"/>
          <p:nvPr/>
        </p:nvSpPr>
        <p:spPr>
          <a:xfrm>
            <a:off x="1532220" y="3244770"/>
            <a:ext cx="563279" cy="523220"/>
          </a:xfrm>
          <a:prstGeom prst="rect">
            <a:avLst/>
          </a:prstGeom>
          <a:noFill/>
        </p:spPr>
        <p:txBody>
          <a:bodyPr wrap="square">
            <a:spAutoFit/>
          </a:bodyPr>
          <a:lstStyle/>
          <a:p>
            <a:pPr algn="r"/>
            <a:r>
              <a:rPr lang="en-US" altLang="ja-JP" sz="2800" dirty="0">
                <a:noFill/>
              </a:rPr>
              <a:t>90</a:t>
            </a:r>
            <a:endParaRPr lang="ja-JP" altLang="en-US" sz="2800" dirty="0">
              <a:noFill/>
            </a:endParaRPr>
          </a:p>
        </p:txBody>
      </p:sp>
      <p:sp>
        <p:nvSpPr>
          <p:cNvPr id="25" name="テキスト ボックス 24">
            <a:extLst>
              <a:ext uri="{FF2B5EF4-FFF2-40B4-BE49-F238E27FC236}">
                <a16:creationId xmlns:a16="http://schemas.microsoft.com/office/drawing/2014/main" id="{53E66A7F-1DCB-626A-25AB-E0DD10A5458A}"/>
              </a:ext>
            </a:extLst>
          </p:cNvPr>
          <p:cNvSpPr txBox="1"/>
          <p:nvPr/>
        </p:nvSpPr>
        <p:spPr>
          <a:xfrm>
            <a:off x="3174655" y="3801879"/>
            <a:ext cx="252600" cy="954107"/>
          </a:xfrm>
          <a:prstGeom prst="rect">
            <a:avLst/>
          </a:prstGeom>
          <a:noFill/>
        </p:spPr>
        <p:txBody>
          <a:bodyPr wrap="square">
            <a:spAutoFit/>
          </a:bodyPr>
          <a:lstStyle/>
          <a:p>
            <a:pPr algn="ctr"/>
            <a:r>
              <a:rPr kumimoji="1" lang="ja-JP" altLang="en-US" sz="2800" dirty="0"/>
              <a:t>＝</a:t>
            </a:r>
            <a:endParaRPr kumimoji="1" lang="en-US" altLang="ja-JP" sz="2800" dirty="0"/>
          </a:p>
          <a:p>
            <a:pPr algn="ctr"/>
            <a:r>
              <a:rPr lang="ja-JP" altLang="en-US" sz="2800" dirty="0"/>
              <a:t>、</a:t>
            </a:r>
            <a:endParaRPr lang="en-US" altLang="ja-JP" sz="2800" dirty="0">
              <a:noFill/>
            </a:endParaRPr>
          </a:p>
        </p:txBody>
      </p:sp>
      <p:sp>
        <p:nvSpPr>
          <p:cNvPr id="14" name="テキスト ボックス 13">
            <a:extLst>
              <a:ext uri="{FF2B5EF4-FFF2-40B4-BE49-F238E27FC236}">
                <a16:creationId xmlns:a16="http://schemas.microsoft.com/office/drawing/2014/main" id="{E7AE7830-BE2A-5D35-1768-2DC29AE46DB4}"/>
              </a:ext>
            </a:extLst>
          </p:cNvPr>
          <p:cNvSpPr txBox="1"/>
          <p:nvPr/>
        </p:nvSpPr>
        <p:spPr>
          <a:xfrm>
            <a:off x="1944188" y="3998957"/>
            <a:ext cx="655317" cy="523220"/>
          </a:xfrm>
          <a:prstGeom prst="rect">
            <a:avLst/>
          </a:prstGeom>
          <a:noFill/>
        </p:spPr>
        <p:txBody>
          <a:bodyPr wrap="square" rtlCol="0">
            <a:spAutoFit/>
          </a:bodyPr>
          <a:lstStyle/>
          <a:p>
            <a:pPr algn="ctr"/>
            <a:r>
              <a:rPr lang="en-US" altLang="ja-JP" sz="2800" dirty="0">
                <a:noFill/>
              </a:rPr>
              <a:t>±0</a:t>
            </a:r>
          </a:p>
        </p:txBody>
      </p:sp>
      <p:sp>
        <p:nvSpPr>
          <p:cNvPr id="15" name="テキスト ボックス 14">
            <a:extLst>
              <a:ext uri="{FF2B5EF4-FFF2-40B4-BE49-F238E27FC236}">
                <a16:creationId xmlns:a16="http://schemas.microsoft.com/office/drawing/2014/main" id="{EAA623A5-647E-025B-0DA2-AF370AD3D372}"/>
              </a:ext>
            </a:extLst>
          </p:cNvPr>
          <p:cNvSpPr txBox="1"/>
          <p:nvPr/>
        </p:nvSpPr>
        <p:spPr>
          <a:xfrm>
            <a:off x="5084493" y="3875359"/>
            <a:ext cx="587347" cy="523220"/>
          </a:xfrm>
          <a:prstGeom prst="rect">
            <a:avLst/>
          </a:prstGeom>
          <a:noFill/>
        </p:spPr>
        <p:txBody>
          <a:bodyPr wrap="square">
            <a:spAutoFit/>
          </a:bodyPr>
          <a:lstStyle/>
          <a:p>
            <a:r>
              <a:rPr lang="en-US" altLang="ja-JP" sz="2800" dirty="0">
                <a:noFill/>
              </a:rPr>
              <a:t>+1</a:t>
            </a:r>
            <a:endParaRPr lang="ja-JP" altLang="en-US" sz="2800" dirty="0">
              <a:noFill/>
            </a:endParaRPr>
          </a:p>
        </p:txBody>
      </p:sp>
      <p:sp>
        <p:nvSpPr>
          <p:cNvPr id="28" name="テキスト ボックス 27">
            <a:extLst>
              <a:ext uri="{FF2B5EF4-FFF2-40B4-BE49-F238E27FC236}">
                <a16:creationId xmlns:a16="http://schemas.microsoft.com/office/drawing/2014/main" id="{7ACCECDA-04F3-5F00-9FEF-8DE151E646F2}"/>
              </a:ext>
            </a:extLst>
          </p:cNvPr>
          <p:cNvSpPr txBox="1"/>
          <p:nvPr/>
        </p:nvSpPr>
        <p:spPr>
          <a:xfrm>
            <a:off x="1254314" y="3444240"/>
            <a:ext cx="563279" cy="523220"/>
          </a:xfrm>
          <a:prstGeom prst="rect">
            <a:avLst/>
          </a:prstGeom>
          <a:noFill/>
        </p:spPr>
        <p:txBody>
          <a:bodyPr wrap="square">
            <a:spAutoFit/>
          </a:bodyPr>
          <a:lstStyle/>
          <a:p>
            <a:pPr algn="r"/>
            <a:r>
              <a:rPr lang="en-US" altLang="ja-JP" sz="2800" dirty="0"/>
              <a:t>30</a:t>
            </a:r>
            <a:endParaRPr lang="ja-JP" altLang="en-US" sz="2800" dirty="0"/>
          </a:p>
        </p:txBody>
      </p:sp>
      <p:sp>
        <p:nvSpPr>
          <p:cNvPr id="32" name="テキスト ボックス 31">
            <a:extLst>
              <a:ext uri="{FF2B5EF4-FFF2-40B4-BE49-F238E27FC236}">
                <a16:creationId xmlns:a16="http://schemas.microsoft.com/office/drawing/2014/main" id="{40176BCD-3F06-FD46-0BFD-6935B60972EC}"/>
              </a:ext>
            </a:extLst>
          </p:cNvPr>
          <p:cNvSpPr txBox="1"/>
          <p:nvPr/>
        </p:nvSpPr>
        <p:spPr>
          <a:xfrm>
            <a:off x="361901" y="4157185"/>
            <a:ext cx="1993574" cy="584775"/>
          </a:xfrm>
          <a:prstGeom prst="rect">
            <a:avLst/>
          </a:prstGeom>
          <a:noFill/>
        </p:spPr>
        <p:txBody>
          <a:bodyPr wrap="square">
            <a:spAutoFit/>
          </a:bodyPr>
          <a:lstStyle/>
          <a:p>
            <a:r>
              <a:rPr lang="en-US" altLang="ja-JP" sz="3200" dirty="0"/>
              <a:t>x</a:t>
            </a:r>
            <a:r>
              <a:rPr lang="ja-JP" altLang="en-US" sz="3200" dirty="0"/>
              <a:t>軸方向に </a:t>
            </a:r>
          </a:p>
        </p:txBody>
      </p:sp>
      <p:sp>
        <p:nvSpPr>
          <p:cNvPr id="49" name="テキスト ボックス 48">
            <a:extLst>
              <a:ext uri="{FF2B5EF4-FFF2-40B4-BE49-F238E27FC236}">
                <a16:creationId xmlns:a16="http://schemas.microsoft.com/office/drawing/2014/main" id="{44932BDE-807F-25AA-B884-184C74DF5BF7}"/>
              </a:ext>
            </a:extLst>
          </p:cNvPr>
          <p:cNvSpPr txBox="1"/>
          <p:nvPr/>
        </p:nvSpPr>
        <p:spPr>
          <a:xfrm>
            <a:off x="3302366" y="4194610"/>
            <a:ext cx="1791099" cy="523220"/>
          </a:xfrm>
          <a:prstGeom prst="rect">
            <a:avLst/>
          </a:prstGeom>
          <a:noFill/>
        </p:spPr>
        <p:txBody>
          <a:bodyPr wrap="square">
            <a:spAutoFit/>
          </a:bodyPr>
          <a:lstStyle/>
          <a:p>
            <a:r>
              <a:rPr lang="en-US" altLang="ja-JP" sz="2800" dirty="0"/>
              <a:t>y</a:t>
            </a:r>
            <a:r>
              <a:rPr lang="ja-JP" altLang="en-US" sz="2800" dirty="0"/>
              <a:t>軸方向に </a:t>
            </a:r>
          </a:p>
        </p:txBody>
      </p:sp>
      <p:sp>
        <p:nvSpPr>
          <p:cNvPr id="50" name="テキスト ボックス 49">
            <a:extLst>
              <a:ext uri="{FF2B5EF4-FFF2-40B4-BE49-F238E27FC236}">
                <a16:creationId xmlns:a16="http://schemas.microsoft.com/office/drawing/2014/main" id="{654467B6-67AA-E38F-FFA1-76664E645394}"/>
              </a:ext>
            </a:extLst>
          </p:cNvPr>
          <p:cNvSpPr txBox="1"/>
          <p:nvPr/>
        </p:nvSpPr>
        <p:spPr>
          <a:xfrm>
            <a:off x="2159339" y="3983262"/>
            <a:ext cx="655317" cy="523220"/>
          </a:xfrm>
          <a:prstGeom prst="rect">
            <a:avLst/>
          </a:prstGeom>
          <a:noFill/>
        </p:spPr>
        <p:txBody>
          <a:bodyPr wrap="square" rtlCol="0">
            <a:spAutoFit/>
          </a:bodyPr>
          <a:lstStyle/>
          <a:p>
            <a:pPr algn="ctr"/>
            <a:r>
              <a:rPr lang="en-US" altLang="ja-JP" sz="2800" dirty="0">
                <a:noFill/>
              </a:rPr>
              <a:t>+1</a:t>
            </a:r>
          </a:p>
        </p:txBody>
      </p:sp>
      <p:sp>
        <p:nvSpPr>
          <p:cNvPr id="51" name="テキスト ボックス 50">
            <a:extLst>
              <a:ext uri="{FF2B5EF4-FFF2-40B4-BE49-F238E27FC236}">
                <a16:creationId xmlns:a16="http://schemas.microsoft.com/office/drawing/2014/main" id="{2D69DECD-6B22-832E-A224-C2585EF93B11}"/>
              </a:ext>
            </a:extLst>
          </p:cNvPr>
          <p:cNvSpPr txBox="1"/>
          <p:nvPr/>
        </p:nvSpPr>
        <p:spPr>
          <a:xfrm>
            <a:off x="4958986" y="3949314"/>
            <a:ext cx="787182" cy="523220"/>
          </a:xfrm>
          <a:prstGeom prst="rect">
            <a:avLst/>
          </a:prstGeom>
          <a:noFill/>
        </p:spPr>
        <p:txBody>
          <a:bodyPr wrap="square">
            <a:spAutoFit/>
          </a:bodyPr>
          <a:lstStyle/>
          <a:p>
            <a:r>
              <a:rPr lang="en-US" altLang="ja-JP" sz="2800" dirty="0">
                <a:noFill/>
              </a:rPr>
              <a:t>±0</a:t>
            </a:r>
            <a:endParaRPr lang="ja-JP" altLang="en-US" sz="2800" dirty="0">
              <a:noFill/>
            </a:endParaRPr>
          </a:p>
        </p:txBody>
      </p:sp>
      <p:sp>
        <p:nvSpPr>
          <p:cNvPr id="53" name="テキスト ボックス 52">
            <a:extLst>
              <a:ext uri="{FF2B5EF4-FFF2-40B4-BE49-F238E27FC236}">
                <a16:creationId xmlns:a16="http://schemas.microsoft.com/office/drawing/2014/main" id="{6D563323-1A20-F605-B8E3-640C48FC63D9}"/>
              </a:ext>
            </a:extLst>
          </p:cNvPr>
          <p:cNvSpPr txBox="1"/>
          <p:nvPr/>
        </p:nvSpPr>
        <p:spPr>
          <a:xfrm>
            <a:off x="4947069" y="4352615"/>
            <a:ext cx="787182" cy="523220"/>
          </a:xfrm>
          <a:prstGeom prst="rect">
            <a:avLst/>
          </a:prstGeom>
          <a:noFill/>
        </p:spPr>
        <p:txBody>
          <a:bodyPr wrap="square">
            <a:spAutoFit/>
          </a:bodyPr>
          <a:lstStyle/>
          <a:p>
            <a:r>
              <a:rPr lang="en-US" altLang="ja-JP" sz="2800" dirty="0">
                <a:noFill/>
              </a:rPr>
              <a:t>+―</a:t>
            </a:r>
          </a:p>
        </p:txBody>
      </p:sp>
      <p:sp>
        <p:nvSpPr>
          <p:cNvPr id="54" name="テキスト ボックス 53">
            <a:extLst>
              <a:ext uri="{FF2B5EF4-FFF2-40B4-BE49-F238E27FC236}">
                <a16:creationId xmlns:a16="http://schemas.microsoft.com/office/drawing/2014/main" id="{2E97BA57-1645-CBAF-3C11-2B7F41073C40}"/>
              </a:ext>
            </a:extLst>
          </p:cNvPr>
          <p:cNvSpPr txBox="1"/>
          <p:nvPr/>
        </p:nvSpPr>
        <p:spPr>
          <a:xfrm>
            <a:off x="5189009" y="4159392"/>
            <a:ext cx="322138" cy="954107"/>
          </a:xfrm>
          <a:prstGeom prst="rect">
            <a:avLst/>
          </a:prstGeom>
          <a:noFill/>
        </p:spPr>
        <p:txBody>
          <a:bodyPr wrap="square">
            <a:spAutoFit/>
          </a:bodyPr>
          <a:lstStyle/>
          <a:p>
            <a:r>
              <a:rPr lang="en-US" altLang="ja-JP" sz="2800" dirty="0">
                <a:noFill/>
              </a:rPr>
              <a:t>1</a:t>
            </a:r>
          </a:p>
          <a:p>
            <a:r>
              <a:rPr lang="en-US" altLang="ja-JP" sz="2800" dirty="0">
                <a:noFill/>
              </a:rPr>
              <a:t>2</a:t>
            </a:r>
          </a:p>
        </p:txBody>
      </p:sp>
      <p:sp>
        <p:nvSpPr>
          <p:cNvPr id="55" name="テキスト ボックス 54">
            <a:extLst>
              <a:ext uri="{FF2B5EF4-FFF2-40B4-BE49-F238E27FC236}">
                <a16:creationId xmlns:a16="http://schemas.microsoft.com/office/drawing/2014/main" id="{12AE1FD6-61E7-8574-4B4A-BA3BB5784F50}"/>
              </a:ext>
            </a:extLst>
          </p:cNvPr>
          <p:cNvSpPr txBox="1"/>
          <p:nvPr/>
        </p:nvSpPr>
        <p:spPr>
          <a:xfrm>
            <a:off x="2425693" y="4087791"/>
            <a:ext cx="634609" cy="954107"/>
          </a:xfrm>
          <a:prstGeom prst="rect">
            <a:avLst/>
          </a:prstGeom>
          <a:noFill/>
        </p:spPr>
        <p:txBody>
          <a:bodyPr wrap="square">
            <a:spAutoFit/>
          </a:bodyPr>
          <a:lstStyle/>
          <a:p>
            <a:r>
              <a:rPr lang="ja-JP" altLang="en-US" sz="2800" dirty="0">
                <a:noFill/>
              </a:rPr>
              <a:t>√</a:t>
            </a:r>
            <a:r>
              <a:rPr lang="en-US" altLang="ja-JP" sz="2800" dirty="0">
                <a:noFill/>
              </a:rPr>
              <a:t>3</a:t>
            </a:r>
          </a:p>
          <a:p>
            <a:r>
              <a:rPr lang="en-US" altLang="ja-JP" sz="2800" dirty="0">
                <a:noFill/>
              </a:rPr>
              <a:t>  2</a:t>
            </a:r>
          </a:p>
        </p:txBody>
      </p:sp>
      <p:sp>
        <p:nvSpPr>
          <p:cNvPr id="58" name="テキスト ボックス 57">
            <a:extLst>
              <a:ext uri="{FF2B5EF4-FFF2-40B4-BE49-F238E27FC236}">
                <a16:creationId xmlns:a16="http://schemas.microsoft.com/office/drawing/2014/main" id="{DDBE82A0-1126-5AC0-8279-C33936DCD377}"/>
              </a:ext>
            </a:extLst>
          </p:cNvPr>
          <p:cNvSpPr txBox="1"/>
          <p:nvPr/>
        </p:nvSpPr>
        <p:spPr>
          <a:xfrm>
            <a:off x="2189747" y="4303235"/>
            <a:ext cx="1038291" cy="523220"/>
          </a:xfrm>
          <a:prstGeom prst="rect">
            <a:avLst/>
          </a:prstGeom>
          <a:noFill/>
        </p:spPr>
        <p:txBody>
          <a:bodyPr wrap="square">
            <a:spAutoFit/>
          </a:bodyPr>
          <a:lstStyle/>
          <a:p>
            <a:r>
              <a:rPr lang="en-US" altLang="ja-JP" sz="2800" dirty="0">
                <a:noFill/>
              </a:rPr>
              <a:t>+――</a:t>
            </a:r>
          </a:p>
        </p:txBody>
      </p:sp>
      <p:sp>
        <p:nvSpPr>
          <p:cNvPr id="62" name="テキスト ボックス 61">
            <a:extLst>
              <a:ext uri="{FF2B5EF4-FFF2-40B4-BE49-F238E27FC236}">
                <a16:creationId xmlns:a16="http://schemas.microsoft.com/office/drawing/2014/main" id="{99942B01-F9E3-4517-18A0-867302BD97ED}"/>
              </a:ext>
            </a:extLst>
          </p:cNvPr>
          <p:cNvSpPr txBox="1"/>
          <p:nvPr/>
        </p:nvSpPr>
        <p:spPr>
          <a:xfrm>
            <a:off x="4962309" y="3994475"/>
            <a:ext cx="787182" cy="523220"/>
          </a:xfrm>
          <a:prstGeom prst="rect">
            <a:avLst/>
          </a:prstGeom>
          <a:noFill/>
        </p:spPr>
        <p:txBody>
          <a:bodyPr wrap="square">
            <a:spAutoFit/>
          </a:bodyPr>
          <a:lstStyle/>
          <a:p>
            <a:r>
              <a:rPr lang="en-US" altLang="ja-JP" sz="2800" dirty="0">
                <a:noFill/>
              </a:rPr>
              <a:t>±0</a:t>
            </a:r>
          </a:p>
        </p:txBody>
      </p:sp>
      <p:sp>
        <p:nvSpPr>
          <p:cNvPr id="63" name="テキスト ボックス 62">
            <a:extLst>
              <a:ext uri="{FF2B5EF4-FFF2-40B4-BE49-F238E27FC236}">
                <a16:creationId xmlns:a16="http://schemas.microsoft.com/office/drawing/2014/main" id="{ED8F35CF-FAC9-532B-A0E3-527EF8E631D3}"/>
              </a:ext>
            </a:extLst>
          </p:cNvPr>
          <p:cNvSpPr txBox="1"/>
          <p:nvPr/>
        </p:nvSpPr>
        <p:spPr>
          <a:xfrm>
            <a:off x="2220227" y="3983195"/>
            <a:ext cx="675616" cy="523220"/>
          </a:xfrm>
          <a:prstGeom prst="rect">
            <a:avLst/>
          </a:prstGeom>
          <a:noFill/>
        </p:spPr>
        <p:txBody>
          <a:bodyPr wrap="square">
            <a:spAutoFit/>
          </a:bodyPr>
          <a:lstStyle/>
          <a:p>
            <a:r>
              <a:rPr lang="en-US" altLang="ja-JP" sz="2800" dirty="0">
                <a:noFill/>
              </a:rPr>
              <a:t>+1</a:t>
            </a:r>
          </a:p>
        </p:txBody>
      </p:sp>
      <p:sp>
        <p:nvSpPr>
          <p:cNvPr id="64" name="テキスト ボックス 63">
            <a:extLst>
              <a:ext uri="{FF2B5EF4-FFF2-40B4-BE49-F238E27FC236}">
                <a16:creationId xmlns:a16="http://schemas.microsoft.com/office/drawing/2014/main" id="{769EE123-1F4C-075D-151E-EE40BA9D2499}"/>
              </a:ext>
            </a:extLst>
          </p:cNvPr>
          <p:cNvSpPr txBox="1"/>
          <p:nvPr/>
        </p:nvSpPr>
        <p:spPr>
          <a:xfrm>
            <a:off x="1254314" y="3291840"/>
            <a:ext cx="563279" cy="523220"/>
          </a:xfrm>
          <a:prstGeom prst="rect">
            <a:avLst/>
          </a:prstGeom>
          <a:noFill/>
        </p:spPr>
        <p:txBody>
          <a:bodyPr wrap="square">
            <a:spAutoFit/>
          </a:bodyPr>
          <a:lstStyle/>
          <a:p>
            <a:pPr algn="r"/>
            <a:r>
              <a:rPr lang="en-US" altLang="ja-JP" sz="2800" dirty="0">
                <a:noFill/>
              </a:rPr>
              <a:t>0</a:t>
            </a:r>
            <a:endParaRPr lang="ja-JP" altLang="en-US" sz="2800" dirty="0">
              <a:noFill/>
            </a:endParaRPr>
          </a:p>
        </p:txBody>
      </p:sp>
      <p:sp>
        <p:nvSpPr>
          <p:cNvPr id="77" name="テキスト ボックス 76">
            <a:extLst>
              <a:ext uri="{FF2B5EF4-FFF2-40B4-BE49-F238E27FC236}">
                <a16:creationId xmlns:a16="http://schemas.microsoft.com/office/drawing/2014/main" id="{0203F25F-693F-F568-00F5-61E62146E0B1}"/>
              </a:ext>
            </a:extLst>
          </p:cNvPr>
          <p:cNvSpPr txBox="1"/>
          <p:nvPr/>
        </p:nvSpPr>
        <p:spPr>
          <a:xfrm>
            <a:off x="5215155" y="6143763"/>
            <a:ext cx="281490" cy="523220"/>
          </a:xfrm>
          <a:prstGeom prst="rect">
            <a:avLst/>
          </a:prstGeom>
          <a:noFill/>
        </p:spPr>
        <p:txBody>
          <a:bodyPr wrap="square" rtlCol="0">
            <a:spAutoFit/>
          </a:bodyPr>
          <a:lstStyle/>
          <a:p>
            <a:r>
              <a:rPr lang="en-US" altLang="ja-JP" sz="2800" dirty="0"/>
              <a:t>(</a:t>
            </a:r>
            <a:endParaRPr kumimoji="1" lang="ja-JP" altLang="en-US" sz="2800" dirty="0"/>
          </a:p>
        </p:txBody>
      </p:sp>
      <p:sp>
        <p:nvSpPr>
          <p:cNvPr id="78" name="テキスト ボックス 77">
            <a:extLst>
              <a:ext uri="{FF2B5EF4-FFF2-40B4-BE49-F238E27FC236}">
                <a16:creationId xmlns:a16="http://schemas.microsoft.com/office/drawing/2014/main" id="{8A8080EE-1B2A-F45B-7285-20A99DF95D93}"/>
              </a:ext>
            </a:extLst>
          </p:cNvPr>
          <p:cNvSpPr txBox="1"/>
          <p:nvPr/>
        </p:nvSpPr>
        <p:spPr>
          <a:xfrm>
            <a:off x="6691092" y="6143763"/>
            <a:ext cx="281490" cy="523220"/>
          </a:xfrm>
          <a:prstGeom prst="rect">
            <a:avLst/>
          </a:prstGeom>
          <a:noFill/>
        </p:spPr>
        <p:txBody>
          <a:bodyPr wrap="square" rtlCol="0">
            <a:spAutoFit/>
          </a:bodyPr>
          <a:lstStyle/>
          <a:p>
            <a:r>
              <a:rPr kumimoji="1" lang="en-US" altLang="ja-JP" sz="2800" dirty="0"/>
              <a:t>)</a:t>
            </a:r>
            <a:endParaRPr kumimoji="1" lang="ja-JP" altLang="en-US" sz="2800" dirty="0"/>
          </a:p>
        </p:txBody>
      </p:sp>
      <p:sp>
        <p:nvSpPr>
          <p:cNvPr id="79" name="テキスト ボックス 78">
            <a:extLst>
              <a:ext uri="{FF2B5EF4-FFF2-40B4-BE49-F238E27FC236}">
                <a16:creationId xmlns:a16="http://schemas.microsoft.com/office/drawing/2014/main" id="{EC670AF0-145C-8573-D990-26E9E159C5D6}"/>
              </a:ext>
            </a:extLst>
          </p:cNvPr>
          <p:cNvSpPr txBox="1"/>
          <p:nvPr/>
        </p:nvSpPr>
        <p:spPr>
          <a:xfrm>
            <a:off x="5962379" y="6143763"/>
            <a:ext cx="281490" cy="523220"/>
          </a:xfrm>
          <a:prstGeom prst="rect">
            <a:avLst/>
          </a:prstGeom>
          <a:noFill/>
        </p:spPr>
        <p:txBody>
          <a:bodyPr wrap="square" rtlCol="0">
            <a:spAutoFit/>
          </a:bodyPr>
          <a:lstStyle/>
          <a:p>
            <a:r>
              <a:rPr lang="en-US" altLang="ja-JP" sz="2800" dirty="0"/>
              <a:t>,</a:t>
            </a:r>
          </a:p>
        </p:txBody>
      </p:sp>
      <p:sp>
        <p:nvSpPr>
          <p:cNvPr id="80" name="テキスト ボックス 79">
            <a:extLst>
              <a:ext uri="{FF2B5EF4-FFF2-40B4-BE49-F238E27FC236}">
                <a16:creationId xmlns:a16="http://schemas.microsoft.com/office/drawing/2014/main" id="{319071FB-8AEB-B610-06F6-150163112BD9}"/>
              </a:ext>
            </a:extLst>
          </p:cNvPr>
          <p:cNvSpPr txBox="1"/>
          <p:nvPr/>
        </p:nvSpPr>
        <p:spPr>
          <a:xfrm>
            <a:off x="5496645" y="6143763"/>
            <a:ext cx="851647" cy="523220"/>
          </a:xfrm>
          <a:prstGeom prst="rect">
            <a:avLst/>
          </a:prstGeom>
          <a:noFill/>
        </p:spPr>
        <p:txBody>
          <a:bodyPr wrap="square" rtlCol="0">
            <a:spAutoFit/>
          </a:bodyPr>
          <a:lstStyle/>
          <a:p>
            <a:r>
              <a:rPr kumimoji="1" lang="en-US" altLang="ja-JP" sz="2800" dirty="0"/>
              <a:t>1</a:t>
            </a:r>
            <a:endParaRPr kumimoji="1" lang="ja-JP" altLang="en-US" sz="2800" dirty="0"/>
          </a:p>
        </p:txBody>
      </p:sp>
      <p:sp>
        <p:nvSpPr>
          <p:cNvPr id="81" name="テキスト ボックス 80">
            <a:extLst>
              <a:ext uri="{FF2B5EF4-FFF2-40B4-BE49-F238E27FC236}">
                <a16:creationId xmlns:a16="http://schemas.microsoft.com/office/drawing/2014/main" id="{D6159A93-70F8-15CE-B698-CC3A6D781132}"/>
              </a:ext>
            </a:extLst>
          </p:cNvPr>
          <p:cNvSpPr txBox="1"/>
          <p:nvPr/>
        </p:nvSpPr>
        <p:spPr>
          <a:xfrm>
            <a:off x="6289301" y="6143763"/>
            <a:ext cx="851647" cy="523220"/>
          </a:xfrm>
          <a:prstGeom prst="rect">
            <a:avLst/>
          </a:prstGeom>
          <a:noFill/>
        </p:spPr>
        <p:txBody>
          <a:bodyPr wrap="square" rtlCol="0">
            <a:spAutoFit/>
          </a:bodyPr>
          <a:lstStyle/>
          <a:p>
            <a:r>
              <a:rPr kumimoji="1" lang="en-US" altLang="ja-JP" sz="2800" dirty="0"/>
              <a:t>1</a:t>
            </a:r>
            <a:endParaRPr kumimoji="1" lang="ja-JP" altLang="en-US" sz="2800" dirty="0"/>
          </a:p>
        </p:txBody>
      </p:sp>
      <p:sp>
        <p:nvSpPr>
          <p:cNvPr id="86" name="テキスト ボックス 85">
            <a:extLst>
              <a:ext uri="{FF2B5EF4-FFF2-40B4-BE49-F238E27FC236}">
                <a16:creationId xmlns:a16="http://schemas.microsoft.com/office/drawing/2014/main" id="{ADD65EC2-9F62-ED0F-44B7-224DFCCA9E7F}"/>
              </a:ext>
            </a:extLst>
          </p:cNvPr>
          <p:cNvSpPr txBox="1"/>
          <p:nvPr/>
        </p:nvSpPr>
        <p:spPr>
          <a:xfrm>
            <a:off x="5191846" y="6207263"/>
            <a:ext cx="903968" cy="523220"/>
          </a:xfrm>
          <a:prstGeom prst="rect">
            <a:avLst/>
          </a:prstGeom>
          <a:noFill/>
        </p:spPr>
        <p:txBody>
          <a:bodyPr wrap="square" rtlCol="0">
            <a:spAutoFit/>
          </a:bodyPr>
          <a:lstStyle/>
          <a:p>
            <a:r>
              <a:rPr lang="en-US" altLang="ja-JP" sz="2800" dirty="0">
                <a:noFill/>
              </a:rPr>
              <a:t>1+―</a:t>
            </a:r>
            <a:endParaRPr kumimoji="1" lang="ja-JP" altLang="en-US" sz="2800" dirty="0">
              <a:noFill/>
            </a:endParaRPr>
          </a:p>
        </p:txBody>
      </p:sp>
      <p:sp>
        <p:nvSpPr>
          <p:cNvPr id="87" name="テキスト ボックス 86">
            <a:extLst>
              <a:ext uri="{FF2B5EF4-FFF2-40B4-BE49-F238E27FC236}">
                <a16:creationId xmlns:a16="http://schemas.microsoft.com/office/drawing/2014/main" id="{EB51EB2B-15FF-2260-91AF-68AA6B7D5CFE}"/>
              </a:ext>
            </a:extLst>
          </p:cNvPr>
          <p:cNvSpPr txBox="1"/>
          <p:nvPr/>
        </p:nvSpPr>
        <p:spPr>
          <a:xfrm>
            <a:off x="6220721" y="6207263"/>
            <a:ext cx="851647" cy="523220"/>
          </a:xfrm>
          <a:prstGeom prst="rect">
            <a:avLst/>
          </a:prstGeom>
          <a:noFill/>
        </p:spPr>
        <p:txBody>
          <a:bodyPr wrap="square" rtlCol="0">
            <a:spAutoFit/>
          </a:bodyPr>
          <a:lstStyle/>
          <a:p>
            <a:r>
              <a:rPr lang="en-US" altLang="ja-JP" sz="2800" dirty="0">
                <a:noFill/>
              </a:rPr>
              <a:t>―</a:t>
            </a:r>
            <a:endParaRPr kumimoji="1" lang="ja-JP" altLang="en-US" sz="2800" dirty="0">
              <a:noFill/>
            </a:endParaRPr>
          </a:p>
        </p:txBody>
      </p:sp>
      <p:sp>
        <p:nvSpPr>
          <p:cNvPr id="88" name="テキスト ボックス 87">
            <a:extLst>
              <a:ext uri="{FF2B5EF4-FFF2-40B4-BE49-F238E27FC236}">
                <a16:creationId xmlns:a16="http://schemas.microsoft.com/office/drawing/2014/main" id="{B69AC472-379D-53DA-307D-D781C3A4CF5C}"/>
              </a:ext>
            </a:extLst>
          </p:cNvPr>
          <p:cNvSpPr txBox="1"/>
          <p:nvPr/>
        </p:nvSpPr>
        <p:spPr>
          <a:xfrm>
            <a:off x="5531161" y="5995968"/>
            <a:ext cx="606910" cy="954107"/>
          </a:xfrm>
          <a:prstGeom prst="rect">
            <a:avLst/>
          </a:prstGeom>
          <a:noFill/>
        </p:spPr>
        <p:txBody>
          <a:bodyPr wrap="square" rtlCol="0">
            <a:spAutoFit/>
          </a:bodyPr>
          <a:lstStyle/>
          <a:p>
            <a:r>
              <a:rPr lang="ja-JP" altLang="en-US" sz="2800" dirty="0">
                <a:noFill/>
              </a:rPr>
              <a:t>√</a:t>
            </a:r>
            <a:r>
              <a:rPr lang="en-US" altLang="ja-JP" sz="2800" dirty="0">
                <a:noFill/>
              </a:rPr>
              <a:t>3</a:t>
            </a:r>
          </a:p>
          <a:p>
            <a:r>
              <a:rPr kumimoji="1" lang="en-US" altLang="ja-JP" sz="2800" dirty="0">
                <a:noFill/>
              </a:rPr>
              <a:t> 2</a:t>
            </a:r>
            <a:endParaRPr kumimoji="1" lang="ja-JP" altLang="en-US" sz="2800" dirty="0">
              <a:noFill/>
            </a:endParaRPr>
          </a:p>
        </p:txBody>
      </p:sp>
      <p:sp>
        <p:nvSpPr>
          <p:cNvPr id="89" name="テキスト ボックス 88">
            <a:extLst>
              <a:ext uri="{FF2B5EF4-FFF2-40B4-BE49-F238E27FC236}">
                <a16:creationId xmlns:a16="http://schemas.microsoft.com/office/drawing/2014/main" id="{C2DF8830-CE28-8AF8-EC9A-628A38854088}"/>
              </a:ext>
            </a:extLst>
          </p:cNvPr>
          <p:cNvSpPr txBox="1"/>
          <p:nvPr/>
        </p:nvSpPr>
        <p:spPr>
          <a:xfrm>
            <a:off x="6297108" y="6007364"/>
            <a:ext cx="349688" cy="954107"/>
          </a:xfrm>
          <a:prstGeom prst="rect">
            <a:avLst/>
          </a:prstGeom>
          <a:noFill/>
        </p:spPr>
        <p:txBody>
          <a:bodyPr wrap="square" rtlCol="0">
            <a:spAutoFit/>
          </a:bodyPr>
          <a:lstStyle/>
          <a:p>
            <a:r>
              <a:rPr kumimoji="1" lang="en-US" altLang="ja-JP" sz="2800" dirty="0">
                <a:noFill/>
              </a:rPr>
              <a:t>3</a:t>
            </a:r>
          </a:p>
          <a:p>
            <a:r>
              <a:rPr lang="en-US" altLang="ja-JP" sz="2800" dirty="0">
                <a:noFill/>
              </a:rPr>
              <a:t>2</a:t>
            </a:r>
            <a:endParaRPr kumimoji="1" lang="ja-JP" altLang="en-US" sz="2800" dirty="0">
              <a:noFill/>
            </a:endParaRPr>
          </a:p>
        </p:txBody>
      </p:sp>
    </p:spTree>
    <p:extLst>
      <p:ext uri="{BB962C8B-B14F-4D97-AF65-F5344CB8AC3E}">
        <p14:creationId xmlns:p14="http://schemas.microsoft.com/office/powerpoint/2010/main" val="166087446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49EFD-A72F-8281-674A-14AC21DCC757}"/>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8F250838-282C-E0B6-6BBC-D7843B557049}"/>
              </a:ext>
            </a:extLst>
          </p:cNvPr>
          <p:cNvSpPr/>
          <p:nvPr/>
        </p:nvSpPr>
        <p:spPr>
          <a:xfrm>
            <a:off x="3046801"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EC5E6793-8FA4-4F75-531F-51308C21D3C4}"/>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D1FCB64D-F9D4-DEC4-668D-3262DAE002A6}"/>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bg1"/>
                </a:solidFill>
              </a:rPr>
              <a:t>システム要件</a:t>
            </a:r>
          </a:p>
        </p:txBody>
      </p:sp>
      <p:sp>
        <p:nvSpPr>
          <p:cNvPr id="11" name="四角形: 角を丸くする 10">
            <a:extLst>
              <a:ext uri="{FF2B5EF4-FFF2-40B4-BE49-F238E27FC236}">
                <a16:creationId xmlns:a16="http://schemas.microsoft.com/office/drawing/2014/main" id="{9F85CD82-2F3C-83A5-11C1-69793B5CA14A}"/>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B767D13E-A49E-A245-F5C9-DE4EF82FC7F8}"/>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t>プログラム説明</a:t>
            </a:r>
            <a:endParaRPr kumimoji="1" lang="ja-JP" altLang="en-US" sz="2400" dirty="0"/>
          </a:p>
        </p:txBody>
      </p:sp>
      <p:sp>
        <p:nvSpPr>
          <p:cNvPr id="7" name="テキスト ボックス 6">
            <a:extLst>
              <a:ext uri="{FF2B5EF4-FFF2-40B4-BE49-F238E27FC236}">
                <a16:creationId xmlns:a16="http://schemas.microsoft.com/office/drawing/2014/main" id="{11347FC2-692C-F4D6-AE65-2AF8EBF0C66D}"/>
              </a:ext>
            </a:extLst>
          </p:cNvPr>
          <p:cNvSpPr txBox="1"/>
          <p:nvPr/>
        </p:nvSpPr>
        <p:spPr>
          <a:xfrm>
            <a:off x="771525" y="1171575"/>
            <a:ext cx="2275276" cy="584775"/>
          </a:xfrm>
          <a:prstGeom prst="rect">
            <a:avLst/>
          </a:prstGeom>
          <a:noFill/>
        </p:spPr>
        <p:txBody>
          <a:bodyPr wrap="square" rtlCol="0">
            <a:spAutoFit/>
          </a:bodyPr>
          <a:lstStyle/>
          <a:p>
            <a:r>
              <a:rPr lang="ja-JP" altLang="en-US" sz="3200" dirty="0"/>
              <a:t>移動制御</a:t>
            </a:r>
            <a:endParaRPr kumimoji="1" lang="ja-JP" altLang="en-US" sz="3200" dirty="0"/>
          </a:p>
        </p:txBody>
      </p:sp>
      <p:sp>
        <p:nvSpPr>
          <p:cNvPr id="10" name="テキスト ボックス 9">
            <a:extLst>
              <a:ext uri="{FF2B5EF4-FFF2-40B4-BE49-F238E27FC236}">
                <a16:creationId xmlns:a16="http://schemas.microsoft.com/office/drawing/2014/main" id="{15DF218A-CCB7-2985-D7BB-D6E108859283}"/>
              </a:ext>
            </a:extLst>
          </p:cNvPr>
          <p:cNvSpPr txBox="1"/>
          <p:nvPr/>
        </p:nvSpPr>
        <p:spPr>
          <a:xfrm>
            <a:off x="1238250" y="1755127"/>
            <a:ext cx="10953750" cy="461665"/>
          </a:xfrm>
          <a:prstGeom prst="rect">
            <a:avLst/>
          </a:prstGeom>
          <a:noFill/>
        </p:spPr>
        <p:txBody>
          <a:bodyPr wrap="square" rtlCol="0">
            <a:spAutoFit/>
          </a:bodyPr>
          <a:lstStyle/>
          <a:p>
            <a:r>
              <a:rPr lang="en-US" altLang="ja-JP" sz="2400" dirty="0"/>
              <a:t>“</a:t>
            </a:r>
            <a:r>
              <a:rPr lang="ja-JP" altLang="en-US" sz="2400" dirty="0"/>
              <a:t>向き</a:t>
            </a:r>
            <a:r>
              <a:rPr lang="en-US" altLang="ja-JP" sz="2400" dirty="0"/>
              <a:t>”</a:t>
            </a:r>
            <a:r>
              <a:rPr lang="ja-JP" altLang="en-US" sz="2400" dirty="0"/>
              <a:t>と</a:t>
            </a:r>
            <a:r>
              <a:rPr lang="en-US" altLang="ja-JP" sz="2400" dirty="0"/>
              <a:t>”</a:t>
            </a:r>
            <a:r>
              <a:rPr lang="ja-JP" altLang="en-US" sz="2400" dirty="0"/>
              <a:t>歩数</a:t>
            </a:r>
            <a:r>
              <a:rPr lang="en-US" altLang="ja-JP" sz="2400" dirty="0"/>
              <a:t>”</a:t>
            </a:r>
            <a:r>
              <a:rPr lang="ja-JP" altLang="en-US" sz="2400" dirty="0"/>
              <a:t>による自己位置推定と、目標座標への移動量計算</a:t>
            </a:r>
            <a:endParaRPr lang="en-US" altLang="ja-JP" sz="2400" dirty="0"/>
          </a:p>
        </p:txBody>
      </p:sp>
      <p:cxnSp>
        <p:nvCxnSpPr>
          <p:cNvPr id="5" name="直線コネクタ 4">
            <a:extLst>
              <a:ext uri="{FF2B5EF4-FFF2-40B4-BE49-F238E27FC236}">
                <a16:creationId xmlns:a16="http://schemas.microsoft.com/office/drawing/2014/main" id="{76B6996F-1539-C559-7AAF-DFA42A390AF1}"/>
              </a:ext>
            </a:extLst>
          </p:cNvPr>
          <p:cNvCxnSpPr/>
          <p:nvPr/>
        </p:nvCxnSpPr>
        <p:spPr>
          <a:xfrm>
            <a:off x="7344629" y="4124790"/>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 name="直線矢印コネクタ 2">
            <a:extLst>
              <a:ext uri="{FF2B5EF4-FFF2-40B4-BE49-F238E27FC236}">
                <a16:creationId xmlns:a16="http://schemas.microsoft.com/office/drawing/2014/main" id="{887D7F3E-B850-7BEE-C984-5698CB950119}"/>
              </a:ext>
            </a:extLst>
          </p:cNvPr>
          <p:cNvCxnSpPr/>
          <p:nvPr/>
        </p:nvCxnSpPr>
        <p:spPr>
          <a:xfrm>
            <a:off x="7344629" y="4482990"/>
            <a:ext cx="360000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 name="直線コネクタ 7">
            <a:extLst>
              <a:ext uri="{FF2B5EF4-FFF2-40B4-BE49-F238E27FC236}">
                <a16:creationId xmlns:a16="http://schemas.microsoft.com/office/drawing/2014/main" id="{5E6E3FB2-7AE0-CBB7-8584-15737C6283C8}"/>
              </a:ext>
            </a:extLst>
          </p:cNvPr>
          <p:cNvCxnSpPr/>
          <p:nvPr/>
        </p:nvCxnSpPr>
        <p:spPr>
          <a:xfrm>
            <a:off x="7344629" y="3764790"/>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4" name="直線矢印コネクタ 3">
            <a:extLst>
              <a:ext uri="{FF2B5EF4-FFF2-40B4-BE49-F238E27FC236}">
                <a16:creationId xmlns:a16="http://schemas.microsoft.com/office/drawing/2014/main" id="{365C6269-E63C-D4AB-F840-2A6FF2006800}"/>
              </a:ext>
            </a:extLst>
          </p:cNvPr>
          <p:cNvCxnSpPr>
            <a:cxnSpLocks/>
          </p:cNvCxnSpPr>
          <p:nvPr/>
        </p:nvCxnSpPr>
        <p:spPr>
          <a:xfrm rot="10800000">
            <a:off x="9146141" y="2682990"/>
            <a:ext cx="0" cy="360000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 name="直線矢印コネクタ 5">
            <a:extLst>
              <a:ext uri="{FF2B5EF4-FFF2-40B4-BE49-F238E27FC236}">
                <a16:creationId xmlns:a16="http://schemas.microsoft.com/office/drawing/2014/main" id="{A0D813F3-B589-41CB-72E2-881789AB7EBD}"/>
              </a:ext>
            </a:extLst>
          </p:cNvPr>
          <p:cNvCxnSpPr/>
          <p:nvPr/>
        </p:nvCxnSpPr>
        <p:spPr>
          <a:xfrm>
            <a:off x="7346141" y="3404790"/>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16" name="直線矢印コネクタ 15">
            <a:extLst>
              <a:ext uri="{FF2B5EF4-FFF2-40B4-BE49-F238E27FC236}">
                <a16:creationId xmlns:a16="http://schemas.microsoft.com/office/drawing/2014/main" id="{3D189ACF-85A0-5C11-67DB-C6EF9D72F787}"/>
              </a:ext>
            </a:extLst>
          </p:cNvPr>
          <p:cNvCxnSpPr/>
          <p:nvPr/>
        </p:nvCxnSpPr>
        <p:spPr>
          <a:xfrm>
            <a:off x="7346141" y="3044790"/>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17" name="直線コネクタ 16">
            <a:extLst>
              <a:ext uri="{FF2B5EF4-FFF2-40B4-BE49-F238E27FC236}">
                <a16:creationId xmlns:a16="http://schemas.microsoft.com/office/drawing/2014/main" id="{5EA0D109-7A0C-E605-4D5A-DED366E50BBA}"/>
              </a:ext>
            </a:extLst>
          </p:cNvPr>
          <p:cNvCxnSpPr/>
          <p:nvPr/>
        </p:nvCxnSpPr>
        <p:spPr>
          <a:xfrm>
            <a:off x="7344629" y="5882153"/>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75186FD8-63E2-2EF6-079B-87E1A53D510C}"/>
              </a:ext>
            </a:extLst>
          </p:cNvPr>
          <p:cNvCxnSpPr/>
          <p:nvPr/>
        </p:nvCxnSpPr>
        <p:spPr>
          <a:xfrm>
            <a:off x="7344629" y="5522153"/>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9" name="直線矢印コネクタ 18">
            <a:extLst>
              <a:ext uri="{FF2B5EF4-FFF2-40B4-BE49-F238E27FC236}">
                <a16:creationId xmlns:a16="http://schemas.microsoft.com/office/drawing/2014/main" id="{2C0D0D47-948D-1E50-4D47-2A5DAD293DA3}"/>
              </a:ext>
            </a:extLst>
          </p:cNvPr>
          <p:cNvCxnSpPr/>
          <p:nvPr/>
        </p:nvCxnSpPr>
        <p:spPr>
          <a:xfrm>
            <a:off x="7346141" y="5162153"/>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20" name="直線矢印コネクタ 19">
            <a:extLst>
              <a:ext uri="{FF2B5EF4-FFF2-40B4-BE49-F238E27FC236}">
                <a16:creationId xmlns:a16="http://schemas.microsoft.com/office/drawing/2014/main" id="{125E3454-F4AF-4E7A-3D4F-57E0ADE481AD}"/>
              </a:ext>
            </a:extLst>
          </p:cNvPr>
          <p:cNvCxnSpPr/>
          <p:nvPr/>
        </p:nvCxnSpPr>
        <p:spPr>
          <a:xfrm>
            <a:off x="7346141" y="4802153"/>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29" name="直線コネクタ 28">
            <a:extLst>
              <a:ext uri="{FF2B5EF4-FFF2-40B4-BE49-F238E27FC236}">
                <a16:creationId xmlns:a16="http://schemas.microsoft.com/office/drawing/2014/main" id="{2E0B0335-8821-2BA3-59C3-6ACB52B8B169}"/>
              </a:ext>
            </a:extLst>
          </p:cNvPr>
          <p:cNvCxnSpPr/>
          <p:nvPr/>
        </p:nvCxnSpPr>
        <p:spPr>
          <a:xfrm>
            <a:off x="878614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8D4C4054-CA3F-F2A6-2F05-8B49618725BE}"/>
              </a:ext>
            </a:extLst>
          </p:cNvPr>
          <p:cNvCxnSpPr/>
          <p:nvPr/>
        </p:nvCxnSpPr>
        <p:spPr>
          <a:xfrm>
            <a:off x="842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12BD7534-BDE8-91D9-FC72-9209588532D1}"/>
              </a:ext>
            </a:extLst>
          </p:cNvPr>
          <p:cNvCxnSpPr/>
          <p:nvPr/>
        </p:nvCxnSpPr>
        <p:spPr>
          <a:xfrm>
            <a:off x="806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4" name="直線コネクタ 33">
            <a:extLst>
              <a:ext uri="{FF2B5EF4-FFF2-40B4-BE49-F238E27FC236}">
                <a16:creationId xmlns:a16="http://schemas.microsoft.com/office/drawing/2014/main" id="{40617D8F-915D-33F8-87F8-F8547F8B88F1}"/>
              </a:ext>
            </a:extLst>
          </p:cNvPr>
          <p:cNvCxnSpPr/>
          <p:nvPr/>
        </p:nvCxnSpPr>
        <p:spPr>
          <a:xfrm>
            <a:off x="770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5" name="直線コネクタ 34">
            <a:extLst>
              <a:ext uri="{FF2B5EF4-FFF2-40B4-BE49-F238E27FC236}">
                <a16:creationId xmlns:a16="http://schemas.microsoft.com/office/drawing/2014/main" id="{497521F4-B0DB-9C21-137F-632C6BD3BDDB}"/>
              </a:ext>
            </a:extLst>
          </p:cNvPr>
          <p:cNvCxnSpPr/>
          <p:nvPr/>
        </p:nvCxnSpPr>
        <p:spPr>
          <a:xfrm>
            <a:off x="10599701" y="2681188"/>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6" name="直線コネクタ 35">
            <a:extLst>
              <a:ext uri="{FF2B5EF4-FFF2-40B4-BE49-F238E27FC236}">
                <a16:creationId xmlns:a16="http://schemas.microsoft.com/office/drawing/2014/main" id="{1999FDBB-CBFD-4F76-3760-783A226BA660}"/>
              </a:ext>
            </a:extLst>
          </p:cNvPr>
          <p:cNvCxnSpPr/>
          <p:nvPr/>
        </p:nvCxnSpPr>
        <p:spPr>
          <a:xfrm>
            <a:off x="1023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7" name="直線コネクタ 36">
            <a:extLst>
              <a:ext uri="{FF2B5EF4-FFF2-40B4-BE49-F238E27FC236}">
                <a16:creationId xmlns:a16="http://schemas.microsoft.com/office/drawing/2014/main" id="{47201647-723D-73AC-46DC-62DE9BD9048A}"/>
              </a:ext>
            </a:extLst>
          </p:cNvPr>
          <p:cNvCxnSpPr/>
          <p:nvPr/>
        </p:nvCxnSpPr>
        <p:spPr>
          <a:xfrm>
            <a:off x="987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8" name="直線コネクタ 37">
            <a:extLst>
              <a:ext uri="{FF2B5EF4-FFF2-40B4-BE49-F238E27FC236}">
                <a16:creationId xmlns:a16="http://schemas.microsoft.com/office/drawing/2014/main" id="{6120CDF4-55DB-01C0-92EE-C56A71282466}"/>
              </a:ext>
            </a:extLst>
          </p:cNvPr>
          <p:cNvCxnSpPr/>
          <p:nvPr/>
        </p:nvCxnSpPr>
        <p:spPr>
          <a:xfrm>
            <a:off x="951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sp>
        <p:nvSpPr>
          <p:cNvPr id="39" name="テキスト ボックス 38">
            <a:extLst>
              <a:ext uri="{FF2B5EF4-FFF2-40B4-BE49-F238E27FC236}">
                <a16:creationId xmlns:a16="http://schemas.microsoft.com/office/drawing/2014/main" id="{3F008676-03E0-F10C-2CCE-DD053D87F51D}"/>
              </a:ext>
            </a:extLst>
          </p:cNvPr>
          <p:cNvSpPr txBox="1"/>
          <p:nvPr/>
        </p:nvSpPr>
        <p:spPr>
          <a:xfrm>
            <a:off x="10878514" y="4157185"/>
            <a:ext cx="267345" cy="584775"/>
          </a:xfrm>
          <a:prstGeom prst="rect">
            <a:avLst/>
          </a:prstGeom>
          <a:noFill/>
        </p:spPr>
        <p:txBody>
          <a:bodyPr wrap="square" rtlCol="0" anchor="t">
            <a:spAutoFit/>
          </a:bodyPr>
          <a:lstStyle/>
          <a:p>
            <a:r>
              <a:rPr kumimoji="1" lang="en-US" altLang="ja-JP" sz="3200" b="1" dirty="0">
                <a:latin typeface="Gigi" panose="04040504060007020D02" pitchFamily="82" charset="0"/>
              </a:rPr>
              <a:t>x</a:t>
            </a:r>
            <a:endParaRPr kumimoji="1" lang="ja-JP" altLang="en-US" sz="3200" b="1" dirty="0">
              <a:latin typeface="Gigi" panose="04040504060007020D02" pitchFamily="82" charset="0"/>
            </a:endParaRPr>
          </a:p>
        </p:txBody>
      </p:sp>
      <p:sp>
        <p:nvSpPr>
          <p:cNvPr id="40" name="テキスト ボックス 39">
            <a:extLst>
              <a:ext uri="{FF2B5EF4-FFF2-40B4-BE49-F238E27FC236}">
                <a16:creationId xmlns:a16="http://schemas.microsoft.com/office/drawing/2014/main" id="{DE140A45-4EE8-D9A8-6A9B-33961274D82F}"/>
              </a:ext>
            </a:extLst>
          </p:cNvPr>
          <p:cNvSpPr txBox="1"/>
          <p:nvPr/>
        </p:nvSpPr>
        <p:spPr>
          <a:xfrm>
            <a:off x="8930273" y="2116703"/>
            <a:ext cx="267345" cy="584775"/>
          </a:xfrm>
          <a:prstGeom prst="rect">
            <a:avLst/>
          </a:prstGeom>
          <a:noFill/>
        </p:spPr>
        <p:txBody>
          <a:bodyPr wrap="square" rtlCol="0">
            <a:spAutoFit/>
          </a:bodyPr>
          <a:lstStyle/>
          <a:p>
            <a:r>
              <a:rPr lang="en-US" altLang="ja-JP" sz="3200" b="1" dirty="0">
                <a:latin typeface="Gigi" panose="04040504060007020D02" pitchFamily="82" charset="0"/>
              </a:rPr>
              <a:t>y</a:t>
            </a:r>
            <a:endParaRPr kumimoji="1" lang="ja-JP" altLang="en-US" sz="3200" b="1" dirty="0">
              <a:latin typeface="Gigi" panose="04040504060007020D02" pitchFamily="82" charset="0"/>
            </a:endParaRPr>
          </a:p>
        </p:txBody>
      </p:sp>
      <p:sp>
        <p:nvSpPr>
          <p:cNvPr id="41" name="テキスト ボックス 40">
            <a:extLst>
              <a:ext uri="{FF2B5EF4-FFF2-40B4-BE49-F238E27FC236}">
                <a16:creationId xmlns:a16="http://schemas.microsoft.com/office/drawing/2014/main" id="{9B8F1377-A488-D2E4-5400-4A2DA57DEAB8}"/>
              </a:ext>
            </a:extLst>
          </p:cNvPr>
          <p:cNvSpPr txBox="1"/>
          <p:nvPr/>
        </p:nvSpPr>
        <p:spPr>
          <a:xfrm>
            <a:off x="9109438" y="2161962"/>
            <a:ext cx="1020485" cy="523220"/>
          </a:xfrm>
          <a:prstGeom prst="rect">
            <a:avLst/>
          </a:prstGeom>
          <a:noFill/>
        </p:spPr>
        <p:txBody>
          <a:bodyPr wrap="square" rtlCol="0">
            <a:spAutoFit/>
          </a:bodyPr>
          <a:lstStyle/>
          <a:p>
            <a:pPr algn="ctr"/>
            <a:r>
              <a:rPr kumimoji="1" lang="en-US" altLang="ja-JP" sz="2800" dirty="0"/>
              <a:t>90°</a:t>
            </a:r>
            <a:endParaRPr kumimoji="1" lang="ja-JP" altLang="en-US" sz="2800" dirty="0"/>
          </a:p>
        </p:txBody>
      </p:sp>
      <p:sp>
        <p:nvSpPr>
          <p:cNvPr id="42" name="テキスト ボックス 41">
            <a:extLst>
              <a:ext uri="{FF2B5EF4-FFF2-40B4-BE49-F238E27FC236}">
                <a16:creationId xmlns:a16="http://schemas.microsoft.com/office/drawing/2014/main" id="{8D385E62-D3CB-B22C-BCA7-E09D1C4C2691}"/>
              </a:ext>
            </a:extLst>
          </p:cNvPr>
          <p:cNvSpPr txBox="1"/>
          <p:nvPr/>
        </p:nvSpPr>
        <p:spPr>
          <a:xfrm>
            <a:off x="11144105" y="4233942"/>
            <a:ext cx="1020485" cy="830997"/>
          </a:xfrm>
          <a:prstGeom prst="rect">
            <a:avLst/>
          </a:prstGeom>
          <a:noFill/>
        </p:spPr>
        <p:txBody>
          <a:bodyPr wrap="square" rtlCol="0">
            <a:spAutoFit/>
          </a:bodyPr>
          <a:lstStyle/>
          <a:p>
            <a:r>
              <a:rPr kumimoji="1" lang="en-US" altLang="ja-JP" sz="2800" dirty="0"/>
              <a:t> 0°</a:t>
            </a:r>
          </a:p>
          <a:p>
            <a:r>
              <a:rPr lang="en-US" altLang="ja-JP" sz="2000" dirty="0"/>
              <a:t>(360°)</a:t>
            </a:r>
            <a:endParaRPr kumimoji="1" lang="ja-JP" altLang="en-US" sz="2000" dirty="0"/>
          </a:p>
        </p:txBody>
      </p:sp>
      <p:sp>
        <p:nvSpPr>
          <p:cNvPr id="43" name="テキスト ボックス 42">
            <a:extLst>
              <a:ext uri="{FF2B5EF4-FFF2-40B4-BE49-F238E27FC236}">
                <a16:creationId xmlns:a16="http://schemas.microsoft.com/office/drawing/2014/main" id="{0BF56AE0-94E5-2572-420E-5073EFD8330B}"/>
              </a:ext>
            </a:extLst>
          </p:cNvPr>
          <p:cNvSpPr txBox="1"/>
          <p:nvPr/>
        </p:nvSpPr>
        <p:spPr>
          <a:xfrm>
            <a:off x="8714717" y="6340542"/>
            <a:ext cx="1020485" cy="523220"/>
          </a:xfrm>
          <a:prstGeom prst="rect">
            <a:avLst/>
          </a:prstGeom>
          <a:noFill/>
        </p:spPr>
        <p:txBody>
          <a:bodyPr wrap="square" rtlCol="0">
            <a:spAutoFit/>
          </a:bodyPr>
          <a:lstStyle/>
          <a:p>
            <a:pPr algn="ctr"/>
            <a:r>
              <a:rPr lang="en-US" altLang="ja-JP" sz="2800" dirty="0"/>
              <a:t>270</a:t>
            </a:r>
            <a:r>
              <a:rPr kumimoji="1" lang="en-US" altLang="ja-JP" sz="2800" dirty="0"/>
              <a:t>°</a:t>
            </a:r>
            <a:endParaRPr kumimoji="1" lang="ja-JP" altLang="en-US" sz="2800" dirty="0"/>
          </a:p>
        </p:txBody>
      </p:sp>
      <p:sp>
        <p:nvSpPr>
          <p:cNvPr id="44" name="テキスト ボックス 43">
            <a:extLst>
              <a:ext uri="{FF2B5EF4-FFF2-40B4-BE49-F238E27FC236}">
                <a16:creationId xmlns:a16="http://schemas.microsoft.com/office/drawing/2014/main" id="{0E21BC05-7143-BB6C-CAF8-1BF7D1704023}"/>
              </a:ext>
            </a:extLst>
          </p:cNvPr>
          <p:cNvSpPr txBox="1"/>
          <p:nvPr/>
        </p:nvSpPr>
        <p:spPr>
          <a:xfrm>
            <a:off x="6387152" y="4232640"/>
            <a:ext cx="1020485" cy="523220"/>
          </a:xfrm>
          <a:prstGeom prst="rect">
            <a:avLst/>
          </a:prstGeom>
          <a:noFill/>
        </p:spPr>
        <p:txBody>
          <a:bodyPr wrap="square" rtlCol="0">
            <a:spAutoFit/>
          </a:bodyPr>
          <a:lstStyle/>
          <a:p>
            <a:pPr algn="ctr"/>
            <a:r>
              <a:rPr lang="en-US" altLang="ja-JP" sz="2800" dirty="0"/>
              <a:t>18</a:t>
            </a:r>
            <a:r>
              <a:rPr kumimoji="1" lang="en-US" altLang="ja-JP" sz="2800" dirty="0"/>
              <a:t>0°</a:t>
            </a:r>
            <a:endParaRPr kumimoji="1" lang="ja-JP" altLang="en-US" sz="2800" dirty="0"/>
          </a:p>
        </p:txBody>
      </p:sp>
      <p:sp>
        <p:nvSpPr>
          <p:cNvPr id="21" name="テキスト ボックス 20">
            <a:extLst>
              <a:ext uri="{FF2B5EF4-FFF2-40B4-BE49-F238E27FC236}">
                <a16:creationId xmlns:a16="http://schemas.microsoft.com/office/drawing/2014/main" id="{0D96E279-1B2F-CBC0-0928-B09534A88916}"/>
              </a:ext>
            </a:extLst>
          </p:cNvPr>
          <p:cNvSpPr txBox="1"/>
          <p:nvPr/>
        </p:nvSpPr>
        <p:spPr>
          <a:xfrm>
            <a:off x="0" y="3432223"/>
            <a:ext cx="6095813" cy="523220"/>
          </a:xfrm>
          <a:prstGeom prst="rect">
            <a:avLst/>
          </a:prstGeom>
          <a:noFill/>
        </p:spPr>
        <p:txBody>
          <a:bodyPr wrap="square" rtlCol="0">
            <a:spAutoFit/>
          </a:bodyPr>
          <a:lstStyle/>
          <a:p>
            <a:pPr algn="ctr"/>
            <a:r>
              <a:rPr lang="ja-JP" altLang="en-US" sz="2800" dirty="0"/>
              <a:t>     </a:t>
            </a:r>
            <a:r>
              <a:rPr lang="en-US" altLang="ja-JP" sz="2800" dirty="0"/>
              <a:t>°</a:t>
            </a:r>
            <a:r>
              <a:rPr lang="ja-JP" altLang="en-US" sz="2800" dirty="0"/>
              <a:t>を向いて一歩進む</a:t>
            </a:r>
            <a:endParaRPr lang="en-US" altLang="ja-JP" sz="2800" dirty="0"/>
          </a:p>
        </p:txBody>
      </p:sp>
      <p:sp>
        <p:nvSpPr>
          <p:cNvPr id="23" name="テキスト ボックス 22">
            <a:extLst>
              <a:ext uri="{FF2B5EF4-FFF2-40B4-BE49-F238E27FC236}">
                <a16:creationId xmlns:a16="http://schemas.microsoft.com/office/drawing/2014/main" id="{9A775E64-5D9C-F8BB-7A5E-198065705B5B}"/>
              </a:ext>
            </a:extLst>
          </p:cNvPr>
          <p:cNvSpPr txBox="1"/>
          <p:nvPr/>
        </p:nvSpPr>
        <p:spPr>
          <a:xfrm>
            <a:off x="1532220" y="3244770"/>
            <a:ext cx="563279" cy="523220"/>
          </a:xfrm>
          <a:prstGeom prst="rect">
            <a:avLst/>
          </a:prstGeom>
          <a:noFill/>
        </p:spPr>
        <p:txBody>
          <a:bodyPr wrap="square">
            <a:spAutoFit/>
          </a:bodyPr>
          <a:lstStyle/>
          <a:p>
            <a:pPr algn="r"/>
            <a:r>
              <a:rPr lang="en-US" altLang="ja-JP" sz="2800" dirty="0">
                <a:noFill/>
              </a:rPr>
              <a:t>90</a:t>
            </a:r>
            <a:endParaRPr lang="ja-JP" altLang="en-US" sz="2800" dirty="0">
              <a:noFill/>
            </a:endParaRPr>
          </a:p>
        </p:txBody>
      </p:sp>
      <p:sp>
        <p:nvSpPr>
          <p:cNvPr id="25" name="テキスト ボックス 24">
            <a:extLst>
              <a:ext uri="{FF2B5EF4-FFF2-40B4-BE49-F238E27FC236}">
                <a16:creationId xmlns:a16="http://schemas.microsoft.com/office/drawing/2014/main" id="{881C816A-0E19-9215-B996-D611051A229D}"/>
              </a:ext>
            </a:extLst>
          </p:cNvPr>
          <p:cNvSpPr txBox="1"/>
          <p:nvPr/>
        </p:nvSpPr>
        <p:spPr>
          <a:xfrm>
            <a:off x="3174655" y="3801879"/>
            <a:ext cx="252600" cy="954107"/>
          </a:xfrm>
          <a:prstGeom prst="rect">
            <a:avLst/>
          </a:prstGeom>
          <a:noFill/>
        </p:spPr>
        <p:txBody>
          <a:bodyPr wrap="square">
            <a:spAutoFit/>
          </a:bodyPr>
          <a:lstStyle/>
          <a:p>
            <a:pPr algn="ctr"/>
            <a:r>
              <a:rPr kumimoji="1" lang="ja-JP" altLang="en-US" sz="2800" dirty="0"/>
              <a:t>＝</a:t>
            </a:r>
            <a:endParaRPr kumimoji="1" lang="en-US" altLang="ja-JP" sz="2800" dirty="0"/>
          </a:p>
          <a:p>
            <a:pPr algn="ctr"/>
            <a:r>
              <a:rPr lang="ja-JP" altLang="en-US" sz="2800" dirty="0"/>
              <a:t>、</a:t>
            </a:r>
            <a:endParaRPr lang="en-US" altLang="ja-JP" sz="2800" dirty="0">
              <a:noFill/>
            </a:endParaRPr>
          </a:p>
        </p:txBody>
      </p:sp>
      <p:sp>
        <p:nvSpPr>
          <p:cNvPr id="14" name="テキスト ボックス 13">
            <a:extLst>
              <a:ext uri="{FF2B5EF4-FFF2-40B4-BE49-F238E27FC236}">
                <a16:creationId xmlns:a16="http://schemas.microsoft.com/office/drawing/2014/main" id="{D7B54C92-C03A-097B-2994-4B9DA97F4B07}"/>
              </a:ext>
            </a:extLst>
          </p:cNvPr>
          <p:cNvSpPr txBox="1"/>
          <p:nvPr/>
        </p:nvSpPr>
        <p:spPr>
          <a:xfrm>
            <a:off x="1944188" y="3998957"/>
            <a:ext cx="655317" cy="523220"/>
          </a:xfrm>
          <a:prstGeom prst="rect">
            <a:avLst/>
          </a:prstGeom>
          <a:noFill/>
        </p:spPr>
        <p:txBody>
          <a:bodyPr wrap="square" rtlCol="0">
            <a:spAutoFit/>
          </a:bodyPr>
          <a:lstStyle/>
          <a:p>
            <a:pPr algn="ctr"/>
            <a:r>
              <a:rPr lang="en-US" altLang="ja-JP" sz="2800" dirty="0">
                <a:noFill/>
              </a:rPr>
              <a:t>±0</a:t>
            </a:r>
          </a:p>
        </p:txBody>
      </p:sp>
      <p:sp>
        <p:nvSpPr>
          <p:cNvPr id="15" name="テキスト ボックス 14">
            <a:extLst>
              <a:ext uri="{FF2B5EF4-FFF2-40B4-BE49-F238E27FC236}">
                <a16:creationId xmlns:a16="http://schemas.microsoft.com/office/drawing/2014/main" id="{B304ED4B-5359-5262-46E7-43254BC3FE14}"/>
              </a:ext>
            </a:extLst>
          </p:cNvPr>
          <p:cNvSpPr txBox="1"/>
          <p:nvPr/>
        </p:nvSpPr>
        <p:spPr>
          <a:xfrm>
            <a:off x="5084493" y="3875359"/>
            <a:ext cx="587347" cy="523220"/>
          </a:xfrm>
          <a:prstGeom prst="rect">
            <a:avLst/>
          </a:prstGeom>
          <a:noFill/>
        </p:spPr>
        <p:txBody>
          <a:bodyPr wrap="square">
            <a:spAutoFit/>
          </a:bodyPr>
          <a:lstStyle/>
          <a:p>
            <a:r>
              <a:rPr lang="en-US" altLang="ja-JP" sz="2800" dirty="0">
                <a:noFill/>
              </a:rPr>
              <a:t>+1</a:t>
            </a:r>
            <a:endParaRPr lang="ja-JP" altLang="en-US" sz="2800" dirty="0">
              <a:noFill/>
            </a:endParaRPr>
          </a:p>
        </p:txBody>
      </p:sp>
      <p:sp>
        <p:nvSpPr>
          <p:cNvPr id="22" name="テキスト ボックス 21">
            <a:extLst>
              <a:ext uri="{FF2B5EF4-FFF2-40B4-BE49-F238E27FC236}">
                <a16:creationId xmlns:a16="http://schemas.microsoft.com/office/drawing/2014/main" id="{57E5117C-41A8-B1FE-BF54-256F77E0FEB8}"/>
              </a:ext>
            </a:extLst>
          </p:cNvPr>
          <p:cNvSpPr txBox="1"/>
          <p:nvPr/>
        </p:nvSpPr>
        <p:spPr>
          <a:xfrm>
            <a:off x="1532220" y="3255970"/>
            <a:ext cx="563279" cy="523220"/>
          </a:xfrm>
          <a:prstGeom prst="rect">
            <a:avLst/>
          </a:prstGeom>
          <a:noFill/>
        </p:spPr>
        <p:txBody>
          <a:bodyPr wrap="square">
            <a:spAutoFit/>
          </a:bodyPr>
          <a:lstStyle/>
          <a:p>
            <a:pPr algn="r"/>
            <a:r>
              <a:rPr lang="en-US" altLang="ja-JP" sz="2800" dirty="0">
                <a:noFill/>
              </a:rPr>
              <a:t>0</a:t>
            </a:r>
            <a:endParaRPr lang="ja-JP" altLang="en-US" sz="2800" dirty="0">
              <a:noFill/>
            </a:endParaRPr>
          </a:p>
        </p:txBody>
      </p:sp>
      <p:sp>
        <p:nvSpPr>
          <p:cNvPr id="28" name="テキスト ボックス 27">
            <a:extLst>
              <a:ext uri="{FF2B5EF4-FFF2-40B4-BE49-F238E27FC236}">
                <a16:creationId xmlns:a16="http://schemas.microsoft.com/office/drawing/2014/main" id="{EFE425D3-C134-A3ED-A181-3DBA32275F55}"/>
              </a:ext>
            </a:extLst>
          </p:cNvPr>
          <p:cNvSpPr txBox="1"/>
          <p:nvPr/>
        </p:nvSpPr>
        <p:spPr>
          <a:xfrm>
            <a:off x="1254314" y="3444240"/>
            <a:ext cx="563279" cy="523220"/>
          </a:xfrm>
          <a:prstGeom prst="rect">
            <a:avLst/>
          </a:prstGeom>
          <a:noFill/>
        </p:spPr>
        <p:txBody>
          <a:bodyPr wrap="square">
            <a:spAutoFit/>
          </a:bodyPr>
          <a:lstStyle/>
          <a:p>
            <a:pPr algn="r"/>
            <a:r>
              <a:rPr lang="en-US" altLang="ja-JP" sz="2800" dirty="0"/>
              <a:t>30</a:t>
            </a:r>
            <a:endParaRPr lang="ja-JP" altLang="en-US" sz="2800" dirty="0"/>
          </a:p>
        </p:txBody>
      </p:sp>
      <p:sp>
        <p:nvSpPr>
          <p:cNvPr id="32" name="テキスト ボックス 31">
            <a:extLst>
              <a:ext uri="{FF2B5EF4-FFF2-40B4-BE49-F238E27FC236}">
                <a16:creationId xmlns:a16="http://schemas.microsoft.com/office/drawing/2014/main" id="{8F3B247D-4C89-BB5F-2A73-DC9477A3C550}"/>
              </a:ext>
            </a:extLst>
          </p:cNvPr>
          <p:cNvSpPr txBox="1"/>
          <p:nvPr/>
        </p:nvSpPr>
        <p:spPr>
          <a:xfrm>
            <a:off x="361901" y="4157185"/>
            <a:ext cx="1993574" cy="584775"/>
          </a:xfrm>
          <a:prstGeom prst="rect">
            <a:avLst/>
          </a:prstGeom>
          <a:noFill/>
        </p:spPr>
        <p:txBody>
          <a:bodyPr wrap="square">
            <a:spAutoFit/>
          </a:bodyPr>
          <a:lstStyle/>
          <a:p>
            <a:r>
              <a:rPr lang="en-US" altLang="ja-JP" sz="3200" dirty="0"/>
              <a:t>x</a:t>
            </a:r>
            <a:r>
              <a:rPr lang="ja-JP" altLang="en-US" sz="3200" dirty="0"/>
              <a:t>軸方向に </a:t>
            </a:r>
          </a:p>
        </p:txBody>
      </p:sp>
      <p:sp>
        <p:nvSpPr>
          <p:cNvPr id="49" name="テキスト ボックス 48">
            <a:extLst>
              <a:ext uri="{FF2B5EF4-FFF2-40B4-BE49-F238E27FC236}">
                <a16:creationId xmlns:a16="http://schemas.microsoft.com/office/drawing/2014/main" id="{C01693A1-146C-8695-23D0-E5B292A7BF46}"/>
              </a:ext>
            </a:extLst>
          </p:cNvPr>
          <p:cNvSpPr txBox="1"/>
          <p:nvPr/>
        </p:nvSpPr>
        <p:spPr>
          <a:xfrm>
            <a:off x="3302366" y="4194610"/>
            <a:ext cx="1791099" cy="523220"/>
          </a:xfrm>
          <a:prstGeom prst="rect">
            <a:avLst/>
          </a:prstGeom>
          <a:noFill/>
        </p:spPr>
        <p:txBody>
          <a:bodyPr wrap="square">
            <a:spAutoFit/>
          </a:bodyPr>
          <a:lstStyle/>
          <a:p>
            <a:r>
              <a:rPr lang="en-US" altLang="ja-JP" sz="2800" dirty="0"/>
              <a:t>y</a:t>
            </a:r>
            <a:r>
              <a:rPr lang="ja-JP" altLang="en-US" sz="2800" dirty="0"/>
              <a:t>軸方向に </a:t>
            </a:r>
          </a:p>
        </p:txBody>
      </p:sp>
      <p:sp>
        <p:nvSpPr>
          <p:cNvPr id="50" name="テキスト ボックス 49">
            <a:extLst>
              <a:ext uri="{FF2B5EF4-FFF2-40B4-BE49-F238E27FC236}">
                <a16:creationId xmlns:a16="http://schemas.microsoft.com/office/drawing/2014/main" id="{DE151AED-292B-4861-DA5B-9606BAF9ADFB}"/>
              </a:ext>
            </a:extLst>
          </p:cNvPr>
          <p:cNvSpPr txBox="1"/>
          <p:nvPr/>
        </p:nvSpPr>
        <p:spPr>
          <a:xfrm>
            <a:off x="2159339" y="3983262"/>
            <a:ext cx="655317" cy="523220"/>
          </a:xfrm>
          <a:prstGeom prst="rect">
            <a:avLst/>
          </a:prstGeom>
          <a:noFill/>
        </p:spPr>
        <p:txBody>
          <a:bodyPr wrap="square" rtlCol="0">
            <a:spAutoFit/>
          </a:bodyPr>
          <a:lstStyle/>
          <a:p>
            <a:pPr algn="ctr"/>
            <a:r>
              <a:rPr lang="en-US" altLang="ja-JP" sz="2800" dirty="0">
                <a:noFill/>
              </a:rPr>
              <a:t>+1</a:t>
            </a:r>
          </a:p>
        </p:txBody>
      </p:sp>
      <p:sp>
        <p:nvSpPr>
          <p:cNvPr id="51" name="テキスト ボックス 50">
            <a:extLst>
              <a:ext uri="{FF2B5EF4-FFF2-40B4-BE49-F238E27FC236}">
                <a16:creationId xmlns:a16="http://schemas.microsoft.com/office/drawing/2014/main" id="{DC49C599-EB25-EE9A-461E-16BED8E82BC9}"/>
              </a:ext>
            </a:extLst>
          </p:cNvPr>
          <p:cNvSpPr txBox="1"/>
          <p:nvPr/>
        </p:nvSpPr>
        <p:spPr>
          <a:xfrm>
            <a:off x="4958986" y="3949314"/>
            <a:ext cx="787182" cy="523220"/>
          </a:xfrm>
          <a:prstGeom prst="rect">
            <a:avLst/>
          </a:prstGeom>
          <a:noFill/>
        </p:spPr>
        <p:txBody>
          <a:bodyPr wrap="square">
            <a:spAutoFit/>
          </a:bodyPr>
          <a:lstStyle/>
          <a:p>
            <a:r>
              <a:rPr lang="en-US" altLang="ja-JP" sz="2800" dirty="0">
                <a:noFill/>
              </a:rPr>
              <a:t>±0</a:t>
            </a:r>
            <a:endParaRPr lang="ja-JP" altLang="en-US" sz="2800" dirty="0">
              <a:noFill/>
            </a:endParaRPr>
          </a:p>
        </p:txBody>
      </p:sp>
      <p:sp>
        <p:nvSpPr>
          <p:cNvPr id="53" name="テキスト ボックス 52">
            <a:extLst>
              <a:ext uri="{FF2B5EF4-FFF2-40B4-BE49-F238E27FC236}">
                <a16:creationId xmlns:a16="http://schemas.microsoft.com/office/drawing/2014/main" id="{40FF3EE4-FAAE-29A9-384D-D9CC6C1FA009}"/>
              </a:ext>
            </a:extLst>
          </p:cNvPr>
          <p:cNvSpPr txBox="1"/>
          <p:nvPr/>
        </p:nvSpPr>
        <p:spPr>
          <a:xfrm>
            <a:off x="4947069" y="4200215"/>
            <a:ext cx="787182" cy="523220"/>
          </a:xfrm>
          <a:prstGeom prst="rect">
            <a:avLst/>
          </a:prstGeom>
          <a:noFill/>
        </p:spPr>
        <p:txBody>
          <a:bodyPr wrap="square">
            <a:spAutoFit/>
          </a:bodyPr>
          <a:lstStyle/>
          <a:p>
            <a:r>
              <a:rPr lang="en-US" altLang="ja-JP" sz="2800" dirty="0"/>
              <a:t>+―</a:t>
            </a:r>
          </a:p>
        </p:txBody>
      </p:sp>
      <p:sp>
        <p:nvSpPr>
          <p:cNvPr id="54" name="テキスト ボックス 53">
            <a:extLst>
              <a:ext uri="{FF2B5EF4-FFF2-40B4-BE49-F238E27FC236}">
                <a16:creationId xmlns:a16="http://schemas.microsoft.com/office/drawing/2014/main" id="{6B4304B7-22C9-7DBD-53BA-FE326774956A}"/>
              </a:ext>
            </a:extLst>
          </p:cNvPr>
          <p:cNvSpPr txBox="1"/>
          <p:nvPr/>
        </p:nvSpPr>
        <p:spPr>
          <a:xfrm>
            <a:off x="5189009" y="4006992"/>
            <a:ext cx="322138" cy="954107"/>
          </a:xfrm>
          <a:prstGeom prst="rect">
            <a:avLst/>
          </a:prstGeom>
          <a:noFill/>
        </p:spPr>
        <p:txBody>
          <a:bodyPr wrap="square">
            <a:spAutoFit/>
          </a:bodyPr>
          <a:lstStyle/>
          <a:p>
            <a:r>
              <a:rPr lang="en-US" altLang="ja-JP" sz="2800" dirty="0"/>
              <a:t>1</a:t>
            </a:r>
          </a:p>
          <a:p>
            <a:r>
              <a:rPr lang="en-US" altLang="ja-JP" sz="2800" dirty="0"/>
              <a:t>2</a:t>
            </a:r>
          </a:p>
        </p:txBody>
      </p:sp>
      <p:sp>
        <p:nvSpPr>
          <p:cNvPr id="55" name="テキスト ボックス 54">
            <a:extLst>
              <a:ext uri="{FF2B5EF4-FFF2-40B4-BE49-F238E27FC236}">
                <a16:creationId xmlns:a16="http://schemas.microsoft.com/office/drawing/2014/main" id="{9AF58A0B-9D37-3F3A-C675-6BFBB0472F74}"/>
              </a:ext>
            </a:extLst>
          </p:cNvPr>
          <p:cNvSpPr txBox="1"/>
          <p:nvPr/>
        </p:nvSpPr>
        <p:spPr>
          <a:xfrm>
            <a:off x="2425693" y="3935391"/>
            <a:ext cx="634609" cy="954107"/>
          </a:xfrm>
          <a:prstGeom prst="rect">
            <a:avLst/>
          </a:prstGeom>
          <a:noFill/>
        </p:spPr>
        <p:txBody>
          <a:bodyPr wrap="square">
            <a:spAutoFit/>
          </a:bodyPr>
          <a:lstStyle/>
          <a:p>
            <a:r>
              <a:rPr lang="ja-JP" altLang="en-US" sz="2800" dirty="0"/>
              <a:t>√</a:t>
            </a:r>
            <a:r>
              <a:rPr lang="en-US" altLang="ja-JP" sz="2800" dirty="0"/>
              <a:t>3</a:t>
            </a:r>
          </a:p>
          <a:p>
            <a:r>
              <a:rPr lang="en-US" altLang="ja-JP" sz="2800" dirty="0"/>
              <a:t>  2</a:t>
            </a:r>
          </a:p>
        </p:txBody>
      </p:sp>
      <p:sp>
        <p:nvSpPr>
          <p:cNvPr id="58" name="テキスト ボックス 57">
            <a:extLst>
              <a:ext uri="{FF2B5EF4-FFF2-40B4-BE49-F238E27FC236}">
                <a16:creationId xmlns:a16="http://schemas.microsoft.com/office/drawing/2014/main" id="{8883B604-A406-1356-BA30-2293D986312F}"/>
              </a:ext>
            </a:extLst>
          </p:cNvPr>
          <p:cNvSpPr txBox="1"/>
          <p:nvPr/>
        </p:nvSpPr>
        <p:spPr>
          <a:xfrm>
            <a:off x="2189747" y="4150835"/>
            <a:ext cx="1038291" cy="523220"/>
          </a:xfrm>
          <a:prstGeom prst="rect">
            <a:avLst/>
          </a:prstGeom>
          <a:noFill/>
        </p:spPr>
        <p:txBody>
          <a:bodyPr wrap="square">
            <a:spAutoFit/>
          </a:bodyPr>
          <a:lstStyle/>
          <a:p>
            <a:r>
              <a:rPr lang="en-US" altLang="ja-JP" sz="2800" dirty="0"/>
              <a:t>+――</a:t>
            </a:r>
          </a:p>
        </p:txBody>
      </p:sp>
      <p:sp>
        <p:nvSpPr>
          <p:cNvPr id="26" name="矢印: 右 25">
            <a:extLst>
              <a:ext uri="{FF2B5EF4-FFF2-40B4-BE49-F238E27FC236}">
                <a16:creationId xmlns:a16="http://schemas.microsoft.com/office/drawing/2014/main" id="{6A2D4ECA-8710-0F1C-357B-1C418637DE2B}"/>
              </a:ext>
            </a:extLst>
          </p:cNvPr>
          <p:cNvSpPr/>
          <p:nvPr/>
        </p:nvSpPr>
        <p:spPr>
          <a:xfrm rot="19800000">
            <a:off x="9806141" y="3656920"/>
            <a:ext cx="356398" cy="378745"/>
          </a:xfrm>
          <a:prstGeom prst="rightArrow">
            <a:avLst>
              <a:gd name="adj1" fmla="val 38683"/>
              <a:gd name="adj2" fmla="val 54009"/>
            </a:avLst>
          </a:prstGeom>
          <a:solidFill>
            <a:schemeClr val="tx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テキスト ボックス 47">
            <a:extLst>
              <a:ext uri="{FF2B5EF4-FFF2-40B4-BE49-F238E27FC236}">
                <a16:creationId xmlns:a16="http://schemas.microsoft.com/office/drawing/2014/main" id="{97899EB8-900A-2026-BDD6-8E7CAC3998E4}"/>
              </a:ext>
            </a:extLst>
          </p:cNvPr>
          <p:cNvSpPr txBox="1"/>
          <p:nvPr/>
        </p:nvSpPr>
        <p:spPr>
          <a:xfrm>
            <a:off x="5001795" y="6143763"/>
            <a:ext cx="281490" cy="523220"/>
          </a:xfrm>
          <a:prstGeom prst="rect">
            <a:avLst/>
          </a:prstGeom>
          <a:noFill/>
        </p:spPr>
        <p:txBody>
          <a:bodyPr wrap="square" rtlCol="0">
            <a:spAutoFit/>
          </a:bodyPr>
          <a:lstStyle/>
          <a:p>
            <a:r>
              <a:rPr lang="en-US" altLang="ja-JP" sz="2800" dirty="0"/>
              <a:t>(</a:t>
            </a:r>
            <a:endParaRPr kumimoji="1" lang="ja-JP" altLang="en-US" sz="2800" dirty="0"/>
          </a:p>
        </p:txBody>
      </p:sp>
      <p:sp>
        <p:nvSpPr>
          <p:cNvPr id="52" name="テキスト ボックス 51">
            <a:extLst>
              <a:ext uri="{FF2B5EF4-FFF2-40B4-BE49-F238E27FC236}">
                <a16:creationId xmlns:a16="http://schemas.microsoft.com/office/drawing/2014/main" id="{92A40369-BA10-6449-F3F4-63CAB5E2929A}"/>
              </a:ext>
            </a:extLst>
          </p:cNvPr>
          <p:cNvSpPr txBox="1"/>
          <p:nvPr/>
        </p:nvSpPr>
        <p:spPr>
          <a:xfrm>
            <a:off x="6691092" y="6143763"/>
            <a:ext cx="281490" cy="523220"/>
          </a:xfrm>
          <a:prstGeom prst="rect">
            <a:avLst/>
          </a:prstGeom>
          <a:noFill/>
        </p:spPr>
        <p:txBody>
          <a:bodyPr wrap="square" rtlCol="0">
            <a:spAutoFit/>
          </a:bodyPr>
          <a:lstStyle/>
          <a:p>
            <a:r>
              <a:rPr kumimoji="1" lang="en-US" altLang="ja-JP" sz="2800" dirty="0"/>
              <a:t>)</a:t>
            </a:r>
            <a:endParaRPr kumimoji="1" lang="ja-JP" altLang="en-US" sz="2800" dirty="0"/>
          </a:p>
        </p:txBody>
      </p:sp>
      <p:sp>
        <p:nvSpPr>
          <p:cNvPr id="56" name="テキスト ボックス 55">
            <a:extLst>
              <a:ext uri="{FF2B5EF4-FFF2-40B4-BE49-F238E27FC236}">
                <a16:creationId xmlns:a16="http://schemas.microsoft.com/office/drawing/2014/main" id="{7DB3194E-C1C2-4C9B-5646-E5405C6AD260}"/>
              </a:ext>
            </a:extLst>
          </p:cNvPr>
          <p:cNvSpPr txBox="1"/>
          <p:nvPr/>
        </p:nvSpPr>
        <p:spPr>
          <a:xfrm>
            <a:off x="5962379" y="6143763"/>
            <a:ext cx="281490" cy="523220"/>
          </a:xfrm>
          <a:prstGeom prst="rect">
            <a:avLst/>
          </a:prstGeom>
          <a:noFill/>
        </p:spPr>
        <p:txBody>
          <a:bodyPr wrap="square" rtlCol="0">
            <a:spAutoFit/>
          </a:bodyPr>
          <a:lstStyle/>
          <a:p>
            <a:r>
              <a:rPr lang="en-US" altLang="ja-JP" sz="2800" dirty="0"/>
              <a:t>,</a:t>
            </a:r>
          </a:p>
        </p:txBody>
      </p:sp>
      <p:sp>
        <p:nvSpPr>
          <p:cNvPr id="57" name="テキスト ボックス 56">
            <a:extLst>
              <a:ext uri="{FF2B5EF4-FFF2-40B4-BE49-F238E27FC236}">
                <a16:creationId xmlns:a16="http://schemas.microsoft.com/office/drawing/2014/main" id="{73CAC147-97CE-CAB2-4310-5FC6FC0E46F7}"/>
              </a:ext>
            </a:extLst>
          </p:cNvPr>
          <p:cNvSpPr txBox="1"/>
          <p:nvPr/>
        </p:nvSpPr>
        <p:spPr>
          <a:xfrm>
            <a:off x="5191846" y="6143763"/>
            <a:ext cx="903968" cy="523220"/>
          </a:xfrm>
          <a:prstGeom prst="rect">
            <a:avLst/>
          </a:prstGeom>
          <a:noFill/>
        </p:spPr>
        <p:txBody>
          <a:bodyPr wrap="square" rtlCol="0">
            <a:spAutoFit/>
          </a:bodyPr>
          <a:lstStyle/>
          <a:p>
            <a:r>
              <a:rPr lang="en-US" altLang="ja-JP" sz="2800" dirty="0"/>
              <a:t>1+―</a:t>
            </a:r>
            <a:endParaRPr kumimoji="1" lang="ja-JP" altLang="en-US" sz="2800" dirty="0"/>
          </a:p>
        </p:txBody>
      </p:sp>
      <p:sp>
        <p:nvSpPr>
          <p:cNvPr id="59" name="テキスト ボックス 58">
            <a:extLst>
              <a:ext uri="{FF2B5EF4-FFF2-40B4-BE49-F238E27FC236}">
                <a16:creationId xmlns:a16="http://schemas.microsoft.com/office/drawing/2014/main" id="{6AC79E31-F0D1-805B-B024-9757C7D153CE}"/>
              </a:ext>
            </a:extLst>
          </p:cNvPr>
          <p:cNvSpPr txBox="1"/>
          <p:nvPr/>
        </p:nvSpPr>
        <p:spPr>
          <a:xfrm>
            <a:off x="6220721" y="6143763"/>
            <a:ext cx="851647" cy="523220"/>
          </a:xfrm>
          <a:prstGeom prst="rect">
            <a:avLst/>
          </a:prstGeom>
          <a:noFill/>
        </p:spPr>
        <p:txBody>
          <a:bodyPr wrap="square" rtlCol="0">
            <a:spAutoFit/>
          </a:bodyPr>
          <a:lstStyle/>
          <a:p>
            <a:r>
              <a:rPr lang="en-US" altLang="ja-JP" sz="2800" dirty="0"/>
              <a:t>―</a:t>
            </a:r>
            <a:endParaRPr kumimoji="1" lang="ja-JP" altLang="en-US" sz="2800" dirty="0"/>
          </a:p>
        </p:txBody>
      </p:sp>
      <p:sp>
        <p:nvSpPr>
          <p:cNvPr id="62" name="テキスト ボックス 61">
            <a:extLst>
              <a:ext uri="{FF2B5EF4-FFF2-40B4-BE49-F238E27FC236}">
                <a16:creationId xmlns:a16="http://schemas.microsoft.com/office/drawing/2014/main" id="{AA414715-5BB6-48F8-95E8-750F840EBB22}"/>
              </a:ext>
            </a:extLst>
          </p:cNvPr>
          <p:cNvSpPr txBox="1"/>
          <p:nvPr/>
        </p:nvSpPr>
        <p:spPr>
          <a:xfrm>
            <a:off x="6289301" y="5991363"/>
            <a:ext cx="851647" cy="523220"/>
          </a:xfrm>
          <a:prstGeom prst="rect">
            <a:avLst/>
          </a:prstGeom>
          <a:noFill/>
        </p:spPr>
        <p:txBody>
          <a:bodyPr wrap="square" rtlCol="0">
            <a:spAutoFit/>
          </a:bodyPr>
          <a:lstStyle/>
          <a:p>
            <a:r>
              <a:rPr lang="en-US" altLang="ja-JP" sz="2800" dirty="0">
                <a:noFill/>
              </a:rPr>
              <a:t>1</a:t>
            </a:r>
            <a:endParaRPr kumimoji="1" lang="ja-JP" altLang="en-US" sz="2800" dirty="0">
              <a:noFill/>
            </a:endParaRPr>
          </a:p>
        </p:txBody>
      </p:sp>
      <p:sp>
        <p:nvSpPr>
          <p:cNvPr id="63" name="テキスト ボックス 62">
            <a:extLst>
              <a:ext uri="{FF2B5EF4-FFF2-40B4-BE49-F238E27FC236}">
                <a16:creationId xmlns:a16="http://schemas.microsoft.com/office/drawing/2014/main" id="{096C282B-F4CB-6AA1-8EEC-C5C6AEB3222E}"/>
              </a:ext>
            </a:extLst>
          </p:cNvPr>
          <p:cNvSpPr txBox="1"/>
          <p:nvPr/>
        </p:nvSpPr>
        <p:spPr>
          <a:xfrm>
            <a:off x="5496645" y="5991363"/>
            <a:ext cx="851647" cy="523220"/>
          </a:xfrm>
          <a:prstGeom prst="rect">
            <a:avLst/>
          </a:prstGeom>
          <a:noFill/>
        </p:spPr>
        <p:txBody>
          <a:bodyPr wrap="square" rtlCol="0">
            <a:spAutoFit/>
          </a:bodyPr>
          <a:lstStyle/>
          <a:p>
            <a:r>
              <a:rPr lang="en-US" altLang="ja-JP" sz="2800" dirty="0">
                <a:noFill/>
              </a:rPr>
              <a:t>1</a:t>
            </a:r>
            <a:endParaRPr kumimoji="1" lang="ja-JP" altLang="en-US" sz="2800" dirty="0">
              <a:noFill/>
            </a:endParaRPr>
          </a:p>
        </p:txBody>
      </p:sp>
      <p:sp>
        <p:nvSpPr>
          <p:cNvPr id="64" name="テキスト ボックス 63">
            <a:extLst>
              <a:ext uri="{FF2B5EF4-FFF2-40B4-BE49-F238E27FC236}">
                <a16:creationId xmlns:a16="http://schemas.microsoft.com/office/drawing/2014/main" id="{181E66B4-26C9-97ED-43DB-13EBD83FE1B4}"/>
              </a:ext>
            </a:extLst>
          </p:cNvPr>
          <p:cNvSpPr txBox="1"/>
          <p:nvPr/>
        </p:nvSpPr>
        <p:spPr>
          <a:xfrm>
            <a:off x="5531161" y="5932468"/>
            <a:ext cx="606910" cy="954107"/>
          </a:xfrm>
          <a:prstGeom prst="rect">
            <a:avLst/>
          </a:prstGeom>
          <a:noFill/>
        </p:spPr>
        <p:txBody>
          <a:bodyPr wrap="square" rtlCol="0">
            <a:spAutoFit/>
          </a:bodyPr>
          <a:lstStyle/>
          <a:p>
            <a:r>
              <a:rPr kumimoji="1" lang="ja-JP" altLang="en-US" sz="2800" dirty="0"/>
              <a:t>√</a:t>
            </a:r>
            <a:r>
              <a:rPr kumimoji="1" lang="en-US" altLang="ja-JP" sz="2800" dirty="0"/>
              <a:t>3</a:t>
            </a:r>
          </a:p>
          <a:p>
            <a:r>
              <a:rPr lang="en-US" altLang="ja-JP" sz="2800" dirty="0"/>
              <a:t> 2</a:t>
            </a:r>
            <a:endParaRPr kumimoji="1" lang="ja-JP" altLang="en-US" sz="2800" dirty="0"/>
          </a:p>
        </p:txBody>
      </p:sp>
      <p:sp>
        <p:nvSpPr>
          <p:cNvPr id="65" name="テキスト ボックス 64">
            <a:extLst>
              <a:ext uri="{FF2B5EF4-FFF2-40B4-BE49-F238E27FC236}">
                <a16:creationId xmlns:a16="http://schemas.microsoft.com/office/drawing/2014/main" id="{773879F7-023D-B920-983A-4F7B85742DC8}"/>
              </a:ext>
            </a:extLst>
          </p:cNvPr>
          <p:cNvSpPr txBox="1"/>
          <p:nvPr/>
        </p:nvSpPr>
        <p:spPr>
          <a:xfrm>
            <a:off x="6297108" y="5943864"/>
            <a:ext cx="349688" cy="954107"/>
          </a:xfrm>
          <a:prstGeom prst="rect">
            <a:avLst/>
          </a:prstGeom>
          <a:noFill/>
        </p:spPr>
        <p:txBody>
          <a:bodyPr wrap="square" rtlCol="0">
            <a:spAutoFit/>
          </a:bodyPr>
          <a:lstStyle/>
          <a:p>
            <a:r>
              <a:rPr kumimoji="1" lang="en-US" altLang="ja-JP" sz="2800" dirty="0"/>
              <a:t>3</a:t>
            </a:r>
          </a:p>
          <a:p>
            <a:r>
              <a:rPr lang="en-US" altLang="ja-JP" sz="2800" dirty="0"/>
              <a:t>2</a:t>
            </a:r>
            <a:endParaRPr kumimoji="1" lang="ja-JP" altLang="en-US" sz="2800" dirty="0"/>
          </a:p>
        </p:txBody>
      </p:sp>
      <p:sp>
        <p:nvSpPr>
          <p:cNvPr id="73" name="テキスト ボックス 72">
            <a:extLst>
              <a:ext uri="{FF2B5EF4-FFF2-40B4-BE49-F238E27FC236}">
                <a16:creationId xmlns:a16="http://schemas.microsoft.com/office/drawing/2014/main" id="{BBD38510-B85A-0272-BE4E-2F775DD80A51}"/>
              </a:ext>
            </a:extLst>
          </p:cNvPr>
          <p:cNvSpPr txBox="1"/>
          <p:nvPr/>
        </p:nvSpPr>
        <p:spPr>
          <a:xfrm>
            <a:off x="5496645" y="6334263"/>
            <a:ext cx="851647" cy="523220"/>
          </a:xfrm>
          <a:prstGeom prst="rect">
            <a:avLst/>
          </a:prstGeom>
          <a:noFill/>
        </p:spPr>
        <p:txBody>
          <a:bodyPr wrap="square" rtlCol="0">
            <a:spAutoFit/>
          </a:bodyPr>
          <a:lstStyle/>
          <a:p>
            <a:r>
              <a:rPr lang="en-US" altLang="ja-JP" sz="2800" dirty="0">
                <a:noFill/>
              </a:rPr>
              <a:t>0</a:t>
            </a:r>
            <a:endParaRPr kumimoji="1" lang="ja-JP" altLang="en-US" sz="2800" dirty="0">
              <a:noFill/>
            </a:endParaRPr>
          </a:p>
        </p:txBody>
      </p:sp>
      <p:sp>
        <p:nvSpPr>
          <p:cNvPr id="74" name="テキスト ボックス 73">
            <a:extLst>
              <a:ext uri="{FF2B5EF4-FFF2-40B4-BE49-F238E27FC236}">
                <a16:creationId xmlns:a16="http://schemas.microsoft.com/office/drawing/2014/main" id="{B1024310-A2ED-7C37-C511-7B52CC1675AC}"/>
              </a:ext>
            </a:extLst>
          </p:cNvPr>
          <p:cNvSpPr txBox="1"/>
          <p:nvPr/>
        </p:nvSpPr>
        <p:spPr>
          <a:xfrm>
            <a:off x="6289301" y="6334263"/>
            <a:ext cx="851647" cy="523220"/>
          </a:xfrm>
          <a:prstGeom prst="rect">
            <a:avLst/>
          </a:prstGeom>
          <a:noFill/>
        </p:spPr>
        <p:txBody>
          <a:bodyPr wrap="square" rtlCol="0">
            <a:spAutoFit/>
          </a:bodyPr>
          <a:lstStyle/>
          <a:p>
            <a:r>
              <a:rPr lang="en-US" altLang="ja-JP" sz="2800" dirty="0">
                <a:noFill/>
              </a:rPr>
              <a:t>0</a:t>
            </a:r>
            <a:endParaRPr kumimoji="1" lang="ja-JP" altLang="en-US" sz="2800" dirty="0">
              <a:noFill/>
            </a:endParaRPr>
          </a:p>
        </p:txBody>
      </p:sp>
      <p:sp>
        <p:nvSpPr>
          <p:cNvPr id="75" name="楕円 74">
            <a:extLst>
              <a:ext uri="{FF2B5EF4-FFF2-40B4-BE49-F238E27FC236}">
                <a16:creationId xmlns:a16="http://schemas.microsoft.com/office/drawing/2014/main" id="{C86EE268-CA63-843A-1B38-354F9A8B65B4}"/>
              </a:ext>
            </a:extLst>
          </p:cNvPr>
          <p:cNvSpPr/>
          <p:nvPr/>
        </p:nvSpPr>
        <p:spPr>
          <a:xfrm>
            <a:off x="10569596" y="3332932"/>
            <a:ext cx="58442" cy="58442"/>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400" b="1" dirty="0">
                <a:solidFill>
                  <a:schemeClr val="bg2"/>
                </a:solidFill>
              </a:rPr>
              <a:t>G</a:t>
            </a:r>
            <a:endParaRPr kumimoji="1" lang="ja-JP" altLang="en-US" sz="400" b="1" dirty="0">
              <a:solidFill>
                <a:schemeClr val="bg2"/>
              </a:solidFill>
            </a:endParaRPr>
          </a:p>
        </p:txBody>
      </p:sp>
      <p:sp>
        <p:nvSpPr>
          <p:cNvPr id="76" name="テキスト ボックス 75">
            <a:extLst>
              <a:ext uri="{FF2B5EF4-FFF2-40B4-BE49-F238E27FC236}">
                <a16:creationId xmlns:a16="http://schemas.microsoft.com/office/drawing/2014/main" id="{34C71750-636C-ECFE-19CE-279812D17F61}"/>
              </a:ext>
            </a:extLst>
          </p:cNvPr>
          <p:cNvSpPr txBox="1"/>
          <p:nvPr/>
        </p:nvSpPr>
        <p:spPr>
          <a:xfrm>
            <a:off x="10777538" y="3121452"/>
            <a:ext cx="1183482" cy="153888"/>
          </a:xfrm>
          <a:prstGeom prst="rect">
            <a:avLst/>
          </a:prstGeom>
          <a:noFill/>
        </p:spPr>
        <p:txBody>
          <a:bodyPr wrap="square" rtlCol="0" anchor="ctr">
            <a:spAutoFit/>
          </a:bodyPr>
          <a:lstStyle/>
          <a:p>
            <a:pPr algn="ctr"/>
            <a:r>
              <a:rPr kumimoji="1" lang="en-US" altLang="ja-JP" sz="400" dirty="0">
                <a:noFill/>
              </a:rPr>
              <a:t>( 4 , 3 )</a:t>
            </a:r>
            <a:endParaRPr kumimoji="1" lang="ja-JP" altLang="en-US" sz="400" dirty="0">
              <a:noFill/>
            </a:endParaRPr>
          </a:p>
        </p:txBody>
      </p:sp>
    </p:spTree>
    <p:extLst>
      <p:ext uri="{BB962C8B-B14F-4D97-AF65-F5344CB8AC3E}">
        <p14:creationId xmlns:p14="http://schemas.microsoft.com/office/powerpoint/2010/main" val="159841552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E0F5F-A399-5D37-1270-873C43FBA965}"/>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05DAF69E-A4C0-0ACC-89B2-628FA0265F21}"/>
              </a:ext>
            </a:extLst>
          </p:cNvPr>
          <p:cNvSpPr/>
          <p:nvPr/>
        </p:nvSpPr>
        <p:spPr>
          <a:xfrm>
            <a:off x="3046801"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39633175-D4A3-CCFC-AF2E-DC4C497A109E}"/>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04A67050-E5F4-474A-003E-EC0B2CEF0692}"/>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bg1"/>
                </a:solidFill>
              </a:rPr>
              <a:t>システム要件</a:t>
            </a:r>
          </a:p>
        </p:txBody>
      </p:sp>
      <p:sp>
        <p:nvSpPr>
          <p:cNvPr id="11" name="四角形: 角を丸くする 10">
            <a:extLst>
              <a:ext uri="{FF2B5EF4-FFF2-40B4-BE49-F238E27FC236}">
                <a16:creationId xmlns:a16="http://schemas.microsoft.com/office/drawing/2014/main" id="{3419F908-337F-D1F1-3D24-79F65D45EC36}"/>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0C6B1DA6-383C-8F66-FBA5-5814A2048AED}"/>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t>プログラム説明</a:t>
            </a:r>
            <a:endParaRPr kumimoji="1" lang="ja-JP" altLang="en-US" sz="2400" dirty="0"/>
          </a:p>
        </p:txBody>
      </p:sp>
      <p:sp>
        <p:nvSpPr>
          <p:cNvPr id="7" name="テキスト ボックス 6">
            <a:extLst>
              <a:ext uri="{FF2B5EF4-FFF2-40B4-BE49-F238E27FC236}">
                <a16:creationId xmlns:a16="http://schemas.microsoft.com/office/drawing/2014/main" id="{8243923C-D6D1-7C21-5196-D2306F93063F}"/>
              </a:ext>
            </a:extLst>
          </p:cNvPr>
          <p:cNvSpPr txBox="1"/>
          <p:nvPr/>
        </p:nvSpPr>
        <p:spPr>
          <a:xfrm>
            <a:off x="771525" y="1171575"/>
            <a:ext cx="2275276" cy="584775"/>
          </a:xfrm>
          <a:prstGeom prst="rect">
            <a:avLst/>
          </a:prstGeom>
          <a:noFill/>
        </p:spPr>
        <p:txBody>
          <a:bodyPr wrap="square" rtlCol="0">
            <a:spAutoFit/>
          </a:bodyPr>
          <a:lstStyle/>
          <a:p>
            <a:r>
              <a:rPr lang="ja-JP" altLang="en-US" sz="3200" dirty="0"/>
              <a:t>移動制御</a:t>
            </a:r>
            <a:endParaRPr kumimoji="1" lang="ja-JP" altLang="en-US" sz="3200" dirty="0"/>
          </a:p>
        </p:txBody>
      </p:sp>
      <p:sp>
        <p:nvSpPr>
          <p:cNvPr id="10" name="テキスト ボックス 9">
            <a:extLst>
              <a:ext uri="{FF2B5EF4-FFF2-40B4-BE49-F238E27FC236}">
                <a16:creationId xmlns:a16="http://schemas.microsoft.com/office/drawing/2014/main" id="{6724786C-00DB-03BB-4A16-0E60AA0BD21D}"/>
              </a:ext>
            </a:extLst>
          </p:cNvPr>
          <p:cNvSpPr txBox="1"/>
          <p:nvPr/>
        </p:nvSpPr>
        <p:spPr>
          <a:xfrm>
            <a:off x="1238250" y="1755127"/>
            <a:ext cx="10953750" cy="461665"/>
          </a:xfrm>
          <a:prstGeom prst="rect">
            <a:avLst/>
          </a:prstGeom>
          <a:noFill/>
        </p:spPr>
        <p:txBody>
          <a:bodyPr wrap="square" rtlCol="0">
            <a:spAutoFit/>
          </a:bodyPr>
          <a:lstStyle/>
          <a:p>
            <a:r>
              <a:rPr lang="en-US" altLang="ja-JP" sz="2400" dirty="0"/>
              <a:t>“</a:t>
            </a:r>
            <a:r>
              <a:rPr lang="ja-JP" altLang="en-US" sz="2400" dirty="0"/>
              <a:t>向き</a:t>
            </a:r>
            <a:r>
              <a:rPr lang="en-US" altLang="ja-JP" sz="2400" dirty="0"/>
              <a:t>”</a:t>
            </a:r>
            <a:r>
              <a:rPr lang="ja-JP" altLang="en-US" sz="2400" dirty="0"/>
              <a:t>と</a:t>
            </a:r>
            <a:r>
              <a:rPr lang="en-US" altLang="ja-JP" sz="2400" dirty="0"/>
              <a:t>”</a:t>
            </a:r>
            <a:r>
              <a:rPr lang="ja-JP" altLang="en-US" sz="2400" dirty="0"/>
              <a:t>歩数</a:t>
            </a:r>
            <a:r>
              <a:rPr lang="en-US" altLang="ja-JP" sz="2400" dirty="0"/>
              <a:t>”</a:t>
            </a:r>
            <a:r>
              <a:rPr lang="ja-JP" altLang="en-US" sz="2400" dirty="0"/>
              <a:t>による自己位置推定と、目標座標への移動量計算</a:t>
            </a:r>
            <a:endParaRPr lang="en-US" altLang="ja-JP" sz="2400" dirty="0"/>
          </a:p>
        </p:txBody>
      </p:sp>
      <p:cxnSp>
        <p:nvCxnSpPr>
          <p:cNvPr id="5" name="直線コネクタ 4">
            <a:extLst>
              <a:ext uri="{FF2B5EF4-FFF2-40B4-BE49-F238E27FC236}">
                <a16:creationId xmlns:a16="http://schemas.microsoft.com/office/drawing/2014/main" id="{7120679F-3C62-6845-E4C2-0E71D4E60EDC}"/>
              </a:ext>
            </a:extLst>
          </p:cNvPr>
          <p:cNvCxnSpPr/>
          <p:nvPr/>
        </p:nvCxnSpPr>
        <p:spPr>
          <a:xfrm>
            <a:off x="7344629" y="4124790"/>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 name="直線矢印コネクタ 2">
            <a:extLst>
              <a:ext uri="{FF2B5EF4-FFF2-40B4-BE49-F238E27FC236}">
                <a16:creationId xmlns:a16="http://schemas.microsoft.com/office/drawing/2014/main" id="{A07EFCB7-576D-B533-BAAF-7E0DC3C24CF7}"/>
              </a:ext>
            </a:extLst>
          </p:cNvPr>
          <p:cNvCxnSpPr/>
          <p:nvPr/>
        </p:nvCxnSpPr>
        <p:spPr>
          <a:xfrm>
            <a:off x="7344629" y="4482990"/>
            <a:ext cx="360000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 name="直線コネクタ 7">
            <a:extLst>
              <a:ext uri="{FF2B5EF4-FFF2-40B4-BE49-F238E27FC236}">
                <a16:creationId xmlns:a16="http://schemas.microsoft.com/office/drawing/2014/main" id="{B973AE8C-F5E7-4AE1-5AC1-67D9DFDEA40D}"/>
              </a:ext>
            </a:extLst>
          </p:cNvPr>
          <p:cNvCxnSpPr/>
          <p:nvPr/>
        </p:nvCxnSpPr>
        <p:spPr>
          <a:xfrm>
            <a:off x="7344629" y="3764790"/>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4" name="直線矢印コネクタ 3">
            <a:extLst>
              <a:ext uri="{FF2B5EF4-FFF2-40B4-BE49-F238E27FC236}">
                <a16:creationId xmlns:a16="http://schemas.microsoft.com/office/drawing/2014/main" id="{9147DD4B-74B3-4BD6-9A55-802950FE533F}"/>
              </a:ext>
            </a:extLst>
          </p:cNvPr>
          <p:cNvCxnSpPr>
            <a:cxnSpLocks/>
          </p:cNvCxnSpPr>
          <p:nvPr/>
        </p:nvCxnSpPr>
        <p:spPr>
          <a:xfrm rot="10800000">
            <a:off x="9146141" y="2682990"/>
            <a:ext cx="0" cy="360000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 name="直線矢印コネクタ 5">
            <a:extLst>
              <a:ext uri="{FF2B5EF4-FFF2-40B4-BE49-F238E27FC236}">
                <a16:creationId xmlns:a16="http://schemas.microsoft.com/office/drawing/2014/main" id="{44794047-2C18-0C12-28CE-895066E7F3FB}"/>
              </a:ext>
            </a:extLst>
          </p:cNvPr>
          <p:cNvCxnSpPr/>
          <p:nvPr/>
        </p:nvCxnSpPr>
        <p:spPr>
          <a:xfrm>
            <a:off x="7346141" y="3404790"/>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16" name="直線矢印コネクタ 15">
            <a:extLst>
              <a:ext uri="{FF2B5EF4-FFF2-40B4-BE49-F238E27FC236}">
                <a16:creationId xmlns:a16="http://schemas.microsoft.com/office/drawing/2014/main" id="{B1AE41A4-BCB1-F2BD-D67E-7BAF03115B81}"/>
              </a:ext>
            </a:extLst>
          </p:cNvPr>
          <p:cNvCxnSpPr/>
          <p:nvPr/>
        </p:nvCxnSpPr>
        <p:spPr>
          <a:xfrm>
            <a:off x="7346141" y="3044790"/>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17" name="直線コネクタ 16">
            <a:extLst>
              <a:ext uri="{FF2B5EF4-FFF2-40B4-BE49-F238E27FC236}">
                <a16:creationId xmlns:a16="http://schemas.microsoft.com/office/drawing/2014/main" id="{798CD6A7-8D04-0E24-4EB3-5F83B1C46BAE}"/>
              </a:ext>
            </a:extLst>
          </p:cNvPr>
          <p:cNvCxnSpPr/>
          <p:nvPr/>
        </p:nvCxnSpPr>
        <p:spPr>
          <a:xfrm>
            <a:off x="7344629" y="5882153"/>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29ED950B-2E3D-79EA-20C2-4DB3C5E2A2F1}"/>
              </a:ext>
            </a:extLst>
          </p:cNvPr>
          <p:cNvCxnSpPr/>
          <p:nvPr/>
        </p:nvCxnSpPr>
        <p:spPr>
          <a:xfrm>
            <a:off x="7344629" y="5522153"/>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9" name="直線矢印コネクタ 18">
            <a:extLst>
              <a:ext uri="{FF2B5EF4-FFF2-40B4-BE49-F238E27FC236}">
                <a16:creationId xmlns:a16="http://schemas.microsoft.com/office/drawing/2014/main" id="{17737F85-EBEC-0DCA-F0F5-60A9629C796E}"/>
              </a:ext>
            </a:extLst>
          </p:cNvPr>
          <p:cNvCxnSpPr/>
          <p:nvPr/>
        </p:nvCxnSpPr>
        <p:spPr>
          <a:xfrm>
            <a:off x="7346141" y="5162153"/>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20" name="直線矢印コネクタ 19">
            <a:extLst>
              <a:ext uri="{FF2B5EF4-FFF2-40B4-BE49-F238E27FC236}">
                <a16:creationId xmlns:a16="http://schemas.microsoft.com/office/drawing/2014/main" id="{45F8D09D-78AD-4F46-CAA6-65AA7AAF192B}"/>
              </a:ext>
            </a:extLst>
          </p:cNvPr>
          <p:cNvCxnSpPr/>
          <p:nvPr/>
        </p:nvCxnSpPr>
        <p:spPr>
          <a:xfrm>
            <a:off x="7346141" y="4802153"/>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29" name="直線コネクタ 28">
            <a:extLst>
              <a:ext uri="{FF2B5EF4-FFF2-40B4-BE49-F238E27FC236}">
                <a16:creationId xmlns:a16="http://schemas.microsoft.com/office/drawing/2014/main" id="{F974586F-DAD9-A7B4-0EB9-8EAC572E5767}"/>
              </a:ext>
            </a:extLst>
          </p:cNvPr>
          <p:cNvCxnSpPr/>
          <p:nvPr/>
        </p:nvCxnSpPr>
        <p:spPr>
          <a:xfrm>
            <a:off x="878614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799CAC38-D104-7731-8540-AB80D26AC0D9}"/>
              </a:ext>
            </a:extLst>
          </p:cNvPr>
          <p:cNvCxnSpPr/>
          <p:nvPr/>
        </p:nvCxnSpPr>
        <p:spPr>
          <a:xfrm>
            <a:off x="842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124A45B8-B239-A5EE-720B-592642583B0D}"/>
              </a:ext>
            </a:extLst>
          </p:cNvPr>
          <p:cNvCxnSpPr/>
          <p:nvPr/>
        </p:nvCxnSpPr>
        <p:spPr>
          <a:xfrm>
            <a:off x="806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4" name="直線コネクタ 33">
            <a:extLst>
              <a:ext uri="{FF2B5EF4-FFF2-40B4-BE49-F238E27FC236}">
                <a16:creationId xmlns:a16="http://schemas.microsoft.com/office/drawing/2014/main" id="{C7188F9B-73B9-B5DB-2948-A8AF86AEA209}"/>
              </a:ext>
            </a:extLst>
          </p:cNvPr>
          <p:cNvCxnSpPr/>
          <p:nvPr/>
        </p:nvCxnSpPr>
        <p:spPr>
          <a:xfrm>
            <a:off x="770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5" name="直線コネクタ 34">
            <a:extLst>
              <a:ext uri="{FF2B5EF4-FFF2-40B4-BE49-F238E27FC236}">
                <a16:creationId xmlns:a16="http://schemas.microsoft.com/office/drawing/2014/main" id="{5144D671-61D2-884A-23D3-47B12A394354}"/>
              </a:ext>
            </a:extLst>
          </p:cNvPr>
          <p:cNvCxnSpPr/>
          <p:nvPr/>
        </p:nvCxnSpPr>
        <p:spPr>
          <a:xfrm>
            <a:off x="10599701" y="2681188"/>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6" name="直線コネクタ 35">
            <a:extLst>
              <a:ext uri="{FF2B5EF4-FFF2-40B4-BE49-F238E27FC236}">
                <a16:creationId xmlns:a16="http://schemas.microsoft.com/office/drawing/2014/main" id="{CCA6BEE6-34F9-231C-839E-B15968A7134F}"/>
              </a:ext>
            </a:extLst>
          </p:cNvPr>
          <p:cNvCxnSpPr/>
          <p:nvPr/>
        </p:nvCxnSpPr>
        <p:spPr>
          <a:xfrm>
            <a:off x="1023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7" name="直線コネクタ 36">
            <a:extLst>
              <a:ext uri="{FF2B5EF4-FFF2-40B4-BE49-F238E27FC236}">
                <a16:creationId xmlns:a16="http://schemas.microsoft.com/office/drawing/2014/main" id="{698B56A9-1BD2-1059-97D1-05A1731B9415}"/>
              </a:ext>
            </a:extLst>
          </p:cNvPr>
          <p:cNvCxnSpPr/>
          <p:nvPr/>
        </p:nvCxnSpPr>
        <p:spPr>
          <a:xfrm>
            <a:off x="987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8" name="直線コネクタ 37">
            <a:extLst>
              <a:ext uri="{FF2B5EF4-FFF2-40B4-BE49-F238E27FC236}">
                <a16:creationId xmlns:a16="http://schemas.microsoft.com/office/drawing/2014/main" id="{5B48CF5F-B03F-2D7D-7A75-EB98FE5F58D3}"/>
              </a:ext>
            </a:extLst>
          </p:cNvPr>
          <p:cNvCxnSpPr/>
          <p:nvPr/>
        </p:nvCxnSpPr>
        <p:spPr>
          <a:xfrm>
            <a:off x="951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sp>
        <p:nvSpPr>
          <p:cNvPr id="39" name="テキスト ボックス 38">
            <a:extLst>
              <a:ext uri="{FF2B5EF4-FFF2-40B4-BE49-F238E27FC236}">
                <a16:creationId xmlns:a16="http://schemas.microsoft.com/office/drawing/2014/main" id="{FA79A2F2-60D5-F72B-5632-904F427CBF14}"/>
              </a:ext>
            </a:extLst>
          </p:cNvPr>
          <p:cNvSpPr txBox="1"/>
          <p:nvPr/>
        </p:nvSpPr>
        <p:spPr>
          <a:xfrm>
            <a:off x="10878514" y="4157185"/>
            <a:ext cx="267345" cy="584775"/>
          </a:xfrm>
          <a:prstGeom prst="rect">
            <a:avLst/>
          </a:prstGeom>
          <a:noFill/>
        </p:spPr>
        <p:txBody>
          <a:bodyPr wrap="square" rtlCol="0" anchor="t">
            <a:spAutoFit/>
          </a:bodyPr>
          <a:lstStyle/>
          <a:p>
            <a:r>
              <a:rPr kumimoji="1" lang="en-US" altLang="ja-JP" sz="3200" b="1" dirty="0">
                <a:latin typeface="Gigi" panose="04040504060007020D02" pitchFamily="82" charset="0"/>
              </a:rPr>
              <a:t>x</a:t>
            </a:r>
            <a:endParaRPr kumimoji="1" lang="ja-JP" altLang="en-US" sz="3200" b="1" dirty="0">
              <a:latin typeface="Gigi" panose="04040504060007020D02" pitchFamily="82" charset="0"/>
            </a:endParaRPr>
          </a:p>
        </p:txBody>
      </p:sp>
      <p:sp>
        <p:nvSpPr>
          <p:cNvPr id="40" name="テキスト ボックス 39">
            <a:extLst>
              <a:ext uri="{FF2B5EF4-FFF2-40B4-BE49-F238E27FC236}">
                <a16:creationId xmlns:a16="http://schemas.microsoft.com/office/drawing/2014/main" id="{AC4041B2-F0F0-5688-A5C5-C4CF9ABA8B4D}"/>
              </a:ext>
            </a:extLst>
          </p:cNvPr>
          <p:cNvSpPr txBox="1"/>
          <p:nvPr/>
        </p:nvSpPr>
        <p:spPr>
          <a:xfrm>
            <a:off x="8930273" y="2116703"/>
            <a:ext cx="267345" cy="584775"/>
          </a:xfrm>
          <a:prstGeom prst="rect">
            <a:avLst/>
          </a:prstGeom>
          <a:noFill/>
        </p:spPr>
        <p:txBody>
          <a:bodyPr wrap="square" rtlCol="0">
            <a:spAutoFit/>
          </a:bodyPr>
          <a:lstStyle/>
          <a:p>
            <a:r>
              <a:rPr lang="en-US" altLang="ja-JP" sz="3200" b="1" dirty="0">
                <a:latin typeface="Gigi" panose="04040504060007020D02" pitchFamily="82" charset="0"/>
              </a:rPr>
              <a:t>y</a:t>
            </a:r>
            <a:endParaRPr kumimoji="1" lang="ja-JP" altLang="en-US" sz="3200" b="1" dirty="0">
              <a:latin typeface="Gigi" panose="04040504060007020D02" pitchFamily="82" charset="0"/>
            </a:endParaRPr>
          </a:p>
        </p:txBody>
      </p:sp>
      <p:sp>
        <p:nvSpPr>
          <p:cNvPr id="41" name="テキスト ボックス 40">
            <a:extLst>
              <a:ext uri="{FF2B5EF4-FFF2-40B4-BE49-F238E27FC236}">
                <a16:creationId xmlns:a16="http://schemas.microsoft.com/office/drawing/2014/main" id="{48663707-81EA-E3C3-68C4-46F31E656DEE}"/>
              </a:ext>
            </a:extLst>
          </p:cNvPr>
          <p:cNvSpPr txBox="1"/>
          <p:nvPr/>
        </p:nvSpPr>
        <p:spPr>
          <a:xfrm>
            <a:off x="9109438" y="2161962"/>
            <a:ext cx="1020485" cy="523220"/>
          </a:xfrm>
          <a:prstGeom prst="rect">
            <a:avLst/>
          </a:prstGeom>
          <a:noFill/>
        </p:spPr>
        <p:txBody>
          <a:bodyPr wrap="square" rtlCol="0">
            <a:spAutoFit/>
          </a:bodyPr>
          <a:lstStyle/>
          <a:p>
            <a:pPr algn="ctr"/>
            <a:r>
              <a:rPr kumimoji="1" lang="en-US" altLang="ja-JP" sz="2800" dirty="0"/>
              <a:t>90°</a:t>
            </a:r>
            <a:endParaRPr kumimoji="1" lang="ja-JP" altLang="en-US" sz="2800" dirty="0"/>
          </a:p>
        </p:txBody>
      </p:sp>
      <p:sp>
        <p:nvSpPr>
          <p:cNvPr id="42" name="テキスト ボックス 41">
            <a:extLst>
              <a:ext uri="{FF2B5EF4-FFF2-40B4-BE49-F238E27FC236}">
                <a16:creationId xmlns:a16="http://schemas.microsoft.com/office/drawing/2014/main" id="{D1C9847B-0213-5E7D-A544-A1D4DAF3A145}"/>
              </a:ext>
            </a:extLst>
          </p:cNvPr>
          <p:cNvSpPr txBox="1"/>
          <p:nvPr/>
        </p:nvSpPr>
        <p:spPr>
          <a:xfrm>
            <a:off x="11144105" y="4233942"/>
            <a:ext cx="1020485" cy="830997"/>
          </a:xfrm>
          <a:prstGeom prst="rect">
            <a:avLst/>
          </a:prstGeom>
          <a:noFill/>
        </p:spPr>
        <p:txBody>
          <a:bodyPr wrap="square" rtlCol="0">
            <a:spAutoFit/>
          </a:bodyPr>
          <a:lstStyle/>
          <a:p>
            <a:r>
              <a:rPr kumimoji="1" lang="en-US" altLang="ja-JP" sz="2800" dirty="0"/>
              <a:t> 0°</a:t>
            </a:r>
          </a:p>
          <a:p>
            <a:r>
              <a:rPr lang="en-US" altLang="ja-JP" sz="2000" dirty="0"/>
              <a:t>(360°)</a:t>
            </a:r>
            <a:endParaRPr kumimoji="1" lang="ja-JP" altLang="en-US" sz="2000" dirty="0"/>
          </a:p>
        </p:txBody>
      </p:sp>
      <p:sp>
        <p:nvSpPr>
          <p:cNvPr id="43" name="テキスト ボックス 42">
            <a:extLst>
              <a:ext uri="{FF2B5EF4-FFF2-40B4-BE49-F238E27FC236}">
                <a16:creationId xmlns:a16="http://schemas.microsoft.com/office/drawing/2014/main" id="{C922C1DD-60D0-7742-CD13-B040DDCDC8DB}"/>
              </a:ext>
            </a:extLst>
          </p:cNvPr>
          <p:cNvSpPr txBox="1"/>
          <p:nvPr/>
        </p:nvSpPr>
        <p:spPr>
          <a:xfrm>
            <a:off x="8714717" y="6340542"/>
            <a:ext cx="1020485" cy="523220"/>
          </a:xfrm>
          <a:prstGeom prst="rect">
            <a:avLst/>
          </a:prstGeom>
          <a:noFill/>
        </p:spPr>
        <p:txBody>
          <a:bodyPr wrap="square" rtlCol="0">
            <a:spAutoFit/>
          </a:bodyPr>
          <a:lstStyle/>
          <a:p>
            <a:pPr algn="ctr"/>
            <a:r>
              <a:rPr lang="en-US" altLang="ja-JP" sz="2800" dirty="0"/>
              <a:t>270</a:t>
            </a:r>
            <a:r>
              <a:rPr kumimoji="1" lang="en-US" altLang="ja-JP" sz="2800" dirty="0"/>
              <a:t>°</a:t>
            </a:r>
            <a:endParaRPr kumimoji="1" lang="ja-JP" altLang="en-US" sz="2800" dirty="0"/>
          </a:p>
        </p:txBody>
      </p:sp>
      <p:sp>
        <p:nvSpPr>
          <p:cNvPr id="44" name="テキスト ボックス 43">
            <a:extLst>
              <a:ext uri="{FF2B5EF4-FFF2-40B4-BE49-F238E27FC236}">
                <a16:creationId xmlns:a16="http://schemas.microsoft.com/office/drawing/2014/main" id="{A83F3A3C-5B30-1474-D8D3-75762F46C35C}"/>
              </a:ext>
            </a:extLst>
          </p:cNvPr>
          <p:cNvSpPr txBox="1"/>
          <p:nvPr/>
        </p:nvSpPr>
        <p:spPr>
          <a:xfrm>
            <a:off x="6387152" y="4232640"/>
            <a:ext cx="1020485" cy="523220"/>
          </a:xfrm>
          <a:prstGeom prst="rect">
            <a:avLst/>
          </a:prstGeom>
          <a:noFill/>
        </p:spPr>
        <p:txBody>
          <a:bodyPr wrap="square" rtlCol="0">
            <a:spAutoFit/>
          </a:bodyPr>
          <a:lstStyle/>
          <a:p>
            <a:pPr algn="ctr"/>
            <a:r>
              <a:rPr lang="en-US" altLang="ja-JP" sz="2800" dirty="0"/>
              <a:t>18</a:t>
            </a:r>
            <a:r>
              <a:rPr kumimoji="1" lang="en-US" altLang="ja-JP" sz="2800" dirty="0"/>
              <a:t>0°</a:t>
            </a:r>
            <a:endParaRPr kumimoji="1" lang="ja-JP" altLang="en-US" sz="2800" dirty="0"/>
          </a:p>
        </p:txBody>
      </p:sp>
      <p:sp>
        <p:nvSpPr>
          <p:cNvPr id="21" name="テキスト ボックス 20">
            <a:extLst>
              <a:ext uri="{FF2B5EF4-FFF2-40B4-BE49-F238E27FC236}">
                <a16:creationId xmlns:a16="http://schemas.microsoft.com/office/drawing/2014/main" id="{87C4F2F1-AC98-0737-E8ED-12D67F387696}"/>
              </a:ext>
            </a:extLst>
          </p:cNvPr>
          <p:cNvSpPr txBox="1"/>
          <p:nvPr/>
        </p:nvSpPr>
        <p:spPr>
          <a:xfrm>
            <a:off x="-361950" y="3432223"/>
            <a:ext cx="6095813" cy="523220"/>
          </a:xfrm>
          <a:prstGeom prst="rect">
            <a:avLst/>
          </a:prstGeom>
          <a:noFill/>
        </p:spPr>
        <p:txBody>
          <a:bodyPr wrap="square" rtlCol="0">
            <a:spAutoFit/>
          </a:bodyPr>
          <a:lstStyle/>
          <a:p>
            <a:pPr algn="ctr"/>
            <a:r>
              <a:rPr lang="ja-JP" altLang="en-US" sz="2800" dirty="0">
                <a:noFill/>
              </a:rPr>
              <a:t>     </a:t>
            </a:r>
            <a:r>
              <a:rPr lang="en-US" altLang="ja-JP" sz="2800" dirty="0">
                <a:noFill/>
              </a:rPr>
              <a:t>°</a:t>
            </a:r>
            <a:r>
              <a:rPr lang="ja-JP" altLang="en-US" sz="2800" dirty="0">
                <a:noFill/>
              </a:rPr>
              <a:t>を向いて一歩進む</a:t>
            </a:r>
            <a:endParaRPr lang="en-US" altLang="ja-JP" sz="2800" dirty="0">
              <a:noFill/>
            </a:endParaRPr>
          </a:p>
        </p:txBody>
      </p:sp>
      <p:sp>
        <p:nvSpPr>
          <p:cNvPr id="23" name="テキスト ボックス 22">
            <a:extLst>
              <a:ext uri="{FF2B5EF4-FFF2-40B4-BE49-F238E27FC236}">
                <a16:creationId xmlns:a16="http://schemas.microsoft.com/office/drawing/2014/main" id="{32514777-018A-E5CC-5B58-BE9B3C9204C1}"/>
              </a:ext>
            </a:extLst>
          </p:cNvPr>
          <p:cNvSpPr txBox="1"/>
          <p:nvPr/>
        </p:nvSpPr>
        <p:spPr>
          <a:xfrm>
            <a:off x="1170270" y="3244770"/>
            <a:ext cx="563279" cy="523220"/>
          </a:xfrm>
          <a:prstGeom prst="rect">
            <a:avLst/>
          </a:prstGeom>
          <a:noFill/>
        </p:spPr>
        <p:txBody>
          <a:bodyPr wrap="square">
            <a:spAutoFit/>
          </a:bodyPr>
          <a:lstStyle/>
          <a:p>
            <a:pPr algn="r"/>
            <a:r>
              <a:rPr lang="en-US" altLang="ja-JP" sz="2800" dirty="0">
                <a:noFill/>
              </a:rPr>
              <a:t>90</a:t>
            </a:r>
            <a:endParaRPr lang="ja-JP" altLang="en-US" sz="2800" dirty="0">
              <a:noFill/>
            </a:endParaRPr>
          </a:p>
        </p:txBody>
      </p:sp>
      <p:sp>
        <p:nvSpPr>
          <p:cNvPr id="25" name="テキスト ボックス 24">
            <a:extLst>
              <a:ext uri="{FF2B5EF4-FFF2-40B4-BE49-F238E27FC236}">
                <a16:creationId xmlns:a16="http://schemas.microsoft.com/office/drawing/2014/main" id="{D14E4D52-DEF7-B9E4-1B4B-190D5866477C}"/>
              </a:ext>
            </a:extLst>
          </p:cNvPr>
          <p:cNvSpPr txBox="1"/>
          <p:nvPr/>
        </p:nvSpPr>
        <p:spPr>
          <a:xfrm>
            <a:off x="2812705" y="3801879"/>
            <a:ext cx="252600" cy="954107"/>
          </a:xfrm>
          <a:prstGeom prst="rect">
            <a:avLst/>
          </a:prstGeom>
          <a:noFill/>
        </p:spPr>
        <p:txBody>
          <a:bodyPr wrap="square">
            <a:spAutoFit/>
          </a:bodyPr>
          <a:lstStyle/>
          <a:p>
            <a:pPr algn="ctr"/>
            <a:r>
              <a:rPr kumimoji="1" lang="ja-JP" altLang="en-US" sz="2800" dirty="0">
                <a:noFill/>
              </a:rPr>
              <a:t>＝</a:t>
            </a:r>
            <a:endParaRPr kumimoji="1" lang="en-US" altLang="ja-JP" sz="2800" dirty="0">
              <a:noFill/>
            </a:endParaRPr>
          </a:p>
          <a:p>
            <a:pPr algn="ctr"/>
            <a:r>
              <a:rPr lang="ja-JP" altLang="en-US" sz="2800" dirty="0">
                <a:noFill/>
              </a:rPr>
              <a:t>、</a:t>
            </a:r>
            <a:endParaRPr lang="en-US" altLang="ja-JP" sz="2800" dirty="0">
              <a:noFill/>
            </a:endParaRPr>
          </a:p>
        </p:txBody>
      </p:sp>
      <p:sp>
        <p:nvSpPr>
          <p:cNvPr id="14" name="テキスト ボックス 13">
            <a:extLst>
              <a:ext uri="{FF2B5EF4-FFF2-40B4-BE49-F238E27FC236}">
                <a16:creationId xmlns:a16="http://schemas.microsoft.com/office/drawing/2014/main" id="{E2AA1DCC-7979-7AE6-62B3-B95FE141BD94}"/>
              </a:ext>
            </a:extLst>
          </p:cNvPr>
          <p:cNvSpPr txBox="1"/>
          <p:nvPr/>
        </p:nvSpPr>
        <p:spPr>
          <a:xfrm>
            <a:off x="1582238" y="3998957"/>
            <a:ext cx="655317" cy="523220"/>
          </a:xfrm>
          <a:prstGeom prst="rect">
            <a:avLst/>
          </a:prstGeom>
          <a:noFill/>
        </p:spPr>
        <p:txBody>
          <a:bodyPr wrap="square" rtlCol="0">
            <a:spAutoFit/>
          </a:bodyPr>
          <a:lstStyle/>
          <a:p>
            <a:pPr algn="ctr"/>
            <a:r>
              <a:rPr lang="en-US" altLang="ja-JP" sz="2800" dirty="0">
                <a:noFill/>
              </a:rPr>
              <a:t>±0</a:t>
            </a:r>
          </a:p>
        </p:txBody>
      </p:sp>
      <p:sp>
        <p:nvSpPr>
          <p:cNvPr id="15" name="テキスト ボックス 14">
            <a:extLst>
              <a:ext uri="{FF2B5EF4-FFF2-40B4-BE49-F238E27FC236}">
                <a16:creationId xmlns:a16="http://schemas.microsoft.com/office/drawing/2014/main" id="{948FD2F1-1DEC-FF0D-6110-DDFB66D7D214}"/>
              </a:ext>
            </a:extLst>
          </p:cNvPr>
          <p:cNvSpPr txBox="1"/>
          <p:nvPr/>
        </p:nvSpPr>
        <p:spPr>
          <a:xfrm>
            <a:off x="4722543" y="3875359"/>
            <a:ext cx="587347" cy="523220"/>
          </a:xfrm>
          <a:prstGeom prst="rect">
            <a:avLst/>
          </a:prstGeom>
          <a:noFill/>
        </p:spPr>
        <p:txBody>
          <a:bodyPr wrap="square">
            <a:spAutoFit/>
          </a:bodyPr>
          <a:lstStyle/>
          <a:p>
            <a:r>
              <a:rPr lang="en-US" altLang="ja-JP" sz="2800" dirty="0">
                <a:noFill/>
              </a:rPr>
              <a:t>+1</a:t>
            </a:r>
            <a:endParaRPr lang="ja-JP" altLang="en-US" sz="2800" dirty="0">
              <a:noFill/>
            </a:endParaRPr>
          </a:p>
        </p:txBody>
      </p:sp>
      <p:sp>
        <p:nvSpPr>
          <p:cNvPr id="22" name="テキスト ボックス 21">
            <a:extLst>
              <a:ext uri="{FF2B5EF4-FFF2-40B4-BE49-F238E27FC236}">
                <a16:creationId xmlns:a16="http://schemas.microsoft.com/office/drawing/2014/main" id="{9BCAB5AB-B32B-4B77-FCA2-4FAE1C406DC8}"/>
              </a:ext>
            </a:extLst>
          </p:cNvPr>
          <p:cNvSpPr txBox="1"/>
          <p:nvPr/>
        </p:nvSpPr>
        <p:spPr>
          <a:xfrm>
            <a:off x="1170270" y="3255970"/>
            <a:ext cx="563279" cy="523220"/>
          </a:xfrm>
          <a:prstGeom prst="rect">
            <a:avLst/>
          </a:prstGeom>
          <a:noFill/>
        </p:spPr>
        <p:txBody>
          <a:bodyPr wrap="square">
            <a:spAutoFit/>
          </a:bodyPr>
          <a:lstStyle/>
          <a:p>
            <a:pPr algn="r"/>
            <a:r>
              <a:rPr lang="en-US" altLang="ja-JP" sz="2800" dirty="0">
                <a:noFill/>
              </a:rPr>
              <a:t>0</a:t>
            </a:r>
            <a:endParaRPr lang="ja-JP" altLang="en-US" sz="2800" dirty="0">
              <a:noFill/>
            </a:endParaRPr>
          </a:p>
        </p:txBody>
      </p:sp>
      <p:sp>
        <p:nvSpPr>
          <p:cNvPr id="28" name="テキスト ボックス 27">
            <a:extLst>
              <a:ext uri="{FF2B5EF4-FFF2-40B4-BE49-F238E27FC236}">
                <a16:creationId xmlns:a16="http://schemas.microsoft.com/office/drawing/2014/main" id="{4AA91784-76EC-A61B-5A97-B5EB75E54F9A}"/>
              </a:ext>
            </a:extLst>
          </p:cNvPr>
          <p:cNvSpPr txBox="1"/>
          <p:nvPr/>
        </p:nvSpPr>
        <p:spPr>
          <a:xfrm>
            <a:off x="892364" y="3444240"/>
            <a:ext cx="563279" cy="523220"/>
          </a:xfrm>
          <a:prstGeom prst="rect">
            <a:avLst/>
          </a:prstGeom>
          <a:noFill/>
        </p:spPr>
        <p:txBody>
          <a:bodyPr wrap="square">
            <a:spAutoFit/>
          </a:bodyPr>
          <a:lstStyle/>
          <a:p>
            <a:pPr algn="r"/>
            <a:r>
              <a:rPr lang="en-US" altLang="ja-JP" sz="2800" dirty="0">
                <a:noFill/>
              </a:rPr>
              <a:t>30</a:t>
            </a:r>
            <a:endParaRPr lang="ja-JP" altLang="en-US" sz="2800" dirty="0">
              <a:noFill/>
            </a:endParaRPr>
          </a:p>
        </p:txBody>
      </p:sp>
      <p:sp>
        <p:nvSpPr>
          <p:cNvPr id="32" name="テキスト ボックス 31">
            <a:extLst>
              <a:ext uri="{FF2B5EF4-FFF2-40B4-BE49-F238E27FC236}">
                <a16:creationId xmlns:a16="http://schemas.microsoft.com/office/drawing/2014/main" id="{286724F5-167F-A4C3-619D-AFD15534739D}"/>
              </a:ext>
            </a:extLst>
          </p:cNvPr>
          <p:cNvSpPr txBox="1"/>
          <p:nvPr/>
        </p:nvSpPr>
        <p:spPr>
          <a:xfrm>
            <a:off x="-49" y="4157185"/>
            <a:ext cx="1993574" cy="584775"/>
          </a:xfrm>
          <a:prstGeom prst="rect">
            <a:avLst/>
          </a:prstGeom>
          <a:noFill/>
        </p:spPr>
        <p:txBody>
          <a:bodyPr wrap="square">
            <a:spAutoFit/>
          </a:bodyPr>
          <a:lstStyle/>
          <a:p>
            <a:r>
              <a:rPr lang="en-US" altLang="ja-JP" sz="3200" dirty="0">
                <a:noFill/>
              </a:rPr>
              <a:t>x</a:t>
            </a:r>
            <a:r>
              <a:rPr lang="ja-JP" altLang="en-US" sz="3200" dirty="0">
                <a:noFill/>
              </a:rPr>
              <a:t>軸方向に </a:t>
            </a:r>
          </a:p>
        </p:txBody>
      </p:sp>
      <p:sp>
        <p:nvSpPr>
          <p:cNvPr id="49" name="テキスト ボックス 48">
            <a:extLst>
              <a:ext uri="{FF2B5EF4-FFF2-40B4-BE49-F238E27FC236}">
                <a16:creationId xmlns:a16="http://schemas.microsoft.com/office/drawing/2014/main" id="{65FEE649-4B6A-9B40-73B1-DA82A6A5F9EE}"/>
              </a:ext>
            </a:extLst>
          </p:cNvPr>
          <p:cNvSpPr txBox="1"/>
          <p:nvPr/>
        </p:nvSpPr>
        <p:spPr>
          <a:xfrm>
            <a:off x="2940416" y="4194610"/>
            <a:ext cx="1791099" cy="523220"/>
          </a:xfrm>
          <a:prstGeom prst="rect">
            <a:avLst/>
          </a:prstGeom>
          <a:noFill/>
        </p:spPr>
        <p:txBody>
          <a:bodyPr wrap="square">
            <a:spAutoFit/>
          </a:bodyPr>
          <a:lstStyle/>
          <a:p>
            <a:r>
              <a:rPr lang="en-US" altLang="ja-JP" sz="2800" dirty="0">
                <a:noFill/>
              </a:rPr>
              <a:t>y</a:t>
            </a:r>
            <a:r>
              <a:rPr lang="ja-JP" altLang="en-US" sz="2800" dirty="0">
                <a:noFill/>
              </a:rPr>
              <a:t>軸方向に </a:t>
            </a:r>
          </a:p>
        </p:txBody>
      </p:sp>
      <p:sp>
        <p:nvSpPr>
          <p:cNvPr id="50" name="テキスト ボックス 49">
            <a:extLst>
              <a:ext uri="{FF2B5EF4-FFF2-40B4-BE49-F238E27FC236}">
                <a16:creationId xmlns:a16="http://schemas.microsoft.com/office/drawing/2014/main" id="{380A0840-7717-77B6-2A50-5C7FAAC82CA6}"/>
              </a:ext>
            </a:extLst>
          </p:cNvPr>
          <p:cNvSpPr txBox="1"/>
          <p:nvPr/>
        </p:nvSpPr>
        <p:spPr>
          <a:xfrm>
            <a:off x="1797389" y="3983262"/>
            <a:ext cx="655317" cy="523220"/>
          </a:xfrm>
          <a:prstGeom prst="rect">
            <a:avLst/>
          </a:prstGeom>
          <a:noFill/>
        </p:spPr>
        <p:txBody>
          <a:bodyPr wrap="square" rtlCol="0">
            <a:spAutoFit/>
          </a:bodyPr>
          <a:lstStyle/>
          <a:p>
            <a:pPr algn="ctr"/>
            <a:r>
              <a:rPr lang="en-US" altLang="ja-JP" sz="2800" dirty="0">
                <a:noFill/>
              </a:rPr>
              <a:t>+1</a:t>
            </a:r>
          </a:p>
        </p:txBody>
      </p:sp>
      <p:sp>
        <p:nvSpPr>
          <p:cNvPr id="51" name="テキスト ボックス 50">
            <a:extLst>
              <a:ext uri="{FF2B5EF4-FFF2-40B4-BE49-F238E27FC236}">
                <a16:creationId xmlns:a16="http://schemas.microsoft.com/office/drawing/2014/main" id="{CFCF1DE3-A1EF-2A7E-D22F-E002631BFEB7}"/>
              </a:ext>
            </a:extLst>
          </p:cNvPr>
          <p:cNvSpPr txBox="1"/>
          <p:nvPr/>
        </p:nvSpPr>
        <p:spPr>
          <a:xfrm>
            <a:off x="4597036" y="3949314"/>
            <a:ext cx="787182" cy="523220"/>
          </a:xfrm>
          <a:prstGeom prst="rect">
            <a:avLst/>
          </a:prstGeom>
          <a:noFill/>
        </p:spPr>
        <p:txBody>
          <a:bodyPr wrap="square">
            <a:spAutoFit/>
          </a:bodyPr>
          <a:lstStyle/>
          <a:p>
            <a:r>
              <a:rPr lang="en-US" altLang="ja-JP" sz="2800" dirty="0">
                <a:noFill/>
              </a:rPr>
              <a:t>±0</a:t>
            </a:r>
            <a:endParaRPr lang="ja-JP" altLang="en-US" sz="2800" dirty="0">
              <a:noFill/>
            </a:endParaRPr>
          </a:p>
        </p:txBody>
      </p:sp>
      <p:sp>
        <p:nvSpPr>
          <p:cNvPr id="53" name="テキスト ボックス 52">
            <a:extLst>
              <a:ext uri="{FF2B5EF4-FFF2-40B4-BE49-F238E27FC236}">
                <a16:creationId xmlns:a16="http://schemas.microsoft.com/office/drawing/2014/main" id="{F248ED0A-6D86-4759-724A-BCE932592EAC}"/>
              </a:ext>
            </a:extLst>
          </p:cNvPr>
          <p:cNvSpPr txBox="1"/>
          <p:nvPr/>
        </p:nvSpPr>
        <p:spPr>
          <a:xfrm>
            <a:off x="4585119" y="4200215"/>
            <a:ext cx="787182" cy="523220"/>
          </a:xfrm>
          <a:prstGeom prst="rect">
            <a:avLst/>
          </a:prstGeom>
          <a:noFill/>
        </p:spPr>
        <p:txBody>
          <a:bodyPr wrap="square">
            <a:spAutoFit/>
          </a:bodyPr>
          <a:lstStyle/>
          <a:p>
            <a:r>
              <a:rPr lang="en-US" altLang="ja-JP" sz="2800" dirty="0">
                <a:noFill/>
              </a:rPr>
              <a:t>+―</a:t>
            </a:r>
          </a:p>
        </p:txBody>
      </p:sp>
      <p:sp>
        <p:nvSpPr>
          <p:cNvPr id="54" name="テキスト ボックス 53">
            <a:extLst>
              <a:ext uri="{FF2B5EF4-FFF2-40B4-BE49-F238E27FC236}">
                <a16:creationId xmlns:a16="http://schemas.microsoft.com/office/drawing/2014/main" id="{7618CDA8-46F5-02FF-68AC-DDD6C2DB4D5B}"/>
              </a:ext>
            </a:extLst>
          </p:cNvPr>
          <p:cNvSpPr txBox="1"/>
          <p:nvPr/>
        </p:nvSpPr>
        <p:spPr>
          <a:xfrm>
            <a:off x="4827059" y="4006992"/>
            <a:ext cx="322138" cy="954107"/>
          </a:xfrm>
          <a:prstGeom prst="rect">
            <a:avLst/>
          </a:prstGeom>
          <a:noFill/>
        </p:spPr>
        <p:txBody>
          <a:bodyPr wrap="square">
            <a:spAutoFit/>
          </a:bodyPr>
          <a:lstStyle/>
          <a:p>
            <a:r>
              <a:rPr lang="en-US" altLang="ja-JP" sz="2800" dirty="0">
                <a:noFill/>
              </a:rPr>
              <a:t>1</a:t>
            </a:r>
          </a:p>
          <a:p>
            <a:r>
              <a:rPr lang="en-US" altLang="ja-JP" sz="2800" dirty="0">
                <a:noFill/>
              </a:rPr>
              <a:t>2</a:t>
            </a:r>
          </a:p>
        </p:txBody>
      </p:sp>
      <p:sp>
        <p:nvSpPr>
          <p:cNvPr id="55" name="テキスト ボックス 54">
            <a:extLst>
              <a:ext uri="{FF2B5EF4-FFF2-40B4-BE49-F238E27FC236}">
                <a16:creationId xmlns:a16="http://schemas.microsoft.com/office/drawing/2014/main" id="{67085302-2365-FFA0-9499-3FA0F3AD9C85}"/>
              </a:ext>
            </a:extLst>
          </p:cNvPr>
          <p:cNvSpPr txBox="1"/>
          <p:nvPr/>
        </p:nvSpPr>
        <p:spPr>
          <a:xfrm>
            <a:off x="2063743" y="3935391"/>
            <a:ext cx="634609" cy="954107"/>
          </a:xfrm>
          <a:prstGeom prst="rect">
            <a:avLst/>
          </a:prstGeom>
          <a:noFill/>
        </p:spPr>
        <p:txBody>
          <a:bodyPr wrap="square">
            <a:spAutoFit/>
          </a:bodyPr>
          <a:lstStyle/>
          <a:p>
            <a:r>
              <a:rPr lang="ja-JP" altLang="en-US" sz="2800" dirty="0">
                <a:noFill/>
              </a:rPr>
              <a:t>√</a:t>
            </a:r>
            <a:r>
              <a:rPr lang="en-US" altLang="ja-JP" sz="2800" dirty="0">
                <a:noFill/>
              </a:rPr>
              <a:t>3</a:t>
            </a:r>
          </a:p>
          <a:p>
            <a:r>
              <a:rPr lang="en-US" altLang="ja-JP" sz="2800" dirty="0">
                <a:noFill/>
              </a:rPr>
              <a:t>  2</a:t>
            </a:r>
          </a:p>
        </p:txBody>
      </p:sp>
      <p:sp>
        <p:nvSpPr>
          <p:cNvPr id="58" name="テキスト ボックス 57">
            <a:extLst>
              <a:ext uri="{FF2B5EF4-FFF2-40B4-BE49-F238E27FC236}">
                <a16:creationId xmlns:a16="http://schemas.microsoft.com/office/drawing/2014/main" id="{A4EC64DA-9A47-FF69-C54C-A8DD6CE9112A}"/>
              </a:ext>
            </a:extLst>
          </p:cNvPr>
          <p:cNvSpPr txBox="1"/>
          <p:nvPr/>
        </p:nvSpPr>
        <p:spPr>
          <a:xfrm>
            <a:off x="1827797" y="4150835"/>
            <a:ext cx="1038291" cy="523220"/>
          </a:xfrm>
          <a:prstGeom prst="rect">
            <a:avLst/>
          </a:prstGeom>
          <a:noFill/>
        </p:spPr>
        <p:txBody>
          <a:bodyPr wrap="square">
            <a:spAutoFit/>
          </a:bodyPr>
          <a:lstStyle/>
          <a:p>
            <a:r>
              <a:rPr lang="en-US" altLang="ja-JP" sz="2800" dirty="0">
                <a:noFill/>
              </a:rPr>
              <a:t>+――</a:t>
            </a:r>
          </a:p>
        </p:txBody>
      </p:sp>
      <p:sp>
        <p:nvSpPr>
          <p:cNvPr id="60" name="楕円 59">
            <a:extLst>
              <a:ext uri="{FF2B5EF4-FFF2-40B4-BE49-F238E27FC236}">
                <a16:creationId xmlns:a16="http://schemas.microsoft.com/office/drawing/2014/main" id="{5D3B31D0-1837-1441-739A-534E740DA680}"/>
              </a:ext>
            </a:extLst>
          </p:cNvPr>
          <p:cNvSpPr/>
          <p:nvPr/>
        </p:nvSpPr>
        <p:spPr>
          <a:xfrm>
            <a:off x="10389122" y="3152458"/>
            <a:ext cx="419390" cy="419390"/>
          </a:xfrm>
          <a:prstGeom prst="ellipse">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800" b="1" dirty="0">
                <a:solidFill>
                  <a:schemeClr val="bg2"/>
                </a:solidFill>
              </a:rPr>
              <a:t>G</a:t>
            </a:r>
            <a:endParaRPr kumimoji="1" lang="ja-JP" altLang="en-US" sz="2800" b="1" dirty="0">
              <a:solidFill>
                <a:schemeClr val="bg2"/>
              </a:solidFill>
            </a:endParaRPr>
          </a:p>
        </p:txBody>
      </p:sp>
      <p:sp>
        <p:nvSpPr>
          <p:cNvPr id="26" name="矢印: 右 25">
            <a:extLst>
              <a:ext uri="{FF2B5EF4-FFF2-40B4-BE49-F238E27FC236}">
                <a16:creationId xmlns:a16="http://schemas.microsoft.com/office/drawing/2014/main" id="{DFFC563B-B8F8-A4D5-EA20-1BE110A45356}"/>
              </a:ext>
            </a:extLst>
          </p:cNvPr>
          <p:cNvSpPr/>
          <p:nvPr/>
        </p:nvSpPr>
        <p:spPr>
          <a:xfrm rot="16200000">
            <a:off x="8964603" y="4111816"/>
            <a:ext cx="356398" cy="378745"/>
          </a:xfrm>
          <a:prstGeom prst="rightArrow">
            <a:avLst>
              <a:gd name="adj1" fmla="val 38683"/>
              <a:gd name="adj2" fmla="val 54009"/>
            </a:avLst>
          </a:prstGeom>
          <a:solidFill>
            <a:schemeClr val="tx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テキスト ボックス 47">
            <a:extLst>
              <a:ext uri="{FF2B5EF4-FFF2-40B4-BE49-F238E27FC236}">
                <a16:creationId xmlns:a16="http://schemas.microsoft.com/office/drawing/2014/main" id="{B1FB7635-A2FE-F8E8-5B5C-A74339C121AD}"/>
              </a:ext>
            </a:extLst>
          </p:cNvPr>
          <p:cNvSpPr txBox="1"/>
          <p:nvPr/>
        </p:nvSpPr>
        <p:spPr>
          <a:xfrm>
            <a:off x="5001795" y="6143763"/>
            <a:ext cx="281490" cy="523220"/>
          </a:xfrm>
          <a:prstGeom prst="rect">
            <a:avLst/>
          </a:prstGeom>
          <a:noFill/>
        </p:spPr>
        <p:txBody>
          <a:bodyPr wrap="square" rtlCol="0">
            <a:spAutoFit/>
          </a:bodyPr>
          <a:lstStyle/>
          <a:p>
            <a:r>
              <a:rPr lang="en-US" altLang="ja-JP" sz="2800" dirty="0"/>
              <a:t>(</a:t>
            </a:r>
            <a:endParaRPr kumimoji="1" lang="ja-JP" altLang="en-US" sz="2800" dirty="0"/>
          </a:p>
        </p:txBody>
      </p:sp>
      <p:sp>
        <p:nvSpPr>
          <p:cNvPr id="52" name="テキスト ボックス 51">
            <a:extLst>
              <a:ext uri="{FF2B5EF4-FFF2-40B4-BE49-F238E27FC236}">
                <a16:creationId xmlns:a16="http://schemas.microsoft.com/office/drawing/2014/main" id="{CAACD418-2689-3244-0B4F-4A080FF50B2A}"/>
              </a:ext>
            </a:extLst>
          </p:cNvPr>
          <p:cNvSpPr txBox="1"/>
          <p:nvPr/>
        </p:nvSpPr>
        <p:spPr>
          <a:xfrm>
            <a:off x="6691092" y="6143763"/>
            <a:ext cx="281490" cy="523220"/>
          </a:xfrm>
          <a:prstGeom prst="rect">
            <a:avLst/>
          </a:prstGeom>
          <a:noFill/>
        </p:spPr>
        <p:txBody>
          <a:bodyPr wrap="square" rtlCol="0">
            <a:spAutoFit/>
          </a:bodyPr>
          <a:lstStyle/>
          <a:p>
            <a:r>
              <a:rPr kumimoji="1" lang="en-US" altLang="ja-JP" sz="2800" dirty="0"/>
              <a:t>)</a:t>
            </a:r>
            <a:endParaRPr kumimoji="1" lang="ja-JP" altLang="en-US" sz="2800" dirty="0"/>
          </a:p>
        </p:txBody>
      </p:sp>
      <p:sp>
        <p:nvSpPr>
          <p:cNvPr id="56" name="テキスト ボックス 55">
            <a:extLst>
              <a:ext uri="{FF2B5EF4-FFF2-40B4-BE49-F238E27FC236}">
                <a16:creationId xmlns:a16="http://schemas.microsoft.com/office/drawing/2014/main" id="{CF405DAB-F606-CB9F-8E62-21790108D4B8}"/>
              </a:ext>
            </a:extLst>
          </p:cNvPr>
          <p:cNvSpPr txBox="1"/>
          <p:nvPr/>
        </p:nvSpPr>
        <p:spPr>
          <a:xfrm>
            <a:off x="5962379" y="6143763"/>
            <a:ext cx="281490" cy="523220"/>
          </a:xfrm>
          <a:prstGeom prst="rect">
            <a:avLst/>
          </a:prstGeom>
          <a:noFill/>
        </p:spPr>
        <p:txBody>
          <a:bodyPr wrap="square" rtlCol="0">
            <a:spAutoFit/>
          </a:bodyPr>
          <a:lstStyle/>
          <a:p>
            <a:r>
              <a:rPr lang="en-US" altLang="ja-JP" sz="2800" dirty="0"/>
              <a:t>,</a:t>
            </a:r>
          </a:p>
        </p:txBody>
      </p:sp>
      <p:sp>
        <p:nvSpPr>
          <p:cNvPr id="57" name="テキスト ボックス 56">
            <a:extLst>
              <a:ext uri="{FF2B5EF4-FFF2-40B4-BE49-F238E27FC236}">
                <a16:creationId xmlns:a16="http://schemas.microsoft.com/office/drawing/2014/main" id="{66C5ABB9-C3AB-2863-9251-188E185FB853}"/>
              </a:ext>
            </a:extLst>
          </p:cNvPr>
          <p:cNvSpPr txBox="1"/>
          <p:nvPr/>
        </p:nvSpPr>
        <p:spPr>
          <a:xfrm>
            <a:off x="5191846" y="5953263"/>
            <a:ext cx="903968" cy="523220"/>
          </a:xfrm>
          <a:prstGeom prst="rect">
            <a:avLst/>
          </a:prstGeom>
          <a:noFill/>
        </p:spPr>
        <p:txBody>
          <a:bodyPr wrap="square" rtlCol="0">
            <a:spAutoFit/>
          </a:bodyPr>
          <a:lstStyle/>
          <a:p>
            <a:r>
              <a:rPr lang="en-US" altLang="ja-JP" sz="2800" dirty="0">
                <a:noFill/>
              </a:rPr>
              <a:t>1+―</a:t>
            </a:r>
            <a:endParaRPr kumimoji="1" lang="ja-JP" altLang="en-US" sz="2800" dirty="0">
              <a:noFill/>
            </a:endParaRPr>
          </a:p>
        </p:txBody>
      </p:sp>
      <p:sp>
        <p:nvSpPr>
          <p:cNvPr id="59" name="テキスト ボックス 58">
            <a:extLst>
              <a:ext uri="{FF2B5EF4-FFF2-40B4-BE49-F238E27FC236}">
                <a16:creationId xmlns:a16="http://schemas.microsoft.com/office/drawing/2014/main" id="{787C380F-2025-1028-3467-E055AD741129}"/>
              </a:ext>
            </a:extLst>
          </p:cNvPr>
          <p:cNvSpPr txBox="1"/>
          <p:nvPr/>
        </p:nvSpPr>
        <p:spPr>
          <a:xfrm>
            <a:off x="6220721" y="5953263"/>
            <a:ext cx="851647" cy="523220"/>
          </a:xfrm>
          <a:prstGeom prst="rect">
            <a:avLst/>
          </a:prstGeom>
          <a:noFill/>
        </p:spPr>
        <p:txBody>
          <a:bodyPr wrap="square" rtlCol="0">
            <a:spAutoFit/>
          </a:bodyPr>
          <a:lstStyle/>
          <a:p>
            <a:r>
              <a:rPr lang="en-US" altLang="ja-JP" sz="2800" dirty="0">
                <a:noFill/>
              </a:rPr>
              <a:t>―</a:t>
            </a:r>
            <a:endParaRPr kumimoji="1" lang="ja-JP" altLang="en-US" sz="2800" dirty="0">
              <a:noFill/>
            </a:endParaRPr>
          </a:p>
        </p:txBody>
      </p:sp>
      <p:sp>
        <p:nvSpPr>
          <p:cNvPr id="64" name="テキスト ボックス 63">
            <a:extLst>
              <a:ext uri="{FF2B5EF4-FFF2-40B4-BE49-F238E27FC236}">
                <a16:creationId xmlns:a16="http://schemas.microsoft.com/office/drawing/2014/main" id="{F65F3FE1-CBBE-A2B8-74D1-2BB670ECD0FE}"/>
              </a:ext>
            </a:extLst>
          </p:cNvPr>
          <p:cNvSpPr txBox="1"/>
          <p:nvPr/>
        </p:nvSpPr>
        <p:spPr>
          <a:xfrm>
            <a:off x="5531161" y="5741968"/>
            <a:ext cx="606910" cy="954107"/>
          </a:xfrm>
          <a:prstGeom prst="rect">
            <a:avLst/>
          </a:prstGeom>
          <a:noFill/>
        </p:spPr>
        <p:txBody>
          <a:bodyPr wrap="square" rtlCol="0">
            <a:spAutoFit/>
          </a:bodyPr>
          <a:lstStyle/>
          <a:p>
            <a:r>
              <a:rPr lang="ja-JP" altLang="en-US" sz="2800" dirty="0">
                <a:noFill/>
              </a:rPr>
              <a:t>√</a:t>
            </a:r>
            <a:r>
              <a:rPr lang="en-US" altLang="ja-JP" sz="2800" dirty="0">
                <a:noFill/>
              </a:rPr>
              <a:t>3</a:t>
            </a:r>
          </a:p>
          <a:p>
            <a:r>
              <a:rPr kumimoji="1" lang="en-US" altLang="ja-JP" sz="2800" dirty="0">
                <a:noFill/>
              </a:rPr>
              <a:t> 2</a:t>
            </a:r>
            <a:endParaRPr kumimoji="1" lang="ja-JP" altLang="en-US" sz="2800" dirty="0">
              <a:noFill/>
            </a:endParaRPr>
          </a:p>
        </p:txBody>
      </p:sp>
      <p:sp>
        <p:nvSpPr>
          <p:cNvPr id="65" name="テキスト ボックス 64">
            <a:extLst>
              <a:ext uri="{FF2B5EF4-FFF2-40B4-BE49-F238E27FC236}">
                <a16:creationId xmlns:a16="http://schemas.microsoft.com/office/drawing/2014/main" id="{B1990940-82D7-C3DD-B46B-CE3B2F4AC570}"/>
              </a:ext>
            </a:extLst>
          </p:cNvPr>
          <p:cNvSpPr txBox="1"/>
          <p:nvPr/>
        </p:nvSpPr>
        <p:spPr>
          <a:xfrm>
            <a:off x="6297108" y="5753364"/>
            <a:ext cx="349688" cy="954107"/>
          </a:xfrm>
          <a:prstGeom prst="rect">
            <a:avLst/>
          </a:prstGeom>
          <a:noFill/>
        </p:spPr>
        <p:txBody>
          <a:bodyPr wrap="square" rtlCol="0">
            <a:spAutoFit/>
          </a:bodyPr>
          <a:lstStyle/>
          <a:p>
            <a:r>
              <a:rPr kumimoji="1" lang="en-US" altLang="ja-JP" sz="2800" dirty="0">
                <a:noFill/>
              </a:rPr>
              <a:t>3</a:t>
            </a:r>
          </a:p>
          <a:p>
            <a:r>
              <a:rPr lang="en-US" altLang="ja-JP" sz="2800" dirty="0">
                <a:noFill/>
              </a:rPr>
              <a:t>2</a:t>
            </a:r>
            <a:endParaRPr kumimoji="1" lang="ja-JP" altLang="en-US" sz="2800" dirty="0">
              <a:noFill/>
            </a:endParaRPr>
          </a:p>
        </p:txBody>
      </p:sp>
      <p:sp>
        <p:nvSpPr>
          <p:cNvPr id="46" name="テキスト ボックス 45">
            <a:extLst>
              <a:ext uri="{FF2B5EF4-FFF2-40B4-BE49-F238E27FC236}">
                <a16:creationId xmlns:a16="http://schemas.microsoft.com/office/drawing/2014/main" id="{9BC6CFD2-677D-E5B3-5BDF-18217806B070}"/>
              </a:ext>
            </a:extLst>
          </p:cNvPr>
          <p:cNvSpPr txBox="1"/>
          <p:nvPr/>
        </p:nvSpPr>
        <p:spPr>
          <a:xfrm>
            <a:off x="5496645" y="6143763"/>
            <a:ext cx="851647" cy="523220"/>
          </a:xfrm>
          <a:prstGeom prst="rect">
            <a:avLst/>
          </a:prstGeom>
          <a:noFill/>
        </p:spPr>
        <p:txBody>
          <a:bodyPr wrap="square" rtlCol="0">
            <a:spAutoFit/>
          </a:bodyPr>
          <a:lstStyle/>
          <a:p>
            <a:r>
              <a:rPr lang="en-US" altLang="ja-JP" sz="2800" dirty="0"/>
              <a:t>0</a:t>
            </a:r>
            <a:endParaRPr kumimoji="1" lang="ja-JP" altLang="en-US" sz="2800" dirty="0"/>
          </a:p>
        </p:txBody>
      </p:sp>
      <p:sp>
        <p:nvSpPr>
          <p:cNvPr id="47" name="テキスト ボックス 46">
            <a:extLst>
              <a:ext uri="{FF2B5EF4-FFF2-40B4-BE49-F238E27FC236}">
                <a16:creationId xmlns:a16="http://schemas.microsoft.com/office/drawing/2014/main" id="{ED2CF3BE-9CC1-3C5A-1671-04092BD8F506}"/>
              </a:ext>
            </a:extLst>
          </p:cNvPr>
          <p:cNvSpPr txBox="1"/>
          <p:nvPr/>
        </p:nvSpPr>
        <p:spPr>
          <a:xfrm>
            <a:off x="6289301" y="6143763"/>
            <a:ext cx="851647" cy="523220"/>
          </a:xfrm>
          <a:prstGeom prst="rect">
            <a:avLst/>
          </a:prstGeom>
          <a:noFill/>
        </p:spPr>
        <p:txBody>
          <a:bodyPr wrap="square" rtlCol="0">
            <a:spAutoFit/>
          </a:bodyPr>
          <a:lstStyle/>
          <a:p>
            <a:r>
              <a:rPr lang="en-US" altLang="ja-JP" sz="2800" dirty="0"/>
              <a:t>0</a:t>
            </a:r>
            <a:endParaRPr kumimoji="1" lang="ja-JP" altLang="en-US" sz="2800" dirty="0"/>
          </a:p>
        </p:txBody>
      </p:sp>
      <p:sp>
        <p:nvSpPr>
          <p:cNvPr id="61" name="テキスト ボックス 60">
            <a:extLst>
              <a:ext uri="{FF2B5EF4-FFF2-40B4-BE49-F238E27FC236}">
                <a16:creationId xmlns:a16="http://schemas.microsoft.com/office/drawing/2014/main" id="{3940A350-36E3-B9F7-2AA3-C9177F3261D5}"/>
              </a:ext>
            </a:extLst>
          </p:cNvPr>
          <p:cNvSpPr txBox="1"/>
          <p:nvPr/>
        </p:nvSpPr>
        <p:spPr>
          <a:xfrm>
            <a:off x="10777538" y="2936791"/>
            <a:ext cx="1183482" cy="523220"/>
          </a:xfrm>
          <a:prstGeom prst="rect">
            <a:avLst/>
          </a:prstGeom>
          <a:noFill/>
        </p:spPr>
        <p:txBody>
          <a:bodyPr wrap="square" rtlCol="0">
            <a:spAutoFit/>
          </a:bodyPr>
          <a:lstStyle/>
          <a:p>
            <a:r>
              <a:rPr kumimoji="1" lang="en-US" altLang="ja-JP" sz="2800" dirty="0"/>
              <a:t>( 4 , 3 )</a:t>
            </a:r>
            <a:endParaRPr kumimoji="1" lang="ja-JP" altLang="en-US" sz="2800" dirty="0"/>
          </a:p>
        </p:txBody>
      </p:sp>
      <p:sp>
        <p:nvSpPr>
          <p:cNvPr id="70" name="矢印: 右 69">
            <a:extLst>
              <a:ext uri="{FF2B5EF4-FFF2-40B4-BE49-F238E27FC236}">
                <a16:creationId xmlns:a16="http://schemas.microsoft.com/office/drawing/2014/main" id="{D2B43F47-F0A5-E8F9-D808-322363DF5AC8}"/>
              </a:ext>
            </a:extLst>
          </p:cNvPr>
          <p:cNvSpPr/>
          <p:nvPr/>
        </p:nvSpPr>
        <p:spPr>
          <a:xfrm rot="16200000">
            <a:off x="10597247" y="4377193"/>
            <a:ext cx="45719" cy="158670"/>
          </a:xfrm>
          <a:prstGeom prst="rightArrow">
            <a:avLst>
              <a:gd name="adj1" fmla="val 40995"/>
              <a:gd name="adj2" fmla="val 50000"/>
            </a:avLst>
          </a:prstGeom>
          <a:solidFill>
            <a:srgbClr val="C00000">
              <a:alpha val="0"/>
            </a:srgbClr>
          </a:solidFill>
          <a:ln>
            <a:solidFill>
              <a:schemeClr val="bg1">
                <a:alpha val="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3" name="矢印: 右 72">
            <a:extLst>
              <a:ext uri="{FF2B5EF4-FFF2-40B4-BE49-F238E27FC236}">
                <a16:creationId xmlns:a16="http://schemas.microsoft.com/office/drawing/2014/main" id="{96BF0099-BEE9-08CC-02BE-3ECE91779F57}"/>
              </a:ext>
            </a:extLst>
          </p:cNvPr>
          <p:cNvSpPr/>
          <p:nvPr/>
        </p:nvSpPr>
        <p:spPr>
          <a:xfrm>
            <a:off x="9152175" y="4404567"/>
            <a:ext cx="45719" cy="158670"/>
          </a:xfrm>
          <a:prstGeom prst="rightArrow">
            <a:avLst>
              <a:gd name="adj1" fmla="val 40995"/>
              <a:gd name="adj2" fmla="val 50000"/>
            </a:avLst>
          </a:prstGeom>
          <a:solidFill>
            <a:srgbClr val="0070C0">
              <a:alpha val="0"/>
            </a:srgbClr>
          </a:solidFill>
          <a:ln>
            <a:solidFill>
              <a:schemeClr val="bg1">
                <a:alpha val="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矢印: 右 73">
            <a:extLst>
              <a:ext uri="{FF2B5EF4-FFF2-40B4-BE49-F238E27FC236}">
                <a16:creationId xmlns:a16="http://schemas.microsoft.com/office/drawing/2014/main" id="{D8C70EFF-FB80-D2B9-4561-817717B7209D}"/>
              </a:ext>
            </a:extLst>
          </p:cNvPr>
          <p:cNvSpPr/>
          <p:nvPr/>
        </p:nvSpPr>
        <p:spPr>
          <a:xfrm rot="19416457">
            <a:off x="9149877" y="4375254"/>
            <a:ext cx="45719" cy="158670"/>
          </a:xfrm>
          <a:prstGeom prst="rightArrow">
            <a:avLst>
              <a:gd name="adj1" fmla="val 40995"/>
              <a:gd name="adj2" fmla="val 50000"/>
            </a:avLst>
          </a:prstGeom>
          <a:solidFill>
            <a:srgbClr val="00B050">
              <a:alpha val="0"/>
            </a:srgbClr>
          </a:solidFill>
          <a:ln>
            <a:solidFill>
              <a:schemeClr val="bg1">
                <a:alpha val="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0065124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62F4B-3BE2-C30C-310D-33005C139B99}"/>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D61136C5-3762-582A-184F-F35B8435D28B}"/>
              </a:ext>
            </a:extLst>
          </p:cNvPr>
          <p:cNvSpPr/>
          <p:nvPr/>
        </p:nvSpPr>
        <p:spPr>
          <a:xfrm>
            <a:off x="3046801"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E5BF6FEC-BCDC-B50C-27D7-D2BA2F0AC496}"/>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475E84F6-1E1F-4CF8-6386-C3038913D98B}"/>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bg1"/>
                </a:solidFill>
              </a:rPr>
              <a:t>システム要件</a:t>
            </a:r>
          </a:p>
        </p:txBody>
      </p:sp>
      <p:sp>
        <p:nvSpPr>
          <p:cNvPr id="11" name="四角形: 角を丸くする 10">
            <a:extLst>
              <a:ext uri="{FF2B5EF4-FFF2-40B4-BE49-F238E27FC236}">
                <a16:creationId xmlns:a16="http://schemas.microsoft.com/office/drawing/2014/main" id="{F5CA049E-FFA9-3FE4-1CD4-CD61AEEB88D2}"/>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9F3551DB-8BC7-3363-12A4-94B2C067C688}"/>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t>プログラム説明</a:t>
            </a:r>
            <a:endParaRPr kumimoji="1" lang="ja-JP" altLang="en-US" sz="2400" dirty="0"/>
          </a:p>
        </p:txBody>
      </p:sp>
      <p:sp>
        <p:nvSpPr>
          <p:cNvPr id="7" name="テキスト ボックス 6">
            <a:extLst>
              <a:ext uri="{FF2B5EF4-FFF2-40B4-BE49-F238E27FC236}">
                <a16:creationId xmlns:a16="http://schemas.microsoft.com/office/drawing/2014/main" id="{E1F68DBA-AF3D-B2CB-75BD-8FBC42B560F0}"/>
              </a:ext>
            </a:extLst>
          </p:cNvPr>
          <p:cNvSpPr txBox="1"/>
          <p:nvPr/>
        </p:nvSpPr>
        <p:spPr>
          <a:xfrm>
            <a:off x="771525" y="1171575"/>
            <a:ext cx="2275276" cy="584775"/>
          </a:xfrm>
          <a:prstGeom prst="rect">
            <a:avLst/>
          </a:prstGeom>
          <a:noFill/>
        </p:spPr>
        <p:txBody>
          <a:bodyPr wrap="square" rtlCol="0">
            <a:spAutoFit/>
          </a:bodyPr>
          <a:lstStyle/>
          <a:p>
            <a:r>
              <a:rPr lang="ja-JP" altLang="en-US" sz="3200" dirty="0"/>
              <a:t>移動制御</a:t>
            </a:r>
            <a:endParaRPr kumimoji="1" lang="ja-JP" altLang="en-US" sz="3200" dirty="0"/>
          </a:p>
        </p:txBody>
      </p:sp>
      <p:sp>
        <p:nvSpPr>
          <p:cNvPr id="10" name="テキスト ボックス 9">
            <a:extLst>
              <a:ext uri="{FF2B5EF4-FFF2-40B4-BE49-F238E27FC236}">
                <a16:creationId xmlns:a16="http://schemas.microsoft.com/office/drawing/2014/main" id="{01375E20-85EA-7668-01D5-5EF77DAC0D21}"/>
              </a:ext>
            </a:extLst>
          </p:cNvPr>
          <p:cNvSpPr txBox="1"/>
          <p:nvPr/>
        </p:nvSpPr>
        <p:spPr>
          <a:xfrm>
            <a:off x="1238250" y="1755127"/>
            <a:ext cx="10953750" cy="461665"/>
          </a:xfrm>
          <a:prstGeom prst="rect">
            <a:avLst/>
          </a:prstGeom>
          <a:noFill/>
        </p:spPr>
        <p:txBody>
          <a:bodyPr wrap="square" rtlCol="0">
            <a:spAutoFit/>
          </a:bodyPr>
          <a:lstStyle/>
          <a:p>
            <a:r>
              <a:rPr lang="en-US" altLang="ja-JP" sz="2400" dirty="0"/>
              <a:t>“</a:t>
            </a:r>
            <a:r>
              <a:rPr lang="ja-JP" altLang="en-US" sz="2400" dirty="0"/>
              <a:t>向き</a:t>
            </a:r>
            <a:r>
              <a:rPr lang="en-US" altLang="ja-JP" sz="2400" dirty="0"/>
              <a:t>”</a:t>
            </a:r>
            <a:r>
              <a:rPr lang="ja-JP" altLang="en-US" sz="2400" dirty="0"/>
              <a:t>と</a:t>
            </a:r>
            <a:r>
              <a:rPr lang="en-US" altLang="ja-JP" sz="2400" dirty="0"/>
              <a:t>”</a:t>
            </a:r>
            <a:r>
              <a:rPr lang="ja-JP" altLang="en-US" sz="2400" dirty="0"/>
              <a:t>歩数</a:t>
            </a:r>
            <a:r>
              <a:rPr lang="en-US" altLang="ja-JP" sz="2400" dirty="0"/>
              <a:t>”</a:t>
            </a:r>
            <a:r>
              <a:rPr lang="ja-JP" altLang="en-US" sz="2400" dirty="0"/>
              <a:t>による自己位置推定と、目標座標への移動量計算</a:t>
            </a:r>
            <a:endParaRPr lang="en-US" altLang="ja-JP" sz="2400" dirty="0"/>
          </a:p>
        </p:txBody>
      </p:sp>
      <p:cxnSp>
        <p:nvCxnSpPr>
          <p:cNvPr id="5" name="直線コネクタ 4">
            <a:extLst>
              <a:ext uri="{FF2B5EF4-FFF2-40B4-BE49-F238E27FC236}">
                <a16:creationId xmlns:a16="http://schemas.microsoft.com/office/drawing/2014/main" id="{232B7419-2332-B04D-FD3D-0A96E057DC10}"/>
              </a:ext>
            </a:extLst>
          </p:cNvPr>
          <p:cNvCxnSpPr/>
          <p:nvPr/>
        </p:nvCxnSpPr>
        <p:spPr>
          <a:xfrm>
            <a:off x="7344629" y="4124790"/>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 name="直線矢印コネクタ 2">
            <a:extLst>
              <a:ext uri="{FF2B5EF4-FFF2-40B4-BE49-F238E27FC236}">
                <a16:creationId xmlns:a16="http://schemas.microsoft.com/office/drawing/2014/main" id="{60416293-E93B-1510-387A-B816CE199005}"/>
              </a:ext>
            </a:extLst>
          </p:cNvPr>
          <p:cNvCxnSpPr/>
          <p:nvPr/>
        </p:nvCxnSpPr>
        <p:spPr>
          <a:xfrm>
            <a:off x="7344629" y="4482990"/>
            <a:ext cx="360000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 name="直線コネクタ 7">
            <a:extLst>
              <a:ext uri="{FF2B5EF4-FFF2-40B4-BE49-F238E27FC236}">
                <a16:creationId xmlns:a16="http://schemas.microsoft.com/office/drawing/2014/main" id="{94194259-74FE-56FC-07A4-FEC3929761A5}"/>
              </a:ext>
            </a:extLst>
          </p:cNvPr>
          <p:cNvCxnSpPr/>
          <p:nvPr/>
        </p:nvCxnSpPr>
        <p:spPr>
          <a:xfrm>
            <a:off x="7344629" y="3764790"/>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4" name="直線矢印コネクタ 3">
            <a:extLst>
              <a:ext uri="{FF2B5EF4-FFF2-40B4-BE49-F238E27FC236}">
                <a16:creationId xmlns:a16="http://schemas.microsoft.com/office/drawing/2014/main" id="{FCEC378D-C282-E237-68F2-0A90ED5159C4}"/>
              </a:ext>
            </a:extLst>
          </p:cNvPr>
          <p:cNvCxnSpPr>
            <a:cxnSpLocks/>
          </p:cNvCxnSpPr>
          <p:nvPr/>
        </p:nvCxnSpPr>
        <p:spPr>
          <a:xfrm rot="10800000">
            <a:off x="9146141" y="2682990"/>
            <a:ext cx="0" cy="360000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 name="直線矢印コネクタ 5">
            <a:extLst>
              <a:ext uri="{FF2B5EF4-FFF2-40B4-BE49-F238E27FC236}">
                <a16:creationId xmlns:a16="http://schemas.microsoft.com/office/drawing/2014/main" id="{94B2AFCA-C87D-BDB7-55E4-D38B86D800E6}"/>
              </a:ext>
            </a:extLst>
          </p:cNvPr>
          <p:cNvCxnSpPr/>
          <p:nvPr/>
        </p:nvCxnSpPr>
        <p:spPr>
          <a:xfrm>
            <a:off x="7346141" y="3404790"/>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16" name="直線矢印コネクタ 15">
            <a:extLst>
              <a:ext uri="{FF2B5EF4-FFF2-40B4-BE49-F238E27FC236}">
                <a16:creationId xmlns:a16="http://schemas.microsoft.com/office/drawing/2014/main" id="{B95EAF30-1D8C-C5D9-7AAA-37AD7D047E6B}"/>
              </a:ext>
            </a:extLst>
          </p:cNvPr>
          <p:cNvCxnSpPr/>
          <p:nvPr/>
        </p:nvCxnSpPr>
        <p:spPr>
          <a:xfrm>
            <a:off x="7346141" y="3044790"/>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17" name="直線コネクタ 16">
            <a:extLst>
              <a:ext uri="{FF2B5EF4-FFF2-40B4-BE49-F238E27FC236}">
                <a16:creationId xmlns:a16="http://schemas.microsoft.com/office/drawing/2014/main" id="{044B2679-B7C2-A585-AE28-BC09DA2037E5}"/>
              </a:ext>
            </a:extLst>
          </p:cNvPr>
          <p:cNvCxnSpPr/>
          <p:nvPr/>
        </p:nvCxnSpPr>
        <p:spPr>
          <a:xfrm>
            <a:off x="7344629" y="5882153"/>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3F96F93E-9DAF-779F-5A73-C7C188A67369}"/>
              </a:ext>
            </a:extLst>
          </p:cNvPr>
          <p:cNvCxnSpPr/>
          <p:nvPr/>
        </p:nvCxnSpPr>
        <p:spPr>
          <a:xfrm>
            <a:off x="7344629" y="5522153"/>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9" name="直線矢印コネクタ 18">
            <a:extLst>
              <a:ext uri="{FF2B5EF4-FFF2-40B4-BE49-F238E27FC236}">
                <a16:creationId xmlns:a16="http://schemas.microsoft.com/office/drawing/2014/main" id="{8FB3E604-94F4-130B-AC05-697B188D6F60}"/>
              </a:ext>
            </a:extLst>
          </p:cNvPr>
          <p:cNvCxnSpPr/>
          <p:nvPr/>
        </p:nvCxnSpPr>
        <p:spPr>
          <a:xfrm>
            <a:off x="7346141" y="5162153"/>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20" name="直線矢印コネクタ 19">
            <a:extLst>
              <a:ext uri="{FF2B5EF4-FFF2-40B4-BE49-F238E27FC236}">
                <a16:creationId xmlns:a16="http://schemas.microsoft.com/office/drawing/2014/main" id="{F6013032-DCF3-5985-FCA2-C69C0EA45676}"/>
              </a:ext>
            </a:extLst>
          </p:cNvPr>
          <p:cNvCxnSpPr/>
          <p:nvPr/>
        </p:nvCxnSpPr>
        <p:spPr>
          <a:xfrm>
            <a:off x="7346141" y="4802153"/>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29" name="直線コネクタ 28">
            <a:extLst>
              <a:ext uri="{FF2B5EF4-FFF2-40B4-BE49-F238E27FC236}">
                <a16:creationId xmlns:a16="http://schemas.microsoft.com/office/drawing/2014/main" id="{A4014984-07FF-6020-DA68-FF9B56DD6DB0}"/>
              </a:ext>
            </a:extLst>
          </p:cNvPr>
          <p:cNvCxnSpPr/>
          <p:nvPr/>
        </p:nvCxnSpPr>
        <p:spPr>
          <a:xfrm>
            <a:off x="878614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47A721A9-57C6-61B0-4E2C-CA1E5384C61C}"/>
              </a:ext>
            </a:extLst>
          </p:cNvPr>
          <p:cNvCxnSpPr/>
          <p:nvPr/>
        </p:nvCxnSpPr>
        <p:spPr>
          <a:xfrm>
            <a:off x="842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A898FF6A-C9ED-5AE5-7EF8-8C70711788F3}"/>
              </a:ext>
            </a:extLst>
          </p:cNvPr>
          <p:cNvCxnSpPr/>
          <p:nvPr/>
        </p:nvCxnSpPr>
        <p:spPr>
          <a:xfrm>
            <a:off x="806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4" name="直線コネクタ 33">
            <a:extLst>
              <a:ext uri="{FF2B5EF4-FFF2-40B4-BE49-F238E27FC236}">
                <a16:creationId xmlns:a16="http://schemas.microsoft.com/office/drawing/2014/main" id="{18671AD1-543A-4375-9425-401E7B4C2566}"/>
              </a:ext>
            </a:extLst>
          </p:cNvPr>
          <p:cNvCxnSpPr/>
          <p:nvPr/>
        </p:nvCxnSpPr>
        <p:spPr>
          <a:xfrm>
            <a:off x="770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5" name="直線コネクタ 34">
            <a:extLst>
              <a:ext uri="{FF2B5EF4-FFF2-40B4-BE49-F238E27FC236}">
                <a16:creationId xmlns:a16="http://schemas.microsoft.com/office/drawing/2014/main" id="{1564537E-829F-B917-2C1C-29B79540A008}"/>
              </a:ext>
            </a:extLst>
          </p:cNvPr>
          <p:cNvCxnSpPr/>
          <p:nvPr/>
        </p:nvCxnSpPr>
        <p:spPr>
          <a:xfrm>
            <a:off x="10599701" y="2681188"/>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6" name="直線コネクタ 35">
            <a:extLst>
              <a:ext uri="{FF2B5EF4-FFF2-40B4-BE49-F238E27FC236}">
                <a16:creationId xmlns:a16="http://schemas.microsoft.com/office/drawing/2014/main" id="{923C81FB-18C5-F105-813B-AA95FB2B6DD5}"/>
              </a:ext>
            </a:extLst>
          </p:cNvPr>
          <p:cNvCxnSpPr/>
          <p:nvPr/>
        </p:nvCxnSpPr>
        <p:spPr>
          <a:xfrm>
            <a:off x="1023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7" name="直線コネクタ 36">
            <a:extLst>
              <a:ext uri="{FF2B5EF4-FFF2-40B4-BE49-F238E27FC236}">
                <a16:creationId xmlns:a16="http://schemas.microsoft.com/office/drawing/2014/main" id="{07412C65-9E6B-398A-B6F2-50318A55C3C6}"/>
              </a:ext>
            </a:extLst>
          </p:cNvPr>
          <p:cNvCxnSpPr/>
          <p:nvPr/>
        </p:nvCxnSpPr>
        <p:spPr>
          <a:xfrm>
            <a:off x="987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8" name="直線コネクタ 37">
            <a:extLst>
              <a:ext uri="{FF2B5EF4-FFF2-40B4-BE49-F238E27FC236}">
                <a16:creationId xmlns:a16="http://schemas.microsoft.com/office/drawing/2014/main" id="{9B70D330-256B-CE45-1D4F-9B916A4523E8}"/>
              </a:ext>
            </a:extLst>
          </p:cNvPr>
          <p:cNvCxnSpPr/>
          <p:nvPr/>
        </p:nvCxnSpPr>
        <p:spPr>
          <a:xfrm>
            <a:off x="951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sp>
        <p:nvSpPr>
          <p:cNvPr id="39" name="テキスト ボックス 38">
            <a:extLst>
              <a:ext uri="{FF2B5EF4-FFF2-40B4-BE49-F238E27FC236}">
                <a16:creationId xmlns:a16="http://schemas.microsoft.com/office/drawing/2014/main" id="{5DE13177-2D02-5F7E-9C37-037BEEA9A567}"/>
              </a:ext>
            </a:extLst>
          </p:cNvPr>
          <p:cNvSpPr txBox="1"/>
          <p:nvPr/>
        </p:nvSpPr>
        <p:spPr>
          <a:xfrm>
            <a:off x="10878514" y="4157185"/>
            <a:ext cx="267345" cy="584775"/>
          </a:xfrm>
          <a:prstGeom prst="rect">
            <a:avLst/>
          </a:prstGeom>
          <a:noFill/>
        </p:spPr>
        <p:txBody>
          <a:bodyPr wrap="square" rtlCol="0" anchor="t">
            <a:spAutoFit/>
          </a:bodyPr>
          <a:lstStyle/>
          <a:p>
            <a:r>
              <a:rPr kumimoji="1" lang="en-US" altLang="ja-JP" sz="3200" b="1" dirty="0">
                <a:latin typeface="Gigi" panose="04040504060007020D02" pitchFamily="82" charset="0"/>
              </a:rPr>
              <a:t>x</a:t>
            </a:r>
            <a:endParaRPr kumimoji="1" lang="ja-JP" altLang="en-US" sz="3200" b="1" dirty="0">
              <a:latin typeface="Gigi" panose="04040504060007020D02" pitchFamily="82" charset="0"/>
            </a:endParaRPr>
          </a:p>
        </p:txBody>
      </p:sp>
      <p:sp>
        <p:nvSpPr>
          <p:cNvPr id="40" name="テキスト ボックス 39">
            <a:extLst>
              <a:ext uri="{FF2B5EF4-FFF2-40B4-BE49-F238E27FC236}">
                <a16:creationId xmlns:a16="http://schemas.microsoft.com/office/drawing/2014/main" id="{9A312677-145A-DF79-7DBD-95A9EF350735}"/>
              </a:ext>
            </a:extLst>
          </p:cNvPr>
          <p:cNvSpPr txBox="1"/>
          <p:nvPr/>
        </p:nvSpPr>
        <p:spPr>
          <a:xfrm>
            <a:off x="8930273" y="2116703"/>
            <a:ext cx="267345" cy="584775"/>
          </a:xfrm>
          <a:prstGeom prst="rect">
            <a:avLst/>
          </a:prstGeom>
          <a:noFill/>
        </p:spPr>
        <p:txBody>
          <a:bodyPr wrap="square" rtlCol="0">
            <a:spAutoFit/>
          </a:bodyPr>
          <a:lstStyle/>
          <a:p>
            <a:r>
              <a:rPr lang="en-US" altLang="ja-JP" sz="3200" b="1" dirty="0">
                <a:latin typeface="Gigi" panose="04040504060007020D02" pitchFamily="82" charset="0"/>
              </a:rPr>
              <a:t>y</a:t>
            </a:r>
            <a:endParaRPr kumimoji="1" lang="ja-JP" altLang="en-US" sz="3200" b="1" dirty="0">
              <a:latin typeface="Gigi" panose="04040504060007020D02" pitchFamily="82" charset="0"/>
            </a:endParaRPr>
          </a:p>
        </p:txBody>
      </p:sp>
      <p:sp>
        <p:nvSpPr>
          <p:cNvPr id="41" name="テキスト ボックス 40">
            <a:extLst>
              <a:ext uri="{FF2B5EF4-FFF2-40B4-BE49-F238E27FC236}">
                <a16:creationId xmlns:a16="http://schemas.microsoft.com/office/drawing/2014/main" id="{D6EDC40A-CDCC-4321-7841-DD0BD79216C8}"/>
              </a:ext>
            </a:extLst>
          </p:cNvPr>
          <p:cNvSpPr txBox="1"/>
          <p:nvPr/>
        </p:nvSpPr>
        <p:spPr>
          <a:xfrm>
            <a:off x="9109438" y="2161962"/>
            <a:ext cx="1020485" cy="523220"/>
          </a:xfrm>
          <a:prstGeom prst="rect">
            <a:avLst/>
          </a:prstGeom>
          <a:noFill/>
        </p:spPr>
        <p:txBody>
          <a:bodyPr wrap="square" rtlCol="0">
            <a:spAutoFit/>
          </a:bodyPr>
          <a:lstStyle/>
          <a:p>
            <a:pPr algn="ctr"/>
            <a:r>
              <a:rPr kumimoji="1" lang="en-US" altLang="ja-JP" sz="2800" dirty="0"/>
              <a:t>90°</a:t>
            </a:r>
            <a:endParaRPr kumimoji="1" lang="ja-JP" altLang="en-US" sz="2800" dirty="0"/>
          </a:p>
        </p:txBody>
      </p:sp>
      <p:sp>
        <p:nvSpPr>
          <p:cNvPr id="42" name="テキスト ボックス 41">
            <a:extLst>
              <a:ext uri="{FF2B5EF4-FFF2-40B4-BE49-F238E27FC236}">
                <a16:creationId xmlns:a16="http://schemas.microsoft.com/office/drawing/2014/main" id="{43A5A2FC-5862-8C77-EA48-CA3A11BB1A08}"/>
              </a:ext>
            </a:extLst>
          </p:cNvPr>
          <p:cNvSpPr txBox="1"/>
          <p:nvPr/>
        </p:nvSpPr>
        <p:spPr>
          <a:xfrm>
            <a:off x="11144105" y="4233942"/>
            <a:ext cx="1020485" cy="830997"/>
          </a:xfrm>
          <a:prstGeom prst="rect">
            <a:avLst/>
          </a:prstGeom>
          <a:noFill/>
        </p:spPr>
        <p:txBody>
          <a:bodyPr wrap="square" rtlCol="0">
            <a:spAutoFit/>
          </a:bodyPr>
          <a:lstStyle/>
          <a:p>
            <a:r>
              <a:rPr kumimoji="1" lang="en-US" altLang="ja-JP" sz="2800" dirty="0"/>
              <a:t> 0°</a:t>
            </a:r>
          </a:p>
          <a:p>
            <a:r>
              <a:rPr lang="en-US" altLang="ja-JP" sz="2000" dirty="0"/>
              <a:t>(360°)</a:t>
            </a:r>
            <a:endParaRPr kumimoji="1" lang="ja-JP" altLang="en-US" sz="2000" dirty="0"/>
          </a:p>
        </p:txBody>
      </p:sp>
      <p:sp>
        <p:nvSpPr>
          <p:cNvPr id="43" name="テキスト ボックス 42">
            <a:extLst>
              <a:ext uri="{FF2B5EF4-FFF2-40B4-BE49-F238E27FC236}">
                <a16:creationId xmlns:a16="http://schemas.microsoft.com/office/drawing/2014/main" id="{2370C40E-0914-FB61-82C5-667938603248}"/>
              </a:ext>
            </a:extLst>
          </p:cNvPr>
          <p:cNvSpPr txBox="1"/>
          <p:nvPr/>
        </p:nvSpPr>
        <p:spPr>
          <a:xfrm>
            <a:off x="8714717" y="6340542"/>
            <a:ext cx="1020485" cy="523220"/>
          </a:xfrm>
          <a:prstGeom prst="rect">
            <a:avLst/>
          </a:prstGeom>
          <a:noFill/>
        </p:spPr>
        <p:txBody>
          <a:bodyPr wrap="square" rtlCol="0">
            <a:spAutoFit/>
          </a:bodyPr>
          <a:lstStyle/>
          <a:p>
            <a:pPr algn="ctr"/>
            <a:r>
              <a:rPr lang="en-US" altLang="ja-JP" sz="2800" dirty="0"/>
              <a:t>270</a:t>
            </a:r>
            <a:r>
              <a:rPr kumimoji="1" lang="en-US" altLang="ja-JP" sz="2800" dirty="0"/>
              <a:t>°</a:t>
            </a:r>
            <a:endParaRPr kumimoji="1" lang="ja-JP" altLang="en-US" sz="2800" dirty="0"/>
          </a:p>
        </p:txBody>
      </p:sp>
      <p:sp>
        <p:nvSpPr>
          <p:cNvPr id="44" name="テキスト ボックス 43">
            <a:extLst>
              <a:ext uri="{FF2B5EF4-FFF2-40B4-BE49-F238E27FC236}">
                <a16:creationId xmlns:a16="http://schemas.microsoft.com/office/drawing/2014/main" id="{8AE1FBD4-5349-D9AB-A707-6CEC8D7332D5}"/>
              </a:ext>
            </a:extLst>
          </p:cNvPr>
          <p:cNvSpPr txBox="1"/>
          <p:nvPr/>
        </p:nvSpPr>
        <p:spPr>
          <a:xfrm>
            <a:off x="6387152" y="4232640"/>
            <a:ext cx="1020485" cy="523220"/>
          </a:xfrm>
          <a:prstGeom prst="rect">
            <a:avLst/>
          </a:prstGeom>
          <a:noFill/>
        </p:spPr>
        <p:txBody>
          <a:bodyPr wrap="square" rtlCol="0">
            <a:spAutoFit/>
          </a:bodyPr>
          <a:lstStyle/>
          <a:p>
            <a:pPr algn="ctr"/>
            <a:r>
              <a:rPr lang="en-US" altLang="ja-JP" sz="2800" dirty="0"/>
              <a:t>18</a:t>
            </a:r>
            <a:r>
              <a:rPr kumimoji="1" lang="en-US" altLang="ja-JP" sz="2800" dirty="0"/>
              <a:t>0°</a:t>
            </a:r>
            <a:endParaRPr kumimoji="1" lang="ja-JP" altLang="en-US" sz="2800" dirty="0"/>
          </a:p>
        </p:txBody>
      </p:sp>
      <p:sp>
        <p:nvSpPr>
          <p:cNvPr id="60" name="楕円 59">
            <a:extLst>
              <a:ext uri="{FF2B5EF4-FFF2-40B4-BE49-F238E27FC236}">
                <a16:creationId xmlns:a16="http://schemas.microsoft.com/office/drawing/2014/main" id="{07366873-A83E-E49C-73FD-683F2B0881AE}"/>
              </a:ext>
            </a:extLst>
          </p:cNvPr>
          <p:cNvSpPr/>
          <p:nvPr/>
        </p:nvSpPr>
        <p:spPr>
          <a:xfrm>
            <a:off x="10389122" y="3152458"/>
            <a:ext cx="419390" cy="419390"/>
          </a:xfrm>
          <a:prstGeom prst="ellipse">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800" b="1" dirty="0">
                <a:solidFill>
                  <a:schemeClr val="bg2"/>
                </a:solidFill>
              </a:rPr>
              <a:t>G</a:t>
            </a:r>
            <a:endParaRPr kumimoji="1" lang="ja-JP" altLang="en-US" sz="2800" b="1" dirty="0">
              <a:solidFill>
                <a:schemeClr val="bg2"/>
              </a:solidFill>
            </a:endParaRPr>
          </a:p>
        </p:txBody>
      </p:sp>
      <p:sp>
        <p:nvSpPr>
          <p:cNvPr id="26" name="矢印: 右 25">
            <a:extLst>
              <a:ext uri="{FF2B5EF4-FFF2-40B4-BE49-F238E27FC236}">
                <a16:creationId xmlns:a16="http://schemas.microsoft.com/office/drawing/2014/main" id="{636B8204-23B9-860D-D64A-D29539F9B13C}"/>
              </a:ext>
            </a:extLst>
          </p:cNvPr>
          <p:cNvSpPr/>
          <p:nvPr/>
        </p:nvSpPr>
        <p:spPr>
          <a:xfrm rot="16200000">
            <a:off x="8964603" y="4111816"/>
            <a:ext cx="356398" cy="378745"/>
          </a:xfrm>
          <a:prstGeom prst="rightArrow">
            <a:avLst>
              <a:gd name="adj1" fmla="val 38683"/>
              <a:gd name="adj2" fmla="val 54009"/>
            </a:avLst>
          </a:prstGeom>
          <a:solidFill>
            <a:schemeClr val="tx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テキスト ボックス 47">
            <a:extLst>
              <a:ext uri="{FF2B5EF4-FFF2-40B4-BE49-F238E27FC236}">
                <a16:creationId xmlns:a16="http://schemas.microsoft.com/office/drawing/2014/main" id="{3E71B101-69F5-2373-6DB5-AB53225DED93}"/>
              </a:ext>
            </a:extLst>
          </p:cNvPr>
          <p:cNvSpPr txBox="1"/>
          <p:nvPr/>
        </p:nvSpPr>
        <p:spPr>
          <a:xfrm>
            <a:off x="5001795" y="6143763"/>
            <a:ext cx="281490" cy="523220"/>
          </a:xfrm>
          <a:prstGeom prst="rect">
            <a:avLst/>
          </a:prstGeom>
          <a:noFill/>
        </p:spPr>
        <p:txBody>
          <a:bodyPr wrap="square" rtlCol="0">
            <a:spAutoFit/>
          </a:bodyPr>
          <a:lstStyle/>
          <a:p>
            <a:r>
              <a:rPr lang="en-US" altLang="ja-JP" sz="2800" dirty="0"/>
              <a:t>(</a:t>
            </a:r>
            <a:endParaRPr kumimoji="1" lang="ja-JP" altLang="en-US" sz="2800" dirty="0"/>
          </a:p>
        </p:txBody>
      </p:sp>
      <p:sp>
        <p:nvSpPr>
          <p:cNvPr id="52" name="テキスト ボックス 51">
            <a:extLst>
              <a:ext uri="{FF2B5EF4-FFF2-40B4-BE49-F238E27FC236}">
                <a16:creationId xmlns:a16="http://schemas.microsoft.com/office/drawing/2014/main" id="{315EDA1B-4F0F-A798-4D78-A0B3095D89C6}"/>
              </a:ext>
            </a:extLst>
          </p:cNvPr>
          <p:cNvSpPr txBox="1"/>
          <p:nvPr/>
        </p:nvSpPr>
        <p:spPr>
          <a:xfrm>
            <a:off x="6691092" y="6143763"/>
            <a:ext cx="281490" cy="523220"/>
          </a:xfrm>
          <a:prstGeom prst="rect">
            <a:avLst/>
          </a:prstGeom>
          <a:noFill/>
        </p:spPr>
        <p:txBody>
          <a:bodyPr wrap="square" rtlCol="0">
            <a:spAutoFit/>
          </a:bodyPr>
          <a:lstStyle/>
          <a:p>
            <a:r>
              <a:rPr kumimoji="1" lang="en-US" altLang="ja-JP" sz="2800" dirty="0"/>
              <a:t>)</a:t>
            </a:r>
            <a:endParaRPr kumimoji="1" lang="ja-JP" altLang="en-US" sz="2800" dirty="0"/>
          </a:p>
        </p:txBody>
      </p:sp>
      <p:sp>
        <p:nvSpPr>
          <p:cNvPr id="56" name="テキスト ボックス 55">
            <a:extLst>
              <a:ext uri="{FF2B5EF4-FFF2-40B4-BE49-F238E27FC236}">
                <a16:creationId xmlns:a16="http://schemas.microsoft.com/office/drawing/2014/main" id="{CEE0CD62-B5FC-70F6-83A2-AB59AADEC6A1}"/>
              </a:ext>
            </a:extLst>
          </p:cNvPr>
          <p:cNvSpPr txBox="1"/>
          <p:nvPr/>
        </p:nvSpPr>
        <p:spPr>
          <a:xfrm>
            <a:off x="5962379" y="6143763"/>
            <a:ext cx="281490" cy="523220"/>
          </a:xfrm>
          <a:prstGeom prst="rect">
            <a:avLst/>
          </a:prstGeom>
          <a:noFill/>
        </p:spPr>
        <p:txBody>
          <a:bodyPr wrap="square" rtlCol="0">
            <a:spAutoFit/>
          </a:bodyPr>
          <a:lstStyle/>
          <a:p>
            <a:r>
              <a:rPr lang="en-US" altLang="ja-JP" sz="2800" dirty="0"/>
              <a:t>,</a:t>
            </a:r>
          </a:p>
        </p:txBody>
      </p:sp>
      <p:sp>
        <p:nvSpPr>
          <p:cNvPr id="46" name="テキスト ボックス 45">
            <a:extLst>
              <a:ext uri="{FF2B5EF4-FFF2-40B4-BE49-F238E27FC236}">
                <a16:creationId xmlns:a16="http://schemas.microsoft.com/office/drawing/2014/main" id="{5B3AB722-BE83-3F34-DE1F-25B55B50AD4C}"/>
              </a:ext>
            </a:extLst>
          </p:cNvPr>
          <p:cNvSpPr txBox="1"/>
          <p:nvPr/>
        </p:nvSpPr>
        <p:spPr>
          <a:xfrm>
            <a:off x="5496645" y="6143763"/>
            <a:ext cx="851647" cy="523220"/>
          </a:xfrm>
          <a:prstGeom prst="rect">
            <a:avLst/>
          </a:prstGeom>
          <a:noFill/>
        </p:spPr>
        <p:txBody>
          <a:bodyPr wrap="square" rtlCol="0">
            <a:spAutoFit/>
          </a:bodyPr>
          <a:lstStyle/>
          <a:p>
            <a:r>
              <a:rPr lang="en-US" altLang="ja-JP" sz="2800" dirty="0"/>
              <a:t>0</a:t>
            </a:r>
            <a:endParaRPr kumimoji="1" lang="ja-JP" altLang="en-US" sz="2800" dirty="0"/>
          </a:p>
        </p:txBody>
      </p:sp>
      <p:sp>
        <p:nvSpPr>
          <p:cNvPr id="47" name="テキスト ボックス 46">
            <a:extLst>
              <a:ext uri="{FF2B5EF4-FFF2-40B4-BE49-F238E27FC236}">
                <a16:creationId xmlns:a16="http://schemas.microsoft.com/office/drawing/2014/main" id="{216F15B2-5402-EF92-81AF-C6D78F91E430}"/>
              </a:ext>
            </a:extLst>
          </p:cNvPr>
          <p:cNvSpPr txBox="1"/>
          <p:nvPr/>
        </p:nvSpPr>
        <p:spPr>
          <a:xfrm>
            <a:off x="6289301" y="6143763"/>
            <a:ext cx="851647" cy="523220"/>
          </a:xfrm>
          <a:prstGeom prst="rect">
            <a:avLst/>
          </a:prstGeom>
          <a:noFill/>
        </p:spPr>
        <p:txBody>
          <a:bodyPr wrap="square" rtlCol="0">
            <a:spAutoFit/>
          </a:bodyPr>
          <a:lstStyle/>
          <a:p>
            <a:r>
              <a:rPr lang="en-US" altLang="ja-JP" sz="2800" dirty="0"/>
              <a:t>0</a:t>
            </a:r>
            <a:endParaRPr kumimoji="1" lang="ja-JP" altLang="en-US" sz="2800" dirty="0"/>
          </a:p>
        </p:txBody>
      </p:sp>
      <p:sp>
        <p:nvSpPr>
          <p:cNvPr id="61" name="テキスト ボックス 60">
            <a:extLst>
              <a:ext uri="{FF2B5EF4-FFF2-40B4-BE49-F238E27FC236}">
                <a16:creationId xmlns:a16="http://schemas.microsoft.com/office/drawing/2014/main" id="{5971BEC0-ECBA-7C76-D826-8F5008FB4AE2}"/>
              </a:ext>
            </a:extLst>
          </p:cNvPr>
          <p:cNvSpPr txBox="1"/>
          <p:nvPr/>
        </p:nvSpPr>
        <p:spPr>
          <a:xfrm>
            <a:off x="10777538" y="2936791"/>
            <a:ext cx="1183482" cy="523220"/>
          </a:xfrm>
          <a:prstGeom prst="rect">
            <a:avLst/>
          </a:prstGeom>
          <a:noFill/>
        </p:spPr>
        <p:txBody>
          <a:bodyPr wrap="square" rtlCol="0">
            <a:spAutoFit/>
          </a:bodyPr>
          <a:lstStyle/>
          <a:p>
            <a:r>
              <a:rPr kumimoji="1" lang="en-US" altLang="ja-JP" sz="2800" dirty="0"/>
              <a:t>( 4 , 3 )</a:t>
            </a:r>
            <a:endParaRPr kumimoji="1" lang="ja-JP" altLang="en-US" sz="2800" dirty="0"/>
          </a:p>
        </p:txBody>
      </p:sp>
      <p:sp>
        <p:nvSpPr>
          <p:cNvPr id="67" name="矢印: 右 66">
            <a:extLst>
              <a:ext uri="{FF2B5EF4-FFF2-40B4-BE49-F238E27FC236}">
                <a16:creationId xmlns:a16="http://schemas.microsoft.com/office/drawing/2014/main" id="{CDAE469E-A298-FD3F-E27D-738A81D6EBB6}"/>
              </a:ext>
            </a:extLst>
          </p:cNvPr>
          <p:cNvSpPr/>
          <p:nvPr/>
        </p:nvSpPr>
        <p:spPr>
          <a:xfrm rot="16200000">
            <a:off x="10085230" y="3865176"/>
            <a:ext cx="1069753" cy="158670"/>
          </a:xfrm>
          <a:prstGeom prst="rightArrow">
            <a:avLst>
              <a:gd name="adj1" fmla="val 40995"/>
              <a:gd name="adj2" fmla="val 50000"/>
            </a:avLst>
          </a:prstGeom>
          <a:solidFill>
            <a:srgbClr val="C0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矢印: 右 67">
            <a:extLst>
              <a:ext uri="{FF2B5EF4-FFF2-40B4-BE49-F238E27FC236}">
                <a16:creationId xmlns:a16="http://schemas.microsoft.com/office/drawing/2014/main" id="{1ABCFF5F-013F-43A2-1B17-89E4AFEBB4CB}"/>
              </a:ext>
            </a:extLst>
          </p:cNvPr>
          <p:cNvSpPr/>
          <p:nvPr/>
        </p:nvSpPr>
        <p:spPr>
          <a:xfrm>
            <a:off x="9152175" y="4404567"/>
            <a:ext cx="1457587" cy="158670"/>
          </a:xfrm>
          <a:prstGeom prst="rightArrow">
            <a:avLst>
              <a:gd name="adj1" fmla="val 40995"/>
              <a:gd name="adj2" fmla="val 50000"/>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矢印: 右 68">
            <a:extLst>
              <a:ext uri="{FF2B5EF4-FFF2-40B4-BE49-F238E27FC236}">
                <a16:creationId xmlns:a16="http://schemas.microsoft.com/office/drawing/2014/main" id="{D56BA020-2B22-ADEE-A670-A1E4CCC51EF4}"/>
              </a:ext>
            </a:extLst>
          </p:cNvPr>
          <p:cNvSpPr/>
          <p:nvPr/>
        </p:nvSpPr>
        <p:spPr>
          <a:xfrm rot="19416457">
            <a:off x="8979358" y="3856502"/>
            <a:ext cx="1794385" cy="158670"/>
          </a:xfrm>
          <a:prstGeom prst="rightArrow">
            <a:avLst>
              <a:gd name="adj1" fmla="val 40995"/>
              <a:gd name="adj2" fmla="val 50000"/>
            </a:avLst>
          </a:prstGeom>
          <a:solidFill>
            <a:srgbClr val="00B0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テキスト ボックス 62">
            <a:extLst>
              <a:ext uri="{FF2B5EF4-FFF2-40B4-BE49-F238E27FC236}">
                <a16:creationId xmlns:a16="http://schemas.microsoft.com/office/drawing/2014/main" id="{E4A213AE-92E2-E523-0271-5C3DFC552AC5}"/>
              </a:ext>
            </a:extLst>
          </p:cNvPr>
          <p:cNvSpPr txBox="1"/>
          <p:nvPr/>
        </p:nvSpPr>
        <p:spPr>
          <a:xfrm>
            <a:off x="771525" y="3619562"/>
            <a:ext cx="4447818" cy="523220"/>
          </a:xfrm>
          <a:prstGeom prst="rect">
            <a:avLst/>
          </a:prstGeom>
          <a:noFill/>
        </p:spPr>
        <p:txBody>
          <a:bodyPr wrap="square" rtlCol="0">
            <a:spAutoFit/>
          </a:bodyPr>
          <a:lstStyle/>
          <a:p>
            <a:r>
              <a:rPr lang="en-US" altLang="ja-JP" sz="2800" dirty="0">
                <a:noFill/>
              </a:rPr>
              <a:t>a</a:t>
            </a:r>
            <a:r>
              <a:rPr kumimoji="1" lang="en-US" altLang="ja-JP" sz="2800" dirty="0">
                <a:noFill/>
              </a:rPr>
              <a:t>rctan(</a:t>
            </a:r>
            <a:r>
              <a:rPr kumimoji="1" lang="en-US" altLang="ja-JP" sz="2800" dirty="0" err="1">
                <a:noFill/>
              </a:rPr>
              <a:t>Δy</a:t>
            </a:r>
            <a:r>
              <a:rPr kumimoji="1" lang="en-US" altLang="ja-JP" sz="2800" dirty="0">
                <a:noFill/>
              </a:rPr>
              <a:t>/</a:t>
            </a:r>
            <a:r>
              <a:rPr kumimoji="1" lang="en-US" altLang="ja-JP" sz="2800" dirty="0" err="1">
                <a:noFill/>
              </a:rPr>
              <a:t>Δx</a:t>
            </a:r>
            <a:r>
              <a:rPr kumimoji="1" lang="en-US" altLang="ja-JP" sz="2800" dirty="0">
                <a:noFill/>
              </a:rPr>
              <a:t>) </a:t>
            </a:r>
            <a:r>
              <a:rPr kumimoji="1" lang="ja-JP" altLang="en-US" sz="2800" dirty="0">
                <a:noFill/>
              </a:rPr>
              <a:t>≈</a:t>
            </a:r>
          </a:p>
        </p:txBody>
      </p:sp>
      <p:sp>
        <p:nvSpPr>
          <p:cNvPr id="66" name="テキスト ボックス 65">
            <a:extLst>
              <a:ext uri="{FF2B5EF4-FFF2-40B4-BE49-F238E27FC236}">
                <a16:creationId xmlns:a16="http://schemas.microsoft.com/office/drawing/2014/main" id="{3836AA03-046B-D118-6125-70404F81BA20}"/>
              </a:ext>
            </a:extLst>
          </p:cNvPr>
          <p:cNvSpPr txBox="1"/>
          <p:nvPr/>
        </p:nvSpPr>
        <p:spPr>
          <a:xfrm>
            <a:off x="780575" y="4556967"/>
            <a:ext cx="4447818" cy="523220"/>
          </a:xfrm>
          <a:prstGeom prst="rect">
            <a:avLst/>
          </a:prstGeom>
          <a:noFill/>
        </p:spPr>
        <p:txBody>
          <a:bodyPr wrap="square" rtlCol="0">
            <a:spAutoFit/>
          </a:bodyPr>
          <a:lstStyle/>
          <a:p>
            <a:r>
              <a:rPr kumimoji="1" lang="ja-JP" altLang="en-US" sz="2800" dirty="0">
                <a:noFill/>
              </a:rPr>
              <a:t>√</a:t>
            </a:r>
            <a:r>
              <a:rPr kumimoji="1" lang="en-US" altLang="ja-JP" sz="2800" dirty="0">
                <a:noFill/>
              </a:rPr>
              <a:t>((</a:t>
            </a:r>
            <a:r>
              <a:rPr kumimoji="1" lang="en-US" altLang="ja-JP" sz="2800" dirty="0" err="1">
                <a:noFill/>
              </a:rPr>
              <a:t>Δx</a:t>
            </a:r>
            <a:r>
              <a:rPr kumimoji="1" lang="en-US" altLang="ja-JP" sz="2800" dirty="0">
                <a:noFill/>
              </a:rPr>
              <a:t>)²+(</a:t>
            </a:r>
            <a:r>
              <a:rPr kumimoji="1" lang="en-US" altLang="ja-JP" sz="2800" dirty="0" err="1">
                <a:noFill/>
              </a:rPr>
              <a:t>Δy</a:t>
            </a:r>
            <a:r>
              <a:rPr kumimoji="1" lang="en-US" altLang="ja-JP" sz="2800" dirty="0">
                <a:noFill/>
              </a:rPr>
              <a:t>)²) </a:t>
            </a:r>
            <a:endParaRPr kumimoji="1" lang="ja-JP" altLang="en-US" sz="2800" dirty="0">
              <a:noFill/>
            </a:endParaRPr>
          </a:p>
        </p:txBody>
      </p:sp>
      <p:sp>
        <p:nvSpPr>
          <p:cNvPr id="70" name="テキスト ボックス 69">
            <a:extLst>
              <a:ext uri="{FF2B5EF4-FFF2-40B4-BE49-F238E27FC236}">
                <a16:creationId xmlns:a16="http://schemas.microsoft.com/office/drawing/2014/main" id="{A1FEE8CA-C6AF-6AAB-D489-6313E96C6DA4}"/>
              </a:ext>
            </a:extLst>
          </p:cNvPr>
          <p:cNvSpPr txBox="1"/>
          <p:nvPr/>
        </p:nvSpPr>
        <p:spPr>
          <a:xfrm>
            <a:off x="3095625" y="3621936"/>
            <a:ext cx="911225" cy="523220"/>
          </a:xfrm>
          <a:prstGeom prst="rect">
            <a:avLst/>
          </a:prstGeom>
          <a:noFill/>
        </p:spPr>
        <p:txBody>
          <a:bodyPr wrap="square" rtlCol="0">
            <a:spAutoFit/>
          </a:bodyPr>
          <a:lstStyle/>
          <a:p>
            <a:r>
              <a:rPr kumimoji="1" lang="en-US" altLang="ja-JP" sz="2800" dirty="0">
                <a:noFill/>
              </a:rPr>
              <a:t>53°</a:t>
            </a:r>
            <a:endParaRPr kumimoji="1" lang="ja-JP" altLang="en-US" sz="2800" dirty="0">
              <a:noFill/>
            </a:endParaRPr>
          </a:p>
        </p:txBody>
      </p:sp>
      <p:sp>
        <p:nvSpPr>
          <p:cNvPr id="71" name="テキスト ボックス 70">
            <a:extLst>
              <a:ext uri="{FF2B5EF4-FFF2-40B4-BE49-F238E27FC236}">
                <a16:creationId xmlns:a16="http://schemas.microsoft.com/office/drawing/2014/main" id="{A10701EC-2B80-DCE7-17DE-596D5B9703BA}"/>
              </a:ext>
            </a:extLst>
          </p:cNvPr>
          <p:cNvSpPr txBox="1"/>
          <p:nvPr/>
        </p:nvSpPr>
        <p:spPr>
          <a:xfrm>
            <a:off x="3058250" y="4574448"/>
            <a:ext cx="911225" cy="523220"/>
          </a:xfrm>
          <a:prstGeom prst="rect">
            <a:avLst/>
          </a:prstGeom>
          <a:noFill/>
        </p:spPr>
        <p:txBody>
          <a:bodyPr wrap="square" rtlCol="0">
            <a:spAutoFit/>
          </a:bodyPr>
          <a:lstStyle/>
          <a:p>
            <a:r>
              <a:rPr kumimoji="1" lang="en-US" altLang="ja-JP" sz="2800" dirty="0">
                <a:noFill/>
              </a:rPr>
              <a:t>5</a:t>
            </a:r>
            <a:endParaRPr kumimoji="1" lang="ja-JP" altLang="en-US" sz="2800" dirty="0">
              <a:noFill/>
            </a:endParaRPr>
          </a:p>
        </p:txBody>
      </p:sp>
      <p:sp>
        <p:nvSpPr>
          <p:cNvPr id="72" name="テキスト ボックス 71">
            <a:extLst>
              <a:ext uri="{FF2B5EF4-FFF2-40B4-BE49-F238E27FC236}">
                <a16:creationId xmlns:a16="http://schemas.microsoft.com/office/drawing/2014/main" id="{814E562E-C371-F2E8-14E2-802C7AF465DE}"/>
              </a:ext>
            </a:extLst>
          </p:cNvPr>
          <p:cNvSpPr txBox="1"/>
          <p:nvPr/>
        </p:nvSpPr>
        <p:spPr>
          <a:xfrm>
            <a:off x="774542" y="4108568"/>
            <a:ext cx="4447818" cy="523220"/>
          </a:xfrm>
          <a:prstGeom prst="rect">
            <a:avLst/>
          </a:prstGeom>
          <a:noFill/>
        </p:spPr>
        <p:txBody>
          <a:bodyPr wrap="square" rtlCol="0">
            <a:spAutoFit/>
          </a:bodyPr>
          <a:lstStyle/>
          <a:p>
            <a:r>
              <a:rPr lang="en-US" altLang="ja-JP" sz="2800" dirty="0">
                <a:noFill/>
              </a:rPr>
              <a:t>     </a:t>
            </a:r>
            <a:r>
              <a:rPr kumimoji="1" lang="en-US" altLang="ja-JP" sz="2800" dirty="0">
                <a:noFill/>
              </a:rPr>
              <a:t>°</a:t>
            </a:r>
            <a:r>
              <a:rPr lang="ja-JP" altLang="en-US" sz="2800" dirty="0">
                <a:noFill/>
              </a:rPr>
              <a:t> </a:t>
            </a:r>
            <a:r>
              <a:rPr lang="en-US" altLang="ja-JP" sz="2800" dirty="0">
                <a:noFill/>
              </a:rPr>
              <a:t>-</a:t>
            </a:r>
            <a:r>
              <a:rPr lang="ja-JP" altLang="en-US" sz="2800" dirty="0">
                <a:noFill/>
              </a:rPr>
              <a:t> </a:t>
            </a:r>
            <a:r>
              <a:rPr lang="en-US" altLang="ja-JP" sz="2800" dirty="0">
                <a:noFill/>
              </a:rPr>
              <a:t>     °</a:t>
            </a:r>
            <a:r>
              <a:rPr lang="ja-JP" altLang="en-US" sz="2800" dirty="0">
                <a:noFill/>
              </a:rPr>
              <a:t> </a:t>
            </a:r>
            <a:r>
              <a:rPr kumimoji="1" lang="en-US" altLang="ja-JP" sz="2800" dirty="0">
                <a:noFill/>
              </a:rPr>
              <a:t>=</a:t>
            </a:r>
            <a:endParaRPr kumimoji="1" lang="ja-JP" altLang="en-US" sz="2800" dirty="0">
              <a:noFill/>
            </a:endParaRPr>
          </a:p>
        </p:txBody>
      </p:sp>
      <p:sp>
        <p:nvSpPr>
          <p:cNvPr id="73" name="テキスト ボックス 72">
            <a:extLst>
              <a:ext uri="{FF2B5EF4-FFF2-40B4-BE49-F238E27FC236}">
                <a16:creationId xmlns:a16="http://schemas.microsoft.com/office/drawing/2014/main" id="{0D73AA1C-6E57-2A39-AECD-83A3E6E4D59A}"/>
              </a:ext>
            </a:extLst>
          </p:cNvPr>
          <p:cNvSpPr txBox="1"/>
          <p:nvPr/>
        </p:nvSpPr>
        <p:spPr>
          <a:xfrm>
            <a:off x="2539821" y="4102981"/>
            <a:ext cx="911225" cy="523220"/>
          </a:xfrm>
          <a:prstGeom prst="rect">
            <a:avLst/>
          </a:prstGeom>
          <a:noFill/>
        </p:spPr>
        <p:txBody>
          <a:bodyPr wrap="square" rtlCol="0">
            <a:spAutoFit/>
          </a:bodyPr>
          <a:lstStyle/>
          <a:p>
            <a:r>
              <a:rPr lang="en-US" altLang="ja-JP" sz="2800" dirty="0">
                <a:noFill/>
              </a:rPr>
              <a:t>37°</a:t>
            </a:r>
            <a:endParaRPr kumimoji="1" lang="ja-JP" altLang="en-US" sz="2800" dirty="0">
              <a:noFill/>
            </a:endParaRPr>
          </a:p>
        </p:txBody>
      </p:sp>
      <p:sp>
        <p:nvSpPr>
          <p:cNvPr id="74" name="テキスト ボックス 73">
            <a:extLst>
              <a:ext uri="{FF2B5EF4-FFF2-40B4-BE49-F238E27FC236}">
                <a16:creationId xmlns:a16="http://schemas.microsoft.com/office/drawing/2014/main" id="{A032AFC1-D285-4B06-0C95-0550DEADA9D3}"/>
              </a:ext>
            </a:extLst>
          </p:cNvPr>
          <p:cNvSpPr txBox="1"/>
          <p:nvPr/>
        </p:nvSpPr>
        <p:spPr>
          <a:xfrm>
            <a:off x="2820764" y="4556967"/>
            <a:ext cx="305817" cy="523220"/>
          </a:xfrm>
          <a:prstGeom prst="rect">
            <a:avLst/>
          </a:prstGeom>
          <a:noFill/>
        </p:spPr>
        <p:txBody>
          <a:bodyPr wrap="square">
            <a:spAutoFit/>
          </a:bodyPr>
          <a:lstStyle/>
          <a:p>
            <a:r>
              <a:rPr kumimoji="1" lang="en-US" altLang="ja-JP" sz="2800" dirty="0">
                <a:noFill/>
              </a:rPr>
              <a:t>=</a:t>
            </a:r>
            <a:endParaRPr lang="ja-JP" altLang="en-US" sz="2800" dirty="0">
              <a:noFill/>
            </a:endParaRPr>
          </a:p>
        </p:txBody>
      </p:sp>
      <p:sp>
        <p:nvSpPr>
          <p:cNvPr id="76" name="テキスト ボックス 75">
            <a:extLst>
              <a:ext uri="{FF2B5EF4-FFF2-40B4-BE49-F238E27FC236}">
                <a16:creationId xmlns:a16="http://schemas.microsoft.com/office/drawing/2014/main" id="{FCC6ACE8-0571-676A-B1B1-6E51BF5D3399}"/>
              </a:ext>
            </a:extLst>
          </p:cNvPr>
          <p:cNvSpPr txBox="1"/>
          <p:nvPr/>
        </p:nvSpPr>
        <p:spPr>
          <a:xfrm>
            <a:off x="818849" y="4110368"/>
            <a:ext cx="911225" cy="523220"/>
          </a:xfrm>
          <a:prstGeom prst="rect">
            <a:avLst/>
          </a:prstGeom>
          <a:noFill/>
        </p:spPr>
        <p:txBody>
          <a:bodyPr wrap="square" rtlCol="0">
            <a:spAutoFit/>
          </a:bodyPr>
          <a:lstStyle/>
          <a:p>
            <a:r>
              <a:rPr kumimoji="1" lang="en-US" altLang="ja-JP" sz="2800" dirty="0">
                <a:noFill/>
              </a:rPr>
              <a:t>90</a:t>
            </a:r>
            <a:endParaRPr kumimoji="1" lang="ja-JP" altLang="en-US" sz="2800" dirty="0">
              <a:noFill/>
            </a:endParaRPr>
          </a:p>
        </p:txBody>
      </p:sp>
      <p:sp>
        <p:nvSpPr>
          <p:cNvPr id="77" name="テキスト ボックス 76">
            <a:extLst>
              <a:ext uri="{FF2B5EF4-FFF2-40B4-BE49-F238E27FC236}">
                <a16:creationId xmlns:a16="http://schemas.microsoft.com/office/drawing/2014/main" id="{0025D1AC-ED6E-300F-577C-0E3325FEE688}"/>
              </a:ext>
            </a:extLst>
          </p:cNvPr>
          <p:cNvSpPr txBox="1"/>
          <p:nvPr/>
        </p:nvSpPr>
        <p:spPr>
          <a:xfrm>
            <a:off x="1709349" y="4109468"/>
            <a:ext cx="911225" cy="523220"/>
          </a:xfrm>
          <a:prstGeom prst="rect">
            <a:avLst/>
          </a:prstGeom>
          <a:noFill/>
        </p:spPr>
        <p:txBody>
          <a:bodyPr wrap="square" rtlCol="0">
            <a:spAutoFit/>
          </a:bodyPr>
          <a:lstStyle/>
          <a:p>
            <a:r>
              <a:rPr kumimoji="1" lang="en-US" altLang="ja-JP" sz="2800" dirty="0">
                <a:noFill/>
              </a:rPr>
              <a:t>53</a:t>
            </a:r>
            <a:endParaRPr kumimoji="1" lang="ja-JP" altLang="en-US" sz="2800" dirty="0">
              <a:noFill/>
            </a:endParaRPr>
          </a:p>
        </p:txBody>
      </p:sp>
      <p:sp>
        <p:nvSpPr>
          <p:cNvPr id="78" name="テキスト ボックス 77">
            <a:extLst>
              <a:ext uri="{FF2B5EF4-FFF2-40B4-BE49-F238E27FC236}">
                <a16:creationId xmlns:a16="http://schemas.microsoft.com/office/drawing/2014/main" id="{FDFA90FC-610A-780C-733B-5C234E4615D6}"/>
              </a:ext>
            </a:extLst>
          </p:cNvPr>
          <p:cNvSpPr txBox="1"/>
          <p:nvPr/>
        </p:nvSpPr>
        <p:spPr>
          <a:xfrm>
            <a:off x="818849" y="4218318"/>
            <a:ext cx="911225" cy="523220"/>
          </a:xfrm>
          <a:prstGeom prst="rect">
            <a:avLst/>
          </a:prstGeom>
          <a:noFill/>
        </p:spPr>
        <p:txBody>
          <a:bodyPr wrap="square" rtlCol="0">
            <a:spAutoFit/>
          </a:bodyPr>
          <a:lstStyle/>
          <a:p>
            <a:r>
              <a:rPr lang="en-US" altLang="ja-JP" sz="2800" dirty="0">
                <a:noFill/>
              </a:rPr>
              <a:t>60</a:t>
            </a:r>
            <a:endParaRPr kumimoji="1" lang="ja-JP" altLang="en-US" sz="2800" dirty="0">
              <a:noFill/>
            </a:endParaRPr>
          </a:p>
        </p:txBody>
      </p:sp>
      <p:sp>
        <p:nvSpPr>
          <p:cNvPr id="79" name="テキスト ボックス 78">
            <a:extLst>
              <a:ext uri="{FF2B5EF4-FFF2-40B4-BE49-F238E27FC236}">
                <a16:creationId xmlns:a16="http://schemas.microsoft.com/office/drawing/2014/main" id="{2678FC49-F650-A4E2-F0C3-80D93B579590}"/>
              </a:ext>
            </a:extLst>
          </p:cNvPr>
          <p:cNvSpPr txBox="1"/>
          <p:nvPr/>
        </p:nvSpPr>
        <p:spPr>
          <a:xfrm>
            <a:off x="1709349" y="4217418"/>
            <a:ext cx="911225" cy="523220"/>
          </a:xfrm>
          <a:prstGeom prst="rect">
            <a:avLst/>
          </a:prstGeom>
          <a:noFill/>
        </p:spPr>
        <p:txBody>
          <a:bodyPr wrap="square" rtlCol="0">
            <a:spAutoFit/>
          </a:bodyPr>
          <a:lstStyle/>
          <a:p>
            <a:r>
              <a:rPr lang="en-US" altLang="ja-JP" sz="2800" dirty="0">
                <a:noFill/>
              </a:rPr>
              <a:t>31</a:t>
            </a:r>
            <a:endParaRPr kumimoji="1" lang="ja-JP" altLang="en-US" sz="2800" dirty="0">
              <a:noFill/>
            </a:endParaRPr>
          </a:p>
        </p:txBody>
      </p:sp>
      <p:sp>
        <p:nvSpPr>
          <p:cNvPr id="80" name="テキスト ボックス 79">
            <a:extLst>
              <a:ext uri="{FF2B5EF4-FFF2-40B4-BE49-F238E27FC236}">
                <a16:creationId xmlns:a16="http://schemas.microsoft.com/office/drawing/2014/main" id="{6570E61E-030F-10F0-660D-3123BF8816E0}"/>
              </a:ext>
            </a:extLst>
          </p:cNvPr>
          <p:cNvSpPr txBox="1"/>
          <p:nvPr/>
        </p:nvSpPr>
        <p:spPr>
          <a:xfrm>
            <a:off x="3095625" y="3720361"/>
            <a:ext cx="911225" cy="523220"/>
          </a:xfrm>
          <a:prstGeom prst="rect">
            <a:avLst/>
          </a:prstGeom>
          <a:noFill/>
        </p:spPr>
        <p:txBody>
          <a:bodyPr wrap="square" rtlCol="0">
            <a:spAutoFit/>
          </a:bodyPr>
          <a:lstStyle/>
          <a:p>
            <a:r>
              <a:rPr lang="en-US" altLang="ja-JP" sz="2800" dirty="0">
                <a:noFill/>
              </a:rPr>
              <a:t>31</a:t>
            </a:r>
            <a:r>
              <a:rPr kumimoji="1" lang="en-US" altLang="ja-JP" sz="2800" dirty="0">
                <a:noFill/>
              </a:rPr>
              <a:t>°</a:t>
            </a:r>
            <a:endParaRPr kumimoji="1" lang="ja-JP" altLang="en-US" sz="2800" dirty="0">
              <a:noFill/>
            </a:endParaRPr>
          </a:p>
        </p:txBody>
      </p:sp>
      <p:sp>
        <p:nvSpPr>
          <p:cNvPr id="81" name="テキスト ボックス 80">
            <a:extLst>
              <a:ext uri="{FF2B5EF4-FFF2-40B4-BE49-F238E27FC236}">
                <a16:creationId xmlns:a16="http://schemas.microsoft.com/office/drawing/2014/main" id="{C965414C-64E8-E4F6-F015-7ED2FD5E94E4}"/>
              </a:ext>
            </a:extLst>
          </p:cNvPr>
          <p:cNvSpPr txBox="1"/>
          <p:nvPr/>
        </p:nvSpPr>
        <p:spPr>
          <a:xfrm>
            <a:off x="3058250" y="4672873"/>
            <a:ext cx="911225" cy="523220"/>
          </a:xfrm>
          <a:prstGeom prst="rect">
            <a:avLst/>
          </a:prstGeom>
          <a:noFill/>
        </p:spPr>
        <p:txBody>
          <a:bodyPr wrap="square" rtlCol="0">
            <a:spAutoFit/>
          </a:bodyPr>
          <a:lstStyle/>
          <a:p>
            <a:r>
              <a:rPr kumimoji="1" lang="en-US" altLang="ja-JP" sz="2800" dirty="0">
                <a:noFill/>
              </a:rPr>
              <a:t>4.09</a:t>
            </a:r>
            <a:endParaRPr kumimoji="1" lang="ja-JP" altLang="en-US" sz="2800" dirty="0">
              <a:noFill/>
            </a:endParaRPr>
          </a:p>
        </p:txBody>
      </p:sp>
      <p:sp>
        <p:nvSpPr>
          <p:cNvPr id="82" name="テキスト ボックス 81">
            <a:extLst>
              <a:ext uri="{FF2B5EF4-FFF2-40B4-BE49-F238E27FC236}">
                <a16:creationId xmlns:a16="http://schemas.microsoft.com/office/drawing/2014/main" id="{525ECA40-C6EF-8FF9-F96C-B3971CACAF42}"/>
              </a:ext>
            </a:extLst>
          </p:cNvPr>
          <p:cNvSpPr txBox="1"/>
          <p:nvPr/>
        </p:nvSpPr>
        <p:spPr>
          <a:xfrm>
            <a:off x="2539821" y="4201406"/>
            <a:ext cx="911225" cy="523220"/>
          </a:xfrm>
          <a:prstGeom prst="rect">
            <a:avLst/>
          </a:prstGeom>
          <a:noFill/>
        </p:spPr>
        <p:txBody>
          <a:bodyPr wrap="square" rtlCol="0">
            <a:spAutoFit/>
          </a:bodyPr>
          <a:lstStyle/>
          <a:p>
            <a:r>
              <a:rPr lang="en-US" altLang="ja-JP" sz="2800" dirty="0">
                <a:noFill/>
              </a:rPr>
              <a:t>29°</a:t>
            </a:r>
            <a:endParaRPr kumimoji="1" lang="ja-JP" altLang="en-US" sz="2800" dirty="0">
              <a:noFill/>
            </a:endParaRPr>
          </a:p>
        </p:txBody>
      </p:sp>
      <p:sp>
        <p:nvSpPr>
          <p:cNvPr id="83" name="テキスト ボックス 82">
            <a:extLst>
              <a:ext uri="{FF2B5EF4-FFF2-40B4-BE49-F238E27FC236}">
                <a16:creationId xmlns:a16="http://schemas.microsoft.com/office/drawing/2014/main" id="{958E0015-9783-6E68-08C9-FD682B5139F3}"/>
              </a:ext>
            </a:extLst>
          </p:cNvPr>
          <p:cNvSpPr txBox="1"/>
          <p:nvPr/>
        </p:nvSpPr>
        <p:spPr>
          <a:xfrm>
            <a:off x="3095625" y="3733061"/>
            <a:ext cx="911225" cy="523220"/>
          </a:xfrm>
          <a:prstGeom prst="rect">
            <a:avLst/>
          </a:prstGeom>
          <a:noFill/>
        </p:spPr>
        <p:txBody>
          <a:bodyPr wrap="square" rtlCol="0">
            <a:spAutoFit/>
          </a:bodyPr>
          <a:lstStyle/>
          <a:p>
            <a:r>
              <a:rPr lang="en-US" altLang="ja-JP" sz="2800" dirty="0">
                <a:noFill/>
              </a:rPr>
              <a:t>31</a:t>
            </a:r>
            <a:r>
              <a:rPr kumimoji="1" lang="en-US" altLang="ja-JP" sz="2800" dirty="0">
                <a:noFill/>
              </a:rPr>
              <a:t>°</a:t>
            </a:r>
            <a:endParaRPr kumimoji="1" lang="ja-JP" altLang="en-US" sz="2800" dirty="0">
              <a:noFill/>
            </a:endParaRPr>
          </a:p>
        </p:txBody>
      </p:sp>
      <p:sp>
        <p:nvSpPr>
          <p:cNvPr id="84" name="テキスト ボックス 83">
            <a:extLst>
              <a:ext uri="{FF2B5EF4-FFF2-40B4-BE49-F238E27FC236}">
                <a16:creationId xmlns:a16="http://schemas.microsoft.com/office/drawing/2014/main" id="{57591ED3-B20D-D08F-4278-CE4E9C2EFED8}"/>
              </a:ext>
            </a:extLst>
          </p:cNvPr>
          <p:cNvSpPr txBox="1"/>
          <p:nvPr/>
        </p:nvSpPr>
        <p:spPr>
          <a:xfrm>
            <a:off x="1709349" y="4220593"/>
            <a:ext cx="911225" cy="523220"/>
          </a:xfrm>
          <a:prstGeom prst="rect">
            <a:avLst/>
          </a:prstGeom>
          <a:noFill/>
        </p:spPr>
        <p:txBody>
          <a:bodyPr wrap="square" rtlCol="0">
            <a:spAutoFit/>
          </a:bodyPr>
          <a:lstStyle/>
          <a:p>
            <a:r>
              <a:rPr lang="en-US" altLang="ja-JP" sz="2800" dirty="0">
                <a:noFill/>
              </a:rPr>
              <a:t>31</a:t>
            </a:r>
            <a:endParaRPr kumimoji="1" lang="ja-JP" altLang="en-US" sz="2800" dirty="0">
              <a:noFill/>
            </a:endParaRPr>
          </a:p>
        </p:txBody>
      </p:sp>
    </p:spTree>
    <p:extLst>
      <p:ext uri="{BB962C8B-B14F-4D97-AF65-F5344CB8AC3E}">
        <p14:creationId xmlns:p14="http://schemas.microsoft.com/office/powerpoint/2010/main" val="366000454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C3874-2DB4-9354-8FF2-F38330D39A7E}"/>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EBF8CBCC-17D3-A138-DEFD-2F48E5AEF236}"/>
              </a:ext>
            </a:extLst>
          </p:cNvPr>
          <p:cNvSpPr/>
          <p:nvPr/>
        </p:nvSpPr>
        <p:spPr>
          <a:xfrm>
            <a:off x="3046801"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10C5CB33-0C99-2319-272B-773A568B7ABA}"/>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79746D83-0A2D-ECBE-DA93-F60C91790F61}"/>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bg1"/>
                </a:solidFill>
              </a:rPr>
              <a:t>システム要件</a:t>
            </a:r>
          </a:p>
        </p:txBody>
      </p:sp>
      <p:sp>
        <p:nvSpPr>
          <p:cNvPr id="11" name="四角形: 角を丸くする 10">
            <a:extLst>
              <a:ext uri="{FF2B5EF4-FFF2-40B4-BE49-F238E27FC236}">
                <a16:creationId xmlns:a16="http://schemas.microsoft.com/office/drawing/2014/main" id="{8671FFD1-52A1-87AC-56CC-1F756B83E60F}"/>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44FC6300-141D-0CD1-C9F2-44351C76D06D}"/>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t>プログラム説明</a:t>
            </a:r>
            <a:endParaRPr kumimoji="1" lang="ja-JP" altLang="en-US" sz="2400" dirty="0"/>
          </a:p>
        </p:txBody>
      </p:sp>
      <p:sp>
        <p:nvSpPr>
          <p:cNvPr id="7" name="テキスト ボックス 6">
            <a:extLst>
              <a:ext uri="{FF2B5EF4-FFF2-40B4-BE49-F238E27FC236}">
                <a16:creationId xmlns:a16="http://schemas.microsoft.com/office/drawing/2014/main" id="{103AE4EC-9553-7120-9563-B1DAAB3114A4}"/>
              </a:ext>
            </a:extLst>
          </p:cNvPr>
          <p:cNvSpPr txBox="1"/>
          <p:nvPr/>
        </p:nvSpPr>
        <p:spPr>
          <a:xfrm>
            <a:off x="771525" y="1171575"/>
            <a:ext cx="2275276" cy="584775"/>
          </a:xfrm>
          <a:prstGeom prst="rect">
            <a:avLst/>
          </a:prstGeom>
          <a:noFill/>
        </p:spPr>
        <p:txBody>
          <a:bodyPr wrap="square" rtlCol="0">
            <a:spAutoFit/>
          </a:bodyPr>
          <a:lstStyle/>
          <a:p>
            <a:r>
              <a:rPr lang="ja-JP" altLang="en-US" sz="3200" dirty="0"/>
              <a:t>移動制御</a:t>
            </a:r>
            <a:endParaRPr kumimoji="1" lang="ja-JP" altLang="en-US" sz="3200" dirty="0"/>
          </a:p>
        </p:txBody>
      </p:sp>
      <p:sp>
        <p:nvSpPr>
          <p:cNvPr id="10" name="テキスト ボックス 9">
            <a:extLst>
              <a:ext uri="{FF2B5EF4-FFF2-40B4-BE49-F238E27FC236}">
                <a16:creationId xmlns:a16="http://schemas.microsoft.com/office/drawing/2014/main" id="{7D4AF3D0-648E-9E78-C63C-0CBB0D70F5D9}"/>
              </a:ext>
            </a:extLst>
          </p:cNvPr>
          <p:cNvSpPr txBox="1"/>
          <p:nvPr/>
        </p:nvSpPr>
        <p:spPr>
          <a:xfrm>
            <a:off x="1238250" y="1755127"/>
            <a:ext cx="10953750" cy="461665"/>
          </a:xfrm>
          <a:prstGeom prst="rect">
            <a:avLst/>
          </a:prstGeom>
          <a:noFill/>
        </p:spPr>
        <p:txBody>
          <a:bodyPr wrap="square" rtlCol="0">
            <a:spAutoFit/>
          </a:bodyPr>
          <a:lstStyle/>
          <a:p>
            <a:r>
              <a:rPr lang="en-US" altLang="ja-JP" sz="2400" dirty="0"/>
              <a:t>“</a:t>
            </a:r>
            <a:r>
              <a:rPr lang="ja-JP" altLang="en-US" sz="2400" dirty="0"/>
              <a:t>向き</a:t>
            </a:r>
            <a:r>
              <a:rPr lang="en-US" altLang="ja-JP" sz="2400" dirty="0"/>
              <a:t>”</a:t>
            </a:r>
            <a:r>
              <a:rPr lang="ja-JP" altLang="en-US" sz="2400" dirty="0"/>
              <a:t>と</a:t>
            </a:r>
            <a:r>
              <a:rPr lang="en-US" altLang="ja-JP" sz="2400" dirty="0"/>
              <a:t>”</a:t>
            </a:r>
            <a:r>
              <a:rPr lang="ja-JP" altLang="en-US" sz="2400" dirty="0"/>
              <a:t>歩数</a:t>
            </a:r>
            <a:r>
              <a:rPr lang="en-US" altLang="ja-JP" sz="2400" dirty="0"/>
              <a:t>”</a:t>
            </a:r>
            <a:r>
              <a:rPr lang="ja-JP" altLang="en-US" sz="2400" dirty="0"/>
              <a:t>による自己位置推定と、目標座標への移動量計算</a:t>
            </a:r>
            <a:endParaRPr lang="en-US" altLang="ja-JP" sz="2400" dirty="0"/>
          </a:p>
        </p:txBody>
      </p:sp>
      <p:cxnSp>
        <p:nvCxnSpPr>
          <p:cNvPr id="5" name="直線コネクタ 4">
            <a:extLst>
              <a:ext uri="{FF2B5EF4-FFF2-40B4-BE49-F238E27FC236}">
                <a16:creationId xmlns:a16="http://schemas.microsoft.com/office/drawing/2014/main" id="{68E52E1F-8F1D-5A98-157A-C87A2149FD89}"/>
              </a:ext>
            </a:extLst>
          </p:cNvPr>
          <p:cNvCxnSpPr/>
          <p:nvPr/>
        </p:nvCxnSpPr>
        <p:spPr>
          <a:xfrm>
            <a:off x="7344629" y="4124790"/>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 name="直線矢印コネクタ 2">
            <a:extLst>
              <a:ext uri="{FF2B5EF4-FFF2-40B4-BE49-F238E27FC236}">
                <a16:creationId xmlns:a16="http://schemas.microsoft.com/office/drawing/2014/main" id="{AE2431D3-97D7-D079-0319-53BE9E597522}"/>
              </a:ext>
            </a:extLst>
          </p:cNvPr>
          <p:cNvCxnSpPr/>
          <p:nvPr/>
        </p:nvCxnSpPr>
        <p:spPr>
          <a:xfrm>
            <a:off x="7344629" y="4482990"/>
            <a:ext cx="360000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 name="直線コネクタ 7">
            <a:extLst>
              <a:ext uri="{FF2B5EF4-FFF2-40B4-BE49-F238E27FC236}">
                <a16:creationId xmlns:a16="http://schemas.microsoft.com/office/drawing/2014/main" id="{CD9DC026-631B-28CF-33D6-B1D2B11C264B}"/>
              </a:ext>
            </a:extLst>
          </p:cNvPr>
          <p:cNvCxnSpPr/>
          <p:nvPr/>
        </p:nvCxnSpPr>
        <p:spPr>
          <a:xfrm>
            <a:off x="7344629" y="3764790"/>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4" name="直線矢印コネクタ 3">
            <a:extLst>
              <a:ext uri="{FF2B5EF4-FFF2-40B4-BE49-F238E27FC236}">
                <a16:creationId xmlns:a16="http://schemas.microsoft.com/office/drawing/2014/main" id="{03959654-6967-4994-AFC3-65F04F8F064B}"/>
              </a:ext>
            </a:extLst>
          </p:cNvPr>
          <p:cNvCxnSpPr>
            <a:cxnSpLocks/>
          </p:cNvCxnSpPr>
          <p:nvPr/>
        </p:nvCxnSpPr>
        <p:spPr>
          <a:xfrm rot="10800000">
            <a:off x="9146141" y="2682990"/>
            <a:ext cx="0" cy="360000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 name="直線矢印コネクタ 5">
            <a:extLst>
              <a:ext uri="{FF2B5EF4-FFF2-40B4-BE49-F238E27FC236}">
                <a16:creationId xmlns:a16="http://schemas.microsoft.com/office/drawing/2014/main" id="{9904BFC0-933B-9D25-B269-7E04F7160ECA}"/>
              </a:ext>
            </a:extLst>
          </p:cNvPr>
          <p:cNvCxnSpPr/>
          <p:nvPr/>
        </p:nvCxnSpPr>
        <p:spPr>
          <a:xfrm>
            <a:off x="7346141" y="3404790"/>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16" name="直線矢印コネクタ 15">
            <a:extLst>
              <a:ext uri="{FF2B5EF4-FFF2-40B4-BE49-F238E27FC236}">
                <a16:creationId xmlns:a16="http://schemas.microsoft.com/office/drawing/2014/main" id="{85832F63-08DD-F81E-F525-BAB33058249D}"/>
              </a:ext>
            </a:extLst>
          </p:cNvPr>
          <p:cNvCxnSpPr/>
          <p:nvPr/>
        </p:nvCxnSpPr>
        <p:spPr>
          <a:xfrm>
            <a:off x="7346141" y="3044790"/>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17" name="直線コネクタ 16">
            <a:extLst>
              <a:ext uri="{FF2B5EF4-FFF2-40B4-BE49-F238E27FC236}">
                <a16:creationId xmlns:a16="http://schemas.microsoft.com/office/drawing/2014/main" id="{DF876CD4-9048-8904-57CD-CCBF2655602A}"/>
              </a:ext>
            </a:extLst>
          </p:cNvPr>
          <p:cNvCxnSpPr/>
          <p:nvPr/>
        </p:nvCxnSpPr>
        <p:spPr>
          <a:xfrm>
            <a:off x="7344629" y="5882153"/>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3627DFF9-BAF6-A5F8-DCFA-97A5358FCCF3}"/>
              </a:ext>
            </a:extLst>
          </p:cNvPr>
          <p:cNvCxnSpPr/>
          <p:nvPr/>
        </p:nvCxnSpPr>
        <p:spPr>
          <a:xfrm>
            <a:off x="7344629" y="5522153"/>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9" name="直線矢印コネクタ 18">
            <a:extLst>
              <a:ext uri="{FF2B5EF4-FFF2-40B4-BE49-F238E27FC236}">
                <a16:creationId xmlns:a16="http://schemas.microsoft.com/office/drawing/2014/main" id="{E69B3B91-9A67-CA2C-A066-27AB3130BA44}"/>
              </a:ext>
            </a:extLst>
          </p:cNvPr>
          <p:cNvCxnSpPr/>
          <p:nvPr/>
        </p:nvCxnSpPr>
        <p:spPr>
          <a:xfrm>
            <a:off x="7346141" y="5162153"/>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20" name="直線矢印コネクタ 19">
            <a:extLst>
              <a:ext uri="{FF2B5EF4-FFF2-40B4-BE49-F238E27FC236}">
                <a16:creationId xmlns:a16="http://schemas.microsoft.com/office/drawing/2014/main" id="{7C7B295C-B7C6-B871-EE56-887DF42CE6B9}"/>
              </a:ext>
            </a:extLst>
          </p:cNvPr>
          <p:cNvCxnSpPr/>
          <p:nvPr/>
        </p:nvCxnSpPr>
        <p:spPr>
          <a:xfrm>
            <a:off x="7346141" y="4802153"/>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29" name="直線コネクタ 28">
            <a:extLst>
              <a:ext uri="{FF2B5EF4-FFF2-40B4-BE49-F238E27FC236}">
                <a16:creationId xmlns:a16="http://schemas.microsoft.com/office/drawing/2014/main" id="{6E3199B4-316C-49A5-7BA3-9DDFBF9B27E1}"/>
              </a:ext>
            </a:extLst>
          </p:cNvPr>
          <p:cNvCxnSpPr/>
          <p:nvPr/>
        </p:nvCxnSpPr>
        <p:spPr>
          <a:xfrm>
            <a:off x="878614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4634A0B3-2A2E-3BF5-B051-CEC2C993EA86}"/>
              </a:ext>
            </a:extLst>
          </p:cNvPr>
          <p:cNvCxnSpPr/>
          <p:nvPr/>
        </p:nvCxnSpPr>
        <p:spPr>
          <a:xfrm>
            <a:off x="842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5F2A9560-737F-425C-076C-64A7C5116847}"/>
              </a:ext>
            </a:extLst>
          </p:cNvPr>
          <p:cNvCxnSpPr/>
          <p:nvPr/>
        </p:nvCxnSpPr>
        <p:spPr>
          <a:xfrm>
            <a:off x="806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4" name="直線コネクタ 33">
            <a:extLst>
              <a:ext uri="{FF2B5EF4-FFF2-40B4-BE49-F238E27FC236}">
                <a16:creationId xmlns:a16="http://schemas.microsoft.com/office/drawing/2014/main" id="{258957B2-905F-CABD-5359-5EDCABBCDA6E}"/>
              </a:ext>
            </a:extLst>
          </p:cNvPr>
          <p:cNvCxnSpPr/>
          <p:nvPr/>
        </p:nvCxnSpPr>
        <p:spPr>
          <a:xfrm>
            <a:off x="770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5" name="直線コネクタ 34">
            <a:extLst>
              <a:ext uri="{FF2B5EF4-FFF2-40B4-BE49-F238E27FC236}">
                <a16:creationId xmlns:a16="http://schemas.microsoft.com/office/drawing/2014/main" id="{6E4DA08F-E38C-F90C-BADA-2A3893E8838F}"/>
              </a:ext>
            </a:extLst>
          </p:cNvPr>
          <p:cNvCxnSpPr/>
          <p:nvPr/>
        </p:nvCxnSpPr>
        <p:spPr>
          <a:xfrm>
            <a:off x="10599701" y="2681188"/>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6" name="直線コネクタ 35">
            <a:extLst>
              <a:ext uri="{FF2B5EF4-FFF2-40B4-BE49-F238E27FC236}">
                <a16:creationId xmlns:a16="http://schemas.microsoft.com/office/drawing/2014/main" id="{9CC1B13F-BC8D-2C3A-915B-F7C5D73F8938}"/>
              </a:ext>
            </a:extLst>
          </p:cNvPr>
          <p:cNvCxnSpPr/>
          <p:nvPr/>
        </p:nvCxnSpPr>
        <p:spPr>
          <a:xfrm>
            <a:off x="1023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7" name="直線コネクタ 36">
            <a:extLst>
              <a:ext uri="{FF2B5EF4-FFF2-40B4-BE49-F238E27FC236}">
                <a16:creationId xmlns:a16="http://schemas.microsoft.com/office/drawing/2014/main" id="{6FABAC2B-7451-3E69-3BA5-BE5FABC88100}"/>
              </a:ext>
            </a:extLst>
          </p:cNvPr>
          <p:cNvCxnSpPr/>
          <p:nvPr/>
        </p:nvCxnSpPr>
        <p:spPr>
          <a:xfrm>
            <a:off x="987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8" name="直線コネクタ 37">
            <a:extLst>
              <a:ext uri="{FF2B5EF4-FFF2-40B4-BE49-F238E27FC236}">
                <a16:creationId xmlns:a16="http://schemas.microsoft.com/office/drawing/2014/main" id="{CFBAC316-DC95-E8B0-6059-EBCB25252EDF}"/>
              </a:ext>
            </a:extLst>
          </p:cNvPr>
          <p:cNvCxnSpPr/>
          <p:nvPr/>
        </p:nvCxnSpPr>
        <p:spPr>
          <a:xfrm>
            <a:off x="951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sp>
        <p:nvSpPr>
          <p:cNvPr id="39" name="テキスト ボックス 38">
            <a:extLst>
              <a:ext uri="{FF2B5EF4-FFF2-40B4-BE49-F238E27FC236}">
                <a16:creationId xmlns:a16="http://schemas.microsoft.com/office/drawing/2014/main" id="{9EC55DBF-379C-1A14-43BD-2265BF77CCA9}"/>
              </a:ext>
            </a:extLst>
          </p:cNvPr>
          <p:cNvSpPr txBox="1"/>
          <p:nvPr/>
        </p:nvSpPr>
        <p:spPr>
          <a:xfrm>
            <a:off x="10878514" y="4157185"/>
            <a:ext cx="267345" cy="584775"/>
          </a:xfrm>
          <a:prstGeom prst="rect">
            <a:avLst/>
          </a:prstGeom>
          <a:noFill/>
        </p:spPr>
        <p:txBody>
          <a:bodyPr wrap="square" rtlCol="0" anchor="t">
            <a:spAutoFit/>
          </a:bodyPr>
          <a:lstStyle/>
          <a:p>
            <a:r>
              <a:rPr kumimoji="1" lang="en-US" altLang="ja-JP" sz="3200" b="1" dirty="0">
                <a:latin typeface="Gigi" panose="04040504060007020D02" pitchFamily="82" charset="0"/>
              </a:rPr>
              <a:t>x</a:t>
            </a:r>
            <a:endParaRPr kumimoji="1" lang="ja-JP" altLang="en-US" sz="3200" b="1" dirty="0">
              <a:latin typeface="Gigi" panose="04040504060007020D02" pitchFamily="82" charset="0"/>
            </a:endParaRPr>
          </a:p>
        </p:txBody>
      </p:sp>
      <p:sp>
        <p:nvSpPr>
          <p:cNvPr id="40" name="テキスト ボックス 39">
            <a:extLst>
              <a:ext uri="{FF2B5EF4-FFF2-40B4-BE49-F238E27FC236}">
                <a16:creationId xmlns:a16="http://schemas.microsoft.com/office/drawing/2014/main" id="{9EA431FE-A21D-BFA4-96DC-59DAF9EF84B0}"/>
              </a:ext>
            </a:extLst>
          </p:cNvPr>
          <p:cNvSpPr txBox="1"/>
          <p:nvPr/>
        </p:nvSpPr>
        <p:spPr>
          <a:xfrm>
            <a:off x="8930273" y="2116703"/>
            <a:ext cx="267345" cy="584775"/>
          </a:xfrm>
          <a:prstGeom prst="rect">
            <a:avLst/>
          </a:prstGeom>
          <a:noFill/>
        </p:spPr>
        <p:txBody>
          <a:bodyPr wrap="square" rtlCol="0">
            <a:spAutoFit/>
          </a:bodyPr>
          <a:lstStyle/>
          <a:p>
            <a:r>
              <a:rPr lang="en-US" altLang="ja-JP" sz="3200" b="1" dirty="0">
                <a:latin typeface="Gigi" panose="04040504060007020D02" pitchFamily="82" charset="0"/>
              </a:rPr>
              <a:t>y</a:t>
            </a:r>
            <a:endParaRPr kumimoji="1" lang="ja-JP" altLang="en-US" sz="3200" b="1" dirty="0">
              <a:latin typeface="Gigi" panose="04040504060007020D02" pitchFamily="82" charset="0"/>
            </a:endParaRPr>
          </a:p>
        </p:txBody>
      </p:sp>
      <p:sp>
        <p:nvSpPr>
          <p:cNvPr id="41" name="テキスト ボックス 40">
            <a:extLst>
              <a:ext uri="{FF2B5EF4-FFF2-40B4-BE49-F238E27FC236}">
                <a16:creationId xmlns:a16="http://schemas.microsoft.com/office/drawing/2014/main" id="{EDFAE4C7-F313-D94E-0068-5929BD27D59B}"/>
              </a:ext>
            </a:extLst>
          </p:cNvPr>
          <p:cNvSpPr txBox="1"/>
          <p:nvPr/>
        </p:nvSpPr>
        <p:spPr>
          <a:xfrm>
            <a:off x="9109438" y="2161962"/>
            <a:ext cx="1020485" cy="523220"/>
          </a:xfrm>
          <a:prstGeom prst="rect">
            <a:avLst/>
          </a:prstGeom>
          <a:noFill/>
        </p:spPr>
        <p:txBody>
          <a:bodyPr wrap="square" rtlCol="0">
            <a:spAutoFit/>
          </a:bodyPr>
          <a:lstStyle/>
          <a:p>
            <a:pPr algn="ctr"/>
            <a:r>
              <a:rPr kumimoji="1" lang="en-US" altLang="ja-JP" sz="2800" dirty="0"/>
              <a:t>90°</a:t>
            </a:r>
            <a:endParaRPr kumimoji="1" lang="ja-JP" altLang="en-US" sz="2800" dirty="0"/>
          </a:p>
        </p:txBody>
      </p:sp>
      <p:sp>
        <p:nvSpPr>
          <p:cNvPr id="42" name="テキスト ボックス 41">
            <a:extLst>
              <a:ext uri="{FF2B5EF4-FFF2-40B4-BE49-F238E27FC236}">
                <a16:creationId xmlns:a16="http://schemas.microsoft.com/office/drawing/2014/main" id="{6E25D497-C310-8EF7-687C-78B8ABF08ED6}"/>
              </a:ext>
            </a:extLst>
          </p:cNvPr>
          <p:cNvSpPr txBox="1"/>
          <p:nvPr/>
        </p:nvSpPr>
        <p:spPr>
          <a:xfrm>
            <a:off x="11144105" y="4233942"/>
            <a:ext cx="1020485" cy="830997"/>
          </a:xfrm>
          <a:prstGeom prst="rect">
            <a:avLst/>
          </a:prstGeom>
          <a:noFill/>
        </p:spPr>
        <p:txBody>
          <a:bodyPr wrap="square" rtlCol="0">
            <a:spAutoFit/>
          </a:bodyPr>
          <a:lstStyle/>
          <a:p>
            <a:r>
              <a:rPr kumimoji="1" lang="en-US" altLang="ja-JP" sz="2800" dirty="0"/>
              <a:t> 0°</a:t>
            </a:r>
          </a:p>
          <a:p>
            <a:r>
              <a:rPr lang="en-US" altLang="ja-JP" sz="2000" dirty="0"/>
              <a:t>(360°)</a:t>
            </a:r>
            <a:endParaRPr kumimoji="1" lang="ja-JP" altLang="en-US" sz="2000" dirty="0"/>
          </a:p>
        </p:txBody>
      </p:sp>
      <p:sp>
        <p:nvSpPr>
          <p:cNvPr id="43" name="テキスト ボックス 42">
            <a:extLst>
              <a:ext uri="{FF2B5EF4-FFF2-40B4-BE49-F238E27FC236}">
                <a16:creationId xmlns:a16="http://schemas.microsoft.com/office/drawing/2014/main" id="{8311F60E-C6CC-AB11-3043-7C7314DCE7DB}"/>
              </a:ext>
            </a:extLst>
          </p:cNvPr>
          <p:cNvSpPr txBox="1"/>
          <p:nvPr/>
        </p:nvSpPr>
        <p:spPr>
          <a:xfrm>
            <a:off x="8714717" y="6340542"/>
            <a:ext cx="1020485" cy="523220"/>
          </a:xfrm>
          <a:prstGeom prst="rect">
            <a:avLst/>
          </a:prstGeom>
          <a:noFill/>
        </p:spPr>
        <p:txBody>
          <a:bodyPr wrap="square" rtlCol="0">
            <a:spAutoFit/>
          </a:bodyPr>
          <a:lstStyle/>
          <a:p>
            <a:pPr algn="ctr"/>
            <a:r>
              <a:rPr lang="en-US" altLang="ja-JP" sz="2800" dirty="0"/>
              <a:t>270</a:t>
            </a:r>
            <a:r>
              <a:rPr kumimoji="1" lang="en-US" altLang="ja-JP" sz="2800" dirty="0"/>
              <a:t>°</a:t>
            </a:r>
            <a:endParaRPr kumimoji="1" lang="ja-JP" altLang="en-US" sz="2800" dirty="0"/>
          </a:p>
        </p:txBody>
      </p:sp>
      <p:sp>
        <p:nvSpPr>
          <p:cNvPr id="44" name="テキスト ボックス 43">
            <a:extLst>
              <a:ext uri="{FF2B5EF4-FFF2-40B4-BE49-F238E27FC236}">
                <a16:creationId xmlns:a16="http://schemas.microsoft.com/office/drawing/2014/main" id="{89C8E890-4AE7-CF33-2EF1-527811E86DBA}"/>
              </a:ext>
            </a:extLst>
          </p:cNvPr>
          <p:cNvSpPr txBox="1"/>
          <p:nvPr/>
        </p:nvSpPr>
        <p:spPr>
          <a:xfrm>
            <a:off x="6387152" y="4232640"/>
            <a:ext cx="1020485" cy="523220"/>
          </a:xfrm>
          <a:prstGeom prst="rect">
            <a:avLst/>
          </a:prstGeom>
          <a:noFill/>
        </p:spPr>
        <p:txBody>
          <a:bodyPr wrap="square" rtlCol="0">
            <a:spAutoFit/>
          </a:bodyPr>
          <a:lstStyle/>
          <a:p>
            <a:pPr algn="ctr"/>
            <a:r>
              <a:rPr lang="en-US" altLang="ja-JP" sz="2800" dirty="0"/>
              <a:t>18</a:t>
            </a:r>
            <a:r>
              <a:rPr kumimoji="1" lang="en-US" altLang="ja-JP" sz="2800" dirty="0"/>
              <a:t>0°</a:t>
            </a:r>
            <a:endParaRPr kumimoji="1" lang="ja-JP" altLang="en-US" sz="2800" dirty="0"/>
          </a:p>
        </p:txBody>
      </p:sp>
      <p:sp>
        <p:nvSpPr>
          <p:cNvPr id="60" name="楕円 59">
            <a:extLst>
              <a:ext uri="{FF2B5EF4-FFF2-40B4-BE49-F238E27FC236}">
                <a16:creationId xmlns:a16="http://schemas.microsoft.com/office/drawing/2014/main" id="{D51406C5-B3C6-17FC-C63D-26DA5E58E6BE}"/>
              </a:ext>
            </a:extLst>
          </p:cNvPr>
          <p:cNvSpPr/>
          <p:nvPr/>
        </p:nvSpPr>
        <p:spPr>
          <a:xfrm>
            <a:off x="10389122" y="3152458"/>
            <a:ext cx="419390" cy="419390"/>
          </a:xfrm>
          <a:prstGeom prst="ellipse">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800" b="1" dirty="0">
                <a:solidFill>
                  <a:schemeClr val="bg2"/>
                </a:solidFill>
              </a:rPr>
              <a:t>G</a:t>
            </a:r>
            <a:endParaRPr kumimoji="1" lang="ja-JP" altLang="en-US" sz="2800" b="1" dirty="0">
              <a:solidFill>
                <a:schemeClr val="bg2"/>
              </a:solidFill>
            </a:endParaRPr>
          </a:p>
        </p:txBody>
      </p:sp>
      <p:sp>
        <p:nvSpPr>
          <p:cNvPr id="26" name="矢印: 右 25">
            <a:extLst>
              <a:ext uri="{FF2B5EF4-FFF2-40B4-BE49-F238E27FC236}">
                <a16:creationId xmlns:a16="http://schemas.microsoft.com/office/drawing/2014/main" id="{B2167FBB-EAEC-17F8-74CD-90FBBE1E71B8}"/>
              </a:ext>
            </a:extLst>
          </p:cNvPr>
          <p:cNvSpPr/>
          <p:nvPr/>
        </p:nvSpPr>
        <p:spPr>
          <a:xfrm rot="16200000">
            <a:off x="8964603" y="4111816"/>
            <a:ext cx="356398" cy="378745"/>
          </a:xfrm>
          <a:prstGeom prst="rightArrow">
            <a:avLst>
              <a:gd name="adj1" fmla="val 38683"/>
              <a:gd name="adj2" fmla="val 54009"/>
            </a:avLst>
          </a:prstGeom>
          <a:solidFill>
            <a:schemeClr val="tx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テキスト ボックス 47">
            <a:extLst>
              <a:ext uri="{FF2B5EF4-FFF2-40B4-BE49-F238E27FC236}">
                <a16:creationId xmlns:a16="http://schemas.microsoft.com/office/drawing/2014/main" id="{3B3B1BFA-4750-A1C8-E646-A0D55C101C74}"/>
              </a:ext>
            </a:extLst>
          </p:cNvPr>
          <p:cNvSpPr txBox="1"/>
          <p:nvPr/>
        </p:nvSpPr>
        <p:spPr>
          <a:xfrm>
            <a:off x="5001795" y="6143763"/>
            <a:ext cx="281490" cy="523220"/>
          </a:xfrm>
          <a:prstGeom prst="rect">
            <a:avLst/>
          </a:prstGeom>
          <a:noFill/>
        </p:spPr>
        <p:txBody>
          <a:bodyPr wrap="square" rtlCol="0">
            <a:spAutoFit/>
          </a:bodyPr>
          <a:lstStyle/>
          <a:p>
            <a:r>
              <a:rPr lang="en-US" altLang="ja-JP" sz="2800" dirty="0"/>
              <a:t>(</a:t>
            </a:r>
            <a:endParaRPr kumimoji="1" lang="ja-JP" altLang="en-US" sz="2800" dirty="0"/>
          </a:p>
        </p:txBody>
      </p:sp>
      <p:sp>
        <p:nvSpPr>
          <p:cNvPr id="52" name="テキスト ボックス 51">
            <a:extLst>
              <a:ext uri="{FF2B5EF4-FFF2-40B4-BE49-F238E27FC236}">
                <a16:creationId xmlns:a16="http://schemas.microsoft.com/office/drawing/2014/main" id="{2A1DC45C-4AEF-AF7C-8703-331D58F82C0F}"/>
              </a:ext>
            </a:extLst>
          </p:cNvPr>
          <p:cNvSpPr txBox="1"/>
          <p:nvPr/>
        </p:nvSpPr>
        <p:spPr>
          <a:xfrm>
            <a:off x="6691092" y="6143763"/>
            <a:ext cx="281490" cy="523220"/>
          </a:xfrm>
          <a:prstGeom prst="rect">
            <a:avLst/>
          </a:prstGeom>
          <a:noFill/>
        </p:spPr>
        <p:txBody>
          <a:bodyPr wrap="square" rtlCol="0">
            <a:spAutoFit/>
          </a:bodyPr>
          <a:lstStyle/>
          <a:p>
            <a:r>
              <a:rPr kumimoji="1" lang="en-US" altLang="ja-JP" sz="2800" dirty="0"/>
              <a:t>)</a:t>
            </a:r>
            <a:endParaRPr kumimoji="1" lang="ja-JP" altLang="en-US" sz="2800" dirty="0"/>
          </a:p>
        </p:txBody>
      </p:sp>
      <p:sp>
        <p:nvSpPr>
          <p:cNvPr id="56" name="テキスト ボックス 55">
            <a:extLst>
              <a:ext uri="{FF2B5EF4-FFF2-40B4-BE49-F238E27FC236}">
                <a16:creationId xmlns:a16="http://schemas.microsoft.com/office/drawing/2014/main" id="{943732D6-7ACA-500D-083B-276939D3A08D}"/>
              </a:ext>
            </a:extLst>
          </p:cNvPr>
          <p:cNvSpPr txBox="1"/>
          <p:nvPr/>
        </p:nvSpPr>
        <p:spPr>
          <a:xfrm>
            <a:off x="5962379" y="6143763"/>
            <a:ext cx="281490" cy="523220"/>
          </a:xfrm>
          <a:prstGeom prst="rect">
            <a:avLst/>
          </a:prstGeom>
          <a:noFill/>
        </p:spPr>
        <p:txBody>
          <a:bodyPr wrap="square" rtlCol="0">
            <a:spAutoFit/>
          </a:bodyPr>
          <a:lstStyle/>
          <a:p>
            <a:r>
              <a:rPr lang="en-US" altLang="ja-JP" sz="2800" dirty="0"/>
              <a:t>,</a:t>
            </a:r>
          </a:p>
        </p:txBody>
      </p:sp>
      <p:sp>
        <p:nvSpPr>
          <p:cNvPr id="46" name="テキスト ボックス 45">
            <a:extLst>
              <a:ext uri="{FF2B5EF4-FFF2-40B4-BE49-F238E27FC236}">
                <a16:creationId xmlns:a16="http://schemas.microsoft.com/office/drawing/2014/main" id="{822D287D-5DBE-1208-61D4-998532743CAC}"/>
              </a:ext>
            </a:extLst>
          </p:cNvPr>
          <p:cNvSpPr txBox="1"/>
          <p:nvPr/>
        </p:nvSpPr>
        <p:spPr>
          <a:xfrm>
            <a:off x="5496645" y="6143763"/>
            <a:ext cx="851647" cy="523220"/>
          </a:xfrm>
          <a:prstGeom prst="rect">
            <a:avLst/>
          </a:prstGeom>
          <a:noFill/>
        </p:spPr>
        <p:txBody>
          <a:bodyPr wrap="square" rtlCol="0">
            <a:spAutoFit/>
          </a:bodyPr>
          <a:lstStyle/>
          <a:p>
            <a:r>
              <a:rPr lang="en-US" altLang="ja-JP" sz="2800" dirty="0"/>
              <a:t>0</a:t>
            </a:r>
            <a:endParaRPr kumimoji="1" lang="ja-JP" altLang="en-US" sz="2800" dirty="0"/>
          </a:p>
        </p:txBody>
      </p:sp>
      <p:sp>
        <p:nvSpPr>
          <p:cNvPr id="47" name="テキスト ボックス 46">
            <a:extLst>
              <a:ext uri="{FF2B5EF4-FFF2-40B4-BE49-F238E27FC236}">
                <a16:creationId xmlns:a16="http://schemas.microsoft.com/office/drawing/2014/main" id="{25F4B26B-8436-B8E9-65F7-788A0C9314CF}"/>
              </a:ext>
            </a:extLst>
          </p:cNvPr>
          <p:cNvSpPr txBox="1"/>
          <p:nvPr/>
        </p:nvSpPr>
        <p:spPr>
          <a:xfrm>
            <a:off x="6289301" y="6143763"/>
            <a:ext cx="851647" cy="523220"/>
          </a:xfrm>
          <a:prstGeom prst="rect">
            <a:avLst/>
          </a:prstGeom>
          <a:noFill/>
        </p:spPr>
        <p:txBody>
          <a:bodyPr wrap="square" rtlCol="0">
            <a:spAutoFit/>
          </a:bodyPr>
          <a:lstStyle/>
          <a:p>
            <a:r>
              <a:rPr lang="en-US" altLang="ja-JP" sz="2800" dirty="0"/>
              <a:t>0</a:t>
            </a:r>
            <a:endParaRPr kumimoji="1" lang="ja-JP" altLang="en-US" sz="2800" dirty="0"/>
          </a:p>
        </p:txBody>
      </p:sp>
      <p:sp>
        <p:nvSpPr>
          <p:cNvPr id="61" name="テキスト ボックス 60">
            <a:extLst>
              <a:ext uri="{FF2B5EF4-FFF2-40B4-BE49-F238E27FC236}">
                <a16:creationId xmlns:a16="http://schemas.microsoft.com/office/drawing/2014/main" id="{24257A5F-EA1F-3BB5-1F36-9FA8849BF48D}"/>
              </a:ext>
            </a:extLst>
          </p:cNvPr>
          <p:cNvSpPr txBox="1"/>
          <p:nvPr/>
        </p:nvSpPr>
        <p:spPr>
          <a:xfrm>
            <a:off x="10777538" y="2936791"/>
            <a:ext cx="1183482" cy="523220"/>
          </a:xfrm>
          <a:prstGeom prst="rect">
            <a:avLst/>
          </a:prstGeom>
          <a:noFill/>
        </p:spPr>
        <p:txBody>
          <a:bodyPr wrap="square" rtlCol="0">
            <a:spAutoFit/>
          </a:bodyPr>
          <a:lstStyle/>
          <a:p>
            <a:r>
              <a:rPr kumimoji="1" lang="en-US" altLang="ja-JP" sz="2800" dirty="0"/>
              <a:t>( 4 , 3 )</a:t>
            </a:r>
            <a:endParaRPr kumimoji="1" lang="ja-JP" altLang="en-US" sz="2800" dirty="0"/>
          </a:p>
        </p:txBody>
      </p:sp>
      <p:sp>
        <p:nvSpPr>
          <p:cNvPr id="67" name="矢印: 右 66">
            <a:extLst>
              <a:ext uri="{FF2B5EF4-FFF2-40B4-BE49-F238E27FC236}">
                <a16:creationId xmlns:a16="http://schemas.microsoft.com/office/drawing/2014/main" id="{DBDC054D-61B7-B06A-155D-7C1B17BF307C}"/>
              </a:ext>
            </a:extLst>
          </p:cNvPr>
          <p:cNvSpPr/>
          <p:nvPr/>
        </p:nvSpPr>
        <p:spPr>
          <a:xfrm rot="16200000">
            <a:off x="10085230" y="3865176"/>
            <a:ext cx="1069753" cy="158670"/>
          </a:xfrm>
          <a:prstGeom prst="rightArrow">
            <a:avLst>
              <a:gd name="adj1" fmla="val 40995"/>
              <a:gd name="adj2" fmla="val 50000"/>
            </a:avLst>
          </a:prstGeom>
          <a:solidFill>
            <a:srgbClr val="C0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矢印: 右 67">
            <a:extLst>
              <a:ext uri="{FF2B5EF4-FFF2-40B4-BE49-F238E27FC236}">
                <a16:creationId xmlns:a16="http://schemas.microsoft.com/office/drawing/2014/main" id="{9BF14FA7-B850-F5EA-E24A-F653285717B4}"/>
              </a:ext>
            </a:extLst>
          </p:cNvPr>
          <p:cNvSpPr/>
          <p:nvPr/>
        </p:nvSpPr>
        <p:spPr>
          <a:xfrm>
            <a:off x="9152175" y="4404567"/>
            <a:ext cx="1457587" cy="158670"/>
          </a:xfrm>
          <a:prstGeom prst="rightArrow">
            <a:avLst>
              <a:gd name="adj1" fmla="val 40995"/>
              <a:gd name="adj2" fmla="val 50000"/>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矢印: 右 68">
            <a:extLst>
              <a:ext uri="{FF2B5EF4-FFF2-40B4-BE49-F238E27FC236}">
                <a16:creationId xmlns:a16="http://schemas.microsoft.com/office/drawing/2014/main" id="{036D5F2C-C90D-4A9B-3841-91EBD7080CD6}"/>
              </a:ext>
            </a:extLst>
          </p:cNvPr>
          <p:cNvSpPr/>
          <p:nvPr/>
        </p:nvSpPr>
        <p:spPr>
          <a:xfrm rot="19416457">
            <a:off x="8979358" y="3856502"/>
            <a:ext cx="1794385" cy="158670"/>
          </a:xfrm>
          <a:prstGeom prst="rightArrow">
            <a:avLst>
              <a:gd name="adj1" fmla="val 40995"/>
              <a:gd name="adj2" fmla="val 50000"/>
            </a:avLst>
          </a:prstGeom>
          <a:solidFill>
            <a:srgbClr val="00B0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テキスト ボックス 61">
            <a:extLst>
              <a:ext uri="{FF2B5EF4-FFF2-40B4-BE49-F238E27FC236}">
                <a16:creationId xmlns:a16="http://schemas.microsoft.com/office/drawing/2014/main" id="{1C9B6EB3-C6FD-A627-757B-EEBE4CFD0DE3}"/>
              </a:ext>
            </a:extLst>
          </p:cNvPr>
          <p:cNvSpPr txBox="1"/>
          <p:nvPr/>
        </p:nvSpPr>
        <p:spPr>
          <a:xfrm>
            <a:off x="771525" y="3467162"/>
            <a:ext cx="4447818" cy="523220"/>
          </a:xfrm>
          <a:prstGeom prst="rect">
            <a:avLst/>
          </a:prstGeom>
          <a:noFill/>
        </p:spPr>
        <p:txBody>
          <a:bodyPr wrap="square" rtlCol="0">
            <a:spAutoFit/>
          </a:bodyPr>
          <a:lstStyle/>
          <a:p>
            <a:r>
              <a:rPr lang="en-US" altLang="ja-JP" sz="2800" dirty="0"/>
              <a:t>a</a:t>
            </a:r>
            <a:r>
              <a:rPr kumimoji="1" lang="en-US" altLang="ja-JP" sz="2800" dirty="0"/>
              <a:t>rctan(</a:t>
            </a:r>
            <a:r>
              <a:rPr kumimoji="1" lang="en-US" altLang="ja-JP" sz="2800" dirty="0" err="1"/>
              <a:t>Δy</a:t>
            </a:r>
            <a:r>
              <a:rPr kumimoji="1" lang="en-US" altLang="ja-JP" sz="2800" dirty="0"/>
              <a:t>/</a:t>
            </a:r>
            <a:r>
              <a:rPr kumimoji="1" lang="en-US" altLang="ja-JP" sz="2800" dirty="0" err="1"/>
              <a:t>Δx</a:t>
            </a:r>
            <a:r>
              <a:rPr kumimoji="1" lang="en-US" altLang="ja-JP" sz="2800" dirty="0"/>
              <a:t>) </a:t>
            </a:r>
            <a:r>
              <a:rPr kumimoji="1" lang="ja-JP" altLang="en-US" sz="2800" dirty="0"/>
              <a:t>≈</a:t>
            </a:r>
          </a:p>
        </p:txBody>
      </p:sp>
      <p:sp>
        <p:nvSpPr>
          <p:cNvPr id="63" name="テキスト ボックス 62">
            <a:extLst>
              <a:ext uri="{FF2B5EF4-FFF2-40B4-BE49-F238E27FC236}">
                <a16:creationId xmlns:a16="http://schemas.microsoft.com/office/drawing/2014/main" id="{3505FCE6-D83A-8B32-820F-5E94C46ECB35}"/>
              </a:ext>
            </a:extLst>
          </p:cNvPr>
          <p:cNvSpPr txBox="1"/>
          <p:nvPr/>
        </p:nvSpPr>
        <p:spPr>
          <a:xfrm>
            <a:off x="780575" y="4404567"/>
            <a:ext cx="4447818" cy="523220"/>
          </a:xfrm>
          <a:prstGeom prst="rect">
            <a:avLst/>
          </a:prstGeom>
          <a:noFill/>
        </p:spPr>
        <p:txBody>
          <a:bodyPr wrap="square" rtlCol="0">
            <a:spAutoFit/>
          </a:bodyPr>
          <a:lstStyle/>
          <a:p>
            <a:r>
              <a:rPr kumimoji="1" lang="ja-JP" altLang="en-US" sz="2800" dirty="0"/>
              <a:t>√</a:t>
            </a:r>
            <a:r>
              <a:rPr kumimoji="1" lang="en-US" altLang="ja-JP" sz="2800" dirty="0"/>
              <a:t>((</a:t>
            </a:r>
            <a:r>
              <a:rPr kumimoji="1" lang="en-US" altLang="ja-JP" sz="2800" dirty="0" err="1"/>
              <a:t>Δx</a:t>
            </a:r>
            <a:r>
              <a:rPr kumimoji="1" lang="en-US" altLang="ja-JP" sz="2800" dirty="0"/>
              <a:t>)²+(</a:t>
            </a:r>
            <a:r>
              <a:rPr kumimoji="1" lang="en-US" altLang="ja-JP" sz="2800" dirty="0" err="1"/>
              <a:t>Δy</a:t>
            </a:r>
            <a:r>
              <a:rPr kumimoji="1" lang="en-US" altLang="ja-JP" sz="2800" dirty="0"/>
              <a:t>)²) </a:t>
            </a:r>
            <a:endParaRPr kumimoji="1" lang="ja-JP" altLang="en-US" sz="2800" dirty="0"/>
          </a:p>
        </p:txBody>
      </p:sp>
      <p:sp>
        <p:nvSpPr>
          <p:cNvPr id="72" name="テキスト ボックス 71">
            <a:extLst>
              <a:ext uri="{FF2B5EF4-FFF2-40B4-BE49-F238E27FC236}">
                <a16:creationId xmlns:a16="http://schemas.microsoft.com/office/drawing/2014/main" id="{62F31F37-6436-F73E-F388-93A7728C928F}"/>
              </a:ext>
            </a:extLst>
          </p:cNvPr>
          <p:cNvSpPr txBox="1"/>
          <p:nvPr/>
        </p:nvSpPr>
        <p:spPr>
          <a:xfrm>
            <a:off x="3095625" y="3469536"/>
            <a:ext cx="911225" cy="523220"/>
          </a:xfrm>
          <a:prstGeom prst="rect">
            <a:avLst/>
          </a:prstGeom>
          <a:noFill/>
        </p:spPr>
        <p:txBody>
          <a:bodyPr wrap="square" rtlCol="0">
            <a:spAutoFit/>
          </a:bodyPr>
          <a:lstStyle/>
          <a:p>
            <a:r>
              <a:rPr kumimoji="1" lang="en-US" altLang="ja-JP" sz="2800" dirty="0"/>
              <a:t>53°</a:t>
            </a:r>
            <a:endParaRPr kumimoji="1" lang="ja-JP" altLang="en-US" sz="2800" dirty="0"/>
          </a:p>
        </p:txBody>
      </p:sp>
      <p:sp>
        <p:nvSpPr>
          <p:cNvPr id="73" name="テキスト ボックス 72">
            <a:extLst>
              <a:ext uri="{FF2B5EF4-FFF2-40B4-BE49-F238E27FC236}">
                <a16:creationId xmlns:a16="http://schemas.microsoft.com/office/drawing/2014/main" id="{743722C5-BDB1-3D22-6102-9CB55FC2B2E2}"/>
              </a:ext>
            </a:extLst>
          </p:cNvPr>
          <p:cNvSpPr txBox="1"/>
          <p:nvPr/>
        </p:nvSpPr>
        <p:spPr>
          <a:xfrm>
            <a:off x="3058250" y="4422048"/>
            <a:ext cx="911225" cy="523220"/>
          </a:xfrm>
          <a:prstGeom prst="rect">
            <a:avLst/>
          </a:prstGeom>
          <a:noFill/>
        </p:spPr>
        <p:txBody>
          <a:bodyPr wrap="square" rtlCol="0">
            <a:spAutoFit/>
          </a:bodyPr>
          <a:lstStyle/>
          <a:p>
            <a:r>
              <a:rPr kumimoji="1" lang="en-US" altLang="ja-JP" sz="2800" dirty="0"/>
              <a:t>5</a:t>
            </a:r>
            <a:endParaRPr kumimoji="1" lang="ja-JP" altLang="en-US" sz="2800" dirty="0"/>
          </a:p>
        </p:txBody>
      </p:sp>
      <p:sp>
        <p:nvSpPr>
          <p:cNvPr id="74" name="テキスト ボックス 73">
            <a:extLst>
              <a:ext uri="{FF2B5EF4-FFF2-40B4-BE49-F238E27FC236}">
                <a16:creationId xmlns:a16="http://schemas.microsoft.com/office/drawing/2014/main" id="{FC1835A1-4BBF-B466-C242-094C6D9E36E1}"/>
              </a:ext>
            </a:extLst>
          </p:cNvPr>
          <p:cNvSpPr txBox="1"/>
          <p:nvPr/>
        </p:nvSpPr>
        <p:spPr>
          <a:xfrm>
            <a:off x="774542" y="3956168"/>
            <a:ext cx="4447818" cy="523220"/>
          </a:xfrm>
          <a:prstGeom prst="rect">
            <a:avLst/>
          </a:prstGeom>
          <a:noFill/>
        </p:spPr>
        <p:txBody>
          <a:bodyPr wrap="square" rtlCol="0">
            <a:spAutoFit/>
          </a:bodyPr>
          <a:lstStyle/>
          <a:p>
            <a:r>
              <a:rPr lang="en-US" altLang="ja-JP" sz="2800" dirty="0"/>
              <a:t>     </a:t>
            </a:r>
            <a:r>
              <a:rPr kumimoji="1" lang="en-US" altLang="ja-JP" sz="2800" dirty="0"/>
              <a:t>°</a:t>
            </a:r>
            <a:r>
              <a:rPr lang="ja-JP" altLang="en-US" sz="2800" dirty="0"/>
              <a:t> </a:t>
            </a:r>
            <a:r>
              <a:rPr lang="en-US" altLang="ja-JP" sz="2800" dirty="0"/>
              <a:t>-</a:t>
            </a:r>
            <a:r>
              <a:rPr lang="ja-JP" altLang="en-US" sz="2800" dirty="0"/>
              <a:t> </a:t>
            </a:r>
            <a:r>
              <a:rPr lang="en-US" altLang="ja-JP" sz="2800" dirty="0"/>
              <a:t>     °</a:t>
            </a:r>
            <a:r>
              <a:rPr lang="ja-JP" altLang="en-US" sz="2800" dirty="0"/>
              <a:t> </a:t>
            </a:r>
            <a:r>
              <a:rPr kumimoji="1" lang="en-US" altLang="ja-JP" sz="2800" dirty="0"/>
              <a:t>=</a:t>
            </a:r>
            <a:endParaRPr kumimoji="1" lang="ja-JP" altLang="en-US" sz="2800" dirty="0"/>
          </a:p>
        </p:txBody>
      </p:sp>
      <p:sp>
        <p:nvSpPr>
          <p:cNvPr id="75" name="テキスト ボックス 74">
            <a:extLst>
              <a:ext uri="{FF2B5EF4-FFF2-40B4-BE49-F238E27FC236}">
                <a16:creationId xmlns:a16="http://schemas.microsoft.com/office/drawing/2014/main" id="{34586A25-3641-83A9-9898-73371016D835}"/>
              </a:ext>
            </a:extLst>
          </p:cNvPr>
          <p:cNvSpPr txBox="1"/>
          <p:nvPr/>
        </p:nvSpPr>
        <p:spPr>
          <a:xfrm>
            <a:off x="2539821" y="3950581"/>
            <a:ext cx="911225" cy="523220"/>
          </a:xfrm>
          <a:prstGeom prst="rect">
            <a:avLst/>
          </a:prstGeom>
          <a:noFill/>
        </p:spPr>
        <p:txBody>
          <a:bodyPr wrap="square" rtlCol="0">
            <a:spAutoFit/>
          </a:bodyPr>
          <a:lstStyle/>
          <a:p>
            <a:r>
              <a:rPr lang="en-US" altLang="ja-JP" sz="2800" dirty="0"/>
              <a:t>37°</a:t>
            </a:r>
            <a:endParaRPr kumimoji="1" lang="ja-JP" altLang="en-US" sz="2800" dirty="0"/>
          </a:p>
        </p:txBody>
      </p:sp>
      <p:sp>
        <p:nvSpPr>
          <p:cNvPr id="76" name="テキスト ボックス 75">
            <a:extLst>
              <a:ext uri="{FF2B5EF4-FFF2-40B4-BE49-F238E27FC236}">
                <a16:creationId xmlns:a16="http://schemas.microsoft.com/office/drawing/2014/main" id="{16FBA2D9-C022-77C7-681B-81401A6915B7}"/>
              </a:ext>
            </a:extLst>
          </p:cNvPr>
          <p:cNvSpPr txBox="1"/>
          <p:nvPr/>
        </p:nvSpPr>
        <p:spPr>
          <a:xfrm>
            <a:off x="5496645" y="6362838"/>
            <a:ext cx="851647" cy="954107"/>
          </a:xfrm>
          <a:prstGeom prst="rect">
            <a:avLst/>
          </a:prstGeom>
          <a:noFill/>
        </p:spPr>
        <p:txBody>
          <a:bodyPr wrap="square" rtlCol="0">
            <a:spAutoFit/>
          </a:bodyPr>
          <a:lstStyle/>
          <a:p>
            <a:r>
              <a:rPr kumimoji="1" lang="en-US" altLang="ja-JP" sz="2800" dirty="0">
                <a:noFill/>
              </a:rPr>
              <a:t>1</a:t>
            </a:r>
          </a:p>
          <a:p>
            <a:r>
              <a:rPr kumimoji="1" lang="en-US" altLang="ja-JP" sz="2800" dirty="0">
                <a:noFill/>
              </a:rPr>
              <a:t>2</a:t>
            </a:r>
            <a:endParaRPr kumimoji="1" lang="ja-JP" altLang="en-US" sz="2800" dirty="0">
              <a:noFill/>
            </a:endParaRPr>
          </a:p>
        </p:txBody>
      </p:sp>
      <p:sp>
        <p:nvSpPr>
          <p:cNvPr id="77" name="テキスト ボックス 76">
            <a:extLst>
              <a:ext uri="{FF2B5EF4-FFF2-40B4-BE49-F238E27FC236}">
                <a16:creationId xmlns:a16="http://schemas.microsoft.com/office/drawing/2014/main" id="{557BE134-4949-C36D-6C92-50F127C7F2EC}"/>
              </a:ext>
            </a:extLst>
          </p:cNvPr>
          <p:cNvSpPr txBox="1"/>
          <p:nvPr/>
        </p:nvSpPr>
        <p:spPr>
          <a:xfrm>
            <a:off x="6289301" y="6362838"/>
            <a:ext cx="851647" cy="954107"/>
          </a:xfrm>
          <a:prstGeom prst="rect">
            <a:avLst/>
          </a:prstGeom>
          <a:noFill/>
        </p:spPr>
        <p:txBody>
          <a:bodyPr wrap="square" rtlCol="0">
            <a:spAutoFit/>
          </a:bodyPr>
          <a:lstStyle/>
          <a:p>
            <a:r>
              <a:rPr lang="ja-JP" altLang="en-US" sz="2800" dirty="0">
                <a:noFill/>
              </a:rPr>
              <a:t>√</a:t>
            </a:r>
            <a:r>
              <a:rPr lang="en-US" altLang="ja-JP" sz="2800" dirty="0">
                <a:noFill/>
              </a:rPr>
              <a:t>3</a:t>
            </a:r>
          </a:p>
          <a:p>
            <a:r>
              <a:rPr kumimoji="1" lang="en-US" altLang="ja-JP" sz="2800" dirty="0">
                <a:noFill/>
              </a:rPr>
              <a:t>2</a:t>
            </a:r>
            <a:endParaRPr kumimoji="1" lang="ja-JP" altLang="en-US" sz="2800" dirty="0">
              <a:noFill/>
            </a:endParaRPr>
          </a:p>
        </p:txBody>
      </p:sp>
      <p:sp>
        <p:nvSpPr>
          <p:cNvPr id="78" name="テキスト ボックス 77">
            <a:extLst>
              <a:ext uri="{FF2B5EF4-FFF2-40B4-BE49-F238E27FC236}">
                <a16:creationId xmlns:a16="http://schemas.microsoft.com/office/drawing/2014/main" id="{184200D5-2D21-8E32-2EF2-875F9DB2E063}"/>
              </a:ext>
            </a:extLst>
          </p:cNvPr>
          <p:cNvSpPr txBox="1"/>
          <p:nvPr/>
        </p:nvSpPr>
        <p:spPr>
          <a:xfrm>
            <a:off x="5483945" y="6566038"/>
            <a:ext cx="851647" cy="523220"/>
          </a:xfrm>
          <a:prstGeom prst="rect">
            <a:avLst/>
          </a:prstGeom>
          <a:noFill/>
        </p:spPr>
        <p:txBody>
          <a:bodyPr wrap="square" rtlCol="0">
            <a:spAutoFit/>
          </a:bodyPr>
          <a:lstStyle/>
          <a:p>
            <a:r>
              <a:rPr lang="en-US" altLang="ja-JP" sz="2800" dirty="0">
                <a:noFill/>
              </a:rPr>
              <a:t>―</a:t>
            </a:r>
            <a:endParaRPr kumimoji="1" lang="ja-JP" altLang="en-US" sz="2800" dirty="0">
              <a:noFill/>
            </a:endParaRPr>
          </a:p>
        </p:txBody>
      </p:sp>
      <p:sp>
        <p:nvSpPr>
          <p:cNvPr id="79" name="テキスト ボックス 78">
            <a:extLst>
              <a:ext uri="{FF2B5EF4-FFF2-40B4-BE49-F238E27FC236}">
                <a16:creationId xmlns:a16="http://schemas.microsoft.com/office/drawing/2014/main" id="{8E5F22F7-70B6-E7E5-E70F-FD1DF47195C2}"/>
              </a:ext>
            </a:extLst>
          </p:cNvPr>
          <p:cNvSpPr txBox="1"/>
          <p:nvPr/>
        </p:nvSpPr>
        <p:spPr>
          <a:xfrm>
            <a:off x="6276601" y="6566038"/>
            <a:ext cx="851647" cy="523220"/>
          </a:xfrm>
          <a:prstGeom prst="rect">
            <a:avLst/>
          </a:prstGeom>
          <a:noFill/>
        </p:spPr>
        <p:txBody>
          <a:bodyPr wrap="square" rtlCol="0">
            <a:spAutoFit/>
          </a:bodyPr>
          <a:lstStyle/>
          <a:p>
            <a:r>
              <a:rPr kumimoji="1" lang="en-US" altLang="ja-JP" sz="2800" dirty="0">
                <a:noFill/>
              </a:rPr>
              <a:t>―</a:t>
            </a:r>
            <a:endParaRPr kumimoji="1" lang="ja-JP" altLang="en-US" sz="2800" dirty="0">
              <a:noFill/>
            </a:endParaRPr>
          </a:p>
        </p:txBody>
      </p:sp>
      <p:sp>
        <p:nvSpPr>
          <p:cNvPr id="81" name="テキスト ボックス 80">
            <a:extLst>
              <a:ext uri="{FF2B5EF4-FFF2-40B4-BE49-F238E27FC236}">
                <a16:creationId xmlns:a16="http://schemas.microsoft.com/office/drawing/2014/main" id="{09BF87BC-85D6-6DAD-BB20-AA2C059CA625}"/>
              </a:ext>
            </a:extLst>
          </p:cNvPr>
          <p:cNvSpPr txBox="1"/>
          <p:nvPr/>
        </p:nvSpPr>
        <p:spPr>
          <a:xfrm>
            <a:off x="2820764" y="4404567"/>
            <a:ext cx="305817" cy="523220"/>
          </a:xfrm>
          <a:prstGeom prst="rect">
            <a:avLst/>
          </a:prstGeom>
          <a:noFill/>
        </p:spPr>
        <p:txBody>
          <a:bodyPr wrap="square">
            <a:spAutoFit/>
          </a:bodyPr>
          <a:lstStyle/>
          <a:p>
            <a:r>
              <a:rPr kumimoji="1" lang="en-US" altLang="ja-JP" sz="2800" dirty="0"/>
              <a:t>=</a:t>
            </a:r>
            <a:endParaRPr lang="ja-JP" altLang="en-US" sz="2800" dirty="0"/>
          </a:p>
        </p:txBody>
      </p:sp>
      <p:sp>
        <p:nvSpPr>
          <p:cNvPr id="84" name="テキスト ボックス 83">
            <a:extLst>
              <a:ext uri="{FF2B5EF4-FFF2-40B4-BE49-F238E27FC236}">
                <a16:creationId xmlns:a16="http://schemas.microsoft.com/office/drawing/2014/main" id="{FD1101A8-69EB-3D76-D71F-7F570CD0F6D1}"/>
              </a:ext>
            </a:extLst>
          </p:cNvPr>
          <p:cNvSpPr txBox="1"/>
          <p:nvPr/>
        </p:nvSpPr>
        <p:spPr>
          <a:xfrm>
            <a:off x="818849" y="3957968"/>
            <a:ext cx="911225" cy="523220"/>
          </a:xfrm>
          <a:prstGeom prst="rect">
            <a:avLst/>
          </a:prstGeom>
          <a:noFill/>
        </p:spPr>
        <p:txBody>
          <a:bodyPr wrap="square" rtlCol="0">
            <a:spAutoFit/>
          </a:bodyPr>
          <a:lstStyle/>
          <a:p>
            <a:r>
              <a:rPr kumimoji="1" lang="en-US" altLang="ja-JP" sz="2800" dirty="0"/>
              <a:t>90</a:t>
            </a:r>
            <a:endParaRPr kumimoji="1" lang="ja-JP" altLang="en-US" sz="2800" dirty="0"/>
          </a:p>
        </p:txBody>
      </p:sp>
      <p:sp>
        <p:nvSpPr>
          <p:cNvPr id="85" name="テキスト ボックス 84">
            <a:extLst>
              <a:ext uri="{FF2B5EF4-FFF2-40B4-BE49-F238E27FC236}">
                <a16:creationId xmlns:a16="http://schemas.microsoft.com/office/drawing/2014/main" id="{2CEDB57F-6710-B94F-A661-03FC9186889D}"/>
              </a:ext>
            </a:extLst>
          </p:cNvPr>
          <p:cNvSpPr txBox="1"/>
          <p:nvPr/>
        </p:nvSpPr>
        <p:spPr>
          <a:xfrm>
            <a:off x="1709349" y="3957068"/>
            <a:ext cx="911225" cy="523220"/>
          </a:xfrm>
          <a:prstGeom prst="rect">
            <a:avLst/>
          </a:prstGeom>
          <a:noFill/>
        </p:spPr>
        <p:txBody>
          <a:bodyPr wrap="square" rtlCol="0">
            <a:spAutoFit/>
          </a:bodyPr>
          <a:lstStyle/>
          <a:p>
            <a:r>
              <a:rPr kumimoji="1" lang="en-US" altLang="ja-JP" sz="2800" dirty="0"/>
              <a:t>53</a:t>
            </a:r>
            <a:endParaRPr kumimoji="1" lang="ja-JP" altLang="en-US" sz="2800" dirty="0"/>
          </a:p>
        </p:txBody>
      </p:sp>
      <p:sp>
        <p:nvSpPr>
          <p:cNvPr id="100" name="テキスト ボックス 99">
            <a:extLst>
              <a:ext uri="{FF2B5EF4-FFF2-40B4-BE49-F238E27FC236}">
                <a16:creationId xmlns:a16="http://schemas.microsoft.com/office/drawing/2014/main" id="{04EB1622-1E92-D614-0949-2364E40CE7D7}"/>
              </a:ext>
            </a:extLst>
          </p:cNvPr>
          <p:cNvSpPr txBox="1"/>
          <p:nvPr/>
        </p:nvSpPr>
        <p:spPr>
          <a:xfrm>
            <a:off x="818849" y="4065918"/>
            <a:ext cx="911225" cy="523220"/>
          </a:xfrm>
          <a:prstGeom prst="rect">
            <a:avLst/>
          </a:prstGeom>
          <a:noFill/>
        </p:spPr>
        <p:txBody>
          <a:bodyPr wrap="square" rtlCol="0">
            <a:spAutoFit/>
          </a:bodyPr>
          <a:lstStyle/>
          <a:p>
            <a:r>
              <a:rPr lang="en-US" altLang="ja-JP" sz="2800" dirty="0">
                <a:noFill/>
              </a:rPr>
              <a:t>60</a:t>
            </a:r>
            <a:endParaRPr kumimoji="1" lang="ja-JP" altLang="en-US" sz="2800" dirty="0">
              <a:noFill/>
            </a:endParaRPr>
          </a:p>
        </p:txBody>
      </p:sp>
      <p:sp>
        <p:nvSpPr>
          <p:cNvPr id="101" name="テキスト ボックス 100">
            <a:extLst>
              <a:ext uri="{FF2B5EF4-FFF2-40B4-BE49-F238E27FC236}">
                <a16:creationId xmlns:a16="http://schemas.microsoft.com/office/drawing/2014/main" id="{75797A50-CB56-BE84-6332-C99DDE6266C5}"/>
              </a:ext>
            </a:extLst>
          </p:cNvPr>
          <p:cNvSpPr txBox="1"/>
          <p:nvPr/>
        </p:nvSpPr>
        <p:spPr>
          <a:xfrm>
            <a:off x="3058250" y="4558577"/>
            <a:ext cx="911225" cy="523220"/>
          </a:xfrm>
          <a:prstGeom prst="rect">
            <a:avLst/>
          </a:prstGeom>
          <a:noFill/>
        </p:spPr>
        <p:txBody>
          <a:bodyPr wrap="square" rtlCol="0">
            <a:spAutoFit/>
          </a:bodyPr>
          <a:lstStyle/>
          <a:p>
            <a:r>
              <a:rPr kumimoji="1" lang="en-US" altLang="ja-JP" sz="2800" dirty="0">
                <a:noFill/>
              </a:rPr>
              <a:t>4.09</a:t>
            </a:r>
            <a:endParaRPr kumimoji="1" lang="ja-JP" altLang="en-US" sz="2800" dirty="0">
              <a:noFill/>
            </a:endParaRPr>
          </a:p>
        </p:txBody>
      </p:sp>
      <p:sp>
        <p:nvSpPr>
          <p:cNvPr id="102" name="テキスト ボックス 101">
            <a:extLst>
              <a:ext uri="{FF2B5EF4-FFF2-40B4-BE49-F238E27FC236}">
                <a16:creationId xmlns:a16="http://schemas.microsoft.com/office/drawing/2014/main" id="{18537298-3A8F-1E8B-607C-5EEDA35B3FAC}"/>
              </a:ext>
            </a:extLst>
          </p:cNvPr>
          <p:cNvSpPr txBox="1"/>
          <p:nvPr/>
        </p:nvSpPr>
        <p:spPr>
          <a:xfrm>
            <a:off x="2539821" y="4049006"/>
            <a:ext cx="911225" cy="523220"/>
          </a:xfrm>
          <a:prstGeom prst="rect">
            <a:avLst/>
          </a:prstGeom>
          <a:noFill/>
        </p:spPr>
        <p:txBody>
          <a:bodyPr wrap="square" rtlCol="0">
            <a:spAutoFit/>
          </a:bodyPr>
          <a:lstStyle/>
          <a:p>
            <a:r>
              <a:rPr lang="en-US" altLang="ja-JP" sz="2800" dirty="0">
                <a:noFill/>
              </a:rPr>
              <a:t>29°</a:t>
            </a:r>
            <a:endParaRPr kumimoji="1" lang="ja-JP" altLang="en-US" sz="2800" dirty="0">
              <a:noFill/>
            </a:endParaRPr>
          </a:p>
        </p:txBody>
      </p:sp>
      <p:sp>
        <p:nvSpPr>
          <p:cNvPr id="103" name="テキスト ボックス 102">
            <a:extLst>
              <a:ext uri="{FF2B5EF4-FFF2-40B4-BE49-F238E27FC236}">
                <a16:creationId xmlns:a16="http://schemas.microsoft.com/office/drawing/2014/main" id="{E67EA949-FAC6-81A6-B27D-1B063896D710}"/>
              </a:ext>
            </a:extLst>
          </p:cNvPr>
          <p:cNvSpPr txBox="1"/>
          <p:nvPr/>
        </p:nvSpPr>
        <p:spPr>
          <a:xfrm>
            <a:off x="3095625" y="3580661"/>
            <a:ext cx="911225" cy="523220"/>
          </a:xfrm>
          <a:prstGeom prst="rect">
            <a:avLst/>
          </a:prstGeom>
          <a:noFill/>
        </p:spPr>
        <p:txBody>
          <a:bodyPr wrap="square" rtlCol="0">
            <a:spAutoFit/>
          </a:bodyPr>
          <a:lstStyle/>
          <a:p>
            <a:r>
              <a:rPr lang="en-US" altLang="ja-JP" sz="2800" dirty="0">
                <a:noFill/>
              </a:rPr>
              <a:t>31</a:t>
            </a:r>
            <a:r>
              <a:rPr kumimoji="1" lang="en-US" altLang="ja-JP" sz="2800" dirty="0">
                <a:noFill/>
              </a:rPr>
              <a:t>°</a:t>
            </a:r>
            <a:endParaRPr kumimoji="1" lang="ja-JP" altLang="en-US" sz="2800" dirty="0">
              <a:noFill/>
            </a:endParaRPr>
          </a:p>
        </p:txBody>
      </p:sp>
      <p:sp>
        <p:nvSpPr>
          <p:cNvPr id="104" name="テキスト ボックス 103">
            <a:extLst>
              <a:ext uri="{FF2B5EF4-FFF2-40B4-BE49-F238E27FC236}">
                <a16:creationId xmlns:a16="http://schemas.microsoft.com/office/drawing/2014/main" id="{A9844BBA-1317-6A6C-684B-257F1682ACBE}"/>
              </a:ext>
            </a:extLst>
          </p:cNvPr>
          <p:cNvSpPr txBox="1"/>
          <p:nvPr/>
        </p:nvSpPr>
        <p:spPr>
          <a:xfrm>
            <a:off x="1709349" y="4068193"/>
            <a:ext cx="911225" cy="523220"/>
          </a:xfrm>
          <a:prstGeom prst="rect">
            <a:avLst/>
          </a:prstGeom>
          <a:noFill/>
        </p:spPr>
        <p:txBody>
          <a:bodyPr wrap="square" rtlCol="0">
            <a:spAutoFit/>
          </a:bodyPr>
          <a:lstStyle/>
          <a:p>
            <a:r>
              <a:rPr lang="en-US" altLang="ja-JP" sz="2800" dirty="0">
                <a:noFill/>
              </a:rPr>
              <a:t>31</a:t>
            </a:r>
            <a:endParaRPr kumimoji="1" lang="ja-JP" altLang="en-US" sz="2800" dirty="0">
              <a:noFill/>
            </a:endParaRPr>
          </a:p>
        </p:txBody>
      </p:sp>
      <p:sp>
        <p:nvSpPr>
          <p:cNvPr id="105" name="テキスト ボックス 104">
            <a:extLst>
              <a:ext uri="{FF2B5EF4-FFF2-40B4-BE49-F238E27FC236}">
                <a16:creationId xmlns:a16="http://schemas.microsoft.com/office/drawing/2014/main" id="{99DA6690-2A34-55F9-4187-61D9F28C0A9B}"/>
              </a:ext>
            </a:extLst>
          </p:cNvPr>
          <p:cNvSpPr txBox="1"/>
          <p:nvPr/>
        </p:nvSpPr>
        <p:spPr>
          <a:xfrm>
            <a:off x="2820762" y="4399798"/>
            <a:ext cx="305817" cy="523220"/>
          </a:xfrm>
          <a:prstGeom prst="rect">
            <a:avLst/>
          </a:prstGeom>
          <a:noFill/>
        </p:spPr>
        <p:txBody>
          <a:bodyPr wrap="square">
            <a:spAutoFit/>
          </a:bodyPr>
          <a:lstStyle/>
          <a:p>
            <a:r>
              <a:rPr lang="ja-JP" altLang="en-US" sz="2800" dirty="0">
                <a:noFill/>
              </a:rPr>
              <a:t>≈</a:t>
            </a:r>
          </a:p>
        </p:txBody>
      </p:sp>
    </p:spTree>
    <p:extLst>
      <p:ext uri="{BB962C8B-B14F-4D97-AF65-F5344CB8AC3E}">
        <p14:creationId xmlns:p14="http://schemas.microsoft.com/office/powerpoint/2010/main" val="369552896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9BF11-F50D-CB66-3C0B-76BD63F75D59}"/>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8875E2C9-A42A-7EFE-1BEC-D1A3CEAD1A88}"/>
              </a:ext>
            </a:extLst>
          </p:cNvPr>
          <p:cNvSpPr/>
          <p:nvPr/>
        </p:nvSpPr>
        <p:spPr>
          <a:xfrm>
            <a:off x="3046801"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59819914-3B14-DCF0-6DAF-D8D5E606BD60}"/>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B4C3FCC3-98A5-AC18-4F71-CF112F18F389}"/>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bg1"/>
                </a:solidFill>
              </a:rPr>
              <a:t>システム要件</a:t>
            </a:r>
          </a:p>
        </p:txBody>
      </p:sp>
      <p:sp>
        <p:nvSpPr>
          <p:cNvPr id="11" name="四角形: 角を丸くする 10">
            <a:extLst>
              <a:ext uri="{FF2B5EF4-FFF2-40B4-BE49-F238E27FC236}">
                <a16:creationId xmlns:a16="http://schemas.microsoft.com/office/drawing/2014/main" id="{46414A7C-55BB-CB43-DD00-DFF4159F820F}"/>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C229B12A-60E2-C639-E5A6-3A04554184AE}"/>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t>プログラム説明</a:t>
            </a:r>
            <a:endParaRPr kumimoji="1" lang="ja-JP" altLang="en-US" sz="2400" dirty="0"/>
          </a:p>
        </p:txBody>
      </p:sp>
      <p:sp>
        <p:nvSpPr>
          <p:cNvPr id="7" name="テキスト ボックス 6">
            <a:extLst>
              <a:ext uri="{FF2B5EF4-FFF2-40B4-BE49-F238E27FC236}">
                <a16:creationId xmlns:a16="http://schemas.microsoft.com/office/drawing/2014/main" id="{75AA24D8-457C-06BE-5245-7877AD43F250}"/>
              </a:ext>
            </a:extLst>
          </p:cNvPr>
          <p:cNvSpPr txBox="1"/>
          <p:nvPr/>
        </p:nvSpPr>
        <p:spPr>
          <a:xfrm>
            <a:off x="771525" y="1171575"/>
            <a:ext cx="2275276" cy="584775"/>
          </a:xfrm>
          <a:prstGeom prst="rect">
            <a:avLst/>
          </a:prstGeom>
          <a:noFill/>
        </p:spPr>
        <p:txBody>
          <a:bodyPr wrap="square" rtlCol="0">
            <a:spAutoFit/>
          </a:bodyPr>
          <a:lstStyle/>
          <a:p>
            <a:r>
              <a:rPr lang="ja-JP" altLang="en-US" sz="3200" dirty="0"/>
              <a:t>移動制御</a:t>
            </a:r>
            <a:endParaRPr kumimoji="1" lang="ja-JP" altLang="en-US" sz="3200" dirty="0"/>
          </a:p>
        </p:txBody>
      </p:sp>
      <p:sp>
        <p:nvSpPr>
          <p:cNvPr id="10" name="テキスト ボックス 9">
            <a:extLst>
              <a:ext uri="{FF2B5EF4-FFF2-40B4-BE49-F238E27FC236}">
                <a16:creationId xmlns:a16="http://schemas.microsoft.com/office/drawing/2014/main" id="{37934FA5-1C32-A088-CBC9-0080A71E4532}"/>
              </a:ext>
            </a:extLst>
          </p:cNvPr>
          <p:cNvSpPr txBox="1"/>
          <p:nvPr/>
        </p:nvSpPr>
        <p:spPr>
          <a:xfrm>
            <a:off x="1238250" y="1755127"/>
            <a:ext cx="10953750" cy="461665"/>
          </a:xfrm>
          <a:prstGeom prst="rect">
            <a:avLst/>
          </a:prstGeom>
          <a:noFill/>
        </p:spPr>
        <p:txBody>
          <a:bodyPr wrap="square" rtlCol="0">
            <a:spAutoFit/>
          </a:bodyPr>
          <a:lstStyle/>
          <a:p>
            <a:r>
              <a:rPr lang="en-US" altLang="ja-JP" sz="2400" dirty="0"/>
              <a:t>“</a:t>
            </a:r>
            <a:r>
              <a:rPr lang="ja-JP" altLang="en-US" sz="2400" dirty="0"/>
              <a:t>向き</a:t>
            </a:r>
            <a:r>
              <a:rPr lang="en-US" altLang="ja-JP" sz="2400" dirty="0"/>
              <a:t>”</a:t>
            </a:r>
            <a:r>
              <a:rPr lang="ja-JP" altLang="en-US" sz="2400" dirty="0"/>
              <a:t>と</a:t>
            </a:r>
            <a:r>
              <a:rPr lang="en-US" altLang="ja-JP" sz="2400" dirty="0"/>
              <a:t>”</a:t>
            </a:r>
            <a:r>
              <a:rPr lang="ja-JP" altLang="en-US" sz="2400" dirty="0"/>
              <a:t>歩数</a:t>
            </a:r>
            <a:r>
              <a:rPr lang="en-US" altLang="ja-JP" sz="2400" dirty="0"/>
              <a:t>”</a:t>
            </a:r>
            <a:r>
              <a:rPr lang="ja-JP" altLang="en-US" sz="2400" dirty="0"/>
              <a:t>による自己位置推定と、目標座標への移動量計算</a:t>
            </a:r>
            <a:endParaRPr lang="en-US" altLang="ja-JP" sz="2400" dirty="0"/>
          </a:p>
        </p:txBody>
      </p:sp>
      <p:cxnSp>
        <p:nvCxnSpPr>
          <p:cNvPr id="5" name="直線コネクタ 4">
            <a:extLst>
              <a:ext uri="{FF2B5EF4-FFF2-40B4-BE49-F238E27FC236}">
                <a16:creationId xmlns:a16="http://schemas.microsoft.com/office/drawing/2014/main" id="{AA71B397-15A2-F93C-6B1C-36B85CE90210}"/>
              </a:ext>
            </a:extLst>
          </p:cNvPr>
          <p:cNvCxnSpPr/>
          <p:nvPr/>
        </p:nvCxnSpPr>
        <p:spPr>
          <a:xfrm>
            <a:off x="7344629" y="4124790"/>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 name="直線矢印コネクタ 2">
            <a:extLst>
              <a:ext uri="{FF2B5EF4-FFF2-40B4-BE49-F238E27FC236}">
                <a16:creationId xmlns:a16="http://schemas.microsoft.com/office/drawing/2014/main" id="{DE036766-FA3C-A1FB-1211-CA1F9FEC2416}"/>
              </a:ext>
            </a:extLst>
          </p:cNvPr>
          <p:cNvCxnSpPr/>
          <p:nvPr/>
        </p:nvCxnSpPr>
        <p:spPr>
          <a:xfrm>
            <a:off x="7344629" y="4482990"/>
            <a:ext cx="360000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 name="直線コネクタ 7">
            <a:extLst>
              <a:ext uri="{FF2B5EF4-FFF2-40B4-BE49-F238E27FC236}">
                <a16:creationId xmlns:a16="http://schemas.microsoft.com/office/drawing/2014/main" id="{2FE76902-4E44-A86F-C381-861E0601E24C}"/>
              </a:ext>
            </a:extLst>
          </p:cNvPr>
          <p:cNvCxnSpPr/>
          <p:nvPr/>
        </p:nvCxnSpPr>
        <p:spPr>
          <a:xfrm>
            <a:off x="7344629" y="3764790"/>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4" name="直線矢印コネクタ 3">
            <a:extLst>
              <a:ext uri="{FF2B5EF4-FFF2-40B4-BE49-F238E27FC236}">
                <a16:creationId xmlns:a16="http://schemas.microsoft.com/office/drawing/2014/main" id="{699F5833-4D0B-1983-1FA3-5EDB03201652}"/>
              </a:ext>
            </a:extLst>
          </p:cNvPr>
          <p:cNvCxnSpPr>
            <a:cxnSpLocks/>
          </p:cNvCxnSpPr>
          <p:nvPr/>
        </p:nvCxnSpPr>
        <p:spPr>
          <a:xfrm rot="10800000">
            <a:off x="9146141" y="2682990"/>
            <a:ext cx="0" cy="360000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 name="直線矢印コネクタ 5">
            <a:extLst>
              <a:ext uri="{FF2B5EF4-FFF2-40B4-BE49-F238E27FC236}">
                <a16:creationId xmlns:a16="http://schemas.microsoft.com/office/drawing/2014/main" id="{D2E60A51-22AD-EC7B-8838-B48E54B9C469}"/>
              </a:ext>
            </a:extLst>
          </p:cNvPr>
          <p:cNvCxnSpPr/>
          <p:nvPr/>
        </p:nvCxnSpPr>
        <p:spPr>
          <a:xfrm>
            <a:off x="7346141" y="3404790"/>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16" name="直線矢印コネクタ 15">
            <a:extLst>
              <a:ext uri="{FF2B5EF4-FFF2-40B4-BE49-F238E27FC236}">
                <a16:creationId xmlns:a16="http://schemas.microsoft.com/office/drawing/2014/main" id="{18BA6999-C0F7-E7F9-7841-20F94A96A12A}"/>
              </a:ext>
            </a:extLst>
          </p:cNvPr>
          <p:cNvCxnSpPr/>
          <p:nvPr/>
        </p:nvCxnSpPr>
        <p:spPr>
          <a:xfrm>
            <a:off x="7346141" y="3044790"/>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17" name="直線コネクタ 16">
            <a:extLst>
              <a:ext uri="{FF2B5EF4-FFF2-40B4-BE49-F238E27FC236}">
                <a16:creationId xmlns:a16="http://schemas.microsoft.com/office/drawing/2014/main" id="{40BA6E31-4EBE-D4D3-4BA9-B6AF091EE758}"/>
              </a:ext>
            </a:extLst>
          </p:cNvPr>
          <p:cNvCxnSpPr/>
          <p:nvPr/>
        </p:nvCxnSpPr>
        <p:spPr>
          <a:xfrm>
            <a:off x="7344629" y="5882153"/>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8225FCCE-54B1-88F5-B28B-679D9466FC96}"/>
              </a:ext>
            </a:extLst>
          </p:cNvPr>
          <p:cNvCxnSpPr/>
          <p:nvPr/>
        </p:nvCxnSpPr>
        <p:spPr>
          <a:xfrm>
            <a:off x="7344629" y="5522153"/>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9" name="直線矢印コネクタ 18">
            <a:extLst>
              <a:ext uri="{FF2B5EF4-FFF2-40B4-BE49-F238E27FC236}">
                <a16:creationId xmlns:a16="http://schemas.microsoft.com/office/drawing/2014/main" id="{0D226E2F-3448-91FD-7153-9B76C750B4F8}"/>
              </a:ext>
            </a:extLst>
          </p:cNvPr>
          <p:cNvCxnSpPr/>
          <p:nvPr/>
        </p:nvCxnSpPr>
        <p:spPr>
          <a:xfrm>
            <a:off x="7346141" y="5162153"/>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20" name="直線矢印コネクタ 19">
            <a:extLst>
              <a:ext uri="{FF2B5EF4-FFF2-40B4-BE49-F238E27FC236}">
                <a16:creationId xmlns:a16="http://schemas.microsoft.com/office/drawing/2014/main" id="{1146769D-8C35-57E5-473D-C89213E810DF}"/>
              </a:ext>
            </a:extLst>
          </p:cNvPr>
          <p:cNvCxnSpPr/>
          <p:nvPr/>
        </p:nvCxnSpPr>
        <p:spPr>
          <a:xfrm>
            <a:off x="7346141" y="4802153"/>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29" name="直線コネクタ 28">
            <a:extLst>
              <a:ext uri="{FF2B5EF4-FFF2-40B4-BE49-F238E27FC236}">
                <a16:creationId xmlns:a16="http://schemas.microsoft.com/office/drawing/2014/main" id="{B8E367D4-89FF-7749-95B9-9E7AA5FB0CBD}"/>
              </a:ext>
            </a:extLst>
          </p:cNvPr>
          <p:cNvCxnSpPr/>
          <p:nvPr/>
        </p:nvCxnSpPr>
        <p:spPr>
          <a:xfrm>
            <a:off x="878614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F3030979-37EC-9D68-C44F-892E841FD014}"/>
              </a:ext>
            </a:extLst>
          </p:cNvPr>
          <p:cNvCxnSpPr/>
          <p:nvPr/>
        </p:nvCxnSpPr>
        <p:spPr>
          <a:xfrm>
            <a:off x="842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DDD289F6-41D5-E42B-1D69-902D48666275}"/>
              </a:ext>
            </a:extLst>
          </p:cNvPr>
          <p:cNvCxnSpPr/>
          <p:nvPr/>
        </p:nvCxnSpPr>
        <p:spPr>
          <a:xfrm>
            <a:off x="806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4" name="直線コネクタ 33">
            <a:extLst>
              <a:ext uri="{FF2B5EF4-FFF2-40B4-BE49-F238E27FC236}">
                <a16:creationId xmlns:a16="http://schemas.microsoft.com/office/drawing/2014/main" id="{4C6F3858-A6E9-02C9-F72D-0F3D13E0D8EB}"/>
              </a:ext>
            </a:extLst>
          </p:cNvPr>
          <p:cNvCxnSpPr/>
          <p:nvPr/>
        </p:nvCxnSpPr>
        <p:spPr>
          <a:xfrm>
            <a:off x="770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5" name="直線コネクタ 34">
            <a:extLst>
              <a:ext uri="{FF2B5EF4-FFF2-40B4-BE49-F238E27FC236}">
                <a16:creationId xmlns:a16="http://schemas.microsoft.com/office/drawing/2014/main" id="{F72DECB6-C88B-A14B-48B2-22E0F11F99D7}"/>
              </a:ext>
            </a:extLst>
          </p:cNvPr>
          <p:cNvCxnSpPr/>
          <p:nvPr/>
        </p:nvCxnSpPr>
        <p:spPr>
          <a:xfrm>
            <a:off x="10599701" y="2681188"/>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6" name="直線コネクタ 35">
            <a:extLst>
              <a:ext uri="{FF2B5EF4-FFF2-40B4-BE49-F238E27FC236}">
                <a16:creationId xmlns:a16="http://schemas.microsoft.com/office/drawing/2014/main" id="{C2C56226-758D-B64F-657E-A693945D1261}"/>
              </a:ext>
            </a:extLst>
          </p:cNvPr>
          <p:cNvCxnSpPr/>
          <p:nvPr/>
        </p:nvCxnSpPr>
        <p:spPr>
          <a:xfrm>
            <a:off x="1023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7" name="直線コネクタ 36">
            <a:extLst>
              <a:ext uri="{FF2B5EF4-FFF2-40B4-BE49-F238E27FC236}">
                <a16:creationId xmlns:a16="http://schemas.microsoft.com/office/drawing/2014/main" id="{512BC7CC-7258-D612-0220-9C65BF2DE5CF}"/>
              </a:ext>
            </a:extLst>
          </p:cNvPr>
          <p:cNvCxnSpPr/>
          <p:nvPr/>
        </p:nvCxnSpPr>
        <p:spPr>
          <a:xfrm>
            <a:off x="987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8" name="直線コネクタ 37">
            <a:extLst>
              <a:ext uri="{FF2B5EF4-FFF2-40B4-BE49-F238E27FC236}">
                <a16:creationId xmlns:a16="http://schemas.microsoft.com/office/drawing/2014/main" id="{2482DEB3-F765-7E52-7F91-0AC2F52B9712}"/>
              </a:ext>
            </a:extLst>
          </p:cNvPr>
          <p:cNvCxnSpPr/>
          <p:nvPr/>
        </p:nvCxnSpPr>
        <p:spPr>
          <a:xfrm>
            <a:off x="951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sp>
        <p:nvSpPr>
          <p:cNvPr id="39" name="テキスト ボックス 38">
            <a:extLst>
              <a:ext uri="{FF2B5EF4-FFF2-40B4-BE49-F238E27FC236}">
                <a16:creationId xmlns:a16="http://schemas.microsoft.com/office/drawing/2014/main" id="{70B9B2E7-2139-5496-E056-C6E51B417EC5}"/>
              </a:ext>
            </a:extLst>
          </p:cNvPr>
          <p:cNvSpPr txBox="1"/>
          <p:nvPr/>
        </p:nvSpPr>
        <p:spPr>
          <a:xfrm>
            <a:off x="10878514" y="4157185"/>
            <a:ext cx="267345" cy="584775"/>
          </a:xfrm>
          <a:prstGeom prst="rect">
            <a:avLst/>
          </a:prstGeom>
          <a:noFill/>
        </p:spPr>
        <p:txBody>
          <a:bodyPr wrap="square" rtlCol="0" anchor="t">
            <a:spAutoFit/>
          </a:bodyPr>
          <a:lstStyle/>
          <a:p>
            <a:r>
              <a:rPr kumimoji="1" lang="en-US" altLang="ja-JP" sz="3200" b="1" dirty="0">
                <a:latin typeface="Gigi" panose="04040504060007020D02" pitchFamily="82" charset="0"/>
              </a:rPr>
              <a:t>x</a:t>
            </a:r>
            <a:endParaRPr kumimoji="1" lang="ja-JP" altLang="en-US" sz="3200" b="1" dirty="0">
              <a:latin typeface="Gigi" panose="04040504060007020D02" pitchFamily="82" charset="0"/>
            </a:endParaRPr>
          </a:p>
        </p:txBody>
      </p:sp>
      <p:sp>
        <p:nvSpPr>
          <p:cNvPr id="40" name="テキスト ボックス 39">
            <a:extLst>
              <a:ext uri="{FF2B5EF4-FFF2-40B4-BE49-F238E27FC236}">
                <a16:creationId xmlns:a16="http://schemas.microsoft.com/office/drawing/2014/main" id="{886AC388-96BC-986A-6D6D-49BB53C0D8C7}"/>
              </a:ext>
            </a:extLst>
          </p:cNvPr>
          <p:cNvSpPr txBox="1"/>
          <p:nvPr/>
        </p:nvSpPr>
        <p:spPr>
          <a:xfrm>
            <a:off x="8930273" y="2116703"/>
            <a:ext cx="267345" cy="584775"/>
          </a:xfrm>
          <a:prstGeom prst="rect">
            <a:avLst/>
          </a:prstGeom>
          <a:noFill/>
        </p:spPr>
        <p:txBody>
          <a:bodyPr wrap="square" rtlCol="0">
            <a:spAutoFit/>
          </a:bodyPr>
          <a:lstStyle/>
          <a:p>
            <a:r>
              <a:rPr lang="en-US" altLang="ja-JP" sz="3200" b="1" dirty="0">
                <a:latin typeface="Gigi" panose="04040504060007020D02" pitchFamily="82" charset="0"/>
              </a:rPr>
              <a:t>y</a:t>
            </a:r>
            <a:endParaRPr kumimoji="1" lang="ja-JP" altLang="en-US" sz="3200" b="1" dirty="0">
              <a:latin typeface="Gigi" panose="04040504060007020D02" pitchFamily="82" charset="0"/>
            </a:endParaRPr>
          </a:p>
        </p:txBody>
      </p:sp>
      <p:sp>
        <p:nvSpPr>
          <p:cNvPr id="41" name="テキスト ボックス 40">
            <a:extLst>
              <a:ext uri="{FF2B5EF4-FFF2-40B4-BE49-F238E27FC236}">
                <a16:creationId xmlns:a16="http://schemas.microsoft.com/office/drawing/2014/main" id="{55A17A5E-CC55-573A-F1C4-9EF5C4040A81}"/>
              </a:ext>
            </a:extLst>
          </p:cNvPr>
          <p:cNvSpPr txBox="1"/>
          <p:nvPr/>
        </p:nvSpPr>
        <p:spPr>
          <a:xfrm>
            <a:off x="9109438" y="2161962"/>
            <a:ext cx="1020485" cy="523220"/>
          </a:xfrm>
          <a:prstGeom prst="rect">
            <a:avLst/>
          </a:prstGeom>
          <a:noFill/>
        </p:spPr>
        <p:txBody>
          <a:bodyPr wrap="square" rtlCol="0">
            <a:spAutoFit/>
          </a:bodyPr>
          <a:lstStyle/>
          <a:p>
            <a:pPr algn="ctr"/>
            <a:r>
              <a:rPr kumimoji="1" lang="en-US" altLang="ja-JP" sz="2800" dirty="0"/>
              <a:t>90°</a:t>
            </a:r>
            <a:endParaRPr kumimoji="1" lang="ja-JP" altLang="en-US" sz="2800" dirty="0"/>
          </a:p>
        </p:txBody>
      </p:sp>
      <p:sp>
        <p:nvSpPr>
          <p:cNvPr id="42" name="テキスト ボックス 41">
            <a:extLst>
              <a:ext uri="{FF2B5EF4-FFF2-40B4-BE49-F238E27FC236}">
                <a16:creationId xmlns:a16="http://schemas.microsoft.com/office/drawing/2014/main" id="{C34F5720-7E76-93DE-D06C-8EB5F6BBF213}"/>
              </a:ext>
            </a:extLst>
          </p:cNvPr>
          <p:cNvSpPr txBox="1"/>
          <p:nvPr/>
        </p:nvSpPr>
        <p:spPr>
          <a:xfrm>
            <a:off x="11144105" y="4233942"/>
            <a:ext cx="1020485" cy="830997"/>
          </a:xfrm>
          <a:prstGeom prst="rect">
            <a:avLst/>
          </a:prstGeom>
          <a:noFill/>
        </p:spPr>
        <p:txBody>
          <a:bodyPr wrap="square" rtlCol="0">
            <a:spAutoFit/>
          </a:bodyPr>
          <a:lstStyle/>
          <a:p>
            <a:r>
              <a:rPr kumimoji="1" lang="en-US" altLang="ja-JP" sz="2800" dirty="0"/>
              <a:t> 0°</a:t>
            </a:r>
          </a:p>
          <a:p>
            <a:r>
              <a:rPr lang="en-US" altLang="ja-JP" sz="2000" dirty="0"/>
              <a:t>(360°)</a:t>
            </a:r>
            <a:endParaRPr kumimoji="1" lang="ja-JP" altLang="en-US" sz="2000" dirty="0"/>
          </a:p>
        </p:txBody>
      </p:sp>
      <p:sp>
        <p:nvSpPr>
          <p:cNvPr id="43" name="テキスト ボックス 42">
            <a:extLst>
              <a:ext uri="{FF2B5EF4-FFF2-40B4-BE49-F238E27FC236}">
                <a16:creationId xmlns:a16="http://schemas.microsoft.com/office/drawing/2014/main" id="{696222BD-AF76-46E9-3E72-A1D8EF344BDB}"/>
              </a:ext>
            </a:extLst>
          </p:cNvPr>
          <p:cNvSpPr txBox="1"/>
          <p:nvPr/>
        </p:nvSpPr>
        <p:spPr>
          <a:xfrm>
            <a:off x="8714717" y="6340542"/>
            <a:ext cx="1020485" cy="523220"/>
          </a:xfrm>
          <a:prstGeom prst="rect">
            <a:avLst/>
          </a:prstGeom>
          <a:noFill/>
        </p:spPr>
        <p:txBody>
          <a:bodyPr wrap="square" rtlCol="0">
            <a:spAutoFit/>
          </a:bodyPr>
          <a:lstStyle/>
          <a:p>
            <a:pPr algn="ctr"/>
            <a:r>
              <a:rPr lang="en-US" altLang="ja-JP" sz="2800" dirty="0"/>
              <a:t>270</a:t>
            </a:r>
            <a:r>
              <a:rPr kumimoji="1" lang="en-US" altLang="ja-JP" sz="2800" dirty="0"/>
              <a:t>°</a:t>
            </a:r>
            <a:endParaRPr kumimoji="1" lang="ja-JP" altLang="en-US" sz="2800" dirty="0"/>
          </a:p>
        </p:txBody>
      </p:sp>
      <p:sp>
        <p:nvSpPr>
          <p:cNvPr id="44" name="テキスト ボックス 43">
            <a:extLst>
              <a:ext uri="{FF2B5EF4-FFF2-40B4-BE49-F238E27FC236}">
                <a16:creationId xmlns:a16="http://schemas.microsoft.com/office/drawing/2014/main" id="{F6B6C4CE-A11A-2588-7B12-1F3FFEB776AF}"/>
              </a:ext>
            </a:extLst>
          </p:cNvPr>
          <p:cNvSpPr txBox="1"/>
          <p:nvPr/>
        </p:nvSpPr>
        <p:spPr>
          <a:xfrm>
            <a:off x="6387152" y="4232640"/>
            <a:ext cx="1020485" cy="523220"/>
          </a:xfrm>
          <a:prstGeom prst="rect">
            <a:avLst/>
          </a:prstGeom>
          <a:noFill/>
        </p:spPr>
        <p:txBody>
          <a:bodyPr wrap="square" rtlCol="0">
            <a:spAutoFit/>
          </a:bodyPr>
          <a:lstStyle/>
          <a:p>
            <a:pPr algn="ctr"/>
            <a:r>
              <a:rPr lang="en-US" altLang="ja-JP" sz="2800" dirty="0"/>
              <a:t>18</a:t>
            </a:r>
            <a:r>
              <a:rPr kumimoji="1" lang="en-US" altLang="ja-JP" sz="2800" dirty="0"/>
              <a:t>0°</a:t>
            </a:r>
            <a:endParaRPr kumimoji="1" lang="ja-JP" altLang="en-US" sz="2800" dirty="0"/>
          </a:p>
        </p:txBody>
      </p:sp>
      <p:sp>
        <p:nvSpPr>
          <p:cNvPr id="48" name="テキスト ボックス 47">
            <a:extLst>
              <a:ext uri="{FF2B5EF4-FFF2-40B4-BE49-F238E27FC236}">
                <a16:creationId xmlns:a16="http://schemas.microsoft.com/office/drawing/2014/main" id="{58634699-47A8-21CB-974C-D876B21D6CAA}"/>
              </a:ext>
            </a:extLst>
          </p:cNvPr>
          <p:cNvSpPr txBox="1"/>
          <p:nvPr/>
        </p:nvSpPr>
        <p:spPr>
          <a:xfrm>
            <a:off x="5001795" y="6143763"/>
            <a:ext cx="281490" cy="523220"/>
          </a:xfrm>
          <a:prstGeom prst="rect">
            <a:avLst/>
          </a:prstGeom>
          <a:noFill/>
        </p:spPr>
        <p:txBody>
          <a:bodyPr wrap="square" rtlCol="0">
            <a:spAutoFit/>
          </a:bodyPr>
          <a:lstStyle/>
          <a:p>
            <a:r>
              <a:rPr lang="en-US" altLang="ja-JP" sz="2800" dirty="0"/>
              <a:t>(</a:t>
            </a:r>
            <a:endParaRPr kumimoji="1" lang="ja-JP" altLang="en-US" sz="2800" dirty="0"/>
          </a:p>
        </p:txBody>
      </p:sp>
      <p:sp>
        <p:nvSpPr>
          <p:cNvPr id="52" name="テキスト ボックス 51">
            <a:extLst>
              <a:ext uri="{FF2B5EF4-FFF2-40B4-BE49-F238E27FC236}">
                <a16:creationId xmlns:a16="http://schemas.microsoft.com/office/drawing/2014/main" id="{EC8C1A11-CF99-8E29-0BCD-AFD01931E709}"/>
              </a:ext>
            </a:extLst>
          </p:cNvPr>
          <p:cNvSpPr txBox="1"/>
          <p:nvPr/>
        </p:nvSpPr>
        <p:spPr>
          <a:xfrm>
            <a:off x="6691092" y="6143763"/>
            <a:ext cx="281490" cy="523220"/>
          </a:xfrm>
          <a:prstGeom prst="rect">
            <a:avLst/>
          </a:prstGeom>
          <a:noFill/>
        </p:spPr>
        <p:txBody>
          <a:bodyPr wrap="square" rtlCol="0">
            <a:spAutoFit/>
          </a:bodyPr>
          <a:lstStyle/>
          <a:p>
            <a:r>
              <a:rPr kumimoji="1" lang="en-US" altLang="ja-JP" sz="2800" dirty="0"/>
              <a:t>)</a:t>
            </a:r>
            <a:endParaRPr kumimoji="1" lang="ja-JP" altLang="en-US" sz="2800" dirty="0"/>
          </a:p>
        </p:txBody>
      </p:sp>
      <p:sp>
        <p:nvSpPr>
          <p:cNvPr id="56" name="テキスト ボックス 55">
            <a:extLst>
              <a:ext uri="{FF2B5EF4-FFF2-40B4-BE49-F238E27FC236}">
                <a16:creationId xmlns:a16="http://schemas.microsoft.com/office/drawing/2014/main" id="{60DAE5FA-99E4-BAC9-4E27-3CC5C093AE22}"/>
              </a:ext>
            </a:extLst>
          </p:cNvPr>
          <p:cNvSpPr txBox="1"/>
          <p:nvPr/>
        </p:nvSpPr>
        <p:spPr>
          <a:xfrm>
            <a:off x="5962379" y="6143763"/>
            <a:ext cx="281490" cy="523220"/>
          </a:xfrm>
          <a:prstGeom prst="rect">
            <a:avLst/>
          </a:prstGeom>
          <a:noFill/>
        </p:spPr>
        <p:txBody>
          <a:bodyPr wrap="square" rtlCol="0">
            <a:spAutoFit/>
          </a:bodyPr>
          <a:lstStyle/>
          <a:p>
            <a:r>
              <a:rPr lang="en-US" altLang="ja-JP" sz="2800" dirty="0"/>
              <a:t>,</a:t>
            </a:r>
          </a:p>
        </p:txBody>
      </p:sp>
      <p:sp>
        <p:nvSpPr>
          <p:cNvPr id="46" name="テキスト ボックス 45">
            <a:extLst>
              <a:ext uri="{FF2B5EF4-FFF2-40B4-BE49-F238E27FC236}">
                <a16:creationId xmlns:a16="http://schemas.microsoft.com/office/drawing/2014/main" id="{51B44ABB-8F5B-6655-784E-93B328E90DB6}"/>
              </a:ext>
            </a:extLst>
          </p:cNvPr>
          <p:cNvSpPr txBox="1"/>
          <p:nvPr/>
        </p:nvSpPr>
        <p:spPr>
          <a:xfrm>
            <a:off x="5496645" y="5905638"/>
            <a:ext cx="851647" cy="954107"/>
          </a:xfrm>
          <a:prstGeom prst="rect">
            <a:avLst/>
          </a:prstGeom>
          <a:noFill/>
        </p:spPr>
        <p:txBody>
          <a:bodyPr wrap="square" rtlCol="0">
            <a:spAutoFit/>
          </a:bodyPr>
          <a:lstStyle/>
          <a:p>
            <a:r>
              <a:rPr kumimoji="1" lang="en-US" altLang="ja-JP" sz="2800" dirty="0"/>
              <a:t>1</a:t>
            </a:r>
          </a:p>
          <a:p>
            <a:r>
              <a:rPr kumimoji="1" lang="en-US" altLang="ja-JP" sz="2800" dirty="0"/>
              <a:t>2</a:t>
            </a:r>
            <a:endParaRPr kumimoji="1" lang="ja-JP" altLang="en-US" sz="2800" dirty="0"/>
          </a:p>
        </p:txBody>
      </p:sp>
      <p:sp>
        <p:nvSpPr>
          <p:cNvPr id="47" name="テキスト ボックス 46">
            <a:extLst>
              <a:ext uri="{FF2B5EF4-FFF2-40B4-BE49-F238E27FC236}">
                <a16:creationId xmlns:a16="http://schemas.microsoft.com/office/drawing/2014/main" id="{CD3EA2B9-EBFB-3E56-B4B5-DB835E12AA8A}"/>
              </a:ext>
            </a:extLst>
          </p:cNvPr>
          <p:cNvSpPr txBox="1"/>
          <p:nvPr/>
        </p:nvSpPr>
        <p:spPr>
          <a:xfrm>
            <a:off x="6289301" y="5905638"/>
            <a:ext cx="851647" cy="954107"/>
          </a:xfrm>
          <a:prstGeom prst="rect">
            <a:avLst/>
          </a:prstGeom>
          <a:noFill/>
        </p:spPr>
        <p:txBody>
          <a:bodyPr wrap="square" rtlCol="0">
            <a:spAutoFit/>
          </a:bodyPr>
          <a:lstStyle/>
          <a:p>
            <a:r>
              <a:rPr lang="ja-JP" altLang="en-US" sz="2800" dirty="0"/>
              <a:t>√</a:t>
            </a:r>
            <a:r>
              <a:rPr lang="en-US" altLang="ja-JP" sz="2800" dirty="0"/>
              <a:t>3</a:t>
            </a:r>
          </a:p>
          <a:p>
            <a:r>
              <a:rPr kumimoji="1" lang="en-US" altLang="ja-JP" sz="2800" dirty="0"/>
              <a:t>2</a:t>
            </a:r>
            <a:endParaRPr kumimoji="1" lang="ja-JP" altLang="en-US" sz="2800" dirty="0"/>
          </a:p>
        </p:txBody>
      </p:sp>
      <p:sp>
        <p:nvSpPr>
          <p:cNvPr id="61" name="テキスト ボックス 60">
            <a:extLst>
              <a:ext uri="{FF2B5EF4-FFF2-40B4-BE49-F238E27FC236}">
                <a16:creationId xmlns:a16="http://schemas.microsoft.com/office/drawing/2014/main" id="{2EFA4581-3989-49EF-07AD-792E4CA66979}"/>
              </a:ext>
            </a:extLst>
          </p:cNvPr>
          <p:cNvSpPr txBox="1"/>
          <p:nvPr/>
        </p:nvSpPr>
        <p:spPr>
          <a:xfrm>
            <a:off x="10777538" y="2936791"/>
            <a:ext cx="1183482" cy="523220"/>
          </a:xfrm>
          <a:prstGeom prst="rect">
            <a:avLst/>
          </a:prstGeom>
          <a:noFill/>
        </p:spPr>
        <p:txBody>
          <a:bodyPr wrap="square" rtlCol="0">
            <a:spAutoFit/>
          </a:bodyPr>
          <a:lstStyle/>
          <a:p>
            <a:r>
              <a:rPr kumimoji="1" lang="en-US" altLang="ja-JP" sz="2800" dirty="0"/>
              <a:t>( 4 , 3 )</a:t>
            </a:r>
            <a:endParaRPr kumimoji="1" lang="ja-JP" altLang="en-US" sz="2800" dirty="0"/>
          </a:p>
        </p:txBody>
      </p:sp>
      <p:sp>
        <p:nvSpPr>
          <p:cNvPr id="60" name="楕円 59">
            <a:extLst>
              <a:ext uri="{FF2B5EF4-FFF2-40B4-BE49-F238E27FC236}">
                <a16:creationId xmlns:a16="http://schemas.microsoft.com/office/drawing/2014/main" id="{6E51AD76-2B45-271D-3A24-DE68CC6EAB9B}"/>
              </a:ext>
            </a:extLst>
          </p:cNvPr>
          <p:cNvSpPr/>
          <p:nvPr/>
        </p:nvSpPr>
        <p:spPr>
          <a:xfrm>
            <a:off x="10389122" y="3152458"/>
            <a:ext cx="419390" cy="419390"/>
          </a:xfrm>
          <a:prstGeom prst="ellipse">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800" b="1" dirty="0">
                <a:solidFill>
                  <a:schemeClr val="bg2"/>
                </a:solidFill>
              </a:rPr>
              <a:t>G</a:t>
            </a:r>
            <a:endParaRPr kumimoji="1" lang="ja-JP" altLang="en-US" sz="2800" b="1" dirty="0">
              <a:solidFill>
                <a:schemeClr val="bg2"/>
              </a:solidFill>
            </a:endParaRPr>
          </a:p>
        </p:txBody>
      </p:sp>
      <p:sp>
        <p:nvSpPr>
          <p:cNvPr id="26" name="矢印: 右 25">
            <a:extLst>
              <a:ext uri="{FF2B5EF4-FFF2-40B4-BE49-F238E27FC236}">
                <a16:creationId xmlns:a16="http://schemas.microsoft.com/office/drawing/2014/main" id="{74886521-DD2D-8FE4-1425-D773BB4DE52A}"/>
              </a:ext>
            </a:extLst>
          </p:cNvPr>
          <p:cNvSpPr/>
          <p:nvPr/>
        </p:nvSpPr>
        <p:spPr>
          <a:xfrm rot="18000000">
            <a:off x="9242064" y="3855195"/>
            <a:ext cx="356398" cy="378745"/>
          </a:xfrm>
          <a:prstGeom prst="rightArrow">
            <a:avLst>
              <a:gd name="adj1" fmla="val 38683"/>
              <a:gd name="adj2" fmla="val 54009"/>
            </a:avLst>
          </a:prstGeom>
          <a:solidFill>
            <a:schemeClr val="tx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矢印: 右 66">
            <a:extLst>
              <a:ext uri="{FF2B5EF4-FFF2-40B4-BE49-F238E27FC236}">
                <a16:creationId xmlns:a16="http://schemas.microsoft.com/office/drawing/2014/main" id="{D740FA79-4A3D-281A-F7AD-14CBCB48C64F}"/>
              </a:ext>
            </a:extLst>
          </p:cNvPr>
          <p:cNvSpPr/>
          <p:nvPr/>
        </p:nvSpPr>
        <p:spPr>
          <a:xfrm rot="16200000">
            <a:off x="10224662" y="3725744"/>
            <a:ext cx="790889" cy="158670"/>
          </a:xfrm>
          <a:prstGeom prst="rightArrow">
            <a:avLst>
              <a:gd name="adj1" fmla="val 40995"/>
              <a:gd name="adj2" fmla="val 50000"/>
            </a:avLst>
          </a:prstGeom>
          <a:solidFill>
            <a:srgbClr val="C0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矢印: 右 67">
            <a:extLst>
              <a:ext uri="{FF2B5EF4-FFF2-40B4-BE49-F238E27FC236}">
                <a16:creationId xmlns:a16="http://schemas.microsoft.com/office/drawing/2014/main" id="{2CC395D7-3532-C754-82C1-2ABD60167ED4}"/>
              </a:ext>
            </a:extLst>
          </p:cNvPr>
          <p:cNvSpPr/>
          <p:nvPr/>
        </p:nvSpPr>
        <p:spPr>
          <a:xfrm>
            <a:off x="9344106" y="4125167"/>
            <a:ext cx="1265656" cy="158670"/>
          </a:xfrm>
          <a:prstGeom prst="rightArrow">
            <a:avLst>
              <a:gd name="adj1" fmla="val 40995"/>
              <a:gd name="adj2" fmla="val 50000"/>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矢印: 右 68">
            <a:extLst>
              <a:ext uri="{FF2B5EF4-FFF2-40B4-BE49-F238E27FC236}">
                <a16:creationId xmlns:a16="http://schemas.microsoft.com/office/drawing/2014/main" id="{96742737-D37F-FF55-BDA3-DE2881B08275}"/>
              </a:ext>
            </a:extLst>
          </p:cNvPr>
          <p:cNvSpPr/>
          <p:nvPr/>
        </p:nvSpPr>
        <p:spPr>
          <a:xfrm rot="19679359">
            <a:off x="9242733" y="3726387"/>
            <a:ext cx="1466622" cy="158670"/>
          </a:xfrm>
          <a:prstGeom prst="rightArrow">
            <a:avLst>
              <a:gd name="adj1" fmla="val 40995"/>
              <a:gd name="adj2" fmla="val 50000"/>
            </a:avLst>
          </a:prstGeom>
          <a:solidFill>
            <a:srgbClr val="00B0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テキスト ボックス 61">
            <a:extLst>
              <a:ext uri="{FF2B5EF4-FFF2-40B4-BE49-F238E27FC236}">
                <a16:creationId xmlns:a16="http://schemas.microsoft.com/office/drawing/2014/main" id="{508AB67E-2563-FF16-6BA0-AC7EEEABACF5}"/>
              </a:ext>
            </a:extLst>
          </p:cNvPr>
          <p:cNvSpPr txBox="1"/>
          <p:nvPr/>
        </p:nvSpPr>
        <p:spPr>
          <a:xfrm>
            <a:off x="771525" y="3467162"/>
            <a:ext cx="4447818" cy="523220"/>
          </a:xfrm>
          <a:prstGeom prst="rect">
            <a:avLst/>
          </a:prstGeom>
          <a:noFill/>
        </p:spPr>
        <p:txBody>
          <a:bodyPr wrap="square" rtlCol="0">
            <a:spAutoFit/>
          </a:bodyPr>
          <a:lstStyle/>
          <a:p>
            <a:r>
              <a:rPr lang="en-US" altLang="ja-JP" sz="2800" dirty="0"/>
              <a:t>a</a:t>
            </a:r>
            <a:r>
              <a:rPr kumimoji="1" lang="en-US" altLang="ja-JP" sz="2800" dirty="0"/>
              <a:t>rctan(</a:t>
            </a:r>
            <a:r>
              <a:rPr kumimoji="1" lang="en-US" altLang="ja-JP" sz="2800" dirty="0" err="1"/>
              <a:t>Δy</a:t>
            </a:r>
            <a:r>
              <a:rPr kumimoji="1" lang="en-US" altLang="ja-JP" sz="2800" dirty="0"/>
              <a:t>/</a:t>
            </a:r>
            <a:r>
              <a:rPr kumimoji="1" lang="en-US" altLang="ja-JP" sz="2800" dirty="0" err="1"/>
              <a:t>Δx</a:t>
            </a:r>
            <a:r>
              <a:rPr kumimoji="1" lang="en-US" altLang="ja-JP" sz="2800" dirty="0"/>
              <a:t>) </a:t>
            </a:r>
            <a:r>
              <a:rPr kumimoji="1" lang="ja-JP" altLang="en-US" sz="2800" dirty="0"/>
              <a:t>≈</a:t>
            </a:r>
          </a:p>
        </p:txBody>
      </p:sp>
      <p:sp>
        <p:nvSpPr>
          <p:cNvPr id="14" name="テキスト ボックス 13">
            <a:extLst>
              <a:ext uri="{FF2B5EF4-FFF2-40B4-BE49-F238E27FC236}">
                <a16:creationId xmlns:a16="http://schemas.microsoft.com/office/drawing/2014/main" id="{5976FB4A-D6F0-9161-ECDC-0A66D256C162}"/>
              </a:ext>
            </a:extLst>
          </p:cNvPr>
          <p:cNvSpPr txBox="1"/>
          <p:nvPr/>
        </p:nvSpPr>
        <p:spPr>
          <a:xfrm>
            <a:off x="5483945" y="6108838"/>
            <a:ext cx="851647" cy="523220"/>
          </a:xfrm>
          <a:prstGeom prst="rect">
            <a:avLst/>
          </a:prstGeom>
          <a:noFill/>
        </p:spPr>
        <p:txBody>
          <a:bodyPr wrap="square" rtlCol="0">
            <a:spAutoFit/>
          </a:bodyPr>
          <a:lstStyle/>
          <a:p>
            <a:r>
              <a:rPr lang="en-US" altLang="ja-JP" sz="2800" dirty="0"/>
              <a:t>―</a:t>
            </a:r>
            <a:endParaRPr kumimoji="1" lang="ja-JP" altLang="en-US" sz="2800" dirty="0"/>
          </a:p>
        </p:txBody>
      </p:sp>
      <p:sp>
        <p:nvSpPr>
          <p:cNvPr id="15" name="テキスト ボックス 14">
            <a:extLst>
              <a:ext uri="{FF2B5EF4-FFF2-40B4-BE49-F238E27FC236}">
                <a16:creationId xmlns:a16="http://schemas.microsoft.com/office/drawing/2014/main" id="{C1F56926-878A-AFC4-A6C9-14FA2A4A7476}"/>
              </a:ext>
            </a:extLst>
          </p:cNvPr>
          <p:cNvSpPr txBox="1"/>
          <p:nvPr/>
        </p:nvSpPr>
        <p:spPr>
          <a:xfrm>
            <a:off x="6276601" y="6108838"/>
            <a:ext cx="851647" cy="523220"/>
          </a:xfrm>
          <a:prstGeom prst="rect">
            <a:avLst/>
          </a:prstGeom>
          <a:noFill/>
        </p:spPr>
        <p:txBody>
          <a:bodyPr wrap="square" rtlCol="0">
            <a:spAutoFit/>
          </a:bodyPr>
          <a:lstStyle/>
          <a:p>
            <a:r>
              <a:rPr kumimoji="1" lang="en-US" altLang="ja-JP" sz="2800" dirty="0"/>
              <a:t>―</a:t>
            </a:r>
            <a:endParaRPr kumimoji="1" lang="ja-JP" altLang="en-US" sz="2800" dirty="0"/>
          </a:p>
        </p:txBody>
      </p:sp>
      <p:sp>
        <p:nvSpPr>
          <p:cNvPr id="22" name="テキスト ボックス 21">
            <a:extLst>
              <a:ext uri="{FF2B5EF4-FFF2-40B4-BE49-F238E27FC236}">
                <a16:creationId xmlns:a16="http://schemas.microsoft.com/office/drawing/2014/main" id="{9ED8174A-C220-7427-D614-8931B789D709}"/>
              </a:ext>
            </a:extLst>
          </p:cNvPr>
          <p:cNvSpPr txBox="1"/>
          <p:nvPr/>
        </p:nvSpPr>
        <p:spPr>
          <a:xfrm>
            <a:off x="5496645" y="5788163"/>
            <a:ext cx="851647" cy="523220"/>
          </a:xfrm>
          <a:prstGeom prst="rect">
            <a:avLst/>
          </a:prstGeom>
          <a:noFill/>
        </p:spPr>
        <p:txBody>
          <a:bodyPr wrap="square" rtlCol="0">
            <a:spAutoFit/>
          </a:bodyPr>
          <a:lstStyle/>
          <a:p>
            <a:r>
              <a:rPr lang="en-US" altLang="ja-JP" sz="2800" dirty="0">
                <a:noFill/>
              </a:rPr>
              <a:t>0</a:t>
            </a:r>
            <a:endParaRPr kumimoji="1" lang="ja-JP" altLang="en-US" sz="2800" dirty="0">
              <a:noFill/>
            </a:endParaRPr>
          </a:p>
        </p:txBody>
      </p:sp>
      <p:sp>
        <p:nvSpPr>
          <p:cNvPr id="23" name="テキスト ボックス 22">
            <a:extLst>
              <a:ext uri="{FF2B5EF4-FFF2-40B4-BE49-F238E27FC236}">
                <a16:creationId xmlns:a16="http://schemas.microsoft.com/office/drawing/2014/main" id="{A513F10C-92DA-14B1-D9FE-2332789137A2}"/>
              </a:ext>
            </a:extLst>
          </p:cNvPr>
          <p:cNvSpPr txBox="1"/>
          <p:nvPr/>
        </p:nvSpPr>
        <p:spPr>
          <a:xfrm>
            <a:off x="6289301" y="5788163"/>
            <a:ext cx="851647" cy="523220"/>
          </a:xfrm>
          <a:prstGeom prst="rect">
            <a:avLst/>
          </a:prstGeom>
          <a:noFill/>
        </p:spPr>
        <p:txBody>
          <a:bodyPr wrap="square" rtlCol="0">
            <a:spAutoFit/>
          </a:bodyPr>
          <a:lstStyle/>
          <a:p>
            <a:r>
              <a:rPr lang="en-US" altLang="ja-JP" sz="2800" dirty="0">
                <a:noFill/>
              </a:rPr>
              <a:t>0</a:t>
            </a:r>
            <a:endParaRPr kumimoji="1" lang="ja-JP" altLang="en-US" sz="2800" dirty="0">
              <a:noFill/>
            </a:endParaRPr>
          </a:p>
        </p:txBody>
      </p:sp>
      <p:sp>
        <p:nvSpPr>
          <p:cNvPr id="24" name="テキスト ボックス 23">
            <a:extLst>
              <a:ext uri="{FF2B5EF4-FFF2-40B4-BE49-F238E27FC236}">
                <a16:creationId xmlns:a16="http://schemas.microsoft.com/office/drawing/2014/main" id="{76EBB27D-1924-F504-1B5F-BAB6E7128BD5}"/>
              </a:ext>
            </a:extLst>
          </p:cNvPr>
          <p:cNvSpPr txBox="1"/>
          <p:nvPr/>
        </p:nvSpPr>
        <p:spPr>
          <a:xfrm>
            <a:off x="780575" y="4404567"/>
            <a:ext cx="4447818" cy="523220"/>
          </a:xfrm>
          <a:prstGeom prst="rect">
            <a:avLst/>
          </a:prstGeom>
          <a:noFill/>
        </p:spPr>
        <p:txBody>
          <a:bodyPr wrap="square" rtlCol="0">
            <a:spAutoFit/>
          </a:bodyPr>
          <a:lstStyle/>
          <a:p>
            <a:r>
              <a:rPr kumimoji="1" lang="ja-JP" altLang="en-US" sz="2800" dirty="0"/>
              <a:t>√</a:t>
            </a:r>
            <a:r>
              <a:rPr kumimoji="1" lang="en-US" altLang="ja-JP" sz="2800" dirty="0"/>
              <a:t>((</a:t>
            </a:r>
            <a:r>
              <a:rPr kumimoji="1" lang="en-US" altLang="ja-JP" sz="2800" dirty="0" err="1"/>
              <a:t>Δx</a:t>
            </a:r>
            <a:r>
              <a:rPr kumimoji="1" lang="en-US" altLang="ja-JP" sz="2800" dirty="0"/>
              <a:t>)²+(</a:t>
            </a:r>
            <a:r>
              <a:rPr kumimoji="1" lang="en-US" altLang="ja-JP" sz="2800" dirty="0" err="1"/>
              <a:t>Δy</a:t>
            </a:r>
            <a:r>
              <a:rPr kumimoji="1" lang="en-US" altLang="ja-JP" sz="2800" dirty="0"/>
              <a:t>)²)</a:t>
            </a:r>
            <a:endParaRPr kumimoji="1" lang="ja-JP" altLang="en-US" sz="2800" dirty="0"/>
          </a:p>
        </p:txBody>
      </p:sp>
      <p:sp>
        <p:nvSpPr>
          <p:cNvPr id="25" name="テキスト ボックス 24">
            <a:extLst>
              <a:ext uri="{FF2B5EF4-FFF2-40B4-BE49-F238E27FC236}">
                <a16:creationId xmlns:a16="http://schemas.microsoft.com/office/drawing/2014/main" id="{8D17C13D-8174-20C8-1C45-782018A56996}"/>
              </a:ext>
            </a:extLst>
          </p:cNvPr>
          <p:cNvSpPr txBox="1"/>
          <p:nvPr/>
        </p:nvSpPr>
        <p:spPr>
          <a:xfrm>
            <a:off x="3058250" y="4422048"/>
            <a:ext cx="911225" cy="523220"/>
          </a:xfrm>
          <a:prstGeom prst="rect">
            <a:avLst/>
          </a:prstGeom>
          <a:noFill/>
        </p:spPr>
        <p:txBody>
          <a:bodyPr wrap="square" rtlCol="0">
            <a:spAutoFit/>
          </a:bodyPr>
          <a:lstStyle/>
          <a:p>
            <a:r>
              <a:rPr kumimoji="1" lang="en-US" altLang="ja-JP" sz="2800" dirty="0"/>
              <a:t>4.09</a:t>
            </a:r>
            <a:endParaRPr kumimoji="1" lang="ja-JP" altLang="en-US" sz="2800" dirty="0"/>
          </a:p>
        </p:txBody>
      </p:sp>
      <p:sp>
        <p:nvSpPr>
          <p:cNvPr id="27" name="テキスト ボックス 26">
            <a:extLst>
              <a:ext uri="{FF2B5EF4-FFF2-40B4-BE49-F238E27FC236}">
                <a16:creationId xmlns:a16="http://schemas.microsoft.com/office/drawing/2014/main" id="{B5BF75AD-A89F-705A-A853-CDE27091BD92}"/>
              </a:ext>
            </a:extLst>
          </p:cNvPr>
          <p:cNvSpPr txBox="1"/>
          <p:nvPr/>
        </p:nvSpPr>
        <p:spPr>
          <a:xfrm>
            <a:off x="774542" y="3956168"/>
            <a:ext cx="4447818" cy="523220"/>
          </a:xfrm>
          <a:prstGeom prst="rect">
            <a:avLst/>
          </a:prstGeom>
          <a:noFill/>
        </p:spPr>
        <p:txBody>
          <a:bodyPr wrap="square" rtlCol="0">
            <a:spAutoFit/>
          </a:bodyPr>
          <a:lstStyle/>
          <a:p>
            <a:r>
              <a:rPr lang="en-US" altLang="ja-JP" sz="2800" dirty="0"/>
              <a:t>     </a:t>
            </a:r>
            <a:r>
              <a:rPr kumimoji="1" lang="en-US" altLang="ja-JP" sz="2800" dirty="0"/>
              <a:t>°</a:t>
            </a:r>
            <a:r>
              <a:rPr lang="ja-JP" altLang="en-US" sz="2800" dirty="0"/>
              <a:t> </a:t>
            </a:r>
            <a:r>
              <a:rPr lang="en-US" altLang="ja-JP" sz="2800" dirty="0"/>
              <a:t>-</a:t>
            </a:r>
            <a:r>
              <a:rPr lang="ja-JP" altLang="en-US" sz="2800" dirty="0"/>
              <a:t> </a:t>
            </a:r>
            <a:r>
              <a:rPr lang="en-US" altLang="ja-JP" sz="2800" dirty="0"/>
              <a:t>     °</a:t>
            </a:r>
            <a:r>
              <a:rPr lang="ja-JP" altLang="en-US" sz="2800" dirty="0"/>
              <a:t> </a:t>
            </a:r>
            <a:r>
              <a:rPr kumimoji="1" lang="en-US" altLang="ja-JP" sz="2800" dirty="0"/>
              <a:t>=</a:t>
            </a:r>
            <a:endParaRPr kumimoji="1" lang="ja-JP" altLang="en-US" sz="2800" dirty="0"/>
          </a:p>
        </p:txBody>
      </p:sp>
      <p:sp>
        <p:nvSpPr>
          <p:cNvPr id="28" name="テキスト ボックス 27">
            <a:extLst>
              <a:ext uri="{FF2B5EF4-FFF2-40B4-BE49-F238E27FC236}">
                <a16:creationId xmlns:a16="http://schemas.microsoft.com/office/drawing/2014/main" id="{33F9435D-DAF5-3007-F69E-39BABC08ECFC}"/>
              </a:ext>
            </a:extLst>
          </p:cNvPr>
          <p:cNvSpPr txBox="1"/>
          <p:nvPr/>
        </p:nvSpPr>
        <p:spPr>
          <a:xfrm>
            <a:off x="2539821" y="3950581"/>
            <a:ext cx="911225" cy="523220"/>
          </a:xfrm>
          <a:prstGeom prst="rect">
            <a:avLst/>
          </a:prstGeom>
          <a:noFill/>
        </p:spPr>
        <p:txBody>
          <a:bodyPr wrap="square" rtlCol="0">
            <a:spAutoFit/>
          </a:bodyPr>
          <a:lstStyle/>
          <a:p>
            <a:r>
              <a:rPr lang="en-US" altLang="ja-JP" sz="2800" dirty="0"/>
              <a:t>29°</a:t>
            </a:r>
            <a:endParaRPr kumimoji="1" lang="ja-JP" altLang="en-US" sz="2800" dirty="0"/>
          </a:p>
        </p:txBody>
      </p:sp>
      <p:sp>
        <p:nvSpPr>
          <p:cNvPr id="32" name="テキスト ボックス 31">
            <a:extLst>
              <a:ext uri="{FF2B5EF4-FFF2-40B4-BE49-F238E27FC236}">
                <a16:creationId xmlns:a16="http://schemas.microsoft.com/office/drawing/2014/main" id="{9A581CDD-75FA-FA01-2D2C-125F9D126202}"/>
              </a:ext>
            </a:extLst>
          </p:cNvPr>
          <p:cNvSpPr txBox="1"/>
          <p:nvPr/>
        </p:nvSpPr>
        <p:spPr>
          <a:xfrm>
            <a:off x="2820764" y="4404567"/>
            <a:ext cx="305817" cy="523220"/>
          </a:xfrm>
          <a:prstGeom prst="rect">
            <a:avLst/>
          </a:prstGeom>
          <a:noFill/>
        </p:spPr>
        <p:txBody>
          <a:bodyPr wrap="square">
            <a:spAutoFit/>
          </a:bodyPr>
          <a:lstStyle/>
          <a:p>
            <a:r>
              <a:rPr lang="ja-JP" altLang="en-US" sz="2800" dirty="0"/>
              <a:t>≈</a:t>
            </a:r>
          </a:p>
        </p:txBody>
      </p:sp>
      <p:sp>
        <p:nvSpPr>
          <p:cNvPr id="51" name="テキスト ボックス 50">
            <a:extLst>
              <a:ext uri="{FF2B5EF4-FFF2-40B4-BE49-F238E27FC236}">
                <a16:creationId xmlns:a16="http://schemas.microsoft.com/office/drawing/2014/main" id="{BE11B98A-E107-3B12-83CE-6F2A69D5C1B2}"/>
              </a:ext>
            </a:extLst>
          </p:cNvPr>
          <p:cNvSpPr txBox="1"/>
          <p:nvPr/>
        </p:nvSpPr>
        <p:spPr>
          <a:xfrm>
            <a:off x="818849" y="3957968"/>
            <a:ext cx="911225" cy="523220"/>
          </a:xfrm>
          <a:prstGeom prst="rect">
            <a:avLst/>
          </a:prstGeom>
          <a:noFill/>
        </p:spPr>
        <p:txBody>
          <a:bodyPr wrap="square" rtlCol="0">
            <a:spAutoFit/>
          </a:bodyPr>
          <a:lstStyle/>
          <a:p>
            <a:r>
              <a:rPr lang="en-US" altLang="ja-JP" sz="2800" dirty="0"/>
              <a:t>60</a:t>
            </a:r>
            <a:endParaRPr kumimoji="1" lang="ja-JP" altLang="en-US" sz="2800" dirty="0"/>
          </a:p>
        </p:txBody>
      </p:sp>
      <p:sp>
        <p:nvSpPr>
          <p:cNvPr id="53" name="テキスト ボックス 52">
            <a:extLst>
              <a:ext uri="{FF2B5EF4-FFF2-40B4-BE49-F238E27FC236}">
                <a16:creationId xmlns:a16="http://schemas.microsoft.com/office/drawing/2014/main" id="{964C9A81-3558-D27E-2AA8-5BCB45A68679}"/>
              </a:ext>
            </a:extLst>
          </p:cNvPr>
          <p:cNvSpPr txBox="1"/>
          <p:nvPr/>
        </p:nvSpPr>
        <p:spPr>
          <a:xfrm>
            <a:off x="1709349" y="3957068"/>
            <a:ext cx="911225" cy="523220"/>
          </a:xfrm>
          <a:prstGeom prst="rect">
            <a:avLst/>
          </a:prstGeom>
          <a:noFill/>
        </p:spPr>
        <p:txBody>
          <a:bodyPr wrap="square" rtlCol="0">
            <a:spAutoFit/>
          </a:bodyPr>
          <a:lstStyle/>
          <a:p>
            <a:r>
              <a:rPr lang="en-US" altLang="ja-JP" sz="2800" dirty="0"/>
              <a:t>31</a:t>
            </a:r>
            <a:endParaRPr kumimoji="1" lang="ja-JP" altLang="en-US" sz="2800" dirty="0"/>
          </a:p>
        </p:txBody>
      </p:sp>
      <p:sp>
        <p:nvSpPr>
          <p:cNvPr id="70" name="テキスト ボックス 69">
            <a:extLst>
              <a:ext uri="{FF2B5EF4-FFF2-40B4-BE49-F238E27FC236}">
                <a16:creationId xmlns:a16="http://schemas.microsoft.com/office/drawing/2014/main" id="{9A4703C0-AA97-12B9-FB51-24E8314D2ADA}"/>
              </a:ext>
            </a:extLst>
          </p:cNvPr>
          <p:cNvSpPr txBox="1"/>
          <p:nvPr/>
        </p:nvSpPr>
        <p:spPr>
          <a:xfrm>
            <a:off x="5194627" y="6353325"/>
            <a:ext cx="963158" cy="954107"/>
          </a:xfrm>
          <a:prstGeom prst="rect">
            <a:avLst/>
          </a:prstGeom>
          <a:noFill/>
        </p:spPr>
        <p:txBody>
          <a:bodyPr wrap="square" rtlCol="0">
            <a:spAutoFit/>
          </a:bodyPr>
          <a:lstStyle/>
          <a:p>
            <a:r>
              <a:rPr kumimoji="1" lang="en-US" altLang="ja-JP" sz="2800" dirty="0">
                <a:noFill/>
              </a:rPr>
              <a:t>1</a:t>
            </a:r>
            <a:r>
              <a:rPr lang="en-US" altLang="ja-JP" sz="2800" dirty="0">
                <a:noFill/>
              </a:rPr>
              <a:t>+</a:t>
            </a:r>
            <a:r>
              <a:rPr lang="ja-JP" altLang="en-US" sz="2800" dirty="0">
                <a:noFill/>
              </a:rPr>
              <a:t>√</a:t>
            </a:r>
            <a:r>
              <a:rPr lang="en-US" altLang="ja-JP" sz="2800" dirty="0">
                <a:noFill/>
              </a:rPr>
              <a:t>3</a:t>
            </a:r>
            <a:endParaRPr kumimoji="1" lang="en-US" altLang="ja-JP" sz="2800" dirty="0">
              <a:noFill/>
            </a:endParaRPr>
          </a:p>
          <a:p>
            <a:r>
              <a:rPr lang="en-US" altLang="ja-JP" sz="2800" dirty="0">
                <a:noFill/>
              </a:rPr>
              <a:t>   </a:t>
            </a:r>
            <a:r>
              <a:rPr kumimoji="1" lang="en-US" altLang="ja-JP" sz="2800" dirty="0">
                <a:noFill/>
              </a:rPr>
              <a:t>2</a:t>
            </a:r>
            <a:endParaRPr kumimoji="1" lang="ja-JP" altLang="en-US" sz="2800" dirty="0">
              <a:noFill/>
            </a:endParaRPr>
          </a:p>
        </p:txBody>
      </p:sp>
      <p:sp>
        <p:nvSpPr>
          <p:cNvPr id="71" name="テキスト ボックス 70">
            <a:extLst>
              <a:ext uri="{FF2B5EF4-FFF2-40B4-BE49-F238E27FC236}">
                <a16:creationId xmlns:a16="http://schemas.microsoft.com/office/drawing/2014/main" id="{B3A13A07-1174-4759-74FE-7442173FB6ED}"/>
              </a:ext>
            </a:extLst>
          </p:cNvPr>
          <p:cNvSpPr txBox="1"/>
          <p:nvPr/>
        </p:nvSpPr>
        <p:spPr>
          <a:xfrm>
            <a:off x="5293437" y="6556525"/>
            <a:ext cx="851647" cy="523220"/>
          </a:xfrm>
          <a:prstGeom prst="rect">
            <a:avLst/>
          </a:prstGeom>
          <a:noFill/>
        </p:spPr>
        <p:txBody>
          <a:bodyPr wrap="square" rtlCol="0">
            <a:spAutoFit/>
          </a:bodyPr>
          <a:lstStyle/>
          <a:p>
            <a:r>
              <a:rPr lang="en-US" altLang="ja-JP" sz="2800" dirty="0">
                <a:noFill/>
              </a:rPr>
              <a:t>――</a:t>
            </a:r>
            <a:endParaRPr kumimoji="1" lang="ja-JP" altLang="en-US" sz="2800" dirty="0">
              <a:noFill/>
            </a:endParaRPr>
          </a:p>
        </p:txBody>
      </p:sp>
      <p:sp>
        <p:nvSpPr>
          <p:cNvPr id="74" name="テキスト ボックス 73">
            <a:extLst>
              <a:ext uri="{FF2B5EF4-FFF2-40B4-BE49-F238E27FC236}">
                <a16:creationId xmlns:a16="http://schemas.microsoft.com/office/drawing/2014/main" id="{255B6A77-3A9B-5502-B1A1-20C236C9A0F9}"/>
              </a:ext>
            </a:extLst>
          </p:cNvPr>
          <p:cNvSpPr txBox="1"/>
          <p:nvPr/>
        </p:nvSpPr>
        <p:spPr>
          <a:xfrm>
            <a:off x="5975691" y="6353323"/>
            <a:ext cx="963158" cy="954107"/>
          </a:xfrm>
          <a:prstGeom prst="rect">
            <a:avLst/>
          </a:prstGeom>
          <a:noFill/>
        </p:spPr>
        <p:txBody>
          <a:bodyPr wrap="square" rtlCol="0">
            <a:spAutoFit/>
          </a:bodyPr>
          <a:lstStyle/>
          <a:p>
            <a:r>
              <a:rPr kumimoji="1" lang="en-US" altLang="ja-JP" sz="2800" dirty="0">
                <a:noFill/>
              </a:rPr>
              <a:t>1</a:t>
            </a:r>
            <a:r>
              <a:rPr lang="en-US" altLang="ja-JP" sz="2800" dirty="0">
                <a:noFill/>
              </a:rPr>
              <a:t>+</a:t>
            </a:r>
            <a:r>
              <a:rPr lang="ja-JP" altLang="en-US" sz="2800" dirty="0">
                <a:noFill/>
              </a:rPr>
              <a:t>√</a:t>
            </a:r>
            <a:r>
              <a:rPr lang="en-US" altLang="ja-JP" sz="2800" dirty="0">
                <a:noFill/>
              </a:rPr>
              <a:t>3</a:t>
            </a:r>
            <a:endParaRPr kumimoji="1" lang="en-US" altLang="ja-JP" sz="2800" dirty="0">
              <a:noFill/>
            </a:endParaRPr>
          </a:p>
          <a:p>
            <a:r>
              <a:rPr lang="en-US" altLang="ja-JP" sz="2800" dirty="0">
                <a:noFill/>
              </a:rPr>
              <a:t>   </a:t>
            </a:r>
            <a:r>
              <a:rPr kumimoji="1" lang="en-US" altLang="ja-JP" sz="2800" dirty="0">
                <a:noFill/>
              </a:rPr>
              <a:t>2</a:t>
            </a:r>
            <a:endParaRPr kumimoji="1" lang="ja-JP" altLang="en-US" sz="2800" dirty="0">
              <a:noFill/>
            </a:endParaRPr>
          </a:p>
        </p:txBody>
      </p:sp>
      <p:sp>
        <p:nvSpPr>
          <p:cNvPr id="75" name="テキスト ボックス 74">
            <a:extLst>
              <a:ext uri="{FF2B5EF4-FFF2-40B4-BE49-F238E27FC236}">
                <a16:creationId xmlns:a16="http://schemas.microsoft.com/office/drawing/2014/main" id="{A454B72E-DB1A-59FE-BD04-4F0FE973E196}"/>
              </a:ext>
            </a:extLst>
          </p:cNvPr>
          <p:cNvSpPr txBox="1"/>
          <p:nvPr/>
        </p:nvSpPr>
        <p:spPr>
          <a:xfrm>
            <a:off x="6074501" y="6556523"/>
            <a:ext cx="851647" cy="523220"/>
          </a:xfrm>
          <a:prstGeom prst="rect">
            <a:avLst/>
          </a:prstGeom>
          <a:noFill/>
        </p:spPr>
        <p:txBody>
          <a:bodyPr wrap="square" rtlCol="0">
            <a:spAutoFit/>
          </a:bodyPr>
          <a:lstStyle/>
          <a:p>
            <a:r>
              <a:rPr lang="en-US" altLang="ja-JP" sz="2800" dirty="0">
                <a:noFill/>
              </a:rPr>
              <a:t>――</a:t>
            </a:r>
            <a:endParaRPr kumimoji="1" lang="ja-JP" altLang="en-US" sz="2800" dirty="0">
              <a:noFill/>
            </a:endParaRPr>
          </a:p>
        </p:txBody>
      </p:sp>
      <p:sp>
        <p:nvSpPr>
          <p:cNvPr id="81" name="テキスト ボックス 80">
            <a:extLst>
              <a:ext uri="{FF2B5EF4-FFF2-40B4-BE49-F238E27FC236}">
                <a16:creationId xmlns:a16="http://schemas.microsoft.com/office/drawing/2014/main" id="{D24E3BDD-CF38-B132-40A0-012C0F640A65}"/>
              </a:ext>
            </a:extLst>
          </p:cNvPr>
          <p:cNvSpPr txBox="1"/>
          <p:nvPr/>
        </p:nvSpPr>
        <p:spPr>
          <a:xfrm>
            <a:off x="3095620" y="3579078"/>
            <a:ext cx="911225" cy="523220"/>
          </a:xfrm>
          <a:prstGeom prst="rect">
            <a:avLst/>
          </a:prstGeom>
          <a:noFill/>
        </p:spPr>
        <p:txBody>
          <a:bodyPr wrap="square" rtlCol="0">
            <a:spAutoFit/>
          </a:bodyPr>
          <a:lstStyle/>
          <a:p>
            <a:r>
              <a:rPr lang="en-US" altLang="ja-JP" sz="2800" dirty="0">
                <a:noFill/>
              </a:rPr>
              <a:t>32</a:t>
            </a:r>
            <a:r>
              <a:rPr kumimoji="1" lang="en-US" altLang="ja-JP" sz="2800" dirty="0">
                <a:noFill/>
              </a:rPr>
              <a:t>°</a:t>
            </a:r>
            <a:endParaRPr kumimoji="1" lang="ja-JP" altLang="en-US" sz="2800" dirty="0">
              <a:noFill/>
            </a:endParaRPr>
          </a:p>
        </p:txBody>
      </p:sp>
      <p:sp>
        <p:nvSpPr>
          <p:cNvPr id="87" name="テキスト ボックス 86">
            <a:extLst>
              <a:ext uri="{FF2B5EF4-FFF2-40B4-BE49-F238E27FC236}">
                <a16:creationId xmlns:a16="http://schemas.microsoft.com/office/drawing/2014/main" id="{D1614EFC-B2B2-5D90-0C63-D134AB8ECE53}"/>
              </a:ext>
            </a:extLst>
          </p:cNvPr>
          <p:cNvSpPr txBox="1"/>
          <p:nvPr/>
        </p:nvSpPr>
        <p:spPr>
          <a:xfrm>
            <a:off x="818849" y="3827793"/>
            <a:ext cx="911225" cy="523220"/>
          </a:xfrm>
          <a:prstGeom prst="rect">
            <a:avLst/>
          </a:prstGeom>
          <a:noFill/>
        </p:spPr>
        <p:txBody>
          <a:bodyPr wrap="square" rtlCol="0">
            <a:spAutoFit/>
          </a:bodyPr>
          <a:lstStyle/>
          <a:p>
            <a:r>
              <a:rPr kumimoji="1" lang="en-US" altLang="ja-JP" sz="2800" dirty="0">
                <a:noFill/>
              </a:rPr>
              <a:t>90</a:t>
            </a:r>
            <a:endParaRPr kumimoji="1" lang="ja-JP" altLang="en-US" sz="2800" dirty="0">
              <a:noFill/>
            </a:endParaRPr>
          </a:p>
        </p:txBody>
      </p:sp>
      <p:sp>
        <p:nvSpPr>
          <p:cNvPr id="88" name="テキスト ボックス 87">
            <a:extLst>
              <a:ext uri="{FF2B5EF4-FFF2-40B4-BE49-F238E27FC236}">
                <a16:creationId xmlns:a16="http://schemas.microsoft.com/office/drawing/2014/main" id="{3CE62202-7A80-91F7-E6F0-C032B221B30A}"/>
              </a:ext>
            </a:extLst>
          </p:cNvPr>
          <p:cNvSpPr txBox="1"/>
          <p:nvPr/>
        </p:nvSpPr>
        <p:spPr>
          <a:xfrm>
            <a:off x="1709349" y="3826893"/>
            <a:ext cx="911225" cy="523220"/>
          </a:xfrm>
          <a:prstGeom prst="rect">
            <a:avLst/>
          </a:prstGeom>
          <a:noFill/>
        </p:spPr>
        <p:txBody>
          <a:bodyPr wrap="square" rtlCol="0">
            <a:spAutoFit/>
          </a:bodyPr>
          <a:lstStyle/>
          <a:p>
            <a:r>
              <a:rPr kumimoji="1" lang="en-US" altLang="ja-JP" sz="2800" dirty="0">
                <a:noFill/>
              </a:rPr>
              <a:t>53</a:t>
            </a:r>
            <a:endParaRPr kumimoji="1" lang="ja-JP" altLang="en-US" sz="2800" dirty="0">
              <a:noFill/>
            </a:endParaRPr>
          </a:p>
        </p:txBody>
      </p:sp>
      <p:sp>
        <p:nvSpPr>
          <p:cNvPr id="89" name="テキスト ボックス 88">
            <a:extLst>
              <a:ext uri="{FF2B5EF4-FFF2-40B4-BE49-F238E27FC236}">
                <a16:creationId xmlns:a16="http://schemas.microsoft.com/office/drawing/2014/main" id="{325EF602-9D4F-3F2C-8A54-19AD301121E1}"/>
              </a:ext>
            </a:extLst>
          </p:cNvPr>
          <p:cNvSpPr txBox="1"/>
          <p:nvPr/>
        </p:nvSpPr>
        <p:spPr>
          <a:xfrm>
            <a:off x="3095625" y="3367936"/>
            <a:ext cx="911225" cy="523220"/>
          </a:xfrm>
          <a:prstGeom prst="rect">
            <a:avLst/>
          </a:prstGeom>
          <a:noFill/>
        </p:spPr>
        <p:txBody>
          <a:bodyPr wrap="square" rtlCol="0">
            <a:spAutoFit/>
          </a:bodyPr>
          <a:lstStyle/>
          <a:p>
            <a:r>
              <a:rPr kumimoji="1" lang="en-US" altLang="ja-JP" sz="2800" dirty="0">
                <a:noFill/>
              </a:rPr>
              <a:t>53°</a:t>
            </a:r>
            <a:endParaRPr kumimoji="1" lang="ja-JP" altLang="en-US" sz="2800" dirty="0">
              <a:noFill/>
            </a:endParaRPr>
          </a:p>
        </p:txBody>
      </p:sp>
      <p:sp>
        <p:nvSpPr>
          <p:cNvPr id="90" name="テキスト ボックス 89">
            <a:extLst>
              <a:ext uri="{FF2B5EF4-FFF2-40B4-BE49-F238E27FC236}">
                <a16:creationId xmlns:a16="http://schemas.microsoft.com/office/drawing/2014/main" id="{F5910913-9CC2-5304-A460-A96EF392C631}"/>
              </a:ext>
            </a:extLst>
          </p:cNvPr>
          <p:cNvSpPr txBox="1"/>
          <p:nvPr/>
        </p:nvSpPr>
        <p:spPr>
          <a:xfrm>
            <a:off x="3058250" y="4304573"/>
            <a:ext cx="911225" cy="523220"/>
          </a:xfrm>
          <a:prstGeom prst="rect">
            <a:avLst/>
          </a:prstGeom>
          <a:noFill/>
        </p:spPr>
        <p:txBody>
          <a:bodyPr wrap="square" rtlCol="0">
            <a:spAutoFit/>
          </a:bodyPr>
          <a:lstStyle/>
          <a:p>
            <a:r>
              <a:rPr kumimoji="1" lang="en-US" altLang="ja-JP" sz="2800" dirty="0">
                <a:noFill/>
              </a:rPr>
              <a:t>5</a:t>
            </a:r>
            <a:endParaRPr kumimoji="1" lang="ja-JP" altLang="en-US" sz="2800" dirty="0">
              <a:noFill/>
            </a:endParaRPr>
          </a:p>
        </p:txBody>
      </p:sp>
      <p:sp>
        <p:nvSpPr>
          <p:cNvPr id="91" name="テキスト ボックス 90">
            <a:extLst>
              <a:ext uri="{FF2B5EF4-FFF2-40B4-BE49-F238E27FC236}">
                <a16:creationId xmlns:a16="http://schemas.microsoft.com/office/drawing/2014/main" id="{DCE60872-A235-A8FB-2BBF-843D2D433A4F}"/>
              </a:ext>
            </a:extLst>
          </p:cNvPr>
          <p:cNvSpPr txBox="1"/>
          <p:nvPr/>
        </p:nvSpPr>
        <p:spPr>
          <a:xfrm>
            <a:off x="3058245" y="4531590"/>
            <a:ext cx="911225" cy="523220"/>
          </a:xfrm>
          <a:prstGeom prst="rect">
            <a:avLst/>
          </a:prstGeom>
          <a:noFill/>
        </p:spPr>
        <p:txBody>
          <a:bodyPr wrap="square" rtlCol="0">
            <a:spAutoFit/>
          </a:bodyPr>
          <a:lstStyle/>
          <a:p>
            <a:r>
              <a:rPr lang="en-US" altLang="ja-JP" sz="2800" dirty="0">
                <a:noFill/>
              </a:rPr>
              <a:t>3.09</a:t>
            </a:r>
            <a:endParaRPr kumimoji="1" lang="ja-JP" altLang="en-US" sz="2800" dirty="0">
              <a:noFill/>
            </a:endParaRPr>
          </a:p>
        </p:txBody>
      </p:sp>
      <p:sp>
        <p:nvSpPr>
          <p:cNvPr id="92" name="テキスト ボックス 91">
            <a:extLst>
              <a:ext uri="{FF2B5EF4-FFF2-40B4-BE49-F238E27FC236}">
                <a16:creationId xmlns:a16="http://schemas.microsoft.com/office/drawing/2014/main" id="{01EA1C31-AE4A-94F6-05C7-2E78648E8024}"/>
              </a:ext>
            </a:extLst>
          </p:cNvPr>
          <p:cNvSpPr txBox="1"/>
          <p:nvPr/>
        </p:nvSpPr>
        <p:spPr>
          <a:xfrm>
            <a:off x="2539816" y="4060123"/>
            <a:ext cx="911225" cy="523220"/>
          </a:xfrm>
          <a:prstGeom prst="rect">
            <a:avLst/>
          </a:prstGeom>
          <a:noFill/>
        </p:spPr>
        <p:txBody>
          <a:bodyPr wrap="square" rtlCol="0">
            <a:spAutoFit/>
          </a:bodyPr>
          <a:lstStyle/>
          <a:p>
            <a:r>
              <a:rPr lang="en-US" altLang="ja-JP" sz="2800" dirty="0">
                <a:noFill/>
              </a:rPr>
              <a:t>-2°</a:t>
            </a:r>
            <a:endParaRPr kumimoji="1" lang="ja-JP" altLang="en-US" sz="2800" dirty="0">
              <a:noFill/>
            </a:endParaRPr>
          </a:p>
        </p:txBody>
      </p:sp>
      <p:sp>
        <p:nvSpPr>
          <p:cNvPr id="93" name="テキスト ボックス 92">
            <a:extLst>
              <a:ext uri="{FF2B5EF4-FFF2-40B4-BE49-F238E27FC236}">
                <a16:creationId xmlns:a16="http://schemas.microsoft.com/office/drawing/2014/main" id="{33F117AF-8AE5-8FD2-49FD-B48B0A44AB49}"/>
              </a:ext>
            </a:extLst>
          </p:cNvPr>
          <p:cNvSpPr txBox="1"/>
          <p:nvPr/>
        </p:nvSpPr>
        <p:spPr>
          <a:xfrm>
            <a:off x="818844" y="4067510"/>
            <a:ext cx="911225" cy="523220"/>
          </a:xfrm>
          <a:prstGeom prst="rect">
            <a:avLst/>
          </a:prstGeom>
          <a:noFill/>
        </p:spPr>
        <p:txBody>
          <a:bodyPr wrap="square" rtlCol="0">
            <a:spAutoFit/>
          </a:bodyPr>
          <a:lstStyle/>
          <a:p>
            <a:r>
              <a:rPr kumimoji="1" lang="en-US" altLang="ja-JP" sz="2800" dirty="0">
                <a:noFill/>
              </a:rPr>
              <a:t>30</a:t>
            </a:r>
            <a:endParaRPr kumimoji="1" lang="ja-JP" altLang="en-US" sz="2800" dirty="0">
              <a:noFill/>
            </a:endParaRPr>
          </a:p>
        </p:txBody>
      </p:sp>
      <p:sp>
        <p:nvSpPr>
          <p:cNvPr id="94" name="テキスト ボックス 93">
            <a:extLst>
              <a:ext uri="{FF2B5EF4-FFF2-40B4-BE49-F238E27FC236}">
                <a16:creationId xmlns:a16="http://schemas.microsoft.com/office/drawing/2014/main" id="{4A349484-1427-988C-7AE9-F9F5E3CCB297}"/>
              </a:ext>
            </a:extLst>
          </p:cNvPr>
          <p:cNvSpPr txBox="1"/>
          <p:nvPr/>
        </p:nvSpPr>
        <p:spPr>
          <a:xfrm>
            <a:off x="1709349" y="4042793"/>
            <a:ext cx="911225" cy="523220"/>
          </a:xfrm>
          <a:prstGeom prst="rect">
            <a:avLst/>
          </a:prstGeom>
          <a:noFill/>
        </p:spPr>
        <p:txBody>
          <a:bodyPr wrap="square" rtlCol="0">
            <a:spAutoFit/>
          </a:bodyPr>
          <a:lstStyle/>
          <a:p>
            <a:r>
              <a:rPr kumimoji="1" lang="en-US" altLang="ja-JP" sz="2800" dirty="0">
                <a:noFill/>
              </a:rPr>
              <a:t>32</a:t>
            </a:r>
            <a:endParaRPr kumimoji="1" lang="ja-JP" altLang="en-US" sz="2800" dirty="0">
              <a:noFill/>
            </a:endParaRPr>
          </a:p>
        </p:txBody>
      </p:sp>
      <p:sp>
        <p:nvSpPr>
          <p:cNvPr id="96" name="テキスト ボックス 95">
            <a:extLst>
              <a:ext uri="{FF2B5EF4-FFF2-40B4-BE49-F238E27FC236}">
                <a16:creationId xmlns:a16="http://schemas.microsoft.com/office/drawing/2014/main" id="{FB75315C-A856-9920-56DD-9C800CF2CA16}"/>
              </a:ext>
            </a:extLst>
          </p:cNvPr>
          <p:cNvSpPr txBox="1"/>
          <p:nvPr/>
        </p:nvSpPr>
        <p:spPr>
          <a:xfrm>
            <a:off x="3095620" y="3476393"/>
            <a:ext cx="911225" cy="523220"/>
          </a:xfrm>
          <a:prstGeom prst="rect">
            <a:avLst/>
          </a:prstGeom>
          <a:noFill/>
        </p:spPr>
        <p:txBody>
          <a:bodyPr wrap="square" rtlCol="0">
            <a:spAutoFit/>
          </a:bodyPr>
          <a:lstStyle/>
          <a:p>
            <a:r>
              <a:rPr lang="en-US" altLang="ja-JP" sz="2800" dirty="0"/>
              <a:t>31°</a:t>
            </a:r>
            <a:endParaRPr kumimoji="1" lang="ja-JP" altLang="en-US" sz="2800" dirty="0"/>
          </a:p>
        </p:txBody>
      </p:sp>
      <p:sp>
        <p:nvSpPr>
          <p:cNvPr id="97" name="テキスト ボックス 96">
            <a:extLst>
              <a:ext uri="{FF2B5EF4-FFF2-40B4-BE49-F238E27FC236}">
                <a16:creationId xmlns:a16="http://schemas.microsoft.com/office/drawing/2014/main" id="{AD0B27D0-D94A-494C-6B11-2B18D7AD4B6C}"/>
              </a:ext>
            </a:extLst>
          </p:cNvPr>
          <p:cNvSpPr txBox="1"/>
          <p:nvPr/>
        </p:nvSpPr>
        <p:spPr>
          <a:xfrm>
            <a:off x="2539821" y="3859141"/>
            <a:ext cx="911225" cy="523220"/>
          </a:xfrm>
          <a:prstGeom prst="rect">
            <a:avLst/>
          </a:prstGeom>
          <a:noFill/>
        </p:spPr>
        <p:txBody>
          <a:bodyPr wrap="square" rtlCol="0">
            <a:spAutoFit/>
          </a:bodyPr>
          <a:lstStyle/>
          <a:p>
            <a:r>
              <a:rPr lang="en-US" altLang="ja-JP" sz="2800" dirty="0">
                <a:noFill/>
              </a:rPr>
              <a:t>37°</a:t>
            </a:r>
            <a:endParaRPr kumimoji="1" lang="ja-JP" altLang="en-US" sz="2800" dirty="0">
              <a:noFill/>
            </a:endParaRPr>
          </a:p>
        </p:txBody>
      </p:sp>
      <p:sp>
        <p:nvSpPr>
          <p:cNvPr id="98" name="テキスト ボックス 97">
            <a:extLst>
              <a:ext uri="{FF2B5EF4-FFF2-40B4-BE49-F238E27FC236}">
                <a16:creationId xmlns:a16="http://schemas.microsoft.com/office/drawing/2014/main" id="{AADD1801-37FA-37D2-B9CF-D1D71F1BB516}"/>
              </a:ext>
            </a:extLst>
          </p:cNvPr>
          <p:cNvSpPr txBox="1"/>
          <p:nvPr/>
        </p:nvSpPr>
        <p:spPr>
          <a:xfrm>
            <a:off x="2825521" y="4409326"/>
            <a:ext cx="305817" cy="523220"/>
          </a:xfrm>
          <a:prstGeom prst="rect">
            <a:avLst/>
          </a:prstGeom>
          <a:noFill/>
        </p:spPr>
        <p:txBody>
          <a:bodyPr wrap="square">
            <a:spAutoFit/>
          </a:bodyPr>
          <a:lstStyle/>
          <a:p>
            <a:r>
              <a:rPr kumimoji="1" lang="en-US" altLang="ja-JP" sz="2800" dirty="0">
                <a:noFill/>
              </a:rPr>
              <a:t>=</a:t>
            </a:r>
            <a:endParaRPr lang="ja-JP" altLang="en-US" sz="2800" dirty="0">
              <a:noFill/>
            </a:endParaRPr>
          </a:p>
        </p:txBody>
      </p:sp>
    </p:spTree>
    <p:extLst>
      <p:ext uri="{BB962C8B-B14F-4D97-AF65-F5344CB8AC3E}">
        <p14:creationId xmlns:p14="http://schemas.microsoft.com/office/powerpoint/2010/main" val="271532044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CD053-E358-249A-EA35-A8159E66600A}"/>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230B1F11-F966-9956-368D-51906F260D7C}"/>
              </a:ext>
            </a:extLst>
          </p:cNvPr>
          <p:cNvSpPr/>
          <p:nvPr/>
        </p:nvSpPr>
        <p:spPr>
          <a:xfrm>
            <a:off x="3046801"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solidFill>
                <a:schemeClr val="tx1"/>
              </a:solidFill>
            </a:endParaRPr>
          </a:p>
        </p:txBody>
      </p:sp>
      <p:sp>
        <p:nvSpPr>
          <p:cNvPr id="2" name="四角形: 角を丸くする 1">
            <a:extLst>
              <a:ext uri="{FF2B5EF4-FFF2-40B4-BE49-F238E27FC236}">
                <a16:creationId xmlns:a16="http://schemas.microsoft.com/office/drawing/2014/main" id="{7CC4A7C5-8EF9-B750-3AAE-019E9B158DAB}"/>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8045D114-C0B9-45AC-731D-EFAFC8F94473}"/>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bg1"/>
                </a:solidFill>
              </a:rPr>
              <a:t>システム要件</a:t>
            </a:r>
          </a:p>
        </p:txBody>
      </p:sp>
      <p:sp>
        <p:nvSpPr>
          <p:cNvPr id="11" name="四角形: 角を丸くする 10">
            <a:extLst>
              <a:ext uri="{FF2B5EF4-FFF2-40B4-BE49-F238E27FC236}">
                <a16:creationId xmlns:a16="http://schemas.microsoft.com/office/drawing/2014/main" id="{DB8ECE7D-14AE-1EE8-7DDE-B3FB239E7A6D}"/>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tx1"/>
                </a:solidFill>
              </a:rPr>
              <a:t>操作手順</a:t>
            </a:r>
          </a:p>
        </p:txBody>
      </p:sp>
      <p:sp>
        <p:nvSpPr>
          <p:cNvPr id="12" name="四角形: 角を丸くする 11">
            <a:extLst>
              <a:ext uri="{FF2B5EF4-FFF2-40B4-BE49-F238E27FC236}">
                <a16:creationId xmlns:a16="http://schemas.microsoft.com/office/drawing/2014/main" id="{4A2489F9-3891-511E-1D98-DFB8810F7D5F}"/>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プログラム説明</a:t>
            </a:r>
            <a:endParaRPr kumimoji="1" lang="ja-JP" altLang="en-US" sz="2400" dirty="0">
              <a:solidFill>
                <a:schemeClr val="tx1"/>
              </a:solidFill>
            </a:endParaRPr>
          </a:p>
        </p:txBody>
      </p:sp>
      <p:sp>
        <p:nvSpPr>
          <p:cNvPr id="7" name="テキスト ボックス 6">
            <a:extLst>
              <a:ext uri="{FF2B5EF4-FFF2-40B4-BE49-F238E27FC236}">
                <a16:creationId xmlns:a16="http://schemas.microsoft.com/office/drawing/2014/main" id="{C502B677-CE56-2DE6-3F5D-44D7EC65B413}"/>
              </a:ext>
            </a:extLst>
          </p:cNvPr>
          <p:cNvSpPr txBox="1"/>
          <p:nvPr/>
        </p:nvSpPr>
        <p:spPr>
          <a:xfrm>
            <a:off x="771525" y="1171575"/>
            <a:ext cx="2275276" cy="584775"/>
          </a:xfrm>
          <a:prstGeom prst="rect">
            <a:avLst/>
          </a:prstGeom>
          <a:noFill/>
        </p:spPr>
        <p:txBody>
          <a:bodyPr wrap="square" rtlCol="0">
            <a:spAutoFit/>
          </a:bodyPr>
          <a:lstStyle/>
          <a:p>
            <a:r>
              <a:rPr lang="ja-JP" altLang="en-US" sz="3200" dirty="0"/>
              <a:t>移動制御</a:t>
            </a:r>
            <a:endParaRPr kumimoji="1" lang="ja-JP" altLang="en-US" sz="3200" dirty="0"/>
          </a:p>
        </p:txBody>
      </p:sp>
      <p:sp>
        <p:nvSpPr>
          <p:cNvPr id="10" name="テキスト ボックス 9">
            <a:extLst>
              <a:ext uri="{FF2B5EF4-FFF2-40B4-BE49-F238E27FC236}">
                <a16:creationId xmlns:a16="http://schemas.microsoft.com/office/drawing/2014/main" id="{063A3F35-6636-B41C-B285-5205C4F159B3}"/>
              </a:ext>
            </a:extLst>
          </p:cNvPr>
          <p:cNvSpPr txBox="1"/>
          <p:nvPr/>
        </p:nvSpPr>
        <p:spPr>
          <a:xfrm>
            <a:off x="1238250" y="1755127"/>
            <a:ext cx="10953750" cy="461665"/>
          </a:xfrm>
          <a:prstGeom prst="rect">
            <a:avLst/>
          </a:prstGeom>
          <a:noFill/>
        </p:spPr>
        <p:txBody>
          <a:bodyPr wrap="square" rtlCol="0">
            <a:spAutoFit/>
          </a:bodyPr>
          <a:lstStyle/>
          <a:p>
            <a:r>
              <a:rPr lang="en-US" altLang="ja-JP" sz="2400" dirty="0"/>
              <a:t>“</a:t>
            </a:r>
            <a:r>
              <a:rPr lang="ja-JP" altLang="en-US" sz="2400" dirty="0"/>
              <a:t>向き</a:t>
            </a:r>
            <a:r>
              <a:rPr lang="en-US" altLang="ja-JP" sz="2400" dirty="0"/>
              <a:t>”</a:t>
            </a:r>
            <a:r>
              <a:rPr lang="ja-JP" altLang="en-US" sz="2400" dirty="0"/>
              <a:t>と</a:t>
            </a:r>
            <a:r>
              <a:rPr lang="en-US" altLang="ja-JP" sz="2400" dirty="0"/>
              <a:t>”</a:t>
            </a:r>
            <a:r>
              <a:rPr lang="ja-JP" altLang="en-US" sz="2400" dirty="0"/>
              <a:t>歩数</a:t>
            </a:r>
            <a:r>
              <a:rPr lang="en-US" altLang="ja-JP" sz="2400" dirty="0"/>
              <a:t>”</a:t>
            </a:r>
            <a:r>
              <a:rPr lang="ja-JP" altLang="en-US" sz="2400" dirty="0"/>
              <a:t>による自己位置推定と、目標座標への移動量計算</a:t>
            </a:r>
            <a:endParaRPr lang="en-US" altLang="ja-JP" sz="2400" dirty="0"/>
          </a:p>
        </p:txBody>
      </p:sp>
      <p:cxnSp>
        <p:nvCxnSpPr>
          <p:cNvPr id="5" name="直線コネクタ 4">
            <a:extLst>
              <a:ext uri="{FF2B5EF4-FFF2-40B4-BE49-F238E27FC236}">
                <a16:creationId xmlns:a16="http://schemas.microsoft.com/office/drawing/2014/main" id="{A62DDCD0-778E-9CFA-5015-B1283B45AC30}"/>
              </a:ext>
            </a:extLst>
          </p:cNvPr>
          <p:cNvCxnSpPr/>
          <p:nvPr/>
        </p:nvCxnSpPr>
        <p:spPr>
          <a:xfrm>
            <a:off x="7344629" y="4124790"/>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 name="直線矢印コネクタ 2">
            <a:extLst>
              <a:ext uri="{FF2B5EF4-FFF2-40B4-BE49-F238E27FC236}">
                <a16:creationId xmlns:a16="http://schemas.microsoft.com/office/drawing/2014/main" id="{E36F7D9A-C1A2-5ED0-2E4F-726443360CA0}"/>
              </a:ext>
            </a:extLst>
          </p:cNvPr>
          <p:cNvCxnSpPr/>
          <p:nvPr/>
        </p:nvCxnSpPr>
        <p:spPr>
          <a:xfrm>
            <a:off x="7344629" y="4482990"/>
            <a:ext cx="360000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 name="直線コネクタ 7">
            <a:extLst>
              <a:ext uri="{FF2B5EF4-FFF2-40B4-BE49-F238E27FC236}">
                <a16:creationId xmlns:a16="http://schemas.microsoft.com/office/drawing/2014/main" id="{9B8984ED-5F58-1095-C729-BAA2FC346C52}"/>
              </a:ext>
            </a:extLst>
          </p:cNvPr>
          <p:cNvCxnSpPr/>
          <p:nvPr/>
        </p:nvCxnSpPr>
        <p:spPr>
          <a:xfrm>
            <a:off x="7344629" y="3764790"/>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4" name="直線矢印コネクタ 3">
            <a:extLst>
              <a:ext uri="{FF2B5EF4-FFF2-40B4-BE49-F238E27FC236}">
                <a16:creationId xmlns:a16="http://schemas.microsoft.com/office/drawing/2014/main" id="{5126204E-2387-2B36-CED9-C601F79A46E1}"/>
              </a:ext>
            </a:extLst>
          </p:cNvPr>
          <p:cNvCxnSpPr>
            <a:cxnSpLocks/>
          </p:cNvCxnSpPr>
          <p:nvPr/>
        </p:nvCxnSpPr>
        <p:spPr>
          <a:xfrm rot="10800000">
            <a:off x="9146141" y="2682990"/>
            <a:ext cx="0" cy="360000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 name="直線矢印コネクタ 5">
            <a:extLst>
              <a:ext uri="{FF2B5EF4-FFF2-40B4-BE49-F238E27FC236}">
                <a16:creationId xmlns:a16="http://schemas.microsoft.com/office/drawing/2014/main" id="{80E13CAB-3B07-FADD-A497-6BB2FE25A50F}"/>
              </a:ext>
            </a:extLst>
          </p:cNvPr>
          <p:cNvCxnSpPr/>
          <p:nvPr/>
        </p:nvCxnSpPr>
        <p:spPr>
          <a:xfrm>
            <a:off x="7346141" y="3404790"/>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16" name="直線矢印コネクタ 15">
            <a:extLst>
              <a:ext uri="{FF2B5EF4-FFF2-40B4-BE49-F238E27FC236}">
                <a16:creationId xmlns:a16="http://schemas.microsoft.com/office/drawing/2014/main" id="{5EC663A2-C459-A267-B37E-CCC85BCFB64E}"/>
              </a:ext>
            </a:extLst>
          </p:cNvPr>
          <p:cNvCxnSpPr/>
          <p:nvPr/>
        </p:nvCxnSpPr>
        <p:spPr>
          <a:xfrm>
            <a:off x="7346141" y="3044790"/>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17" name="直線コネクタ 16">
            <a:extLst>
              <a:ext uri="{FF2B5EF4-FFF2-40B4-BE49-F238E27FC236}">
                <a16:creationId xmlns:a16="http://schemas.microsoft.com/office/drawing/2014/main" id="{6341D30C-AB79-048A-CE37-F2F4B279F7DF}"/>
              </a:ext>
            </a:extLst>
          </p:cNvPr>
          <p:cNvCxnSpPr/>
          <p:nvPr/>
        </p:nvCxnSpPr>
        <p:spPr>
          <a:xfrm>
            <a:off x="7344629" y="5882153"/>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DFB23E12-2810-9755-FAAF-93BBDC6ADC3F}"/>
              </a:ext>
            </a:extLst>
          </p:cNvPr>
          <p:cNvCxnSpPr/>
          <p:nvPr/>
        </p:nvCxnSpPr>
        <p:spPr>
          <a:xfrm>
            <a:off x="7344629" y="5522153"/>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9" name="直線矢印コネクタ 18">
            <a:extLst>
              <a:ext uri="{FF2B5EF4-FFF2-40B4-BE49-F238E27FC236}">
                <a16:creationId xmlns:a16="http://schemas.microsoft.com/office/drawing/2014/main" id="{3F80BBFE-85D9-1702-AA99-F6DB9F0242DF}"/>
              </a:ext>
            </a:extLst>
          </p:cNvPr>
          <p:cNvCxnSpPr/>
          <p:nvPr/>
        </p:nvCxnSpPr>
        <p:spPr>
          <a:xfrm>
            <a:off x="7346141" y="5162153"/>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20" name="直線矢印コネクタ 19">
            <a:extLst>
              <a:ext uri="{FF2B5EF4-FFF2-40B4-BE49-F238E27FC236}">
                <a16:creationId xmlns:a16="http://schemas.microsoft.com/office/drawing/2014/main" id="{E12614B4-6838-47AD-90CD-19048A8759BA}"/>
              </a:ext>
            </a:extLst>
          </p:cNvPr>
          <p:cNvCxnSpPr/>
          <p:nvPr/>
        </p:nvCxnSpPr>
        <p:spPr>
          <a:xfrm>
            <a:off x="7346141" y="4802153"/>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29" name="直線コネクタ 28">
            <a:extLst>
              <a:ext uri="{FF2B5EF4-FFF2-40B4-BE49-F238E27FC236}">
                <a16:creationId xmlns:a16="http://schemas.microsoft.com/office/drawing/2014/main" id="{2C50BCF9-E808-BD0D-9200-80A9EE284C5C}"/>
              </a:ext>
            </a:extLst>
          </p:cNvPr>
          <p:cNvCxnSpPr/>
          <p:nvPr/>
        </p:nvCxnSpPr>
        <p:spPr>
          <a:xfrm>
            <a:off x="878614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8938424F-D36A-2404-CD8B-31639B7B0F77}"/>
              </a:ext>
            </a:extLst>
          </p:cNvPr>
          <p:cNvCxnSpPr/>
          <p:nvPr/>
        </p:nvCxnSpPr>
        <p:spPr>
          <a:xfrm>
            <a:off x="842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F49888D9-D215-ED17-7715-9AC2913FB1EC}"/>
              </a:ext>
            </a:extLst>
          </p:cNvPr>
          <p:cNvCxnSpPr/>
          <p:nvPr/>
        </p:nvCxnSpPr>
        <p:spPr>
          <a:xfrm>
            <a:off x="806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4" name="直線コネクタ 33">
            <a:extLst>
              <a:ext uri="{FF2B5EF4-FFF2-40B4-BE49-F238E27FC236}">
                <a16:creationId xmlns:a16="http://schemas.microsoft.com/office/drawing/2014/main" id="{05035A21-11CD-D54B-DAB1-A1E80D772DBE}"/>
              </a:ext>
            </a:extLst>
          </p:cNvPr>
          <p:cNvCxnSpPr/>
          <p:nvPr/>
        </p:nvCxnSpPr>
        <p:spPr>
          <a:xfrm>
            <a:off x="770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5" name="直線コネクタ 34">
            <a:extLst>
              <a:ext uri="{FF2B5EF4-FFF2-40B4-BE49-F238E27FC236}">
                <a16:creationId xmlns:a16="http://schemas.microsoft.com/office/drawing/2014/main" id="{0E44FEF9-B249-204A-A600-FB20064040A2}"/>
              </a:ext>
            </a:extLst>
          </p:cNvPr>
          <p:cNvCxnSpPr/>
          <p:nvPr/>
        </p:nvCxnSpPr>
        <p:spPr>
          <a:xfrm>
            <a:off x="10599701" y="2681188"/>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6" name="直線コネクタ 35">
            <a:extLst>
              <a:ext uri="{FF2B5EF4-FFF2-40B4-BE49-F238E27FC236}">
                <a16:creationId xmlns:a16="http://schemas.microsoft.com/office/drawing/2014/main" id="{B9FB2CA4-910F-CCAC-3732-0D6E0588028B}"/>
              </a:ext>
            </a:extLst>
          </p:cNvPr>
          <p:cNvCxnSpPr/>
          <p:nvPr/>
        </p:nvCxnSpPr>
        <p:spPr>
          <a:xfrm>
            <a:off x="1023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7" name="直線コネクタ 36">
            <a:extLst>
              <a:ext uri="{FF2B5EF4-FFF2-40B4-BE49-F238E27FC236}">
                <a16:creationId xmlns:a16="http://schemas.microsoft.com/office/drawing/2014/main" id="{B3EFA5F1-D09E-E67D-0B01-A88AD588217A}"/>
              </a:ext>
            </a:extLst>
          </p:cNvPr>
          <p:cNvCxnSpPr/>
          <p:nvPr/>
        </p:nvCxnSpPr>
        <p:spPr>
          <a:xfrm>
            <a:off x="987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8" name="直線コネクタ 37">
            <a:extLst>
              <a:ext uri="{FF2B5EF4-FFF2-40B4-BE49-F238E27FC236}">
                <a16:creationId xmlns:a16="http://schemas.microsoft.com/office/drawing/2014/main" id="{4B11DBAA-8093-8D06-ED7F-2B55954309FC}"/>
              </a:ext>
            </a:extLst>
          </p:cNvPr>
          <p:cNvCxnSpPr/>
          <p:nvPr/>
        </p:nvCxnSpPr>
        <p:spPr>
          <a:xfrm>
            <a:off x="951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sp>
        <p:nvSpPr>
          <p:cNvPr id="39" name="テキスト ボックス 38">
            <a:extLst>
              <a:ext uri="{FF2B5EF4-FFF2-40B4-BE49-F238E27FC236}">
                <a16:creationId xmlns:a16="http://schemas.microsoft.com/office/drawing/2014/main" id="{A55EE99D-2C55-6B9B-6FC6-F36CD0E31D1B}"/>
              </a:ext>
            </a:extLst>
          </p:cNvPr>
          <p:cNvSpPr txBox="1"/>
          <p:nvPr/>
        </p:nvSpPr>
        <p:spPr>
          <a:xfrm>
            <a:off x="10878514" y="4157185"/>
            <a:ext cx="267345" cy="584775"/>
          </a:xfrm>
          <a:prstGeom prst="rect">
            <a:avLst/>
          </a:prstGeom>
          <a:noFill/>
        </p:spPr>
        <p:txBody>
          <a:bodyPr wrap="square" rtlCol="0" anchor="t">
            <a:spAutoFit/>
          </a:bodyPr>
          <a:lstStyle/>
          <a:p>
            <a:r>
              <a:rPr kumimoji="1" lang="en-US" altLang="ja-JP" sz="3200" b="1" dirty="0">
                <a:latin typeface="Gigi" panose="04040504060007020D02" pitchFamily="82" charset="0"/>
              </a:rPr>
              <a:t>x</a:t>
            </a:r>
            <a:endParaRPr kumimoji="1" lang="ja-JP" altLang="en-US" sz="3200" b="1" dirty="0">
              <a:latin typeface="Gigi" panose="04040504060007020D02" pitchFamily="82" charset="0"/>
            </a:endParaRPr>
          </a:p>
        </p:txBody>
      </p:sp>
      <p:sp>
        <p:nvSpPr>
          <p:cNvPr id="40" name="テキスト ボックス 39">
            <a:extLst>
              <a:ext uri="{FF2B5EF4-FFF2-40B4-BE49-F238E27FC236}">
                <a16:creationId xmlns:a16="http://schemas.microsoft.com/office/drawing/2014/main" id="{6236A6E9-CE37-E0D8-1062-C3AFCB076111}"/>
              </a:ext>
            </a:extLst>
          </p:cNvPr>
          <p:cNvSpPr txBox="1"/>
          <p:nvPr/>
        </p:nvSpPr>
        <p:spPr>
          <a:xfrm>
            <a:off x="8930273" y="2116703"/>
            <a:ext cx="267345" cy="584775"/>
          </a:xfrm>
          <a:prstGeom prst="rect">
            <a:avLst/>
          </a:prstGeom>
          <a:noFill/>
        </p:spPr>
        <p:txBody>
          <a:bodyPr wrap="square" rtlCol="0">
            <a:spAutoFit/>
          </a:bodyPr>
          <a:lstStyle/>
          <a:p>
            <a:r>
              <a:rPr lang="en-US" altLang="ja-JP" sz="3200" b="1" dirty="0">
                <a:latin typeface="Gigi" panose="04040504060007020D02" pitchFamily="82" charset="0"/>
              </a:rPr>
              <a:t>y</a:t>
            </a:r>
            <a:endParaRPr kumimoji="1" lang="ja-JP" altLang="en-US" sz="3200" b="1" dirty="0">
              <a:latin typeface="Gigi" panose="04040504060007020D02" pitchFamily="82" charset="0"/>
            </a:endParaRPr>
          </a:p>
        </p:txBody>
      </p:sp>
      <p:sp>
        <p:nvSpPr>
          <p:cNvPr id="41" name="テキスト ボックス 40">
            <a:extLst>
              <a:ext uri="{FF2B5EF4-FFF2-40B4-BE49-F238E27FC236}">
                <a16:creationId xmlns:a16="http://schemas.microsoft.com/office/drawing/2014/main" id="{8373DEF6-5F99-154D-23BF-42776AF5FAB2}"/>
              </a:ext>
            </a:extLst>
          </p:cNvPr>
          <p:cNvSpPr txBox="1"/>
          <p:nvPr/>
        </p:nvSpPr>
        <p:spPr>
          <a:xfrm>
            <a:off x="9109438" y="2161962"/>
            <a:ext cx="1020485" cy="523220"/>
          </a:xfrm>
          <a:prstGeom prst="rect">
            <a:avLst/>
          </a:prstGeom>
          <a:noFill/>
        </p:spPr>
        <p:txBody>
          <a:bodyPr wrap="square" rtlCol="0">
            <a:spAutoFit/>
          </a:bodyPr>
          <a:lstStyle/>
          <a:p>
            <a:pPr algn="ctr"/>
            <a:r>
              <a:rPr kumimoji="1" lang="en-US" altLang="ja-JP" sz="2800" dirty="0"/>
              <a:t>90°</a:t>
            </a:r>
            <a:endParaRPr kumimoji="1" lang="ja-JP" altLang="en-US" sz="2800" dirty="0"/>
          </a:p>
        </p:txBody>
      </p:sp>
      <p:sp>
        <p:nvSpPr>
          <p:cNvPr id="42" name="テキスト ボックス 41">
            <a:extLst>
              <a:ext uri="{FF2B5EF4-FFF2-40B4-BE49-F238E27FC236}">
                <a16:creationId xmlns:a16="http://schemas.microsoft.com/office/drawing/2014/main" id="{35808A9B-47CB-92E4-7A2E-B36265504258}"/>
              </a:ext>
            </a:extLst>
          </p:cNvPr>
          <p:cNvSpPr txBox="1"/>
          <p:nvPr/>
        </p:nvSpPr>
        <p:spPr>
          <a:xfrm>
            <a:off x="11144105" y="4233942"/>
            <a:ext cx="1020485" cy="830997"/>
          </a:xfrm>
          <a:prstGeom prst="rect">
            <a:avLst/>
          </a:prstGeom>
          <a:noFill/>
        </p:spPr>
        <p:txBody>
          <a:bodyPr wrap="square" rtlCol="0">
            <a:spAutoFit/>
          </a:bodyPr>
          <a:lstStyle/>
          <a:p>
            <a:r>
              <a:rPr kumimoji="1" lang="en-US" altLang="ja-JP" sz="2800" dirty="0"/>
              <a:t> 0°</a:t>
            </a:r>
          </a:p>
          <a:p>
            <a:r>
              <a:rPr lang="en-US" altLang="ja-JP" sz="2000" dirty="0"/>
              <a:t>(360°)</a:t>
            </a:r>
            <a:endParaRPr kumimoji="1" lang="ja-JP" altLang="en-US" sz="2000" dirty="0"/>
          </a:p>
        </p:txBody>
      </p:sp>
      <p:sp>
        <p:nvSpPr>
          <p:cNvPr id="43" name="テキスト ボックス 42">
            <a:extLst>
              <a:ext uri="{FF2B5EF4-FFF2-40B4-BE49-F238E27FC236}">
                <a16:creationId xmlns:a16="http://schemas.microsoft.com/office/drawing/2014/main" id="{9FD60877-9571-E734-56E1-DE4ACD0A9CED}"/>
              </a:ext>
            </a:extLst>
          </p:cNvPr>
          <p:cNvSpPr txBox="1"/>
          <p:nvPr/>
        </p:nvSpPr>
        <p:spPr>
          <a:xfrm>
            <a:off x="8714717" y="6340542"/>
            <a:ext cx="1020485" cy="523220"/>
          </a:xfrm>
          <a:prstGeom prst="rect">
            <a:avLst/>
          </a:prstGeom>
          <a:noFill/>
        </p:spPr>
        <p:txBody>
          <a:bodyPr wrap="square" rtlCol="0">
            <a:spAutoFit/>
          </a:bodyPr>
          <a:lstStyle/>
          <a:p>
            <a:pPr algn="ctr"/>
            <a:r>
              <a:rPr lang="en-US" altLang="ja-JP" sz="2800" dirty="0"/>
              <a:t>270</a:t>
            </a:r>
            <a:r>
              <a:rPr kumimoji="1" lang="en-US" altLang="ja-JP" sz="2800" dirty="0"/>
              <a:t>°</a:t>
            </a:r>
            <a:endParaRPr kumimoji="1" lang="ja-JP" altLang="en-US" sz="2800" dirty="0"/>
          </a:p>
        </p:txBody>
      </p:sp>
      <p:sp>
        <p:nvSpPr>
          <p:cNvPr id="44" name="テキスト ボックス 43">
            <a:extLst>
              <a:ext uri="{FF2B5EF4-FFF2-40B4-BE49-F238E27FC236}">
                <a16:creationId xmlns:a16="http://schemas.microsoft.com/office/drawing/2014/main" id="{879B0271-638B-CE87-6271-C823A5D0B72D}"/>
              </a:ext>
            </a:extLst>
          </p:cNvPr>
          <p:cNvSpPr txBox="1"/>
          <p:nvPr/>
        </p:nvSpPr>
        <p:spPr>
          <a:xfrm>
            <a:off x="6387152" y="4232640"/>
            <a:ext cx="1020485" cy="523220"/>
          </a:xfrm>
          <a:prstGeom prst="rect">
            <a:avLst/>
          </a:prstGeom>
          <a:noFill/>
        </p:spPr>
        <p:txBody>
          <a:bodyPr wrap="square" rtlCol="0">
            <a:spAutoFit/>
          </a:bodyPr>
          <a:lstStyle/>
          <a:p>
            <a:pPr algn="ctr"/>
            <a:r>
              <a:rPr lang="en-US" altLang="ja-JP" sz="2800" dirty="0"/>
              <a:t>18</a:t>
            </a:r>
            <a:r>
              <a:rPr kumimoji="1" lang="en-US" altLang="ja-JP" sz="2800" dirty="0"/>
              <a:t>0°</a:t>
            </a:r>
            <a:endParaRPr kumimoji="1" lang="ja-JP" altLang="en-US" sz="2800" dirty="0"/>
          </a:p>
        </p:txBody>
      </p:sp>
      <p:sp>
        <p:nvSpPr>
          <p:cNvPr id="48" name="テキスト ボックス 47">
            <a:extLst>
              <a:ext uri="{FF2B5EF4-FFF2-40B4-BE49-F238E27FC236}">
                <a16:creationId xmlns:a16="http://schemas.microsoft.com/office/drawing/2014/main" id="{B37075DF-4881-D495-9662-B51EA1519683}"/>
              </a:ext>
            </a:extLst>
          </p:cNvPr>
          <p:cNvSpPr txBox="1"/>
          <p:nvPr/>
        </p:nvSpPr>
        <p:spPr>
          <a:xfrm>
            <a:off x="5001795" y="6143763"/>
            <a:ext cx="281490" cy="523220"/>
          </a:xfrm>
          <a:prstGeom prst="rect">
            <a:avLst/>
          </a:prstGeom>
          <a:noFill/>
        </p:spPr>
        <p:txBody>
          <a:bodyPr wrap="square" rtlCol="0">
            <a:spAutoFit/>
          </a:bodyPr>
          <a:lstStyle/>
          <a:p>
            <a:r>
              <a:rPr lang="en-US" altLang="ja-JP" sz="2800" dirty="0"/>
              <a:t>(</a:t>
            </a:r>
            <a:endParaRPr kumimoji="1" lang="ja-JP" altLang="en-US" sz="2800" dirty="0"/>
          </a:p>
        </p:txBody>
      </p:sp>
      <p:sp>
        <p:nvSpPr>
          <p:cNvPr id="52" name="テキスト ボックス 51">
            <a:extLst>
              <a:ext uri="{FF2B5EF4-FFF2-40B4-BE49-F238E27FC236}">
                <a16:creationId xmlns:a16="http://schemas.microsoft.com/office/drawing/2014/main" id="{EB91C676-1B6D-034E-F162-7E7C703BF917}"/>
              </a:ext>
            </a:extLst>
          </p:cNvPr>
          <p:cNvSpPr txBox="1"/>
          <p:nvPr/>
        </p:nvSpPr>
        <p:spPr>
          <a:xfrm>
            <a:off x="6691092" y="6143763"/>
            <a:ext cx="281490" cy="523220"/>
          </a:xfrm>
          <a:prstGeom prst="rect">
            <a:avLst/>
          </a:prstGeom>
          <a:noFill/>
        </p:spPr>
        <p:txBody>
          <a:bodyPr wrap="square" rtlCol="0">
            <a:spAutoFit/>
          </a:bodyPr>
          <a:lstStyle/>
          <a:p>
            <a:r>
              <a:rPr kumimoji="1" lang="en-US" altLang="ja-JP" sz="2800" dirty="0"/>
              <a:t>)</a:t>
            </a:r>
            <a:endParaRPr kumimoji="1" lang="ja-JP" altLang="en-US" sz="2800" dirty="0"/>
          </a:p>
        </p:txBody>
      </p:sp>
      <p:sp>
        <p:nvSpPr>
          <p:cNvPr id="56" name="テキスト ボックス 55">
            <a:extLst>
              <a:ext uri="{FF2B5EF4-FFF2-40B4-BE49-F238E27FC236}">
                <a16:creationId xmlns:a16="http://schemas.microsoft.com/office/drawing/2014/main" id="{F1B48096-3AD6-A0B6-D1A8-6E60F18642AF}"/>
              </a:ext>
            </a:extLst>
          </p:cNvPr>
          <p:cNvSpPr txBox="1"/>
          <p:nvPr/>
        </p:nvSpPr>
        <p:spPr>
          <a:xfrm>
            <a:off x="5962379" y="6143763"/>
            <a:ext cx="281490" cy="523220"/>
          </a:xfrm>
          <a:prstGeom prst="rect">
            <a:avLst/>
          </a:prstGeom>
          <a:noFill/>
        </p:spPr>
        <p:txBody>
          <a:bodyPr wrap="square" rtlCol="0">
            <a:spAutoFit/>
          </a:bodyPr>
          <a:lstStyle/>
          <a:p>
            <a:r>
              <a:rPr lang="en-US" altLang="ja-JP" sz="2800" dirty="0"/>
              <a:t>,</a:t>
            </a:r>
          </a:p>
        </p:txBody>
      </p:sp>
      <p:sp>
        <p:nvSpPr>
          <p:cNvPr id="46" name="テキスト ボックス 45">
            <a:extLst>
              <a:ext uri="{FF2B5EF4-FFF2-40B4-BE49-F238E27FC236}">
                <a16:creationId xmlns:a16="http://schemas.microsoft.com/office/drawing/2014/main" id="{918BC739-2A5A-B983-45EF-28C0D187A6FB}"/>
              </a:ext>
            </a:extLst>
          </p:cNvPr>
          <p:cNvSpPr txBox="1"/>
          <p:nvPr/>
        </p:nvSpPr>
        <p:spPr>
          <a:xfrm>
            <a:off x="5194627" y="5905638"/>
            <a:ext cx="963158" cy="954107"/>
          </a:xfrm>
          <a:prstGeom prst="rect">
            <a:avLst/>
          </a:prstGeom>
          <a:noFill/>
        </p:spPr>
        <p:txBody>
          <a:bodyPr wrap="square" rtlCol="0">
            <a:spAutoFit/>
          </a:bodyPr>
          <a:lstStyle/>
          <a:p>
            <a:r>
              <a:rPr kumimoji="1" lang="en-US" altLang="ja-JP" sz="2800" dirty="0"/>
              <a:t>1</a:t>
            </a:r>
            <a:r>
              <a:rPr lang="en-US" altLang="ja-JP" sz="2800" dirty="0"/>
              <a:t>+</a:t>
            </a:r>
            <a:r>
              <a:rPr lang="ja-JP" altLang="en-US" sz="2800" dirty="0"/>
              <a:t>√</a:t>
            </a:r>
            <a:r>
              <a:rPr lang="en-US" altLang="ja-JP" sz="2800" dirty="0"/>
              <a:t>3</a:t>
            </a:r>
            <a:endParaRPr kumimoji="1" lang="en-US" altLang="ja-JP" sz="2800" dirty="0"/>
          </a:p>
          <a:p>
            <a:r>
              <a:rPr lang="en-US" altLang="ja-JP" sz="2800" dirty="0"/>
              <a:t>   </a:t>
            </a:r>
            <a:r>
              <a:rPr kumimoji="1" lang="en-US" altLang="ja-JP" sz="2800" dirty="0"/>
              <a:t>2</a:t>
            </a:r>
            <a:endParaRPr kumimoji="1" lang="ja-JP" altLang="en-US" sz="2800" dirty="0"/>
          </a:p>
        </p:txBody>
      </p:sp>
      <p:sp>
        <p:nvSpPr>
          <p:cNvPr id="61" name="テキスト ボックス 60">
            <a:extLst>
              <a:ext uri="{FF2B5EF4-FFF2-40B4-BE49-F238E27FC236}">
                <a16:creationId xmlns:a16="http://schemas.microsoft.com/office/drawing/2014/main" id="{BBED461A-CDF4-2582-B24F-787653460708}"/>
              </a:ext>
            </a:extLst>
          </p:cNvPr>
          <p:cNvSpPr txBox="1"/>
          <p:nvPr/>
        </p:nvSpPr>
        <p:spPr>
          <a:xfrm>
            <a:off x="10777538" y="2936791"/>
            <a:ext cx="1183482" cy="523220"/>
          </a:xfrm>
          <a:prstGeom prst="rect">
            <a:avLst/>
          </a:prstGeom>
          <a:noFill/>
        </p:spPr>
        <p:txBody>
          <a:bodyPr wrap="square" rtlCol="0">
            <a:spAutoFit/>
          </a:bodyPr>
          <a:lstStyle/>
          <a:p>
            <a:r>
              <a:rPr kumimoji="1" lang="en-US" altLang="ja-JP" sz="2800" dirty="0"/>
              <a:t>( 4 , 3 )</a:t>
            </a:r>
            <a:endParaRPr kumimoji="1" lang="ja-JP" altLang="en-US" sz="2800" dirty="0"/>
          </a:p>
        </p:txBody>
      </p:sp>
      <p:sp>
        <p:nvSpPr>
          <p:cNvPr id="60" name="楕円 59">
            <a:extLst>
              <a:ext uri="{FF2B5EF4-FFF2-40B4-BE49-F238E27FC236}">
                <a16:creationId xmlns:a16="http://schemas.microsoft.com/office/drawing/2014/main" id="{D339ECED-3DCF-8E05-E68D-EF15296B8B30}"/>
              </a:ext>
            </a:extLst>
          </p:cNvPr>
          <p:cNvSpPr/>
          <p:nvPr/>
        </p:nvSpPr>
        <p:spPr>
          <a:xfrm>
            <a:off x="10389122" y="3152458"/>
            <a:ext cx="419390" cy="419390"/>
          </a:xfrm>
          <a:prstGeom prst="ellipse">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800" b="1" dirty="0">
                <a:solidFill>
                  <a:schemeClr val="bg1"/>
                </a:solidFill>
              </a:rPr>
              <a:t>G</a:t>
            </a:r>
            <a:endParaRPr kumimoji="1" lang="ja-JP" altLang="en-US" sz="2800" b="1" dirty="0">
              <a:solidFill>
                <a:schemeClr val="bg1"/>
              </a:solidFill>
            </a:endParaRPr>
          </a:p>
        </p:txBody>
      </p:sp>
      <p:sp>
        <p:nvSpPr>
          <p:cNvPr id="26" name="矢印: 右 25">
            <a:extLst>
              <a:ext uri="{FF2B5EF4-FFF2-40B4-BE49-F238E27FC236}">
                <a16:creationId xmlns:a16="http://schemas.microsoft.com/office/drawing/2014/main" id="{9665EC03-B108-1809-8807-1E56E922389B}"/>
              </a:ext>
            </a:extLst>
          </p:cNvPr>
          <p:cNvSpPr/>
          <p:nvPr/>
        </p:nvSpPr>
        <p:spPr>
          <a:xfrm rot="19800000">
            <a:off x="9620315" y="3736641"/>
            <a:ext cx="356398" cy="378745"/>
          </a:xfrm>
          <a:prstGeom prst="rightArrow">
            <a:avLst>
              <a:gd name="adj1" fmla="val 38683"/>
              <a:gd name="adj2" fmla="val 54009"/>
            </a:avLst>
          </a:prstGeom>
          <a:solidFill>
            <a:schemeClr val="tx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67" name="矢印: 右 66">
            <a:extLst>
              <a:ext uri="{FF2B5EF4-FFF2-40B4-BE49-F238E27FC236}">
                <a16:creationId xmlns:a16="http://schemas.microsoft.com/office/drawing/2014/main" id="{BC167CC9-7048-AECC-9D31-BBCA3C1F10DE}"/>
              </a:ext>
            </a:extLst>
          </p:cNvPr>
          <p:cNvSpPr/>
          <p:nvPr/>
        </p:nvSpPr>
        <p:spPr>
          <a:xfrm rot="16200000">
            <a:off x="10329733" y="3620673"/>
            <a:ext cx="580747" cy="158670"/>
          </a:xfrm>
          <a:prstGeom prst="rightArrow">
            <a:avLst>
              <a:gd name="adj1" fmla="val 40995"/>
              <a:gd name="adj2" fmla="val 50000"/>
            </a:avLst>
          </a:prstGeom>
          <a:solidFill>
            <a:srgbClr val="C0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68" name="矢印: 右 67">
            <a:extLst>
              <a:ext uri="{FF2B5EF4-FFF2-40B4-BE49-F238E27FC236}">
                <a16:creationId xmlns:a16="http://schemas.microsoft.com/office/drawing/2014/main" id="{ECE5DD50-9D80-D283-E8D3-EFC56F9E8588}"/>
              </a:ext>
            </a:extLst>
          </p:cNvPr>
          <p:cNvSpPr/>
          <p:nvPr/>
        </p:nvSpPr>
        <p:spPr>
          <a:xfrm>
            <a:off x="9660814" y="3922758"/>
            <a:ext cx="938887" cy="158670"/>
          </a:xfrm>
          <a:prstGeom prst="rightArrow">
            <a:avLst>
              <a:gd name="adj1" fmla="val 40995"/>
              <a:gd name="adj2" fmla="val 50000"/>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69" name="矢印: 右 68">
            <a:extLst>
              <a:ext uri="{FF2B5EF4-FFF2-40B4-BE49-F238E27FC236}">
                <a16:creationId xmlns:a16="http://schemas.microsoft.com/office/drawing/2014/main" id="{A330983A-05AC-6EF3-0F11-50A6C53E3C30}"/>
              </a:ext>
            </a:extLst>
          </p:cNvPr>
          <p:cNvSpPr/>
          <p:nvPr/>
        </p:nvSpPr>
        <p:spPr>
          <a:xfrm rot="19679359">
            <a:off x="9576532" y="3630638"/>
            <a:ext cx="1105358" cy="158670"/>
          </a:xfrm>
          <a:prstGeom prst="rightArrow">
            <a:avLst>
              <a:gd name="adj1" fmla="val 40995"/>
              <a:gd name="adj2" fmla="val 50000"/>
            </a:avLst>
          </a:prstGeom>
          <a:solidFill>
            <a:srgbClr val="00B0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62" name="テキスト ボックス 61">
            <a:extLst>
              <a:ext uri="{FF2B5EF4-FFF2-40B4-BE49-F238E27FC236}">
                <a16:creationId xmlns:a16="http://schemas.microsoft.com/office/drawing/2014/main" id="{5ECC35E6-D03E-354B-CD3A-29FD5BDC3F2F}"/>
              </a:ext>
            </a:extLst>
          </p:cNvPr>
          <p:cNvSpPr txBox="1"/>
          <p:nvPr/>
        </p:nvSpPr>
        <p:spPr>
          <a:xfrm>
            <a:off x="771525" y="3467162"/>
            <a:ext cx="4447818" cy="523220"/>
          </a:xfrm>
          <a:prstGeom prst="rect">
            <a:avLst/>
          </a:prstGeom>
          <a:noFill/>
        </p:spPr>
        <p:txBody>
          <a:bodyPr wrap="square" rtlCol="0">
            <a:spAutoFit/>
          </a:bodyPr>
          <a:lstStyle/>
          <a:p>
            <a:r>
              <a:rPr lang="en-US" altLang="ja-JP" sz="2800" dirty="0"/>
              <a:t>a</a:t>
            </a:r>
            <a:r>
              <a:rPr kumimoji="1" lang="en-US" altLang="ja-JP" sz="2800" dirty="0"/>
              <a:t>rctan(</a:t>
            </a:r>
            <a:r>
              <a:rPr kumimoji="1" lang="en-US" altLang="ja-JP" sz="2800" dirty="0" err="1"/>
              <a:t>Δy</a:t>
            </a:r>
            <a:r>
              <a:rPr kumimoji="1" lang="en-US" altLang="ja-JP" sz="2800" dirty="0"/>
              <a:t>/</a:t>
            </a:r>
            <a:r>
              <a:rPr kumimoji="1" lang="en-US" altLang="ja-JP" sz="2800" dirty="0" err="1"/>
              <a:t>Δx</a:t>
            </a:r>
            <a:r>
              <a:rPr kumimoji="1" lang="en-US" altLang="ja-JP" sz="2800" dirty="0"/>
              <a:t>) </a:t>
            </a:r>
            <a:r>
              <a:rPr kumimoji="1" lang="ja-JP" altLang="en-US" sz="2800" dirty="0"/>
              <a:t>≈</a:t>
            </a:r>
          </a:p>
        </p:txBody>
      </p:sp>
      <p:sp>
        <p:nvSpPr>
          <p:cNvPr id="72" name="テキスト ボックス 71">
            <a:extLst>
              <a:ext uri="{FF2B5EF4-FFF2-40B4-BE49-F238E27FC236}">
                <a16:creationId xmlns:a16="http://schemas.microsoft.com/office/drawing/2014/main" id="{1D7FDF8C-9F20-CCC7-7109-BBF6C91CD77A}"/>
              </a:ext>
            </a:extLst>
          </p:cNvPr>
          <p:cNvSpPr txBox="1"/>
          <p:nvPr/>
        </p:nvSpPr>
        <p:spPr>
          <a:xfrm>
            <a:off x="3095625" y="3469536"/>
            <a:ext cx="911225" cy="523220"/>
          </a:xfrm>
          <a:prstGeom prst="rect">
            <a:avLst/>
          </a:prstGeom>
          <a:noFill/>
        </p:spPr>
        <p:txBody>
          <a:bodyPr wrap="square" rtlCol="0">
            <a:spAutoFit/>
          </a:bodyPr>
          <a:lstStyle/>
          <a:p>
            <a:r>
              <a:rPr lang="en-US" altLang="ja-JP" sz="2800" dirty="0"/>
              <a:t>32</a:t>
            </a:r>
            <a:r>
              <a:rPr kumimoji="1" lang="en-US" altLang="ja-JP" sz="2800" dirty="0"/>
              <a:t>°</a:t>
            </a:r>
            <a:endParaRPr kumimoji="1" lang="ja-JP" altLang="en-US" sz="2800" dirty="0"/>
          </a:p>
        </p:txBody>
      </p:sp>
      <p:sp>
        <p:nvSpPr>
          <p:cNvPr id="14" name="テキスト ボックス 13">
            <a:extLst>
              <a:ext uri="{FF2B5EF4-FFF2-40B4-BE49-F238E27FC236}">
                <a16:creationId xmlns:a16="http://schemas.microsoft.com/office/drawing/2014/main" id="{D56AA517-1F7E-59A1-0E76-6C009E7CD2EB}"/>
              </a:ext>
            </a:extLst>
          </p:cNvPr>
          <p:cNvSpPr txBox="1"/>
          <p:nvPr/>
        </p:nvSpPr>
        <p:spPr>
          <a:xfrm>
            <a:off x="5293437" y="6108838"/>
            <a:ext cx="851647" cy="523220"/>
          </a:xfrm>
          <a:prstGeom prst="rect">
            <a:avLst/>
          </a:prstGeom>
          <a:noFill/>
        </p:spPr>
        <p:txBody>
          <a:bodyPr wrap="square" rtlCol="0">
            <a:spAutoFit/>
          </a:bodyPr>
          <a:lstStyle/>
          <a:p>
            <a:r>
              <a:rPr lang="en-US" altLang="ja-JP" sz="2800" dirty="0"/>
              <a:t>――</a:t>
            </a:r>
            <a:endParaRPr kumimoji="1" lang="ja-JP" altLang="en-US" sz="2800" dirty="0"/>
          </a:p>
        </p:txBody>
      </p:sp>
      <p:sp>
        <p:nvSpPr>
          <p:cNvPr id="22" name="テキスト ボックス 21">
            <a:extLst>
              <a:ext uri="{FF2B5EF4-FFF2-40B4-BE49-F238E27FC236}">
                <a16:creationId xmlns:a16="http://schemas.microsoft.com/office/drawing/2014/main" id="{B60FB109-8855-71DF-9576-795B004A46D8}"/>
              </a:ext>
            </a:extLst>
          </p:cNvPr>
          <p:cNvSpPr txBox="1"/>
          <p:nvPr/>
        </p:nvSpPr>
        <p:spPr>
          <a:xfrm>
            <a:off x="5496645" y="5788163"/>
            <a:ext cx="851647" cy="523220"/>
          </a:xfrm>
          <a:prstGeom prst="rect">
            <a:avLst/>
          </a:prstGeom>
          <a:noFill/>
        </p:spPr>
        <p:txBody>
          <a:bodyPr wrap="square" rtlCol="0">
            <a:spAutoFit/>
          </a:bodyPr>
          <a:lstStyle/>
          <a:p>
            <a:r>
              <a:rPr lang="en-US" altLang="ja-JP" sz="2800" dirty="0">
                <a:noFill/>
              </a:rPr>
              <a:t>0</a:t>
            </a:r>
            <a:endParaRPr kumimoji="1" lang="ja-JP" altLang="en-US" sz="2800" dirty="0">
              <a:noFill/>
            </a:endParaRPr>
          </a:p>
        </p:txBody>
      </p:sp>
      <p:sp>
        <p:nvSpPr>
          <p:cNvPr id="23" name="テキスト ボックス 22">
            <a:extLst>
              <a:ext uri="{FF2B5EF4-FFF2-40B4-BE49-F238E27FC236}">
                <a16:creationId xmlns:a16="http://schemas.microsoft.com/office/drawing/2014/main" id="{D8BD127B-B55E-043C-43FF-BF35AA194D5F}"/>
              </a:ext>
            </a:extLst>
          </p:cNvPr>
          <p:cNvSpPr txBox="1"/>
          <p:nvPr/>
        </p:nvSpPr>
        <p:spPr>
          <a:xfrm>
            <a:off x="6289301" y="5788163"/>
            <a:ext cx="851647" cy="523220"/>
          </a:xfrm>
          <a:prstGeom prst="rect">
            <a:avLst/>
          </a:prstGeom>
          <a:noFill/>
        </p:spPr>
        <p:txBody>
          <a:bodyPr wrap="square" rtlCol="0">
            <a:spAutoFit/>
          </a:bodyPr>
          <a:lstStyle/>
          <a:p>
            <a:r>
              <a:rPr lang="en-US" altLang="ja-JP" sz="2800" dirty="0">
                <a:noFill/>
              </a:rPr>
              <a:t>0</a:t>
            </a:r>
            <a:endParaRPr kumimoji="1" lang="ja-JP" altLang="en-US" sz="2800" dirty="0">
              <a:noFill/>
            </a:endParaRPr>
          </a:p>
        </p:txBody>
      </p:sp>
      <p:sp>
        <p:nvSpPr>
          <p:cNvPr id="24" name="テキスト ボックス 23">
            <a:extLst>
              <a:ext uri="{FF2B5EF4-FFF2-40B4-BE49-F238E27FC236}">
                <a16:creationId xmlns:a16="http://schemas.microsoft.com/office/drawing/2014/main" id="{F53D215E-EE9B-0B2F-0036-2AA0F7D40561}"/>
              </a:ext>
            </a:extLst>
          </p:cNvPr>
          <p:cNvSpPr txBox="1"/>
          <p:nvPr/>
        </p:nvSpPr>
        <p:spPr>
          <a:xfrm>
            <a:off x="780575" y="4404567"/>
            <a:ext cx="4447818" cy="523220"/>
          </a:xfrm>
          <a:prstGeom prst="rect">
            <a:avLst/>
          </a:prstGeom>
          <a:noFill/>
        </p:spPr>
        <p:txBody>
          <a:bodyPr wrap="square" rtlCol="0">
            <a:spAutoFit/>
          </a:bodyPr>
          <a:lstStyle/>
          <a:p>
            <a:r>
              <a:rPr kumimoji="1" lang="ja-JP" altLang="en-US" sz="2800" dirty="0"/>
              <a:t>√</a:t>
            </a:r>
            <a:r>
              <a:rPr kumimoji="1" lang="en-US" altLang="ja-JP" sz="2800" dirty="0"/>
              <a:t>((</a:t>
            </a:r>
            <a:r>
              <a:rPr kumimoji="1" lang="en-US" altLang="ja-JP" sz="2800" dirty="0" err="1"/>
              <a:t>Δx</a:t>
            </a:r>
            <a:r>
              <a:rPr kumimoji="1" lang="en-US" altLang="ja-JP" sz="2800" dirty="0"/>
              <a:t>)²+(</a:t>
            </a:r>
            <a:r>
              <a:rPr kumimoji="1" lang="en-US" altLang="ja-JP" sz="2800" dirty="0" err="1"/>
              <a:t>Δy</a:t>
            </a:r>
            <a:r>
              <a:rPr kumimoji="1" lang="en-US" altLang="ja-JP" sz="2800" dirty="0"/>
              <a:t>)²)</a:t>
            </a:r>
            <a:endParaRPr kumimoji="1" lang="ja-JP" altLang="en-US" sz="2800" dirty="0"/>
          </a:p>
        </p:txBody>
      </p:sp>
      <p:sp>
        <p:nvSpPr>
          <p:cNvPr id="25" name="テキスト ボックス 24">
            <a:extLst>
              <a:ext uri="{FF2B5EF4-FFF2-40B4-BE49-F238E27FC236}">
                <a16:creationId xmlns:a16="http://schemas.microsoft.com/office/drawing/2014/main" id="{CC5568B8-D62F-DBE9-8D15-954DE6C90C43}"/>
              </a:ext>
            </a:extLst>
          </p:cNvPr>
          <p:cNvSpPr txBox="1"/>
          <p:nvPr/>
        </p:nvSpPr>
        <p:spPr>
          <a:xfrm>
            <a:off x="3058250" y="4422048"/>
            <a:ext cx="911225" cy="523220"/>
          </a:xfrm>
          <a:prstGeom prst="rect">
            <a:avLst/>
          </a:prstGeom>
          <a:noFill/>
        </p:spPr>
        <p:txBody>
          <a:bodyPr wrap="square" rtlCol="0">
            <a:spAutoFit/>
          </a:bodyPr>
          <a:lstStyle/>
          <a:p>
            <a:r>
              <a:rPr lang="en-US" altLang="ja-JP" sz="2800" dirty="0"/>
              <a:t>3.09</a:t>
            </a:r>
            <a:endParaRPr kumimoji="1" lang="ja-JP" altLang="en-US" sz="2800" dirty="0"/>
          </a:p>
        </p:txBody>
      </p:sp>
      <p:sp>
        <p:nvSpPr>
          <p:cNvPr id="27" name="テキスト ボックス 26">
            <a:extLst>
              <a:ext uri="{FF2B5EF4-FFF2-40B4-BE49-F238E27FC236}">
                <a16:creationId xmlns:a16="http://schemas.microsoft.com/office/drawing/2014/main" id="{55D3AE6F-10BE-5469-0A0B-1E4BCCE52854}"/>
              </a:ext>
            </a:extLst>
          </p:cNvPr>
          <p:cNvSpPr txBox="1"/>
          <p:nvPr/>
        </p:nvSpPr>
        <p:spPr>
          <a:xfrm>
            <a:off x="774542" y="3956168"/>
            <a:ext cx="4447818" cy="523220"/>
          </a:xfrm>
          <a:prstGeom prst="rect">
            <a:avLst/>
          </a:prstGeom>
          <a:noFill/>
        </p:spPr>
        <p:txBody>
          <a:bodyPr wrap="square" rtlCol="0">
            <a:spAutoFit/>
          </a:bodyPr>
          <a:lstStyle/>
          <a:p>
            <a:r>
              <a:rPr lang="en-US" altLang="ja-JP" sz="2800" dirty="0"/>
              <a:t>     </a:t>
            </a:r>
            <a:r>
              <a:rPr kumimoji="1" lang="en-US" altLang="ja-JP" sz="2800" dirty="0"/>
              <a:t>°</a:t>
            </a:r>
            <a:r>
              <a:rPr lang="ja-JP" altLang="en-US" sz="2800" dirty="0"/>
              <a:t> </a:t>
            </a:r>
            <a:r>
              <a:rPr lang="en-US" altLang="ja-JP" sz="2800" dirty="0"/>
              <a:t>-</a:t>
            </a:r>
            <a:r>
              <a:rPr lang="ja-JP" altLang="en-US" sz="2800" dirty="0"/>
              <a:t> </a:t>
            </a:r>
            <a:r>
              <a:rPr lang="en-US" altLang="ja-JP" sz="2800" dirty="0"/>
              <a:t>     °</a:t>
            </a:r>
            <a:r>
              <a:rPr lang="ja-JP" altLang="en-US" sz="2800" dirty="0"/>
              <a:t> </a:t>
            </a:r>
            <a:r>
              <a:rPr kumimoji="1" lang="en-US" altLang="ja-JP" sz="2800" dirty="0"/>
              <a:t>=</a:t>
            </a:r>
            <a:endParaRPr kumimoji="1" lang="ja-JP" altLang="en-US" sz="2800" dirty="0"/>
          </a:p>
        </p:txBody>
      </p:sp>
      <p:sp>
        <p:nvSpPr>
          <p:cNvPr id="28" name="テキスト ボックス 27">
            <a:extLst>
              <a:ext uri="{FF2B5EF4-FFF2-40B4-BE49-F238E27FC236}">
                <a16:creationId xmlns:a16="http://schemas.microsoft.com/office/drawing/2014/main" id="{26D3C562-7ACA-ECAB-5A6A-B33FF8FAC4B8}"/>
              </a:ext>
            </a:extLst>
          </p:cNvPr>
          <p:cNvSpPr txBox="1"/>
          <p:nvPr/>
        </p:nvSpPr>
        <p:spPr>
          <a:xfrm>
            <a:off x="2539821" y="3950581"/>
            <a:ext cx="911225" cy="523220"/>
          </a:xfrm>
          <a:prstGeom prst="rect">
            <a:avLst/>
          </a:prstGeom>
          <a:noFill/>
        </p:spPr>
        <p:txBody>
          <a:bodyPr wrap="square" rtlCol="0">
            <a:spAutoFit/>
          </a:bodyPr>
          <a:lstStyle/>
          <a:p>
            <a:r>
              <a:rPr lang="en-US" altLang="ja-JP" sz="2800" dirty="0"/>
              <a:t>-2°</a:t>
            </a:r>
            <a:endParaRPr kumimoji="1" lang="ja-JP" altLang="en-US" sz="2800" dirty="0"/>
          </a:p>
        </p:txBody>
      </p:sp>
      <p:sp>
        <p:nvSpPr>
          <p:cNvPr id="32" name="テキスト ボックス 31">
            <a:extLst>
              <a:ext uri="{FF2B5EF4-FFF2-40B4-BE49-F238E27FC236}">
                <a16:creationId xmlns:a16="http://schemas.microsoft.com/office/drawing/2014/main" id="{DD445CE0-5DBD-D75D-BCE2-7141030516AD}"/>
              </a:ext>
            </a:extLst>
          </p:cNvPr>
          <p:cNvSpPr txBox="1"/>
          <p:nvPr/>
        </p:nvSpPr>
        <p:spPr>
          <a:xfrm>
            <a:off x="2820764" y="4404567"/>
            <a:ext cx="305817" cy="523220"/>
          </a:xfrm>
          <a:prstGeom prst="rect">
            <a:avLst/>
          </a:prstGeom>
          <a:noFill/>
        </p:spPr>
        <p:txBody>
          <a:bodyPr wrap="square">
            <a:spAutoFit/>
          </a:bodyPr>
          <a:lstStyle/>
          <a:p>
            <a:r>
              <a:rPr lang="ja-JP" altLang="en-US" sz="2800" dirty="0"/>
              <a:t>≈</a:t>
            </a:r>
          </a:p>
        </p:txBody>
      </p:sp>
      <p:sp>
        <p:nvSpPr>
          <p:cNvPr id="51" name="テキスト ボックス 50">
            <a:extLst>
              <a:ext uri="{FF2B5EF4-FFF2-40B4-BE49-F238E27FC236}">
                <a16:creationId xmlns:a16="http://schemas.microsoft.com/office/drawing/2014/main" id="{81201340-8EA2-305B-371A-99AC3209EC80}"/>
              </a:ext>
            </a:extLst>
          </p:cNvPr>
          <p:cNvSpPr txBox="1"/>
          <p:nvPr/>
        </p:nvSpPr>
        <p:spPr>
          <a:xfrm>
            <a:off x="818849" y="3957968"/>
            <a:ext cx="911225" cy="523220"/>
          </a:xfrm>
          <a:prstGeom prst="rect">
            <a:avLst/>
          </a:prstGeom>
          <a:noFill/>
        </p:spPr>
        <p:txBody>
          <a:bodyPr wrap="square" rtlCol="0">
            <a:spAutoFit/>
          </a:bodyPr>
          <a:lstStyle/>
          <a:p>
            <a:r>
              <a:rPr kumimoji="1" lang="en-US" altLang="ja-JP" sz="2800" dirty="0"/>
              <a:t>30</a:t>
            </a:r>
            <a:endParaRPr kumimoji="1" lang="ja-JP" altLang="en-US" sz="2800" dirty="0"/>
          </a:p>
        </p:txBody>
      </p:sp>
      <p:sp>
        <p:nvSpPr>
          <p:cNvPr id="53" name="テキスト ボックス 52">
            <a:extLst>
              <a:ext uri="{FF2B5EF4-FFF2-40B4-BE49-F238E27FC236}">
                <a16:creationId xmlns:a16="http://schemas.microsoft.com/office/drawing/2014/main" id="{6947282F-E4C6-E331-51BE-91297EC4A6D8}"/>
              </a:ext>
            </a:extLst>
          </p:cNvPr>
          <p:cNvSpPr txBox="1"/>
          <p:nvPr/>
        </p:nvSpPr>
        <p:spPr>
          <a:xfrm>
            <a:off x="1709349" y="3957068"/>
            <a:ext cx="911225" cy="523220"/>
          </a:xfrm>
          <a:prstGeom prst="rect">
            <a:avLst/>
          </a:prstGeom>
          <a:noFill/>
        </p:spPr>
        <p:txBody>
          <a:bodyPr wrap="square" rtlCol="0">
            <a:spAutoFit/>
          </a:bodyPr>
          <a:lstStyle/>
          <a:p>
            <a:r>
              <a:rPr kumimoji="1" lang="en-US" altLang="ja-JP" sz="2800" dirty="0"/>
              <a:t>32</a:t>
            </a:r>
            <a:endParaRPr kumimoji="1" lang="ja-JP" altLang="en-US" sz="2800" dirty="0"/>
          </a:p>
        </p:txBody>
      </p:sp>
      <p:sp>
        <p:nvSpPr>
          <p:cNvPr id="31" name="テキスト ボックス 30">
            <a:extLst>
              <a:ext uri="{FF2B5EF4-FFF2-40B4-BE49-F238E27FC236}">
                <a16:creationId xmlns:a16="http://schemas.microsoft.com/office/drawing/2014/main" id="{D468B9CE-10B3-A1CB-7825-AEA3AB659ECC}"/>
              </a:ext>
            </a:extLst>
          </p:cNvPr>
          <p:cNvSpPr txBox="1"/>
          <p:nvPr/>
        </p:nvSpPr>
        <p:spPr>
          <a:xfrm>
            <a:off x="5975691" y="5905636"/>
            <a:ext cx="963158" cy="954107"/>
          </a:xfrm>
          <a:prstGeom prst="rect">
            <a:avLst/>
          </a:prstGeom>
          <a:noFill/>
        </p:spPr>
        <p:txBody>
          <a:bodyPr wrap="square" rtlCol="0">
            <a:spAutoFit/>
          </a:bodyPr>
          <a:lstStyle/>
          <a:p>
            <a:r>
              <a:rPr kumimoji="1" lang="en-US" altLang="ja-JP" sz="2800" dirty="0"/>
              <a:t>1</a:t>
            </a:r>
            <a:r>
              <a:rPr lang="en-US" altLang="ja-JP" sz="2800" dirty="0"/>
              <a:t>+</a:t>
            </a:r>
            <a:r>
              <a:rPr lang="ja-JP" altLang="en-US" sz="2800" dirty="0"/>
              <a:t>√</a:t>
            </a:r>
            <a:r>
              <a:rPr lang="en-US" altLang="ja-JP" sz="2800" dirty="0"/>
              <a:t>3</a:t>
            </a:r>
            <a:endParaRPr kumimoji="1" lang="en-US" altLang="ja-JP" sz="2800" dirty="0"/>
          </a:p>
          <a:p>
            <a:r>
              <a:rPr lang="en-US" altLang="ja-JP" sz="2800" dirty="0"/>
              <a:t>   </a:t>
            </a:r>
            <a:r>
              <a:rPr kumimoji="1" lang="en-US" altLang="ja-JP" sz="2800" dirty="0"/>
              <a:t>2</a:t>
            </a:r>
            <a:endParaRPr kumimoji="1" lang="ja-JP" altLang="en-US" sz="2800" dirty="0"/>
          </a:p>
        </p:txBody>
      </p:sp>
      <p:sp>
        <p:nvSpPr>
          <p:cNvPr id="45" name="テキスト ボックス 44">
            <a:extLst>
              <a:ext uri="{FF2B5EF4-FFF2-40B4-BE49-F238E27FC236}">
                <a16:creationId xmlns:a16="http://schemas.microsoft.com/office/drawing/2014/main" id="{E5D0BAFD-EF3D-9410-5AF7-056EF62D62B5}"/>
              </a:ext>
            </a:extLst>
          </p:cNvPr>
          <p:cNvSpPr txBox="1"/>
          <p:nvPr/>
        </p:nvSpPr>
        <p:spPr>
          <a:xfrm>
            <a:off x="6074501" y="6108836"/>
            <a:ext cx="851647" cy="523220"/>
          </a:xfrm>
          <a:prstGeom prst="rect">
            <a:avLst/>
          </a:prstGeom>
          <a:noFill/>
        </p:spPr>
        <p:txBody>
          <a:bodyPr wrap="square" rtlCol="0">
            <a:spAutoFit/>
          </a:bodyPr>
          <a:lstStyle/>
          <a:p>
            <a:r>
              <a:rPr lang="en-US" altLang="ja-JP" sz="2800" dirty="0"/>
              <a:t>――</a:t>
            </a:r>
            <a:endParaRPr kumimoji="1" lang="ja-JP" altLang="en-US" sz="2800" dirty="0"/>
          </a:p>
        </p:txBody>
      </p:sp>
      <p:sp>
        <p:nvSpPr>
          <p:cNvPr id="49" name="テキスト ボックス 48">
            <a:extLst>
              <a:ext uri="{FF2B5EF4-FFF2-40B4-BE49-F238E27FC236}">
                <a16:creationId xmlns:a16="http://schemas.microsoft.com/office/drawing/2014/main" id="{E73E9512-787A-2DB6-BD29-0EA90AFAF8E3}"/>
              </a:ext>
            </a:extLst>
          </p:cNvPr>
          <p:cNvSpPr txBox="1"/>
          <p:nvPr/>
        </p:nvSpPr>
        <p:spPr>
          <a:xfrm>
            <a:off x="5496645" y="5519868"/>
            <a:ext cx="851647" cy="954107"/>
          </a:xfrm>
          <a:prstGeom prst="rect">
            <a:avLst/>
          </a:prstGeom>
          <a:noFill/>
        </p:spPr>
        <p:txBody>
          <a:bodyPr wrap="square" rtlCol="0">
            <a:spAutoFit/>
          </a:bodyPr>
          <a:lstStyle/>
          <a:p>
            <a:r>
              <a:rPr kumimoji="1" lang="en-US" altLang="ja-JP" sz="2800" dirty="0">
                <a:noFill/>
              </a:rPr>
              <a:t>1</a:t>
            </a:r>
          </a:p>
          <a:p>
            <a:r>
              <a:rPr kumimoji="1" lang="en-US" altLang="ja-JP" sz="2800" dirty="0">
                <a:noFill/>
              </a:rPr>
              <a:t>2</a:t>
            </a:r>
            <a:endParaRPr kumimoji="1" lang="ja-JP" altLang="en-US" sz="2800" dirty="0">
              <a:noFill/>
            </a:endParaRPr>
          </a:p>
        </p:txBody>
      </p:sp>
      <p:sp>
        <p:nvSpPr>
          <p:cNvPr id="57" name="テキスト ボックス 56">
            <a:extLst>
              <a:ext uri="{FF2B5EF4-FFF2-40B4-BE49-F238E27FC236}">
                <a16:creationId xmlns:a16="http://schemas.microsoft.com/office/drawing/2014/main" id="{2ABF5764-E852-9E2E-DBCD-040571FF4C6A}"/>
              </a:ext>
            </a:extLst>
          </p:cNvPr>
          <p:cNvSpPr txBox="1"/>
          <p:nvPr/>
        </p:nvSpPr>
        <p:spPr>
          <a:xfrm>
            <a:off x="6289301" y="5519868"/>
            <a:ext cx="851647" cy="954107"/>
          </a:xfrm>
          <a:prstGeom prst="rect">
            <a:avLst/>
          </a:prstGeom>
          <a:noFill/>
        </p:spPr>
        <p:txBody>
          <a:bodyPr wrap="square" rtlCol="0">
            <a:spAutoFit/>
          </a:bodyPr>
          <a:lstStyle/>
          <a:p>
            <a:r>
              <a:rPr lang="ja-JP" altLang="en-US" sz="2800" dirty="0">
                <a:noFill/>
              </a:rPr>
              <a:t>√</a:t>
            </a:r>
            <a:r>
              <a:rPr lang="en-US" altLang="ja-JP" sz="2800" dirty="0">
                <a:noFill/>
              </a:rPr>
              <a:t>3</a:t>
            </a:r>
          </a:p>
          <a:p>
            <a:r>
              <a:rPr kumimoji="1" lang="en-US" altLang="ja-JP" sz="2800" dirty="0">
                <a:noFill/>
              </a:rPr>
              <a:t>2</a:t>
            </a:r>
            <a:endParaRPr kumimoji="1" lang="ja-JP" altLang="en-US" sz="2800" dirty="0">
              <a:noFill/>
            </a:endParaRPr>
          </a:p>
        </p:txBody>
      </p:sp>
      <p:sp>
        <p:nvSpPr>
          <p:cNvPr id="58" name="テキスト ボックス 57">
            <a:extLst>
              <a:ext uri="{FF2B5EF4-FFF2-40B4-BE49-F238E27FC236}">
                <a16:creationId xmlns:a16="http://schemas.microsoft.com/office/drawing/2014/main" id="{53DE359C-0AA6-F13E-5138-D80B7D646CF6}"/>
              </a:ext>
            </a:extLst>
          </p:cNvPr>
          <p:cNvSpPr txBox="1"/>
          <p:nvPr/>
        </p:nvSpPr>
        <p:spPr>
          <a:xfrm>
            <a:off x="5483945" y="5723068"/>
            <a:ext cx="851647" cy="523220"/>
          </a:xfrm>
          <a:prstGeom prst="rect">
            <a:avLst/>
          </a:prstGeom>
          <a:noFill/>
        </p:spPr>
        <p:txBody>
          <a:bodyPr wrap="square" rtlCol="0">
            <a:spAutoFit/>
          </a:bodyPr>
          <a:lstStyle/>
          <a:p>
            <a:r>
              <a:rPr lang="en-US" altLang="ja-JP" sz="2800" dirty="0">
                <a:noFill/>
              </a:rPr>
              <a:t>―</a:t>
            </a:r>
            <a:endParaRPr kumimoji="1" lang="ja-JP" altLang="en-US" sz="2800" dirty="0">
              <a:noFill/>
            </a:endParaRPr>
          </a:p>
        </p:txBody>
      </p:sp>
      <p:sp>
        <p:nvSpPr>
          <p:cNvPr id="59" name="テキスト ボックス 58">
            <a:extLst>
              <a:ext uri="{FF2B5EF4-FFF2-40B4-BE49-F238E27FC236}">
                <a16:creationId xmlns:a16="http://schemas.microsoft.com/office/drawing/2014/main" id="{87E21A35-6E5A-8961-C79B-4AA56CF67B0C}"/>
              </a:ext>
            </a:extLst>
          </p:cNvPr>
          <p:cNvSpPr txBox="1"/>
          <p:nvPr/>
        </p:nvSpPr>
        <p:spPr>
          <a:xfrm>
            <a:off x="6276601" y="5723068"/>
            <a:ext cx="851647" cy="523220"/>
          </a:xfrm>
          <a:prstGeom prst="rect">
            <a:avLst/>
          </a:prstGeom>
          <a:noFill/>
        </p:spPr>
        <p:txBody>
          <a:bodyPr wrap="square" rtlCol="0">
            <a:spAutoFit/>
          </a:bodyPr>
          <a:lstStyle/>
          <a:p>
            <a:r>
              <a:rPr kumimoji="1" lang="en-US" altLang="ja-JP" sz="2800" dirty="0">
                <a:noFill/>
              </a:rPr>
              <a:t>―</a:t>
            </a:r>
            <a:endParaRPr kumimoji="1" lang="ja-JP" altLang="en-US" sz="2800" dirty="0">
              <a:noFill/>
            </a:endParaRPr>
          </a:p>
        </p:txBody>
      </p:sp>
      <p:sp>
        <p:nvSpPr>
          <p:cNvPr id="70" name="テキスト ボックス 69">
            <a:extLst>
              <a:ext uri="{FF2B5EF4-FFF2-40B4-BE49-F238E27FC236}">
                <a16:creationId xmlns:a16="http://schemas.microsoft.com/office/drawing/2014/main" id="{720FCF21-CD57-8AC1-E8CF-8D8D964866A2}"/>
              </a:ext>
            </a:extLst>
          </p:cNvPr>
          <p:cNvSpPr txBox="1"/>
          <p:nvPr/>
        </p:nvSpPr>
        <p:spPr>
          <a:xfrm>
            <a:off x="3058244" y="4293452"/>
            <a:ext cx="911225" cy="523220"/>
          </a:xfrm>
          <a:prstGeom prst="rect">
            <a:avLst/>
          </a:prstGeom>
          <a:noFill/>
        </p:spPr>
        <p:txBody>
          <a:bodyPr wrap="square" rtlCol="0">
            <a:spAutoFit/>
          </a:bodyPr>
          <a:lstStyle/>
          <a:p>
            <a:r>
              <a:rPr kumimoji="1" lang="en-US" altLang="ja-JP" sz="2800" dirty="0">
                <a:noFill/>
              </a:rPr>
              <a:t>4.09</a:t>
            </a:r>
            <a:endParaRPr kumimoji="1" lang="ja-JP" altLang="en-US" sz="2800" dirty="0">
              <a:noFill/>
            </a:endParaRPr>
          </a:p>
        </p:txBody>
      </p:sp>
      <p:sp>
        <p:nvSpPr>
          <p:cNvPr id="71" name="テキスト ボックス 70">
            <a:extLst>
              <a:ext uri="{FF2B5EF4-FFF2-40B4-BE49-F238E27FC236}">
                <a16:creationId xmlns:a16="http://schemas.microsoft.com/office/drawing/2014/main" id="{D8467860-2C40-11AF-ABD9-82F9B5EC2901}"/>
              </a:ext>
            </a:extLst>
          </p:cNvPr>
          <p:cNvSpPr txBox="1"/>
          <p:nvPr/>
        </p:nvSpPr>
        <p:spPr>
          <a:xfrm>
            <a:off x="2543198" y="3836706"/>
            <a:ext cx="911225" cy="523220"/>
          </a:xfrm>
          <a:prstGeom prst="rect">
            <a:avLst/>
          </a:prstGeom>
          <a:noFill/>
        </p:spPr>
        <p:txBody>
          <a:bodyPr wrap="square" rtlCol="0">
            <a:spAutoFit/>
          </a:bodyPr>
          <a:lstStyle/>
          <a:p>
            <a:r>
              <a:rPr lang="en-US" altLang="ja-JP" sz="2800" dirty="0">
                <a:noFill/>
              </a:rPr>
              <a:t>29°</a:t>
            </a:r>
            <a:endParaRPr kumimoji="1" lang="ja-JP" altLang="en-US" sz="2800" dirty="0">
              <a:noFill/>
            </a:endParaRPr>
          </a:p>
        </p:txBody>
      </p:sp>
      <p:sp>
        <p:nvSpPr>
          <p:cNvPr id="73" name="テキスト ボックス 72">
            <a:extLst>
              <a:ext uri="{FF2B5EF4-FFF2-40B4-BE49-F238E27FC236}">
                <a16:creationId xmlns:a16="http://schemas.microsoft.com/office/drawing/2014/main" id="{84EA63FB-7D0B-589E-C123-49ECDE6A4D98}"/>
              </a:ext>
            </a:extLst>
          </p:cNvPr>
          <p:cNvSpPr txBox="1"/>
          <p:nvPr/>
        </p:nvSpPr>
        <p:spPr>
          <a:xfrm>
            <a:off x="824579" y="3843289"/>
            <a:ext cx="911225" cy="523220"/>
          </a:xfrm>
          <a:prstGeom prst="rect">
            <a:avLst/>
          </a:prstGeom>
          <a:noFill/>
        </p:spPr>
        <p:txBody>
          <a:bodyPr wrap="square" rtlCol="0">
            <a:spAutoFit/>
          </a:bodyPr>
          <a:lstStyle/>
          <a:p>
            <a:r>
              <a:rPr lang="en-US" altLang="ja-JP" sz="2800" dirty="0">
                <a:noFill/>
              </a:rPr>
              <a:t>60</a:t>
            </a:r>
            <a:endParaRPr kumimoji="1" lang="ja-JP" altLang="en-US" sz="2800" dirty="0">
              <a:noFill/>
            </a:endParaRPr>
          </a:p>
        </p:txBody>
      </p:sp>
      <p:sp>
        <p:nvSpPr>
          <p:cNvPr id="55" name="テキスト ボックス 54">
            <a:extLst>
              <a:ext uri="{FF2B5EF4-FFF2-40B4-BE49-F238E27FC236}">
                <a16:creationId xmlns:a16="http://schemas.microsoft.com/office/drawing/2014/main" id="{DE470456-225F-C7C0-87C7-0FF7A565F098}"/>
              </a:ext>
            </a:extLst>
          </p:cNvPr>
          <p:cNvSpPr txBox="1"/>
          <p:nvPr/>
        </p:nvSpPr>
        <p:spPr>
          <a:xfrm>
            <a:off x="3096895" y="3375556"/>
            <a:ext cx="911225" cy="523220"/>
          </a:xfrm>
          <a:prstGeom prst="rect">
            <a:avLst/>
          </a:prstGeom>
          <a:noFill/>
        </p:spPr>
        <p:txBody>
          <a:bodyPr wrap="square" rtlCol="0">
            <a:spAutoFit/>
          </a:bodyPr>
          <a:lstStyle/>
          <a:p>
            <a:r>
              <a:rPr kumimoji="1" lang="en-US" altLang="ja-JP" sz="2800" dirty="0">
                <a:noFill/>
              </a:rPr>
              <a:t>31°</a:t>
            </a:r>
            <a:endParaRPr kumimoji="1" lang="ja-JP" altLang="en-US" sz="2800" dirty="0">
              <a:noFill/>
            </a:endParaRPr>
          </a:p>
        </p:txBody>
      </p:sp>
      <p:sp>
        <p:nvSpPr>
          <p:cNvPr id="64" name="テキスト ボックス 63">
            <a:extLst>
              <a:ext uri="{FF2B5EF4-FFF2-40B4-BE49-F238E27FC236}">
                <a16:creationId xmlns:a16="http://schemas.microsoft.com/office/drawing/2014/main" id="{AA82FABB-89A6-F3C7-8DA1-A979986DB84B}"/>
              </a:ext>
            </a:extLst>
          </p:cNvPr>
          <p:cNvSpPr txBox="1"/>
          <p:nvPr/>
        </p:nvSpPr>
        <p:spPr>
          <a:xfrm>
            <a:off x="1700790" y="3855445"/>
            <a:ext cx="911225" cy="523220"/>
          </a:xfrm>
          <a:prstGeom prst="rect">
            <a:avLst/>
          </a:prstGeom>
          <a:noFill/>
        </p:spPr>
        <p:txBody>
          <a:bodyPr wrap="square" rtlCol="0">
            <a:spAutoFit/>
          </a:bodyPr>
          <a:lstStyle/>
          <a:p>
            <a:r>
              <a:rPr lang="en-US" altLang="ja-JP" sz="2800" dirty="0">
                <a:noFill/>
              </a:rPr>
              <a:t>31</a:t>
            </a:r>
            <a:endParaRPr kumimoji="1" lang="ja-JP" altLang="en-US" sz="2800" dirty="0">
              <a:noFill/>
            </a:endParaRPr>
          </a:p>
        </p:txBody>
      </p:sp>
      <p:grpSp>
        <p:nvGrpSpPr>
          <p:cNvPr id="94" name="グループ化 93">
            <a:extLst>
              <a:ext uri="{FF2B5EF4-FFF2-40B4-BE49-F238E27FC236}">
                <a16:creationId xmlns:a16="http://schemas.microsoft.com/office/drawing/2014/main" id="{0D707306-0E16-3A85-4917-B7B44DBD8BA2}"/>
              </a:ext>
            </a:extLst>
          </p:cNvPr>
          <p:cNvGrpSpPr/>
          <p:nvPr/>
        </p:nvGrpSpPr>
        <p:grpSpPr>
          <a:xfrm>
            <a:off x="4997709" y="6324736"/>
            <a:ext cx="2151720" cy="954109"/>
            <a:chOff x="4997709" y="5905636"/>
            <a:chExt cx="2151720" cy="954109"/>
          </a:xfrm>
        </p:grpSpPr>
        <p:sp>
          <p:nvSpPr>
            <p:cNvPr id="95" name="テキスト ボックス 94">
              <a:extLst>
                <a:ext uri="{FF2B5EF4-FFF2-40B4-BE49-F238E27FC236}">
                  <a16:creationId xmlns:a16="http://schemas.microsoft.com/office/drawing/2014/main" id="{36470BAE-54D8-36C2-9820-6352F32BDDA5}"/>
                </a:ext>
              </a:extLst>
            </p:cNvPr>
            <p:cNvSpPr txBox="1"/>
            <p:nvPr/>
          </p:nvSpPr>
          <p:spPr>
            <a:xfrm>
              <a:off x="5011771" y="5905638"/>
              <a:ext cx="1131640" cy="954107"/>
            </a:xfrm>
            <a:prstGeom prst="rect">
              <a:avLst/>
            </a:prstGeom>
            <a:noFill/>
          </p:spPr>
          <p:txBody>
            <a:bodyPr wrap="square" rtlCol="0">
              <a:spAutoFit/>
            </a:bodyPr>
            <a:lstStyle/>
            <a:p>
              <a:r>
                <a:rPr kumimoji="1" lang="en-US" altLang="ja-JP" sz="2800" dirty="0">
                  <a:noFill/>
                </a:rPr>
                <a:t>1</a:t>
              </a:r>
              <a:r>
                <a:rPr lang="en-US" altLang="ja-JP" sz="2800" dirty="0">
                  <a:noFill/>
                </a:rPr>
                <a:t>+2</a:t>
              </a:r>
              <a:r>
                <a:rPr lang="ja-JP" altLang="en-US" sz="2800" dirty="0">
                  <a:noFill/>
                </a:rPr>
                <a:t>√</a:t>
              </a:r>
              <a:r>
                <a:rPr lang="en-US" altLang="ja-JP" sz="2800" dirty="0">
                  <a:noFill/>
                </a:rPr>
                <a:t>3</a:t>
              </a:r>
              <a:endParaRPr kumimoji="1" lang="en-US" altLang="ja-JP" sz="2800" dirty="0">
                <a:noFill/>
              </a:endParaRPr>
            </a:p>
            <a:p>
              <a:r>
                <a:rPr lang="en-US" altLang="ja-JP" sz="2800" dirty="0">
                  <a:noFill/>
                </a:rPr>
                <a:t>    </a:t>
              </a:r>
              <a:r>
                <a:rPr kumimoji="1" lang="en-US" altLang="ja-JP" sz="2800" dirty="0">
                  <a:noFill/>
                </a:rPr>
                <a:t>2</a:t>
              </a:r>
              <a:endParaRPr kumimoji="1" lang="ja-JP" altLang="en-US" sz="2800" dirty="0">
                <a:noFill/>
              </a:endParaRPr>
            </a:p>
          </p:txBody>
        </p:sp>
        <p:sp>
          <p:nvSpPr>
            <p:cNvPr id="96" name="テキスト ボックス 95">
              <a:extLst>
                <a:ext uri="{FF2B5EF4-FFF2-40B4-BE49-F238E27FC236}">
                  <a16:creationId xmlns:a16="http://schemas.microsoft.com/office/drawing/2014/main" id="{461D05A9-36E9-567D-D547-BD5E55F8F92D}"/>
                </a:ext>
              </a:extLst>
            </p:cNvPr>
            <p:cNvSpPr txBox="1"/>
            <p:nvPr/>
          </p:nvSpPr>
          <p:spPr>
            <a:xfrm>
              <a:off x="4997709" y="6108838"/>
              <a:ext cx="1245874" cy="523220"/>
            </a:xfrm>
            <a:prstGeom prst="rect">
              <a:avLst/>
            </a:prstGeom>
            <a:noFill/>
          </p:spPr>
          <p:txBody>
            <a:bodyPr wrap="square" rtlCol="0">
              <a:spAutoFit/>
            </a:bodyPr>
            <a:lstStyle/>
            <a:p>
              <a:r>
                <a:rPr lang="en-US" altLang="ja-JP" sz="2800" dirty="0">
                  <a:noFill/>
                </a:rPr>
                <a:t>―――</a:t>
              </a:r>
              <a:endParaRPr kumimoji="1" lang="ja-JP" altLang="en-US" sz="2800" dirty="0">
                <a:noFill/>
              </a:endParaRPr>
            </a:p>
          </p:txBody>
        </p:sp>
        <p:sp>
          <p:nvSpPr>
            <p:cNvPr id="97" name="テキスト ボックス 96">
              <a:extLst>
                <a:ext uri="{FF2B5EF4-FFF2-40B4-BE49-F238E27FC236}">
                  <a16:creationId xmlns:a16="http://schemas.microsoft.com/office/drawing/2014/main" id="{BFF39070-2241-28E4-15AC-ADE277D1B8DC}"/>
                </a:ext>
              </a:extLst>
            </p:cNvPr>
            <p:cNvSpPr txBox="1"/>
            <p:nvPr/>
          </p:nvSpPr>
          <p:spPr>
            <a:xfrm>
              <a:off x="6047411" y="5905636"/>
              <a:ext cx="963158" cy="954107"/>
            </a:xfrm>
            <a:prstGeom prst="rect">
              <a:avLst/>
            </a:prstGeom>
            <a:noFill/>
          </p:spPr>
          <p:txBody>
            <a:bodyPr wrap="square" rtlCol="0">
              <a:spAutoFit/>
            </a:bodyPr>
            <a:lstStyle/>
            <a:p>
              <a:r>
                <a:rPr lang="en-US" altLang="ja-JP" sz="2800" dirty="0">
                  <a:noFill/>
                </a:rPr>
                <a:t>2+</a:t>
              </a:r>
              <a:r>
                <a:rPr lang="ja-JP" altLang="en-US" sz="2800" dirty="0">
                  <a:noFill/>
                </a:rPr>
                <a:t>√</a:t>
              </a:r>
              <a:r>
                <a:rPr lang="en-US" altLang="ja-JP" sz="2800" dirty="0">
                  <a:noFill/>
                </a:rPr>
                <a:t>3</a:t>
              </a:r>
              <a:endParaRPr kumimoji="1" lang="en-US" altLang="ja-JP" sz="2800" dirty="0">
                <a:noFill/>
              </a:endParaRPr>
            </a:p>
            <a:p>
              <a:r>
                <a:rPr lang="en-US" altLang="ja-JP" sz="2800" dirty="0">
                  <a:noFill/>
                </a:rPr>
                <a:t>   </a:t>
              </a:r>
              <a:r>
                <a:rPr kumimoji="1" lang="en-US" altLang="ja-JP" sz="2800" dirty="0">
                  <a:noFill/>
                </a:rPr>
                <a:t>2</a:t>
              </a:r>
              <a:endParaRPr kumimoji="1" lang="ja-JP" altLang="en-US" sz="2800" dirty="0">
                <a:noFill/>
              </a:endParaRPr>
            </a:p>
          </p:txBody>
        </p:sp>
        <p:sp>
          <p:nvSpPr>
            <p:cNvPr id="98" name="テキスト ボックス 97">
              <a:extLst>
                <a:ext uri="{FF2B5EF4-FFF2-40B4-BE49-F238E27FC236}">
                  <a16:creationId xmlns:a16="http://schemas.microsoft.com/office/drawing/2014/main" id="{71B57B1A-F650-7807-3F05-C345EFE68ED2}"/>
                </a:ext>
              </a:extLst>
            </p:cNvPr>
            <p:cNvSpPr txBox="1"/>
            <p:nvPr/>
          </p:nvSpPr>
          <p:spPr>
            <a:xfrm>
              <a:off x="5994661" y="6108836"/>
              <a:ext cx="1154768" cy="523220"/>
            </a:xfrm>
            <a:prstGeom prst="rect">
              <a:avLst/>
            </a:prstGeom>
            <a:noFill/>
          </p:spPr>
          <p:txBody>
            <a:bodyPr wrap="square" rtlCol="0">
              <a:spAutoFit/>
            </a:bodyPr>
            <a:lstStyle/>
            <a:p>
              <a:r>
                <a:rPr lang="en-US" altLang="ja-JP" sz="2800" dirty="0">
                  <a:noFill/>
                </a:rPr>
                <a:t>―――</a:t>
              </a:r>
              <a:endParaRPr kumimoji="1" lang="ja-JP" altLang="en-US" sz="2800" dirty="0">
                <a:noFill/>
              </a:endParaRPr>
            </a:p>
          </p:txBody>
        </p:sp>
      </p:grpSp>
      <p:grpSp>
        <p:nvGrpSpPr>
          <p:cNvPr id="99" name="グループ化 98">
            <a:extLst>
              <a:ext uri="{FF2B5EF4-FFF2-40B4-BE49-F238E27FC236}">
                <a16:creationId xmlns:a16="http://schemas.microsoft.com/office/drawing/2014/main" id="{095E0843-7AB2-92B9-6DFF-F3FB9B3B5240}"/>
              </a:ext>
            </a:extLst>
          </p:cNvPr>
          <p:cNvGrpSpPr/>
          <p:nvPr/>
        </p:nvGrpSpPr>
        <p:grpSpPr>
          <a:xfrm>
            <a:off x="1697116" y="3592682"/>
            <a:ext cx="2297501" cy="1475732"/>
            <a:chOff x="3495896" y="2486850"/>
            <a:chExt cx="2297501" cy="1475732"/>
          </a:xfrm>
        </p:grpSpPr>
        <p:sp>
          <p:nvSpPr>
            <p:cNvPr id="100" name="テキスト ボックス 99">
              <a:extLst>
                <a:ext uri="{FF2B5EF4-FFF2-40B4-BE49-F238E27FC236}">
                  <a16:creationId xmlns:a16="http://schemas.microsoft.com/office/drawing/2014/main" id="{4E4C1505-601C-D672-95BB-5B065C52A030}"/>
                </a:ext>
              </a:extLst>
            </p:cNvPr>
            <p:cNvSpPr txBox="1"/>
            <p:nvPr/>
          </p:nvSpPr>
          <p:spPr>
            <a:xfrm>
              <a:off x="4882172" y="2486850"/>
              <a:ext cx="911225" cy="523220"/>
            </a:xfrm>
            <a:prstGeom prst="rect">
              <a:avLst/>
            </a:prstGeom>
            <a:noFill/>
          </p:spPr>
          <p:txBody>
            <a:bodyPr wrap="square" rtlCol="0">
              <a:spAutoFit/>
            </a:bodyPr>
            <a:lstStyle/>
            <a:p>
              <a:r>
                <a:rPr lang="en-US" altLang="ja-JP" sz="2800" dirty="0">
                  <a:noFill/>
                </a:rPr>
                <a:t>33</a:t>
              </a:r>
              <a:r>
                <a:rPr kumimoji="1" lang="en-US" altLang="ja-JP" sz="2800" dirty="0">
                  <a:noFill/>
                </a:rPr>
                <a:t>°</a:t>
              </a:r>
              <a:endParaRPr kumimoji="1" lang="ja-JP" altLang="en-US" sz="2800" dirty="0">
                <a:noFill/>
              </a:endParaRPr>
            </a:p>
          </p:txBody>
        </p:sp>
        <p:sp>
          <p:nvSpPr>
            <p:cNvPr id="101" name="テキスト ボックス 100">
              <a:extLst>
                <a:ext uri="{FF2B5EF4-FFF2-40B4-BE49-F238E27FC236}">
                  <a16:creationId xmlns:a16="http://schemas.microsoft.com/office/drawing/2014/main" id="{E9E1D810-70E3-CAF4-F3A5-2386051D82B8}"/>
                </a:ext>
              </a:extLst>
            </p:cNvPr>
            <p:cNvSpPr txBox="1"/>
            <p:nvPr/>
          </p:nvSpPr>
          <p:spPr>
            <a:xfrm>
              <a:off x="4844797" y="3439362"/>
              <a:ext cx="911225" cy="523220"/>
            </a:xfrm>
            <a:prstGeom prst="rect">
              <a:avLst/>
            </a:prstGeom>
            <a:noFill/>
          </p:spPr>
          <p:txBody>
            <a:bodyPr wrap="square" rtlCol="0">
              <a:spAutoFit/>
            </a:bodyPr>
            <a:lstStyle/>
            <a:p>
              <a:r>
                <a:rPr kumimoji="1" lang="en-US" altLang="ja-JP" sz="2800" dirty="0">
                  <a:noFill/>
                </a:rPr>
                <a:t>2.10</a:t>
              </a:r>
              <a:endParaRPr kumimoji="1" lang="ja-JP" altLang="en-US" sz="2800" dirty="0">
                <a:noFill/>
              </a:endParaRPr>
            </a:p>
          </p:txBody>
        </p:sp>
        <p:sp>
          <p:nvSpPr>
            <p:cNvPr id="102" name="テキスト ボックス 101">
              <a:extLst>
                <a:ext uri="{FF2B5EF4-FFF2-40B4-BE49-F238E27FC236}">
                  <a16:creationId xmlns:a16="http://schemas.microsoft.com/office/drawing/2014/main" id="{ED0F2582-BD0B-F433-E92E-F95FC6D3A03B}"/>
                </a:ext>
              </a:extLst>
            </p:cNvPr>
            <p:cNvSpPr txBox="1"/>
            <p:nvPr/>
          </p:nvSpPr>
          <p:spPr>
            <a:xfrm>
              <a:off x="4326368" y="2967895"/>
              <a:ext cx="911225" cy="523220"/>
            </a:xfrm>
            <a:prstGeom prst="rect">
              <a:avLst/>
            </a:prstGeom>
            <a:noFill/>
          </p:spPr>
          <p:txBody>
            <a:bodyPr wrap="square" rtlCol="0">
              <a:spAutoFit/>
            </a:bodyPr>
            <a:lstStyle/>
            <a:p>
              <a:r>
                <a:rPr lang="en-US" altLang="ja-JP" sz="2800" dirty="0">
                  <a:noFill/>
                </a:rPr>
                <a:t>-3°</a:t>
              </a:r>
              <a:endParaRPr kumimoji="1" lang="ja-JP" altLang="en-US" sz="2800" dirty="0">
                <a:noFill/>
              </a:endParaRPr>
            </a:p>
          </p:txBody>
        </p:sp>
        <p:sp>
          <p:nvSpPr>
            <p:cNvPr id="103" name="テキスト ボックス 102">
              <a:extLst>
                <a:ext uri="{FF2B5EF4-FFF2-40B4-BE49-F238E27FC236}">
                  <a16:creationId xmlns:a16="http://schemas.microsoft.com/office/drawing/2014/main" id="{DA95B607-1F53-C365-75CE-3C534DFC0289}"/>
                </a:ext>
              </a:extLst>
            </p:cNvPr>
            <p:cNvSpPr txBox="1"/>
            <p:nvPr/>
          </p:nvSpPr>
          <p:spPr>
            <a:xfrm>
              <a:off x="3495896" y="2974382"/>
              <a:ext cx="911225" cy="523220"/>
            </a:xfrm>
            <a:prstGeom prst="rect">
              <a:avLst/>
            </a:prstGeom>
            <a:noFill/>
          </p:spPr>
          <p:txBody>
            <a:bodyPr wrap="square" rtlCol="0">
              <a:spAutoFit/>
            </a:bodyPr>
            <a:lstStyle/>
            <a:p>
              <a:r>
                <a:rPr kumimoji="1" lang="en-US" altLang="ja-JP" sz="2800" dirty="0">
                  <a:noFill/>
                </a:rPr>
                <a:t>3</a:t>
              </a:r>
              <a:r>
                <a:rPr lang="en-US" altLang="ja-JP" sz="2800" dirty="0">
                  <a:noFill/>
                </a:rPr>
                <a:t>3</a:t>
              </a:r>
              <a:endParaRPr kumimoji="1" lang="ja-JP" altLang="en-US" sz="2800" dirty="0">
                <a:noFill/>
              </a:endParaRPr>
            </a:p>
          </p:txBody>
        </p:sp>
      </p:grpSp>
    </p:spTree>
    <p:extLst>
      <p:ext uri="{BB962C8B-B14F-4D97-AF65-F5344CB8AC3E}">
        <p14:creationId xmlns:p14="http://schemas.microsoft.com/office/powerpoint/2010/main" val="76667092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F2176-38D7-EC00-E5AF-3025AB6D26CF}"/>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7C5A600D-8318-EC19-FA9F-0D95330934E9}"/>
              </a:ext>
            </a:extLst>
          </p:cNvPr>
          <p:cNvSpPr/>
          <p:nvPr/>
        </p:nvSpPr>
        <p:spPr>
          <a:xfrm>
            <a:off x="3046801"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C5BBC9D1-FC6C-4C70-89B6-AF5EAFC59D62}"/>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9B343995-9B4A-6A18-7E2F-B9F5069EBDC4}"/>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bg1"/>
                </a:solidFill>
              </a:rPr>
              <a:t>システム要件</a:t>
            </a:r>
          </a:p>
        </p:txBody>
      </p:sp>
      <p:sp>
        <p:nvSpPr>
          <p:cNvPr id="11" name="四角形: 角を丸くする 10">
            <a:extLst>
              <a:ext uri="{FF2B5EF4-FFF2-40B4-BE49-F238E27FC236}">
                <a16:creationId xmlns:a16="http://schemas.microsoft.com/office/drawing/2014/main" id="{5F1A4C0E-7B2F-95DE-E457-7F204F658398}"/>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6686D747-34FA-D285-FFFC-3C67F78A52A2}"/>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t>プログラム説明</a:t>
            </a:r>
            <a:endParaRPr kumimoji="1" lang="ja-JP" altLang="en-US" sz="2400" dirty="0"/>
          </a:p>
        </p:txBody>
      </p:sp>
      <p:sp>
        <p:nvSpPr>
          <p:cNvPr id="7" name="テキスト ボックス 6">
            <a:extLst>
              <a:ext uri="{FF2B5EF4-FFF2-40B4-BE49-F238E27FC236}">
                <a16:creationId xmlns:a16="http://schemas.microsoft.com/office/drawing/2014/main" id="{A34671D3-93FD-5592-5637-187715362912}"/>
              </a:ext>
            </a:extLst>
          </p:cNvPr>
          <p:cNvSpPr txBox="1"/>
          <p:nvPr/>
        </p:nvSpPr>
        <p:spPr>
          <a:xfrm>
            <a:off x="771525" y="1171575"/>
            <a:ext cx="2275276" cy="584775"/>
          </a:xfrm>
          <a:prstGeom prst="rect">
            <a:avLst/>
          </a:prstGeom>
          <a:noFill/>
        </p:spPr>
        <p:txBody>
          <a:bodyPr wrap="square" rtlCol="0">
            <a:spAutoFit/>
          </a:bodyPr>
          <a:lstStyle/>
          <a:p>
            <a:r>
              <a:rPr lang="ja-JP" altLang="en-US" sz="3200" dirty="0"/>
              <a:t>移動制御</a:t>
            </a:r>
            <a:endParaRPr kumimoji="1" lang="ja-JP" altLang="en-US" sz="3200" dirty="0"/>
          </a:p>
        </p:txBody>
      </p:sp>
      <p:sp>
        <p:nvSpPr>
          <p:cNvPr id="10" name="テキスト ボックス 9">
            <a:extLst>
              <a:ext uri="{FF2B5EF4-FFF2-40B4-BE49-F238E27FC236}">
                <a16:creationId xmlns:a16="http://schemas.microsoft.com/office/drawing/2014/main" id="{3CA25EF7-7E9C-9622-699F-FCB772BCB9D6}"/>
              </a:ext>
            </a:extLst>
          </p:cNvPr>
          <p:cNvSpPr txBox="1"/>
          <p:nvPr/>
        </p:nvSpPr>
        <p:spPr>
          <a:xfrm>
            <a:off x="1238250" y="1755127"/>
            <a:ext cx="10953750" cy="461665"/>
          </a:xfrm>
          <a:prstGeom prst="rect">
            <a:avLst/>
          </a:prstGeom>
          <a:noFill/>
        </p:spPr>
        <p:txBody>
          <a:bodyPr wrap="square" rtlCol="0">
            <a:spAutoFit/>
          </a:bodyPr>
          <a:lstStyle/>
          <a:p>
            <a:r>
              <a:rPr lang="en-US" altLang="ja-JP" sz="2400" dirty="0"/>
              <a:t>“</a:t>
            </a:r>
            <a:r>
              <a:rPr lang="ja-JP" altLang="en-US" sz="2400" dirty="0"/>
              <a:t>向き</a:t>
            </a:r>
            <a:r>
              <a:rPr lang="en-US" altLang="ja-JP" sz="2400" dirty="0"/>
              <a:t>”</a:t>
            </a:r>
            <a:r>
              <a:rPr lang="ja-JP" altLang="en-US" sz="2400" dirty="0"/>
              <a:t>と</a:t>
            </a:r>
            <a:r>
              <a:rPr lang="en-US" altLang="ja-JP" sz="2400" dirty="0"/>
              <a:t>”</a:t>
            </a:r>
            <a:r>
              <a:rPr lang="ja-JP" altLang="en-US" sz="2400" dirty="0"/>
              <a:t>歩数</a:t>
            </a:r>
            <a:r>
              <a:rPr lang="en-US" altLang="ja-JP" sz="2400" dirty="0"/>
              <a:t>”</a:t>
            </a:r>
            <a:r>
              <a:rPr lang="ja-JP" altLang="en-US" sz="2400" dirty="0"/>
              <a:t>による自己位置推定と、目標座標への移動量計算</a:t>
            </a:r>
            <a:endParaRPr lang="en-US" altLang="ja-JP" sz="2400" dirty="0"/>
          </a:p>
        </p:txBody>
      </p:sp>
      <p:cxnSp>
        <p:nvCxnSpPr>
          <p:cNvPr id="5" name="直線コネクタ 4">
            <a:extLst>
              <a:ext uri="{FF2B5EF4-FFF2-40B4-BE49-F238E27FC236}">
                <a16:creationId xmlns:a16="http://schemas.microsoft.com/office/drawing/2014/main" id="{7B6C27DA-FD87-64F8-5640-E3E44501917A}"/>
              </a:ext>
            </a:extLst>
          </p:cNvPr>
          <p:cNvCxnSpPr/>
          <p:nvPr/>
        </p:nvCxnSpPr>
        <p:spPr>
          <a:xfrm>
            <a:off x="7344629" y="4124790"/>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 name="直線矢印コネクタ 2">
            <a:extLst>
              <a:ext uri="{FF2B5EF4-FFF2-40B4-BE49-F238E27FC236}">
                <a16:creationId xmlns:a16="http://schemas.microsoft.com/office/drawing/2014/main" id="{032677ED-0138-4C1C-B319-85E249FE3A7E}"/>
              </a:ext>
            </a:extLst>
          </p:cNvPr>
          <p:cNvCxnSpPr/>
          <p:nvPr/>
        </p:nvCxnSpPr>
        <p:spPr>
          <a:xfrm>
            <a:off x="7344629" y="4482990"/>
            <a:ext cx="360000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 name="直線コネクタ 7">
            <a:extLst>
              <a:ext uri="{FF2B5EF4-FFF2-40B4-BE49-F238E27FC236}">
                <a16:creationId xmlns:a16="http://schemas.microsoft.com/office/drawing/2014/main" id="{384F511B-1F0B-CB94-C822-EF8684FD7DB1}"/>
              </a:ext>
            </a:extLst>
          </p:cNvPr>
          <p:cNvCxnSpPr/>
          <p:nvPr/>
        </p:nvCxnSpPr>
        <p:spPr>
          <a:xfrm>
            <a:off x="7344629" y="3764790"/>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4" name="直線矢印コネクタ 3">
            <a:extLst>
              <a:ext uri="{FF2B5EF4-FFF2-40B4-BE49-F238E27FC236}">
                <a16:creationId xmlns:a16="http://schemas.microsoft.com/office/drawing/2014/main" id="{618960D3-6420-4A18-DCBB-92517D802BA9}"/>
              </a:ext>
            </a:extLst>
          </p:cNvPr>
          <p:cNvCxnSpPr>
            <a:cxnSpLocks/>
          </p:cNvCxnSpPr>
          <p:nvPr/>
        </p:nvCxnSpPr>
        <p:spPr>
          <a:xfrm rot="10800000">
            <a:off x="9146141" y="2682990"/>
            <a:ext cx="0" cy="360000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 name="直線矢印コネクタ 5">
            <a:extLst>
              <a:ext uri="{FF2B5EF4-FFF2-40B4-BE49-F238E27FC236}">
                <a16:creationId xmlns:a16="http://schemas.microsoft.com/office/drawing/2014/main" id="{3B9666D3-C847-F70A-C96A-54A40F2E3938}"/>
              </a:ext>
            </a:extLst>
          </p:cNvPr>
          <p:cNvCxnSpPr/>
          <p:nvPr/>
        </p:nvCxnSpPr>
        <p:spPr>
          <a:xfrm>
            <a:off x="7346141" y="3404790"/>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16" name="直線矢印コネクタ 15">
            <a:extLst>
              <a:ext uri="{FF2B5EF4-FFF2-40B4-BE49-F238E27FC236}">
                <a16:creationId xmlns:a16="http://schemas.microsoft.com/office/drawing/2014/main" id="{18BEB9F9-E632-5AAE-906B-4AB66F905C02}"/>
              </a:ext>
            </a:extLst>
          </p:cNvPr>
          <p:cNvCxnSpPr/>
          <p:nvPr/>
        </p:nvCxnSpPr>
        <p:spPr>
          <a:xfrm>
            <a:off x="7346141" y="3044790"/>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17" name="直線コネクタ 16">
            <a:extLst>
              <a:ext uri="{FF2B5EF4-FFF2-40B4-BE49-F238E27FC236}">
                <a16:creationId xmlns:a16="http://schemas.microsoft.com/office/drawing/2014/main" id="{AACF51FF-7C96-774F-559A-684A9F2694C2}"/>
              </a:ext>
            </a:extLst>
          </p:cNvPr>
          <p:cNvCxnSpPr/>
          <p:nvPr/>
        </p:nvCxnSpPr>
        <p:spPr>
          <a:xfrm>
            <a:off x="7344629" y="5882153"/>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4309FFC9-C0BA-01A4-70A9-444635E1B443}"/>
              </a:ext>
            </a:extLst>
          </p:cNvPr>
          <p:cNvCxnSpPr/>
          <p:nvPr/>
        </p:nvCxnSpPr>
        <p:spPr>
          <a:xfrm>
            <a:off x="7344629" y="5522153"/>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9" name="直線矢印コネクタ 18">
            <a:extLst>
              <a:ext uri="{FF2B5EF4-FFF2-40B4-BE49-F238E27FC236}">
                <a16:creationId xmlns:a16="http://schemas.microsoft.com/office/drawing/2014/main" id="{955F452A-C2CC-076F-E749-6146DECD65B5}"/>
              </a:ext>
            </a:extLst>
          </p:cNvPr>
          <p:cNvCxnSpPr/>
          <p:nvPr/>
        </p:nvCxnSpPr>
        <p:spPr>
          <a:xfrm>
            <a:off x="7346141" y="5162153"/>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20" name="直線矢印コネクタ 19">
            <a:extLst>
              <a:ext uri="{FF2B5EF4-FFF2-40B4-BE49-F238E27FC236}">
                <a16:creationId xmlns:a16="http://schemas.microsoft.com/office/drawing/2014/main" id="{32172063-7369-6373-200A-EDF5EC0F4D71}"/>
              </a:ext>
            </a:extLst>
          </p:cNvPr>
          <p:cNvCxnSpPr/>
          <p:nvPr/>
        </p:nvCxnSpPr>
        <p:spPr>
          <a:xfrm>
            <a:off x="7346141" y="4802153"/>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29" name="直線コネクタ 28">
            <a:extLst>
              <a:ext uri="{FF2B5EF4-FFF2-40B4-BE49-F238E27FC236}">
                <a16:creationId xmlns:a16="http://schemas.microsoft.com/office/drawing/2014/main" id="{521E75E5-2AAA-1265-9DD0-D2DBEC1BEC5A}"/>
              </a:ext>
            </a:extLst>
          </p:cNvPr>
          <p:cNvCxnSpPr/>
          <p:nvPr/>
        </p:nvCxnSpPr>
        <p:spPr>
          <a:xfrm>
            <a:off x="878614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D4870402-5E7E-FA6C-F6CE-33560481176F}"/>
              </a:ext>
            </a:extLst>
          </p:cNvPr>
          <p:cNvCxnSpPr/>
          <p:nvPr/>
        </p:nvCxnSpPr>
        <p:spPr>
          <a:xfrm>
            <a:off x="842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A41D5E5A-680C-F4BD-EABB-3625A1E5AD26}"/>
              </a:ext>
            </a:extLst>
          </p:cNvPr>
          <p:cNvCxnSpPr/>
          <p:nvPr/>
        </p:nvCxnSpPr>
        <p:spPr>
          <a:xfrm>
            <a:off x="806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4" name="直線コネクタ 33">
            <a:extLst>
              <a:ext uri="{FF2B5EF4-FFF2-40B4-BE49-F238E27FC236}">
                <a16:creationId xmlns:a16="http://schemas.microsoft.com/office/drawing/2014/main" id="{CC7F5407-FE9E-E2B3-1331-851BE23027FA}"/>
              </a:ext>
            </a:extLst>
          </p:cNvPr>
          <p:cNvCxnSpPr/>
          <p:nvPr/>
        </p:nvCxnSpPr>
        <p:spPr>
          <a:xfrm>
            <a:off x="770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5" name="直線コネクタ 34">
            <a:extLst>
              <a:ext uri="{FF2B5EF4-FFF2-40B4-BE49-F238E27FC236}">
                <a16:creationId xmlns:a16="http://schemas.microsoft.com/office/drawing/2014/main" id="{0824AFC7-7C6D-9132-D169-73D2A8C683D7}"/>
              </a:ext>
            </a:extLst>
          </p:cNvPr>
          <p:cNvCxnSpPr/>
          <p:nvPr/>
        </p:nvCxnSpPr>
        <p:spPr>
          <a:xfrm>
            <a:off x="10599701" y="2681188"/>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6" name="直線コネクタ 35">
            <a:extLst>
              <a:ext uri="{FF2B5EF4-FFF2-40B4-BE49-F238E27FC236}">
                <a16:creationId xmlns:a16="http://schemas.microsoft.com/office/drawing/2014/main" id="{70062933-B4B1-C16B-8E4E-AA5BBF129486}"/>
              </a:ext>
            </a:extLst>
          </p:cNvPr>
          <p:cNvCxnSpPr/>
          <p:nvPr/>
        </p:nvCxnSpPr>
        <p:spPr>
          <a:xfrm>
            <a:off x="1023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7" name="直線コネクタ 36">
            <a:extLst>
              <a:ext uri="{FF2B5EF4-FFF2-40B4-BE49-F238E27FC236}">
                <a16:creationId xmlns:a16="http://schemas.microsoft.com/office/drawing/2014/main" id="{0A13A682-26AE-F5D8-BE25-85C21ECBA371}"/>
              </a:ext>
            </a:extLst>
          </p:cNvPr>
          <p:cNvCxnSpPr/>
          <p:nvPr/>
        </p:nvCxnSpPr>
        <p:spPr>
          <a:xfrm>
            <a:off x="987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8" name="直線コネクタ 37">
            <a:extLst>
              <a:ext uri="{FF2B5EF4-FFF2-40B4-BE49-F238E27FC236}">
                <a16:creationId xmlns:a16="http://schemas.microsoft.com/office/drawing/2014/main" id="{C0B75698-A149-87DB-DD80-4655F1A7D4B9}"/>
              </a:ext>
            </a:extLst>
          </p:cNvPr>
          <p:cNvCxnSpPr/>
          <p:nvPr/>
        </p:nvCxnSpPr>
        <p:spPr>
          <a:xfrm>
            <a:off x="951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sp>
        <p:nvSpPr>
          <p:cNvPr id="39" name="テキスト ボックス 38">
            <a:extLst>
              <a:ext uri="{FF2B5EF4-FFF2-40B4-BE49-F238E27FC236}">
                <a16:creationId xmlns:a16="http://schemas.microsoft.com/office/drawing/2014/main" id="{D443F320-523E-4757-B639-45E1C21EEB38}"/>
              </a:ext>
            </a:extLst>
          </p:cNvPr>
          <p:cNvSpPr txBox="1"/>
          <p:nvPr/>
        </p:nvSpPr>
        <p:spPr>
          <a:xfrm>
            <a:off x="10878514" y="4157185"/>
            <a:ext cx="267345" cy="584775"/>
          </a:xfrm>
          <a:prstGeom prst="rect">
            <a:avLst/>
          </a:prstGeom>
          <a:noFill/>
        </p:spPr>
        <p:txBody>
          <a:bodyPr wrap="square" rtlCol="0" anchor="t">
            <a:spAutoFit/>
          </a:bodyPr>
          <a:lstStyle/>
          <a:p>
            <a:r>
              <a:rPr kumimoji="1" lang="en-US" altLang="ja-JP" sz="3200" b="1" dirty="0">
                <a:latin typeface="Gigi" panose="04040504060007020D02" pitchFamily="82" charset="0"/>
              </a:rPr>
              <a:t>x</a:t>
            </a:r>
            <a:endParaRPr kumimoji="1" lang="ja-JP" altLang="en-US" sz="3200" b="1" dirty="0">
              <a:latin typeface="Gigi" panose="04040504060007020D02" pitchFamily="82" charset="0"/>
            </a:endParaRPr>
          </a:p>
        </p:txBody>
      </p:sp>
      <p:sp>
        <p:nvSpPr>
          <p:cNvPr id="40" name="テキスト ボックス 39">
            <a:extLst>
              <a:ext uri="{FF2B5EF4-FFF2-40B4-BE49-F238E27FC236}">
                <a16:creationId xmlns:a16="http://schemas.microsoft.com/office/drawing/2014/main" id="{D57BAB78-54EB-6170-EF63-ED60E2FCA62F}"/>
              </a:ext>
            </a:extLst>
          </p:cNvPr>
          <p:cNvSpPr txBox="1"/>
          <p:nvPr/>
        </p:nvSpPr>
        <p:spPr>
          <a:xfrm>
            <a:off x="8930273" y="2116703"/>
            <a:ext cx="267345" cy="584775"/>
          </a:xfrm>
          <a:prstGeom prst="rect">
            <a:avLst/>
          </a:prstGeom>
          <a:noFill/>
        </p:spPr>
        <p:txBody>
          <a:bodyPr wrap="square" rtlCol="0">
            <a:spAutoFit/>
          </a:bodyPr>
          <a:lstStyle/>
          <a:p>
            <a:r>
              <a:rPr lang="en-US" altLang="ja-JP" sz="3200" b="1" dirty="0">
                <a:latin typeface="Gigi" panose="04040504060007020D02" pitchFamily="82" charset="0"/>
              </a:rPr>
              <a:t>y</a:t>
            </a:r>
            <a:endParaRPr kumimoji="1" lang="ja-JP" altLang="en-US" sz="3200" b="1" dirty="0">
              <a:latin typeface="Gigi" panose="04040504060007020D02" pitchFamily="82" charset="0"/>
            </a:endParaRPr>
          </a:p>
        </p:txBody>
      </p:sp>
      <p:sp>
        <p:nvSpPr>
          <p:cNvPr id="41" name="テキスト ボックス 40">
            <a:extLst>
              <a:ext uri="{FF2B5EF4-FFF2-40B4-BE49-F238E27FC236}">
                <a16:creationId xmlns:a16="http://schemas.microsoft.com/office/drawing/2014/main" id="{392149E6-FE11-2BD9-8027-BFED186598C2}"/>
              </a:ext>
            </a:extLst>
          </p:cNvPr>
          <p:cNvSpPr txBox="1"/>
          <p:nvPr/>
        </p:nvSpPr>
        <p:spPr>
          <a:xfrm>
            <a:off x="9109438" y="2161962"/>
            <a:ext cx="1020485" cy="523220"/>
          </a:xfrm>
          <a:prstGeom prst="rect">
            <a:avLst/>
          </a:prstGeom>
          <a:noFill/>
        </p:spPr>
        <p:txBody>
          <a:bodyPr wrap="square" rtlCol="0">
            <a:spAutoFit/>
          </a:bodyPr>
          <a:lstStyle/>
          <a:p>
            <a:pPr algn="ctr"/>
            <a:r>
              <a:rPr kumimoji="1" lang="en-US" altLang="ja-JP" sz="2800" dirty="0"/>
              <a:t>90°</a:t>
            </a:r>
            <a:endParaRPr kumimoji="1" lang="ja-JP" altLang="en-US" sz="2800" dirty="0"/>
          </a:p>
        </p:txBody>
      </p:sp>
      <p:sp>
        <p:nvSpPr>
          <p:cNvPr id="42" name="テキスト ボックス 41">
            <a:extLst>
              <a:ext uri="{FF2B5EF4-FFF2-40B4-BE49-F238E27FC236}">
                <a16:creationId xmlns:a16="http://schemas.microsoft.com/office/drawing/2014/main" id="{D9AABBF0-3AE5-9694-2F2E-426594B11A81}"/>
              </a:ext>
            </a:extLst>
          </p:cNvPr>
          <p:cNvSpPr txBox="1"/>
          <p:nvPr/>
        </p:nvSpPr>
        <p:spPr>
          <a:xfrm>
            <a:off x="11144105" y="4233942"/>
            <a:ext cx="1020485" cy="830997"/>
          </a:xfrm>
          <a:prstGeom prst="rect">
            <a:avLst/>
          </a:prstGeom>
          <a:noFill/>
        </p:spPr>
        <p:txBody>
          <a:bodyPr wrap="square" rtlCol="0">
            <a:spAutoFit/>
          </a:bodyPr>
          <a:lstStyle/>
          <a:p>
            <a:r>
              <a:rPr kumimoji="1" lang="en-US" altLang="ja-JP" sz="2800" dirty="0"/>
              <a:t> 0°</a:t>
            </a:r>
          </a:p>
          <a:p>
            <a:r>
              <a:rPr lang="en-US" altLang="ja-JP" sz="2000" dirty="0"/>
              <a:t>(360°)</a:t>
            </a:r>
            <a:endParaRPr kumimoji="1" lang="ja-JP" altLang="en-US" sz="2000" dirty="0"/>
          </a:p>
        </p:txBody>
      </p:sp>
      <p:sp>
        <p:nvSpPr>
          <p:cNvPr id="43" name="テキスト ボックス 42">
            <a:extLst>
              <a:ext uri="{FF2B5EF4-FFF2-40B4-BE49-F238E27FC236}">
                <a16:creationId xmlns:a16="http://schemas.microsoft.com/office/drawing/2014/main" id="{62901284-8D82-9A5E-1169-3B39E545B28A}"/>
              </a:ext>
            </a:extLst>
          </p:cNvPr>
          <p:cNvSpPr txBox="1"/>
          <p:nvPr/>
        </p:nvSpPr>
        <p:spPr>
          <a:xfrm>
            <a:off x="8714717" y="6340542"/>
            <a:ext cx="1020485" cy="523220"/>
          </a:xfrm>
          <a:prstGeom prst="rect">
            <a:avLst/>
          </a:prstGeom>
          <a:noFill/>
        </p:spPr>
        <p:txBody>
          <a:bodyPr wrap="square" rtlCol="0">
            <a:spAutoFit/>
          </a:bodyPr>
          <a:lstStyle/>
          <a:p>
            <a:pPr algn="ctr"/>
            <a:r>
              <a:rPr lang="en-US" altLang="ja-JP" sz="2800" dirty="0"/>
              <a:t>270</a:t>
            </a:r>
            <a:r>
              <a:rPr kumimoji="1" lang="en-US" altLang="ja-JP" sz="2800" dirty="0"/>
              <a:t>°</a:t>
            </a:r>
            <a:endParaRPr kumimoji="1" lang="ja-JP" altLang="en-US" sz="2800" dirty="0"/>
          </a:p>
        </p:txBody>
      </p:sp>
      <p:sp>
        <p:nvSpPr>
          <p:cNvPr id="44" name="テキスト ボックス 43">
            <a:extLst>
              <a:ext uri="{FF2B5EF4-FFF2-40B4-BE49-F238E27FC236}">
                <a16:creationId xmlns:a16="http://schemas.microsoft.com/office/drawing/2014/main" id="{B8135F67-59E2-6DD2-68DF-9CD7A2F7B771}"/>
              </a:ext>
            </a:extLst>
          </p:cNvPr>
          <p:cNvSpPr txBox="1"/>
          <p:nvPr/>
        </p:nvSpPr>
        <p:spPr>
          <a:xfrm>
            <a:off x="6387152" y="4232640"/>
            <a:ext cx="1020485" cy="523220"/>
          </a:xfrm>
          <a:prstGeom prst="rect">
            <a:avLst/>
          </a:prstGeom>
          <a:noFill/>
        </p:spPr>
        <p:txBody>
          <a:bodyPr wrap="square" rtlCol="0">
            <a:spAutoFit/>
          </a:bodyPr>
          <a:lstStyle/>
          <a:p>
            <a:pPr algn="ctr"/>
            <a:r>
              <a:rPr lang="en-US" altLang="ja-JP" sz="2800" dirty="0"/>
              <a:t>18</a:t>
            </a:r>
            <a:r>
              <a:rPr kumimoji="1" lang="en-US" altLang="ja-JP" sz="2800" dirty="0"/>
              <a:t>0°</a:t>
            </a:r>
            <a:endParaRPr kumimoji="1" lang="ja-JP" altLang="en-US" sz="2800" dirty="0"/>
          </a:p>
        </p:txBody>
      </p:sp>
      <p:sp>
        <p:nvSpPr>
          <p:cNvPr id="48" name="テキスト ボックス 47">
            <a:extLst>
              <a:ext uri="{FF2B5EF4-FFF2-40B4-BE49-F238E27FC236}">
                <a16:creationId xmlns:a16="http://schemas.microsoft.com/office/drawing/2014/main" id="{9217A848-7E69-58F5-4BAF-A355DF5409BC}"/>
              </a:ext>
            </a:extLst>
          </p:cNvPr>
          <p:cNvSpPr txBox="1"/>
          <p:nvPr/>
        </p:nvSpPr>
        <p:spPr>
          <a:xfrm>
            <a:off x="4867322" y="6143763"/>
            <a:ext cx="281490" cy="523220"/>
          </a:xfrm>
          <a:prstGeom prst="rect">
            <a:avLst/>
          </a:prstGeom>
          <a:noFill/>
        </p:spPr>
        <p:txBody>
          <a:bodyPr wrap="square" rtlCol="0">
            <a:spAutoFit/>
          </a:bodyPr>
          <a:lstStyle/>
          <a:p>
            <a:r>
              <a:rPr lang="en-US" altLang="ja-JP" sz="2800" dirty="0"/>
              <a:t>(</a:t>
            </a:r>
            <a:endParaRPr kumimoji="1" lang="ja-JP" altLang="en-US" sz="2800" dirty="0"/>
          </a:p>
        </p:txBody>
      </p:sp>
      <p:sp>
        <p:nvSpPr>
          <p:cNvPr id="52" name="テキスト ボックス 51">
            <a:extLst>
              <a:ext uri="{FF2B5EF4-FFF2-40B4-BE49-F238E27FC236}">
                <a16:creationId xmlns:a16="http://schemas.microsoft.com/office/drawing/2014/main" id="{5A26A126-21EE-B56F-BD3C-03082CE8019C}"/>
              </a:ext>
            </a:extLst>
          </p:cNvPr>
          <p:cNvSpPr txBox="1"/>
          <p:nvPr/>
        </p:nvSpPr>
        <p:spPr>
          <a:xfrm>
            <a:off x="6967885" y="6143763"/>
            <a:ext cx="281490" cy="523220"/>
          </a:xfrm>
          <a:prstGeom prst="rect">
            <a:avLst/>
          </a:prstGeom>
          <a:noFill/>
        </p:spPr>
        <p:txBody>
          <a:bodyPr wrap="square" rtlCol="0">
            <a:spAutoFit/>
          </a:bodyPr>
          <a:lstStyle/>
          <a:p>
            <a:r>
              <a:rPr kumimoji="1" lang="en-US" altLang="ja-JP" sz="2800" dirty="0"/>
              <a:t>)</a:t>
            </a:r>
            <a:endParaRPr kumimoji="1" lang="ja-JP" altLang="en-US" sz="2800" dirty="0"/>
          </a:p>
        </p:txBody>
      </p:sp>
      <p:sp>
        <p:nvSpPr>
          <p:cNvPr id="56" name="テキスト ボックス 55">
            <a:extLst>
              <a:ext uri="{FF2B5EF4-FFF2-40B4-BE49-F238E27FC236}">
                <a16:creationId xmlns:a16="http://schemas.microsoft.com/office/drawing/2014/main" id="{D299EB21-63C9-DE4F-0F45-3190293F02B0}"/>
              </a:ext>
            </a:extLst>
          </p:cNvPr>
          <p:cNvSpPr txBox="1"/>
          <p:nvPr/>
        </p:nvSpPr>
        <p:spPr>
          <a:xfrm>
            <a:off x="5962379" y="6143763"/>
            <a:ext cx="281490" cy="523220"/>
          </a:xfrm>
          <a:prstGeom prst="rect">
            <a:avLst/>
          </a:prstGeom>
          <a:noFill/>
        </p:spPr>
        <p:txBody>
          <a:bodyPr wrap="square" rtlCol="0">
            <a:spAutoFit/>
          </a:bodyPr>
          <a:lstStyle/>
          <a:p>
            <a:r>
              <a:rPr lang="en-US" altLang="ja-JP" sz="2800" dirty="0"/>
              <a:t>,</a:t>
            </a:r>
          </a:p>
        </p:txBody>
      </p:sp>
      <p:sp>
        <p:nvSpPr>
          <p:cNvPr id="60" name="楕円 59">
            <a:extLst>
              <a:ext uri="{FF2B5EF4-FFF2-40B4-BE49-F238E27FC236}">
                <a16:creationId xmlns:a16="http://schemas.microsoft.com/office/drawing/2014/main" id="{F4569DCA-E080-D6E7-5A5F-7513355872FF}"/>
              </a:ext>
            </a:extLst>
          </p:cNvPr>
          <p:cNvSpPr/>
          <p:nvPr/>
        </p:nvSpPr>
        <p:spPr>
          <a:xfrm>
            <a:off x="10389122" y="3152458"/>
            <a:ext cx="419390" cy="419390"/>
          </a:xfrm>
          <a:prstGeom prst="ellipse">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800" b="1" dirty="0">
                <a:solidFill>
                  <a:schemeClr val="bg2"/>
                </a:solidFill>
              </a:rPr>
              <a:t>G</a:t>
            </a:r>
            <a:endParaRPr kumimoji="1" lang="ja-JP" altLang="en-US" sz="2800" b="1" dirty="0">
              <a:solidFill>
                <a:schemeClr val="bg2"/>
              </a:solidFill>
            </a:endParaRPr>
          </a:p>
        </p:txBody>
      </p:sp>
      <p:sp>
        <p:nvSpPr>
          <p:cNvPr id="61" name="テキスト ボックス 60">
            <a:extLst>
              <a:ext uri="{FF2B5EF4-FFF2-40B4-BE49-F238E27FC236}">
                <a16:creationId xmlns:a16="http://schemas.microsoft.com/office/drawing/2014/main" id="{AB13D145-B2EF-6D8E-2262-B57B71202F07}"/>
              </a:ext>
            </a:extLst>
          </p:cNvPr>
          <p:cNvSpPr txBox="1"/>
          <p:nvPr/>
        </p:nvSpPr>
        <p:spPr>
          <a:xfrm>
            <a:off x="10777538" y="2936791"/>
            <a:ext cx="1183482" cy="523220"/>
          </a:xfrm>
          <a:prstGeom prst="rect">
            <a:avLst/>
          </a:prstGeom>
          <a:noFill/>
        </p:spPr>
        <p:txBody>
          <a:bodyPr wrap="square" rtlCol="0">
            <a:spAutoFit/>
          </a:bodyPr>
          <a:lstStyle/>
          <a:p>
            <a:r>
              <a:rPr kumimoji="1" lang="en-US" altLang="ja-JP" sz="2800" dirty="0"/>
              <a:t>( 4 , 3 )</a:t>
            </a:r>
            <a:endParaRPr kumimoji="1" lang="ja-JP" altLang="en-US" sz="2800" dirty="0"/>
          </a:p>
        </p:txBody>
      </p:sp>
      <p:sp>
        <p:nvSpPr>
          <p:cNvPr id="26" name="矢印: 右 25">
            <a:extLst>
              <a:ext uri="{FF2B5EF4-FFF2-40B4-BE49-F238E27FC236}">
                <a16:creationId xmlns:a16="http://schemas.microsoft.com/office/drawing/2014/main" id="{EA35FBE6-3147-5C50-4C00-C3D238148438}"/>
              </a:ext>
            </a:extLst>
          </p:cNvPr>
          <p:cNvSpPr/>
          <p:nvPr/>
        </p:nvSpPr>
        <p:spPr>
          <a:xfrm rot="19800000">
            <a:off x="9932111" y="3552271"/>
            <a:ext cx="356398" cy="378745"/>
          </a:xfrm>
          <a:prstGeom prst="rightArrow">
            <a:avLst>
              <a:gd name="adj1" fmla="val 38683"/>
              <a:gd name="adj2" fmla="val 54009"/>
            </a:avLst>
          </a:prstGeom>
          <a:solidFill>
            <a:schemeClr val="tx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矢印: 右 66">
            <a:extLst>
              <a:ext uri="{FF2B5EF4-FFF2-40B4-BE49-F238E27FC236}">
                <a16:creationId xmlns:a16="http://schemas.microsoft.com/office/drawing/2014/main" id="{800CE2B2-CB52-35E8-E733-78A7E56645A6}"/>
              </a:ext>
            </a:extLst>
          </p:cNvPr>
          <p:cNvSpPr/>
          <p:nvPr/>
        </p:nvSpPr>
        <p:spPr>
          <a:xfrm rot="16200000">
            <a:off x="10410411" y="3539995"/>
            <a:ext cx="419391" cy="158670"/>
          </a:xfrm>
          <a:prstGeom prst="rightArrow">
            <a:avLst>
              <a:gd name="adj1" fmla="val 40995"/>
              <a:gd name="adj2" fmla="val 50000"/>
            </a:avLst>
          </a:prstGeom>
          <a:solidFill>
            <a:srgbClr val="C0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矢印: 右 67">
            <a:extLst>
              <a:ext uri="{FF2B5EF4-FFF2-40B4-BE49-F238E27FC236}">
                <a16:creationId xmlns:a16="http://schemas.microsoft.com/office/drawing/2014/main" id="{A127EFF4-9D50-B613-C706-F5559DDB870A}"/>
              </a:ext>
            </a:extLst>
          </p:cNvPr>
          <p:cNvSpPr/>
          <p:nvPr/>
        </p:nvSpPr>
        <p:spPr>
          <a:xfrm>
            <a:off x="9979027" y="3741783"/>
            <a:ext cx="620674" cy="158670"/>
          </a:xfrm>
          <a:prstGeom prst="rightArrow">
            <a:avLst>
              <a:gd name="adj1" fmla="val 40995"/>
              <a:gd name="adj2" fmla="val 50000"/>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矢印: 右 68">
            <a:extLst>
              <a:ext uri="{FF2B5EF4-FFF2-40B4-BE49-F238E27FC236}">
                <a16:creationId xmlns:a16="http://schemas.microsoft.com/office/drawing/2014/main" id="{75EFBC51-B52B-2144-D32D-116F5557A2C9}"/>
              </a:ext>
            </a:extLst>
          </p:cNvPr>
          <p:cNvSpPr/>
          <p:nvPr/>
        </p:nvSpPr>
        <p:spPr>
          <a:xfrm rot="19641983">
            <a:off x="9916657" y="3538982"/>
            <a:ext cx="747556" cy="158670"/>
          </a:xfrm>
          <a:prstGeom prst="rightArrow">
            <a:avLst>
              <a:gd name="adj1" fmla="val 40995"/>
              <a:gd name="adj2" fmla="val 50000"/>
            </a:avLst>
          </a:prstGeom>
          <a:solidFill>
            <a:srgbClr val="00B0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テキスト ボックス 61">
            <a:extLst>
              <a:ext uri="{FF2B5EF4-FFF2-40B4-BE49-F238E27FC236}">
                <a16:creationId xmlns:a16="http://schemas.microsoft.com/office/drawing/2014/main" id="{BCA52FA9-96F8-1278-C902-ECC3E5D6377C}"/>
              </a:ext>
            </a:extLst>
          </p:cNvPr>
          <p:cNvSpPr txBox="1"/>
          <p:nvPr/>
        </p:nvSpPr>
        <p:spPr>
          <a:xfrm>
            <a:off x="771525" y="3467162"/>
            <a:ext cx="4447818" cy="523220"/>
          </a:xfrm>
          <a:prstGeom prst="rect">
            <a:avLst/>
          </a:prstGeom>
          <a:noFill/>
        </p:spPr>
        <p:txBody>
          <a:bodyPr wrap="square" rtlCol="0">
            <a:spAutoFit/>
          </a:bodyPr>
          <a:lstStyle/>
          <a:p>
            <a:r>
              <a:rPr lang="en-US" altLang="ja-JP" sz="2800" dirty="0"/>
              <a:t>a</a:t>
            </a:r>
            <a:r>
              <a:rPr kumimoji="1" lang="en-US" altLang="ja-JP" sz="2800" dirty="0"/>
              <a:t>rctan(</a:t>
            </a:r>
            <a:r>
              <a:rPr kumimoji="1" lang="en-US" altLang="ja-JP" sz="2800" dirty="0" err="1"/>
              <a:t>Δy</a:t>
            </a:r>
            <a:r>
              <a:rPr kumimoji="1" lang="en-US" altLang="ja-JP" sz="2800" dirty="0"/>
              <a:t>/</a:t>
            </a:r>
            <a:r>
              <a:rPr kumimoji="1" lang="en-US" altLang="ja-JP" sz="2800" dirty="0" err="1"/>
              <a:t>Δx</a:t>
            </a:r>
            <a:r>
              <a:rPr kumimoji="1" lang="en-US" altLang="ja-JP" sz="2800" dirty="0"/>
              <a:t>) </a:t>
            </a:r>
            <a:r>
              <a:rPr kumimoji="1" lang="ja-JP" altLang="en-US" sz="2800" dirty="0"/>
              <a:t>≈</a:t>
            </a:r>
          </a:p>
        </p:txBody>
      </p:sp>
      <p:sp>
        <p:nvSpPr>
          <p:cNvPr id="24" name="テキスト ボックス 23">
            <a:extLst>
              <a:ext uri="{FF2B5EF4-FFF2-40B4-BE49-F238E27FC236}">
                <a16:creationId xmlns:a16="http://schemas.microsoft.com/office/drawing/2014/main" id="{5C140FBD-B35A-2104-E19A-9B7A8C587016}"/>
              </a:ext>
            </a:extLst>
          </p:cNvPr>
          <p:cNvSpPr txBox="1"/>
          <p:nvPr/>
        </p:nvSpPr>
        <p:spPr>
          <a:xfrm>
            <a:off x="780575" y="4404567"/>
            <a:ext cx="4447818" cy="523220"/>
          </a:xfrm>
          <a:prstGeom prst="rect">
            <a:avLst/>
          </a:prstGeom>
          <a:noFill/>
        </p:spPr>
        <p:txBody>
          <a:bodyPr wrap="square" rtlCol="0">
            <a:spAutoFit/>
          </a:bodyPr>
          <a:lstStyle/>
          <a:p>
            <a:r>
              <a:rPr kumimoji="1" lang="ja-JP" altLang="en-US" sz="2800" dirty="0"/>
              <a:t>√</a:t>
            </a:r>
            <a:r>
              <a:rPr kumimoji="1" lang="en-US" altLang="ja-JP" sz="2800" dirty="0"/>
              <a:t>((</a:t>
            </a:r>
            <a:r>
              <a:rPr kumimoji="1" lang="en-US" altLang="ja-JP" sz="2800" dirty="0" err="1"/>
              <a:t>Δx</a:t>
            </a:r>
            <a:r>
              <a:rPr kumimoji="1" lang="en-US" altLang="ja-JP" sz="2800" dirty="0"/>
              <a:t>)²+(</a:t>
            </a:r>
            <a:r>
              <a:rPr kumimoji="1" lang="en-US" altLang="ja-JP" sz="2800" dirty="0" err="1"/>
              <a:t>Δy</a:t>
            </a:r>
            <a:r>
              <a:rPr kumimoji="1" lang="en-US" altLang="ja-JP" sz="2800" dirty="0"/>
              <a:t>)²)</a:t>
            </a:r>
            <a:endParaRPr kumimoji="1" lang="ja-JP" altLang="en-US" sz="2800" dirty="0"/>
          </a:p>
        </p:txBody>
      </p:sp>
      <p:sp>
        <p:nvSpPr>
          <p:cNvPr id="27" name="テキスト ボックス 26">
            <a:extLst>
              <a:ext uri="{FF2B5EF4-FFF2-40B4-BE49-F238E27FC236}">
                <a16:creationId xmlns:a16="http://schemas.microsoft.com/office/drawing/2014/main" id="{23421818-B2B1-184A-7854-BBA2B8A1FC35}"/>
              </a:ext>
            </a:extLst>
          </p:cNvPr>
          <p:cNvSpPr txBox="1"/>
          <p:nvPr/>
        </p:nvSpPr>
        <p:spPr>
          <a:xfrm>
            <a:off x="774542" y="3956168"/>
            <a:ext cx="4447818" cy="523220"/>
          </a:xfrm>
          <a:prstGeom prst="rect">
            <a:avLst/>
          </a:prstGeom>
          <a:noFill/>
        </p:spPr>
        <p:txBody>
          <a:bodyPr wrap="square" rtlCol="0">
            <a:spAutoFit/>
          </a:bodyPr>
          <a:lstStyle/>
          <a:p>
            <a:r>
              <a:rPr lang="en-US" altLang="ja-JP" sz="2800" dirty="0"/>
              <a:t>     </a:t>
            </a:r>
            <a:r>
              <a:rPr kumimoji="1" lang="en-US" altLang="ja-JP" sz="2800" dirty="0"/>
              <a:t>°</a:t>
            </a:r>
            <a:r>
              <a:rPr lang="ja-JP" altLang="en-US" sz="2800" dirty="0"/>
              <a:t> </a:t>
            </a:r>
            <a:r>
              <a:rPr lang="en-US" altLang="ja-JP" sz="2800" dirty="0"/>
              <a:t>-</a:t>
            </a:r>
            <a:r>
              <a:rPr lang="ja-JP" altLang="en-US" sz="2800" dirty="0"/>
              <a:t> </a:t>
            </a:r>
            <a:r>
              <a:rPr lang="en-US" altLang="ja-JP" sz="2800" dirty="0"/>
              <a:t>     °</a:t>
            </a:r>
            <a:r>
              <a:rPr lang="ja-JP" altLang="en-US" sz="2800" dirty="0"/>
              <a:t> </a:t>
            </a:r>
            <a:r>
              <a:rPr kumimoji="1" lang="en-US" altLang="ja-JP" sz="2800" dirty="0"/>
              <a:t>=</a:t>
            </a:r>
            <a:endParaRPr kumimoji="1" lang="ja-JP" altLang="en-US" sz="2800" dirty="0"/>
          </a:p>
        </p:txBody>
      </p:sp>
      <p:sp>
        <p:nvSpPr>
          <p:cNvPr id="32" name="テキスト ボックス 31">
            <a:extLst>
              <a:ext uri="{FF2B5EF4-FFF2-40B4-BE49-F238E27FC236}">
                <a16:creationId xmlns:a16="http://schemas.microsoft.com/office/drawing/2014/main" id="{91864835-410C-E8B6-18D0-A6D4C2B9B1EB}"/>
              </a:ext>
            </a:extLst>
          </p:cNvPr>
          <p:cNvSpPr txBox="1"/>
          <p:nvPr/>
        </p:nvSpPr>
        <p:spPr>
          <a:xfrm>
            <a:off x="2820764" y="4404567"/>
            <a:ext cx="305817" cy="523220"/>
          </a:xfrm>
          <a:prstGeom prst="rect">
            <a:avLst/>
          </a:prstGeom>
          <a:noFill/>
        </p:spPr>
        <p:txBody>
          <a:bodyPr wrap="square">
            <a:spAutoFit/>
          </a:bodyPr>
          <a:lstStyle/>
          <a:p>
            <a:r>
              <a:rPr lang="ja-JP" altLang="en-US" sz="2800" dirty="0"/>
              <a:t>≈</a:t>
            </a:r>
          </a:p>
        </p:txBody>
      </p:sp>
      <p:sp>
        <p:nvSpPr>
          <p:cNvPr id="51" name="テキスト ボックス 50">
            <a:extLst>
              <a:ext uri="{FF2B5EF4-FFF2-40B4-BE49-F238E27FC236}">
                <a16:creationId xmlns:a16="http://schemas.microsoft.com/office/drawing/2014/main" id="{B6224854-1180-F806-59C3-1FB30211FC4E}"/>
              </a:ext>
            </a:extLst>
          </p:cNvPr>
          <p:cNvSpPr txBox="1"/>
          <p:nvPr/>
        </p:nvSpPr>
        <p:spPr>
          <a:xfrm>
            <a:off x="818849" y="3957968"/>
            <a:ext cx="911225" cy="523220"/>
          </a:xfrm>
          <a:prstGeom prst="rect">
            <a:avLst/>
          </a:prstGeom>
          <a:noFill/>
        </p:spPr>
        <p:txBody>
          <a:bodyPr wrap="square" rtlCol="0">
            <a:spAutoFit/>
          </a:bodyPr>
          <a:lstStyle/>
          <a:p>
            <a:r>
              <a:rPr kumimoji="1" lang="en-US" altLang="ja-JP" sz="2800" dirty="0"/>
              <a:t>30</a:t>
            </a:r>
            <a:endParaRPr kumimoji="1" lang="ja-JP" altLang="en-US" sz="2800" dirty="0"/>
          </a:p>
        </p:txBody>
      </p:sp>
      <p:sp>
        <p:nvSpPr>
          <p:cNvPr id="66" name="テキスト ボックス 65">
            <a:extLst>
              <a:ext uri="{FF2B5EF4-FFF2-40B4-BE49-F238E27FC236}">
                <a16:creationId xmlns:a16="http://schemas.microsoft.com/office/drawing/2014/main" id="{D70F7D4B-D008-AA63-5934-78E6C78FA584}"/>
              </a:ext>
            </a:extLst>
          </p:cNvPr>
          <p:cNvSpPr txBox="1"/>
          <p:nvPr/>
        </p:nvSpPr>
        <p:spPr>
          <a:xfrm>
            <a:off x="2539806" y="3858043"/>
            <a:ext cx="911225" cy="523220"/>
          </a:xfrm>
          <a:prstGeom prst="rect">
            <a:avLst/>
          </a:prstGeom>
          <a:noFill/>
        </p:spPr>
        <p:txBody>
          <a:bodyPr wrap="square" rtlCol="0">
            <a:spAutoFit/>
          </a:bodyPr>
          <a:lstStyle/>
          <a:p>
            <a:r>
              <a:rPr lang="en-US" altLang="ja-JP" sz="2800" dirty="0">
                <a:noFill/>
              </a:rPr>
              <a:t>-2°</a:t>
            </a:r>
            <a:endParaRPr kumimoji="1" lang="ja-JP" altLang="en-US" sz="2800" dirty="0">
              <a:noFill/>
            </a:endParaRPr>
          </a:p>
        </p:txBody>
      </p:sp>
      <p:grpSp>
        <p:nvGrpSpPr>
          <p:cNvPr id="88" name="グループ化 87">
            <a:extLst>
              <a:ext uri="{FF2B5EF4-FFF2-40B4-BE49-F238E27FC236}">
                <a16:creationId xmlns:a16="http://schemas.microsoft.com/office/drawing/2014/main" id="{ACB45983-59D4-F66D-E136-D9F5F2E5B6EA}"/>
              </a:ext>
            </a:extLst>
          </p:cNvPr>
          <p:cNvGrpSpPr/>
          <p:nvPr/>
        </p:nvGrpSpPr>
        <p:grpSpPr>
          <a:xfrm>
            <a:off x="4997709" y="5905636"/>
            <a:ext cx="2151720" cy="954109"/>
            <a:chOff x="4997709" y="5905636"/>
            <a:chExt cx="2151720" cy="954109"/>
          </a:xfrm>
        </p:grpSpPr>
        <p:sp>
          <p:nvSpPr>
            <p:cNvPr id="46" name="テキスト ボックス 45">
              <a:extLst>
                <a:ext uri="{FF2B5EF4-FFF2-40B4-BE49-F238E27FC236}">
                  <a16:creationId xmlns:a16="http://schemas.microsoft.com/office/drawing/2014/main" id="{A42B6A85-B7DC-703F-8F11-7270F970DCB0}"/>
                </a:ext>
              </a:extLst>
            </p:cNvPr>
            <p:cNvSpPr txBox="1"/>
            <p:nvPr/>
          </p:nvSpPr>
          <p:spPr>
            <a:xfrm>
              <a:off x="5011771" y="5905638"/>
              <a:ext cx="1131640" cy="954107"/>
            </a:xfrm>
            <a:prstGeom prst="rect">
              <a:avLst/>
            </a:prstGeom>
            <a:noFill/>
          </p:spPr>
          <p:txBody>
            <a:bodyPr wrap="square" rtlCol="0">
              <a:spAutoFit/>
            </a:bodyPr>
            <a:lstStyle/>
            <a:p>
              <a:r>
                <a:rPr kumimoji="1" lang="en-US" altLang="ja-JP" sz="2800" dirty="0"/>
                <a:t>1</a:t>
              </a:r>
              <a:r>
                <a:rPr lang="en-US" altLang="ja-JP" sz="2800" dirty="0"/>
                <a:t>+2</a:t>
              </a:r>
              <a:r>
                <a:rPr lang="ja-JP" altLang="en-US" sz="2800" dirty="0"/>
                <a:t>√</a:t>
              </a:r>
              <a:r>
                <a:rPr lang="en-US" altLang="ja-JP" sz="2800" dirty="0"/>
                <a:t>3</a:t>
              </a:r>
              <a:endParaRPr kumimoji="1" lang="en-US" altLang="ja-JP" sz="2800" dirty="0"/>
            </a:p>
            <a:p>
              <a:r>
                <a:rPr lang="en-US" altLang="ja-JP" sz="2800" dirty="0"/>
                <a:t>    </a:t>
              </a:r>
              <a:r>
                <a:rPr kumimoji="1" lang="en-US" altLang="ja-JP" sz="2800" dirty="0"/>
                <a:t>2</a:t>
              </a:r>
              <a:endParaRPr kumimoji="1" lang="ja-JP" altLang="en-US" sz="2800" dirty="0"/>
            </a:p>
          </p:txBody>
        </p:sp>
        <p:sp>
          <p:nvSpPr>
            <p:cNvPr id="14" name="テキスト ボックス 13">
              <a:extLst>
                <a:ext uri="{FF2B5EF4-FFF2-40B4-BE49-F238E27FC236}">
                  <a16:creationId xmlns:a16="http://schemas.microsoft.com/office/drawing/2014/main" id="{B5AD80CA-DADB-8424-AAED-1091891E9621}"/>
                </a:ext>
              </a:extLst>
            </p:cNvPr>
            <p:cNvSpPr txBox="1"/>
            <p:nvPr/>
          </p:nvSpPr>
          <p:spPr>
            <a:xfrm>
              <a:off x="4997709" y="6108838"/>
              <a:ext cx="1245874" cy="523220"/>
            </a:xfrm>
            <a:prstGeom prst="rect">
              <a:avLst/>
            </a:prstGeom>
            <a:noFill/>
          </p:spPr>
          <p:txBody>
            <a:bodyPr wrap="square" rtlCol="0">
              <a:spAutoFit/>
            </a:bodyPr>
            <a:lstStyle/>
            <a:p>
              <a:r>
                <a:rPr lang="en-US" altLang="ja-JP" sz="2800" dirty="0"/>
                <a:t>―――</a:t>
              </a:r>
              <a:endParaRPr kumimoji="1" lang="ja-JP" altLang="en-US" sz="2800" dirty="0"/>
            </a:p>
          </p:txBody>
        </p:sp>
        <p:sp>
          <p:nvSpPr>
            <p:cNvPr id="31" name="テキスト ボックス 30">
              <a:extLst>
                <a:ext uri="{FF2B5EF4-FFF2-40B4-BE49-F238E27FC236}">
                  <a16:creationId xmlns:a16="http://schemas.microsoft.com/office/drawing/2014/main" id="{49B2F92C-4DD9-F658-D977-82F09AFFE557}"/>
                </a:ext>
              </a:extLst>
            </p:cNvPr>
            <p:cNvSpPr txBox="1"/>
            <p:nvPr/>
          </p:nvSpPr>
          <p:spPr>
            <a:xfrm>
              <a:off x="6047411" y="5905636"/>
              <a:ext cx="963158" cy="954107"/>
            </a:xfrm>
            <a:prstGeom prst="rect">
              <a:avLst/>
            </a:prstGeom>
            <a:noFill/>
          </p:spPr>
          <p:txBody>
            <a:bodyPr wrap="square" rtlCol="0">
              <a:spAutoFit/>
            </a:bodyPr>
            <a:lstStyle/>
            <a:p>
              <a:r>
                <a:rPr lang="en-US" altLang="ja-JP" sz="2800" dirty="0"/>
                <a:t>2+</a:t>
              </a:r>
              <a:r>
                <a:rPr lang="ja-JP" altLang="en-US" sz="2800" dirty="0"/>
                <a:t>√</a:t>
              </a:r>
              <a:r>
                <a:rPr lang="en-US" altLang="ja-JP" sz="2800" dirty="0"/>
                <a:t>3</a:t>
              </a:r>
              <a:endParaRPr kumimoji="1" lang="en-US" altLang="ja-JP" sz="2800" dirty="0"/>
            </a:p>
            <a:p>
              <a:r>
                <a:rPr lang="en-US" altLang="ja-JP" sz="2800" dirty="0"/>
                <a:t>   </a:t>
              </a:r>
              <a:r>
                <a:rPr kumimoji="1" lang="en-US" altLang="ja-JP" sz="2800" dirty="0"/>
                <a:t>2</a:t>
              </a:r>
              <a:endParaRPr kumimoji="1" lang="ja-JP" altLang="en-US" sz="2800" dirty="0"/>
            </a:p>
          </p:txBody>
        </p:sp>
        <p:sp>
          <p:nvSpPr>
            <p:cNvPr id="45" name="テキスト ボックス 44">
              <a:extLst>
                <a:ext uri="{FF2B5EF4-FFF2-40B4-BE49-F238E27FC236}">
                  <a16:creationId xmlns:a16="http://schemas.microsoft.com/office/drawing/2014/main" id="{F9BBE77D-247E-71DB-D886-C2F79A634251}"/>
                </a:ext>
              </a:extLst>
            </p:cNvPr>
            <p:cNvSpPr txBox="1"/>
            <p:nvPr/>
          </p:nvSpPr>
          <p:spPr>
            <a:xfrm>
              <a:off x="5994661" y="6108836"/>
              <a:ext cx="1154768" cy="523220"/>
            </a:xfrm>
            <a:prstGeom prst="rect">
              <a:avLst/>
            </a:prstGeom>
            <a:noFill/>
          </p:spPr>
          <p:txBody>
            <a:bodyPr wrap="square" rtlCol="0">
              <a:spAutoFit/>
            </a:bodyPr>
            <a:lstStyle/>
            <a:p>
              <a:r>
                <a:rPr lang="en-US" altLang="ja-JP" sz="2800" dirty="0"/>
                <a:t>―――</a:t>
              </a:r>
              <a:endParaRPr kumimoji="1" lang="ja-JP" altLang="en-US" sz="2800" dirty="0"/>
            </a:p>
          </p:txBody>
        </p:sp>
      </p:grpSp>
      <p:sp>
        <p:nvSpPr>
          <p:cNvPr id="70" name="テキスト ボックス 69">
            <a:extLst>
              <a:ext uri="{FF2B5EF4-FFF2-40B4-BE49-F238E27FC236}">
                <a16:creationId xmlns:a16="http://schemas.microsoft.com/office/drawing/2014/main" id="{AC863D0E-7C62-3C15-B7F0-EE7231AA5B41}"/>
              </a:ext>
            </a:extLst>
          </p:cNvPr>
          <p:cNvSpPr txBox="1"/>
          <p:nvPr/>
        </p:nvSpPr>
        <p:spPr>
          <a:xfrm>
            <a:off x="3058229" y="4302514"/>
            <a:ext cx="911225" cy="523220"/>
          </a:xfrm>
          <a:prstGeom prst="rect">
            <a:avLst/>
          </a:prstGeom>
          <a:noFill/>
        </p:spPr>
        <p:txBody>
          <a:bodyPr wrap="square" rtlCol="0">
            <a:spAutoFit/>
          </a:bodyPr>
          <a:lstStyle/>
          <a:p>
            <a:r>
              <a:rPr kumimoji="1" lang="en-US" altLang="ja-JP" sz="2800" dirty="0">
                <a:noFill/>
              </a:rPr>
              <a:t>3.09</a:t>
            </a:r>
            <a:endParaRPr kumimoji="1" lang="ja-JP" altLang="en-US" sz="2800" dirty="0">
              <a:noFill/>
            </a:endParaRPr>
          </a:p>
        </p:txBody>
      </p:sp>
      <p:sp>
        <p:nvSpPr>
          <p:cNvPr id="75" name="テキスト ボックス 74">
            <a:extLst>
              <a:ext uri="{FF2B5EF4-FFF2-40B4-BE49-F238E27FC236}">
                <a16:creationId xmlns:a16="http://schemas.microsoft.com/office/drawing/2014/main" id="{31B09DE6-9A7D-3F30-A85D-76002E119081}"/>
              </a:ext>
            </a:extLst>
          </p:cNvPr>
          <p:cNvSpPr txBox="1"/>
          <p:nvPr/>
        </p:nvSpPr>
        <p:spPr>
          <a:xfrm>
            <a:off x="1709330" y="3856584"/>
            <a:ext cx="911225" cy="523220"/>
          </a:xfrm>
          <a:prstGeom prst="rect">
            <a:avLst/>
          </a:prstGeom>
          <a:noFill/>
        </p:spPr>
        <p:txBody>
          <a:bodyPr wrap="square" rtlCol="0">
            <a:spAutoFit/>
          </a:bodyPr>
          <a:lstStyle/>
          <a:p>
            <a:r>
              <a:rPr kumimoji="1" lang="en-US" altLang="ja-JP" sz="2800" dirty="0">
                <a:noFill/>
              </a:rPr>
              <a:t>32</a:t>
            </a:r>
            <a:endParaRPr kumimoji="1" lang="ja-JP" altLang="en-US" sz="2800" dirty="0">
              <a:noFill/>
            </a:endParaRPr>
          </a:p>
        </p:txBody>
      </p:sp>
      <p:sp>
        <p:nvSpPr>
          <p:cNvPr id="76" name="テキスト ボックス 75">
            <a:extLst>
              <a:ext uri="{FF2B5EF4-FFF2-40B4-BE49-F238E27FC236}">
                <a16:creationId xmlns:a16="http://schemas.microsoft.com/office/drawing/2014/main" id="{3F294F2B-8C44-8E81-7057-EFCB805D1D4F}"/>
              </a:ext>
            </a:extLst>
          </p:cNvPr>
          <p:cNvSpPr txBox="1"/>
          <p:nvPr/>
        </p:nvSpPr>
        <p:spPr>
          <a:xfrm>
            <a:off x="3095606" y="3364287"/>
            <a:ext cx="911225" cy="523220"/>
          </a:xfrm>
          <a:prstGeom prst="rect">
            <a:avLst/>
          </a:prstGeom>
          <a:noFill/>
        </p:spPr>
        <p:txBody>
          <a:bodyPr wrap="square" rtlCol="0">
            <a:spAutoFit/>
          </a:bodyPr>
          <a:lstStyle/>
          <a:p>
            <a:r>
              <a:rPr lang="en-US" altLang="ja-JP" sz="2800" dirty="0">
                <a:noFill/>
              </a:rPr>
              <a:t>32</a:t>
            </a:r>
            <a:r>
              <a:rPr kumimoji="1" lang="en-US" altLang="ja-JP" sz="2800" dirty="0">
                <a:noFill/>
              </a:rPr>
              <a:t>°</a:t>
            </a:r>
            <a:endParaRPr kumimoji="1" lang="ja-JP" altLang="en-US" sz="2800" dirty="0">
              <a:noFill/>
            </a:endParaRPr>
          </a:p>
        </p:txBody>
      </p:sp>
      <p:sp>
        <p:nvSpPr>
          <p:cNvPr id="79" name="テキスト ボックス 78">
            <a:extLst>
              <a:ext uri="{FF2B5EF4-FFF2-40B4-BE49-F238E27FC236}">
                <a16:creationId xmlns:a16="http://schemas.microsoft.com/office/drawing/2014/main" id="{7CBEEB08-DEC8-E832-4EB7-ED9B3051ED32}"/>
              </a:ext>
            </a:extLst>
          </p:cNvPr>
          <p:cNvSpPr txBox="1"/>
          <p:nvPr/>
        </p:nvSpPr>
        <p:spPr>
          <a:xfrm>
            <a:off x="5194627" y="5548437"/>
            <a:ext cx="963158" cy="954107"/>
          </a:xfrm>
          <a:prstGeom prst="rect">
            <a:avLst/>
          </a:prstGeom>
          <a:noFill/>
        </p:spPr>
        <p:txBody>
          <a:bodyPr wrap="square" rtlCol="0">
            <a:spAutoFit/>
          </a:bodyPr>
          <a:lstStyle/>
          <a:p>
            <a:r>
              <a:rPr kumimoji="1" lang="en-US" altLang="ja-JP" sz="2800" dirty="0">
                <a:noFill/>
              </a:rPr>
              <a:t>1</a:t>
            </a:r>
            <a:r>
              <a:rPr lang="en-US" altLang="ja-JP" sz="2800" dirty="0">
                <a:noFill/>
              </a:rPr>
              <a:t>+</a:t>
            </a:r>
            <a:r>
              <a:rPr lang="ja-JP" altLang="en-US" sz="2800" dirty="0">
                <a:noFill/>
              </a:rPr>
              <a:t>√</a:t>
            </a:r>
            <a:r>
              <a:rPr lang="en-US" altLang="ja-JP" sz="2800" dirty="0">
                <a:noFill/>
              </a:rPr>
              <a:t>3</a:t>
            </a:r>
            <a:endParaRPr kumimoji="1" lang="en-US" altLang="ja-JP" sz="2800" dirty="0">
              <a:noFill/>
            </a:endParaRPr>
          </a:p>
          <a:p>
            <a:r>
              <a:rPr lang="en-US" altLang="ja-JP" sz="2800" dirty="0">
                <a:noFill/>
              </a:rPr>
              <a:t>   </a:t>
            </a:r>
            <a:r>
              <a:rPr kumimoji="1" lang="en-US" altLang="ja-JP" sz="2800" dirty="0">
                <a:noFill/>
              </a:rPr>
              <a:t>2</a:t>
            </a:r>
            <a:endParaRPr kumimoji="1" lang="ja-JP" altLang="en-US" sz="2800" dirty="0">
              <a:noFill/>
            </a:endParaRPr>
          </a:p>
        </p:txBody>
      </p:sp>
      <p:sp>
        <p:nvSpPr>
          <p:cNvPr id="80" name="テキスト ボックス 79">
            <a:extLst>
              <a:ext uri="{FF2B5EF4-FFF2-40B4-BE49-F238E27FC236}">
                <a16:creationId xmlns:a16="http://schemas.microsoft.com/office/drawing/2014/main" id="{F2CCFA6E-998E-BE6C-AD01-405FBA3E19C8}"/>
              </a:ext>
            </a:extLst>
          </p:cNvPr>
          <p:cNvSpPr txBox="1"/>
          <p:nvPr/>
        </p:nvSpPr>
        <p:spPr>
          <a:xfrm>
            <a:off x="5293437" y="5751637"/>
            <a:ext cx="851647" cy="523220"/>
          </a:xfrm>
          <a:prstGeom prst="rect">
            <a:avLst/>
          </a:prstGeom>
          <a:noFill/>
        </p:spPr>
        <p:txBody>
          <a:bodyPr wrap="square" rtlCol="0">
            <a:spAutoFit/>
          </a:bodyPr>
          <a:lstStyle/>
          <a:p>
            <a:r>
              <a:rPr lang="en-US" altLang="ja-JP" sz="2800" dirty="0">
                <a:noFill/>
              </a:rPr>
              <a:t>――</a:t>
            </a:r>
            <a:endParaRPr kumimoji="1" lang="ja-JP" altLang="en-US" sz="2800" dirty="0">
              <a:noFill/>
            </a:endParaRPr>
          </a:p>
        </p:txBody>
      </p:sp>
      <p:sp>
        <p:nvSpPr>
          <p:cNvPr id="81" name="テキスト ボックス 80">
            <a:extLst>
              <a:ext uri="{FF2B5EF4-FFF2-40B4-BE49-F238E27FC236}">
                <a16:creationId xmlns:a16="http://schemas.microsoft.com/office/drawing/2014/main" id="{DCF2DEE3-C9A9-9858-492E-F2D4FEDC3718}"/>
              </a:ext>
            </a:extLst>
          </p:cNvPr>
          <p:cNvSpPr txBox="1"/>
          <p:nvPr/>
        </p:nvSpPr>
        <p:spPr>
          <a:xfrm>
            <a:off x="5975691" y="5548435"/>
            <a:ext cx="963158" cy="954107"/>
          </a:xfrm>
          <a:prstGeom prst="rect">
            <a:avLst/>
          </a:prstGeom>
          <a:noFill/>
        </p:spPr>
        <p:txBody>
          <a:bodyPr wrap="square" rtlCol="0">
            <a:spAutoFit/>
          </a:bodyPr>
          <a:lstStyle/>
          <a:p>
            <a:r>
              <a:rPr kumimoji="1" lang="en-US" altLang="ja-JP" sz="2800" dirty="0">
                <a:noFill/>
              </a:rPr>
              <a:t>1</a:t>
            </a:r>
            <a:r>
              <a:rPr lang="en-US" altLang="ja-JP" sz="2800" dirty="0">
                <a:noFill/>
              </a:rPr>
              <a:t>+</a:t>
            </a:r>
            <a:r>
              <a:rPr lang="ja-JP" altLang="en-US" sz="2800" dirty="0">
                <a:noFill/>
              </a:rPr>
              <a:t>√</a:t>
            </a:r>
            <a:r>
              <a:rPr lang="en-US" altLang="ja-JP" sz="2800" dirty="0">
                <a:noFill/>
              </a:rPr>
              <a:t>3</a:t>
            </a:r>
            <a:endParaRPr kumimoji="1" lang="en-US" altLang="ja-JP" sz="2800" dirty="0">
              <a:noFill/>
            </a:endParaRPr>
          </a:p>
          <a:p>
            <a:r>
              <a:rPr lang="en-US" altLang="ja-JP" sz="2800" dirty="0">
                <a:noFill/>
              </a:rPr>
              <a:t>   </a:t>
            </a:r>
            <a:r>
              <a:rPr kumimoji="1" lang="en-US" altLang="ja-JP" sz="2800" dirty="0">
                <a:noFill/>
              </a:rPr>
              <a:t>2</a:t>
            </a:r>
            <a:endParaRPr kumimoji="1" lang="ja-JP" altLang="en-US" sz="2800" dirty="0">
              <a:noFill/>
            </a:endParaRPr>
          </a:p>
        </p:txBody>
      </p:sp>
      <p:sp>
        <p:nvSpPr>
          <p:cNvPr id="82" name="テキスト ボックス 81">
            <a:extLst>
              <a:ext uri="{FF2B5EF4-FFF2-40B4-BE49-F238E27FC236}">
                <a16:creationId xmlns:a16="http://schemas.microsoft.com/office/drawing/2014/main" id="{816EBD5F-EE41-B26D-9872-009303249974}"/>
              </a:ext>
            </a:extLst>
          </p:cNvPr>
          <p:cNvSpPr txBox="1"/>
          <p:nvPr/>
        </p:nvSpPr>
        <p:spPr>
          <a:xfrm>
            <a:off x="6074501" y="5751635"/>
            <a:ext cx="851647" cy="523220"/>
          </a:xfrm>
          <a:prstGeom prst="rect">
            <a:avLst/>
          </a:prstGeom>
          <a:noFill/>
        </p:spPr>
        <p:txBody>
          <a:bodyPr wrap="square" rtlCol="0">
            <a:spAutoFit/>
          </a:bodyPr>
          <a:lstStyle/>
          <a:p>
            <a:r>
              <a:rPr lang="en-US" altLang="ja-JP" sz="2800" dirty="0">
                <a:noFill/>
              </a:rPr>
              <a:t>――</a:t>
            </a:r>
            <a:endParaRPr kumimoji="1" lang="ja-JP" altLang="en-US" sz="2800" dirty="0">
              <a:noFill/>
            </a:endParaRPr>
          </a:p>
        </p:txBody>
      </p:sp>
      <p:grpSp>
        <p:nvGrpSpPr>
          <p:cNvPr id="89" name="グループ化 88">
            <a:extLst>
              <a:ext uri="{FF2B5EF4-FFF2-40B4-BE49-F238E27FC236}">
                <a16:creationId xmlns:a16="http://schemas.microsoft.com/office/drawing/2014/main" id="{233A173B-0182-9F67-5A91-894757FEB8F5}"/>
              </a:ext>
            </a:extLst>
          </p:cNvPr>
          <p:cNvGrpSpPr/>
          <p:nvPr/>
        </p:nvGrpSpPr>
        <p:grpSpPr>
          <a:xfrm>
            <a:off x="4997699" y="6253307"/>
            <a:ext cx="2151720" cy="954109"/>
            <a:chOff x="4997709" y="5905636"/>
            <a:chExt cx="2151720" cy="954109"/>
          </a:xfrm>
        </p:grpSpPr>
        <p:sp>
          <p:nvSpPr>
            <p:cNvPr id="90" name="テキスト ボックス 89">
              <a:extLst>
                <a:ext uri="{FF2B5EF4-FFF2-40B4-BE49-F238E27FC236}">
                  <a16:creationId xmlns:a16="http://schemas.microsoft.com/office/drawing/2014/main" id="{211C6F54-DAE3-E101-9C64-B0F727455ECB}"/>
                </a:ext>
              </a:extLst>
            </p:cNvPr>
            <p:cNvSpPr txBox="1"/>
            <p:nvPr/>
          </p:nvSpPr>
          <p:spPr>
            <a:xfrm>
              <a:off x="5011771" y="5905638"/>
              <a:ext cx="1131640" cy="954107"/>
            </a:xfrm>
            <a:prstGeom prst="rect">
              <a:avLst/>
            </a:prstGeom>
            <a:noFill/>
          </p:spPr>
          <p:txBody>
            <a:bodyPr wrap="square" rtlCol="0">
              <a:spAutoFit/>
            </a:bodyPr>
            <a:lstStyle/>
            <a:p>
              <a:r>
                <a:rPr lang="en-US" altLang="ja-JP" sz="2800" dirty="0">
                  <a:noFill/>
                </a:rPr>
                <a:t>1+3</a:t>
              </a:r>
              <a:r>
                <a:rPr lang="ja-JP" altLang="en-US" sz="2800" dirty="0">
                  <a:noFill/>
                </a:rPr>
                <a:t>√</a:t>
              </a:r>
              <a:r>
                <a:rPr lang="en-US" altLang="ja-JP" sz="2800" dirty="0">
                  <a:noFill/>
                </a:rPr>
                <a:t>3</a:t>
              </a:r>
              <a:endParaRPr kumimoji="1" lang="en-US" altLang="ja-JP" sz="2800" dirty="0">
                <a:noFill/>
              </a:endParaRPr>
            </a:p>
            <a:p>
              <a:r>
                <a:rPr lang="en-US" altLang="ja-JP" sz="2800" dirty="0">
                  <a:noFill/>
                </a:rPr>
                <a:t>    </a:t>
              </a:r>
              <a:r>
                <a:rPr kumimoji="1" lang="en-US" altLang="ja-JP" sz="2800" dirty="0">
                  <a:noFill/>
                </a:rPr>
                <a:t>2</a:t>
              </a:r>
              <a:endParaRPr kumimoji="1" lang="ja-JP" altLang="en-US" sz="2800" dirty="0">
                <a:noFill/>
              </a:endParaRPr>
            </a:p>
          </p:txBody>
        </p:sp>
        <p:sp>
          <p:nvSpPr>
            <p:cNvPr id="91" name="テキスト ボックス 90">
              <a:extLst>
                <a:ext uri="{FF2B5EF4-FFF2-40B4-BE49-F238E27FC236}">
                  <a16:creationId xmlns:a16="http://schemas.microsoft.com/office/drawing/2014/main" id="{F2F44C8C-70C8-3689-18B6-AFC0A059BA31}"/>
                </a:ext>
              </a:extLst>
            </p:cNvPr>
            <p:cNvSpPr txBox="1"/>
            <p:nvPr/>
          </p:nvSpPr>
          <p:spPr>
            <a:xfrm>
              <a:off x="4997709" y="6108838"/>
              <a:ext cx="1245874" cy="523220"/>
            </a:xfrm>
            <a:prstGeom prst="rect">
              <a:avLst/>
            </a:prstGeom>
            <a:noFill/>
          </p:spPr>
          <p:txBody>
            <a:bodyPr wrap="square" rtlCol="0">
              <a:spAutoFit/>
            </a:bodyPr>
            <a:lstStyle/>
            <a:p>
              <a:r>
                <a:rPr lang="en-US" altLang="ja-JP" sz="2800" dirty="0">
                  <a:noFill/>
                </a:rPr>
                <a:t>―――</a:t>
              </a:r>
              <a:endParaRPr kumimoji="1" lang="ja-JP" altLang="en-US" sz="2800" dirty="0">
                <a:noFill/>
              </a:endParaRPr>
            </a:p>
          </p:txBody>
        </p:sp>
        <p:sp>
          <p:nvSpPr>
            <p:cNvPr id="92" name="テキスト ボックス 91">
              <a:extLst>
                <a:ext uri="{FF2B5EF4-FFF2-40B4-BE49-F238E27FC236}">
                  <a16:creationId xmlns:a16="http://schemas.microsoft.com/office/drawing/2014/main" id="{6AE9A322-E126-2C89-1D47-775EC719C6AE}"/>
                </a:ext>
              </a:extLst>
            </p:cNvPr>
            <p:cNvSpPr txBox="1"/>
            <p:nvPr/>
          </p:nvSpPr>
          <p:spPr>
            <a:xfrm>
              <a:off x="6047411" y="5905636"/>
              <a:ext cx="963158" cy="954107"/>
            </a:xfrm>
            <a:prstGeom prst="rect">
              <a:avLst/>
            </a:prstGeom>
            <a:noFill/>
          </p:spPr>
          <p:txBody>
            <a:bodyPr wrap="square" rtlCol="0">
              <a:spAutoFit/>
            </a:bodyPr>
            <a:lstStyle/>
            <a:p>
              <a:r>
                <a:rPr lang="en-US" altLang="ja-JP" sz="2800" dirty="0">
                  <a:noFill/>
                </a:rPr>
                <a:t>3+</a:t>
              </a:r>
              <a:r>
                <a:rPr lang="ja-JP" altLang="en-US" sz="2800" dirty="0">
                  <a:noFill/>
                </a:rPr>
                <a:t>√</a:t>
              </a:r>
              <a:r>
                <a:rPr lang="en-US" altLang="ja-JP" sz="2800" dirty="0">
                  <a:noFill/>
                </a:rPr>
                <a:t>3</a:t>
              </a:r>
              <a:endParaRPr kumimoji="1" lang="en-US" altLang="ja-JP" sz="2800" dirty="0">
                <a:noFill/>
              </a:endParaRPr>
            </a:p>
            <a:p>
              <a:r>
                <a:rPr lang="en-US" altLang="ja-JP" sz="2800" dirty="0">
                  <a:noFill/>
                </a:rPr>
                <a:t>   </a:t>
              </a:r>
              <a:r>
                <a:rPr kumimoji="1" lang="en-US" altLang="ja-JP" sz="2800" dirty="0">
                  <a:noFill/>
                </a:rPr>
                <a:t>2</a:t>
              </a:r>
              <a:endParaRPr kumimoji="1" lang="ja-JP" altLang="en-US" sz="2800" dirty="0">
                <a:noFill/>
              </a:endParaRPr>
            </a:p>
          </p:txBody>
        </p:sp>
        <p:sp>
          <p:nvSpPr>
            <p:cNvPr id="93" name="テキスト ボックス 92">
              <a:extLst>
                <a:ext uri="{FF2B5EF4-FFF2-40B4-BE49-F238E27FC236}">
                  <a16:creationId xmlns:a16="http://schemas.microsoft.com/office/drawing/2014/main" id="{8DEE8FCB-CB53-6BA5-0332-FCD5B39C6E0F}"/>
                </a:ext>
              </a:extLst>
            </p:cNvPr>
            <p:cNvSpPr txBox="1"/>
            <p:nvPr/>
          </p:nvSpPr>
          <p:spPr>
            <a:xfrm>
              <a:off x="5994661" y="6108836"/>
              <a:ext cx="1154768" cy="523220"/>
            </a:xfrm>
            <a:prstGeom prst="rect">
              <a:avLst/>
            </a:prstGeom>
            <a:noFill/>
          </p:spPr>
          <p:txBody>
            <a:bodyPr wrap="square" rtlCol="0">
              <a:spAutoFit/>
            </a:bodyPr>
            <a:lstStyle/>
            <a:p>
              <a:r>
                <a:rPr lang="en-US" altLang="ja-JP" sz="2800" dirty="0">
                  <a:noFill/>
                </a:rPr>
                <a:t>―――</a:t>
              </a:r>
              <a:endParaRPr kumimoji="1" lang="ja-JP" altLang="en-US" sz="2800" dirty="0">
                <a:noFill/>
              </a:endParaRPr>
            </a:p>
          </p:txBody>
        </p:sp>
      </p:grpSp>
      <p:grpSp>
        <p:nvGrpSpPr>
          <p:cNvPr id="99" name="グループ化 98">
            <a:extLst>
              <a:ext uri="{FF2B5EF4-FFF2-40B4-BE49-F238E27FC236}">
                <a16:creationId xmlns:a16="http://schemas.microsoft.com/office/drawing/2014/main" id="{A85BC7F1-B3EC-143B-C582-D24F41733AD9}"/>
              </a:ext>
            </a:extLst>
          </p:cNvPr>
          <p:cNvGrpSpPr/>
          <p:nvPr/>
        </p:nvGrpSpPr>
        <p:grpSpPr>
          <a:xfrm>
            <a:off x="1697116" y="3463142"/>
            <a:ext cx="2297501" cy="1475732"/>
            <a:chOff x="3495896" y="2486850"/>
            <a:chExt cx="2297501" cy="1475732"/>
          </a:xfrm>
        </p:grpSpPr>
        <p:sp>
          <p:nvSpPr>
            <p:cNvPr id="100" name="テキスト ボックス 99">
              <a:extLst>
                <a:ext uri="{FF2B5EF4-FFF2-40B4-BE49-F238E27FC236}">
                  <a16:creationId xmlns:a16="http://schemas.microsoft.com/office/drawing/2014/main" id="{C0F50944-7478-EDB1-7F77-1478A870FDB6}"/>
                </a:ext>
              </a:extLst>
            </p:cNvPr>
            <p:cNvSpPr txBox="1"/>
            <p:nvPr/>
          </p:nvSpPr>
          <p:spPr>
            <a:xfrm>
              <a:off x="4882172" y="2486850"/>
              <a:ext cx="911225" cy="523220"/>
            </a:xfrm>
            <a:prstGeom prst="rect">
              <a:avLst/>
            </a:prstGeom>
            <a:noFill/>
          </p:spPr>
          <p:txBody>
            <a:bodyPr wrap="square" rtlCol="0">
              <a:spAutoFit/>
            </a:bodyPr>
            <a:lstStyle/>
            <a:p>
              <a:r>
                <a:rPr lang="en-US" altLang="ja-JP" sz="2800" dirty="0"/>
                <a:t>33</a:t>
              </a:r>
              <a:r>
                <a:rPr kumimoji="1" lang="en-US" altLang="ja-JP" sz="2800" dirty="0"/>
                <a:t>°</a:t>
              </a:r>
              <a:endParaRPr kumimoji="1" lang="ja-JP" altLang="en-US" sz="2800" dirty="0"/>
            </a:p>
          </p:txBody>
        </p:sp>
        <p:sp>
          <p:nvSpPr>
            <p:cNvPr id="101" name="テキスト ボックス 100">
              <a:extLst>
                <a:ext uri="{FF2B5EF4-FFF2-40B4-BE49-F238E27FC236}">
                  <a16:creationId xmlns:a16="http://schemas.microsoft.com/office/drawing/2014/main" id="{8ACCBEB3-E37F-705A-F1AE-67E944FD7A17}"/>
                </a:ext>
              </a:extLst>
            </p:cNvPr>
            <p:cNvSpPr txBox="1"/>
            <p:nvPr/>
          </p:nvSpPr>
          <p:spPr>
            <a:xfrm>
              <a:off x="4844797" y="3439362"/>
              <a:ext cx="911225" cy="523220"/>
            </a:xfrm>
            <a:prstGeom prst="rect">
              <a:avLst/>
            </a:prstGeom>
            <a:noFill/>
          </p:spPr>
          <p:txBody>
            <a:bodyPr wrap="square" rtlCol="0">
              <a:spAutoFit/>
            </a:bodyPr>
            <a:lstStyle/>
            <a:p>
              <a:r>
                <a:rPr kumimoji="1" lang="en-US" altLang="ja-JP" sz="2800" dirty="0"/>
                <a:t>2.10</a:t>
              </a:r>
              <a:endParaRPr kumimoji="1" lang="ja-JP" altLang="en-US" sz="2800" dirty="0"/>
            </a:p>
          </p:txBody>
        </p:sp>
        <p:sp>
          <p:nvSpPr>
            <p:cNvPr id="102" name="テキスト ボックス 101">
              <a:extLst>
                <a:ext uri="{FF2B5EF4-FFF2-40B4-BE49-F238E27FC236}">
                  <a16:creationId xmlns:a16="http://schemas.microsoft.com/office/drawing/2014/main" id="{F653E369-300F-1D61-AAF4-8048BA6096DC}"/>
                </a:ext>
              </a:extLst>
            </p:cNvPr>
            <p:cNvSpPr txBox="1"/>
            <p:nvPr/>
          </p:nvSpPr>
          <p:spPr>
            <a:xfrm>
              <a:off x="4326368" y="2967895"/>
              <a:ext cx="911225" cy="523220"/>
            </a:xfrm>
            <a:prstGeom prst="rect">
              <a:avLst/>
            </a:prstGeom>
            <a:noFill/>
          </p:spPr>
          <p:txBody>
            <a:bodyPr wrap="square" rtlCol="0">
              <a:spAutoFit/>
            </a:bodyPr>
            <a:lstStyle/>
            <a:p>
              <a:r>
                <a:rPr lang="en-US" altLang="ja-JP" sz="2800" dirty="0"/>
                <a:t>-3°</a:t>
              </a:r>
              <a:endParaRPr kumimoji="1" lang="ja-JP" altLang="en-US" sz="2800" dirty="0"/>
            </a:p>
          </p:txBody>
        </p:sp>
        <p:sp>
          <p:nvSpPr>
            <p:cNvPr id="103" name="テキスト ボックス 102">
              <a:extLst>
                <a:ext uri="{FF2B5EF4-FFF2-40B4-BE49-F238E27FC236}">
                  <a16:creationId xmlns:a16="http://schemas.microsoft.com/office/drawing/2014/main" id="{78EF6539-8942-C71F-D5C7-10A2C61C8B34}"/>
                </a:ext>
              </a:extLst>
            </p:cNvPr>
            <p:cNvSpPr txBox="1"/>
            <p:nvPr/>
          </p:nvSpPr>
          <p:spPr>
            <a:xfrm>
              <a:off x="3495896" y="2974382"/>
              <a:ext cx="911225" cy="523220"/>
            </a:xfrm>
            <a:prstGeom prst="rect">
              <a:avLst/>
            </a:prstGeom>
            <a:noFill/>
          </p:spPr>
          <p:txBody>
            <a:bodyPr wrap="square" rtlCol="0">
              <a:spAutoFit/>
            </a:bodyPr>
            <a:lstStyle/>
            <a:p>
              <a:r>
                <a:rPr kumimoji="1" lang="en-US" altLang="ja-JP" sz="2800" dirty="0"/>
                <a:t>3</a:t>
              </a:r>
              <a:r>
                <a:rPr lang="en-US" altLang="ja-JP" sz="2800" dirty="0"/>
                <a:t>3</a:t>
              </a:r>
              <a:endParaRPr kumimoji="1" lang="ja-JP" altLang="en-US" sz="2800" dirty="0"/>
            </a:p>
          </p:txBody>
        </p:sp>
      </p:grpSp>
      <p:grpSp>
        <p:nvGrpSpPr>
          <p:cNvPr id="109" name="グループ化 108">
            <a:extLst>
              <a:ext uri="{FF2B5EF4-FFF2-40B4-BE49-F238E27FC236}">
                <a16:creationId xmlns:a16="http://schemas.microsoft.com/office/drawing/2014/main" id="{08565F9F-DDC0-7373-37CF-6976F0E3E68E}"/>
              </a:ext>
            </a:extLst>
          </p:cNvPr>
          <p:cNvGrpSpPr/>
          <p:nvPr/>
        </p:nvGrpSpPr>
        <p:grpSpPr>
          <a:xfrm>
            <a:off x="1697613" y="3569514"/>
            <a:ext cx="2297501" cy="1475732"/>
            <a:chOff x="4015300" y="2403581"/>
            <a:chExt cx="2297501" cy="1475732"/>
          </a:xfrm>
        </p:grpSpPr>
        <p:sp>
          <p:nvSpPr>
            <p:cNvPr id="110" name="テキスト ボックス 109">
              <a:extLst>
                <a:ext uri="{FF2B5EF4-FFF2-40B4-BE49-F238E27FC236}">
                  <a16:creationId xmlns:a16="http://schemas.microsoft.com/office/drawing/2014/main" id="{679CFC0A-8E47-7A4E-7D96-982E8142BC86}"/>
                </a:ext>
              </a:extLst>
            </p:cNvPr>
            <p:cNvSpPr txBox="1"/>
            <p:nvPr/>
          </p:nvSpPr>
          <p:spPr>
            <a:xfrm>
              <a:off x="5401576" y="2403581"/>
              <a:ext cx="911225" cy="523220"/>
            </a:xfrm>
            <a:prstGeom prst="rect">
              <a:avLst/>
            </a:prstGeom>
            <a:noFill/>
          </p:spPr>
          <p:txBody>
            <a:bodyPr wrap="square" rtlCol="0">
              <a:spAutoFit/>
            </a:bodyPr>
            <a:lstStyle/>
            <a:p>
              <a:r>
                <a:rPr kumimoji="1" lang="en-US" altLang="ja-JP" sz="2800" dirty="0">
                  <a:noFill/>
                </a:rPr>
                <a:t>35°</a:t>
              </a:r>
              <a:endParaRPr kumimoji="1" lang="ja-JP" altLang="en-US" sz="2800" dirty="0">
                <a:noFill/>
              </a:endParaRPr>
            </a:p>
          </p:txBody>
        </p:sp>
        <p:sp>
          <p:nvSpPr>
            <p:cNvPr id="111" name="テキスト ボックス 110">
              <a:extLst>
                <a:ext uri="{FF2B5EF4-FFF2-40B4-BE49-F238E27FC236}">
                  <a16:creationId xmlns:a16="http://schemas.microsoft.com/office/drawing/2014/main" id="{4A17F838-069C-3561-34CF-A8C8579231DD}"/>
                </a:ext>
              </a:extLst>
            </p:cNvPr>
            <p:cNvSpPr txBox="1"/>
            <p:nvPr/>
          </p:nvSpPr>
          <p:spPr>
            <a:xfrm>
              <a:off x="5364201" y="3356093"/>
              <a:ext cx="911225" cy="523220"/>
            </a:xfrm>
            <a:prstGeom prst="rect">
              <a:avLst/>
            </a:prstGeom>
            <a:noFill/>
          </p:spPr>
          <p:txBody>
            <a:bodyPr wrap="square" rtlCol="0">
              <a:spAutoFit/>
            </a:bodyPr>
            <a:lstStyle/>
            <a:p>
              <a:r>
                <a:rPr lang="en-US" altLang="ja-JP" sz="2800" dirty="0">
                  <a:noFill/>
                </a:rPr>
                <a:t>1.10</a:t>
              </a:r>
              <a:endParaRPr kumimoji="1" lang="ja-JP" altLang="en-US" sz="2800" dirty="0">
                <a:noFill/>
              </a:endParaRPr>
            </a:p>
          </p:txBody>
        </p:sp>
        <p:sp>
          <p:nvSpPr>
            <p:cNvPr id="112" name="テキスト ボックス 111">
              <a:extLst>
                <a:ext uri="{FF2B5EF4-FFF2-40B4-BE49-F238E27FC236}">
                  <a16:creationId xmlns:a16="http://schemas.microsoft.com/office/drawing/2014/main" id="{1F4CB7E3-903C-359A-4099-EA92A902699C}"/>
                </a:ext>
              </a:extLst>
            </p:cNvPr>
            <p:cNvSpPr txBox="1"/>
            <p:nvPr/>
          </p:nvSpPr>
          <p:spPr>
            <a:xfrm>
              <a:off x="4845772" y="2884626"/>
              <a:ext cx="911225" cy="523220"/>
            </a:xfrm>
            <a:prstGeom prst="rect">
              <a:avLst/>
            </a:prstGeom>
            <a:noFill/>
          </p:spPr>
          <p:txBody>
            <a:bodyPr wrap="square" rtlCol="0">
              <a:spAutoFit/>
            </a:bodyPr>
            <a:lstStyle/>
            <a:p>
              <a:r>
                <a:rPr lang="en-US" altLang="ja-JP" sz="2800" dirty="0">
                  <a:noFill/>
                </a:rPr>
                <a:t>-5°</a:t>
              </a:r>
              <a:endParaRPr kumimoji="1" lang="ja-JP" altLang="en-US" sz="2800" dirty="0">
                <a:noFill/>
              </a:endParaRPr>
            </a:p>
          </p:txBody>
        </p:sp>
        <p:sp>
          <p:nvSpPr>
            <p:cNvPr id="113" name="テキスト ボックス 112">
              <a:extLst>
                <a:ext uri="{FF2B5EF4-FFF2-40B4-BE49-F238E27FC236}">
                  <a16:creationId xmlns:a16="http://schemas.microsoft.com/office/drawing/2014/main" id="{1EDE501C-62DA-CB44-3C40-0A9784617A03}"/>
                </a:ext>
              </a:extLst>
            </p:cNvPr>
            <p:cNvSpPr txBox="1"/>
            <p:nvPr/>
          </p:nvSpPr>
          <p:spPr>
            <a:xfrm>
              <a:off x="4015300" y="2891113"/>
              <a:ext cx="911225" cy="523220"/>
            </a:xfrm>
            <a:prstGeom prst="rect">
              <a:avLst/>
            </a:prstGeom>
            <a:noFill/>
          </p:spPr>
          <p:txBody>
            <a:bodyPr wrap="square" rtlCol="0">
              <a:spAutoFit/>
            </a:bodyPr>
            <a:lstStyle/>
            <a:p>
              <a:r>
                <a:rPr kumimoji="1" lang="en-US" altLang="ja-JP" sz="2800" dirty="0">
                  <a:noFill/>
                </a:rPr>
                <a:t>35</a:t>
              </a:r>
              <a:endParaRPr kumimoji="1" lang="ja-JP" altLang="en-US" sz="2800" dirty="0">
                <a:noFill/>
              </a:endParaRPr>
            </a:p>
          </p:txBody>
        </p:sp>
      </p:grpSp>
    </p:spTree>
    <p:extLst>
      <p:ext uri="{BB962C8B-B14F-4D97-AF65-F5344CB8AC3E}">
        <p14:creationId xmlns:p14="http://schemas.microsoft.com/office/powerpoint/2010/main" val="30986413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D0812-DAA4-6A8A-6F8D-89CDE7FA38CB}"/>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66AFC4FD-33FD-5C22-51D8-A514EC9520D3}"/>
              </a:ext>
            </a:extLst>
          </p:cNvPr>
          <p:cNvSpPr/>
          <p:nvPr/>
        </p:nvSpPr>
        <p:spPr>
          <a:xfrm>
            <a:off x="3046801"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C94B3291-E1EE-C458-6D23-77A98D353151}"/>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F979B2B2-045E-116E-487B-63AB7B8D3C22}"/>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bg1"/>
                </a:solidFill>
              </a:rPr>
              <a:t>システム要件</a:t>
            </a:r>
          </a:p>
        </p:txBody>
      </p:sp>
      <p:sp>
        <p:nvSpPr>
          <p:cNvPr id="11" name="四角形: 角を丸くする 10">
            <a:extLst>
              <a:ext uri="{FF2B5EF4-FFF2-40B4-BE49-F238E27FC236}">
                <a16:creationId xmlns:a16="http://schemas.microsoft.com/office/drawing/2014/main" id="{7466EBEC-7B03-A2B7-ADD4-EDF3DCCADB2A}"/>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35E290AD-B752-6A44-2BDA-7E9B7ABFC50B}"/>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t>プログラム説明</a:t>
            </a:r>
            <a:endParaRPr kumimoji="1" lang="ja-JP" altLang="en-US" sz="2400" dirty="0"/>
          </a:p>
        </p:txBody>
      </p:sp>
      <p:sp>
        <p:nvSpPr>
          <p:cNvPr id="7" name="テキスト ボックス 6">
            <a:extLst>
              <a:ext uri="{FF2B5EF4-FFF2-40B4-BE49-F238E27FC236}">
                <a16:creationId xmlns:a16="http://schemas.microsoft.com/office/drawing/2014/main" id="{D4F9E003-0B5C-2DDF-3AAC-C7C79660350C}"/>
              </a:ext>
            </a:extLst>
          </p:cNvPr>
          <p:cNvSpPr txBox="1"/>
          <p:nvPr/>
        </p:nvSpPr>
        <p:spPr>
          <a:xfrm>
            <a:off x="771525" y="1171575"/>
            <a:ext cx="2275276" cy="584775"/>
          </a:xfrm>
          <a:prstGeom prst="rect">
            <a:avLst/>
          </a:prstGeom>
          <a:noFill/>
        </p:spPr>
        <p:txBody>
          <a:bodyPr wrap="square" rtlCol="0">
            <a:spAutoFit/>
          </a:bodyPr>
          <a:lstStyle/>
          <a:p>
            <a:r>
              <a:rPr lang="ja-JP" altLang="en-US" sz="3200" dirty="0"/>
              <a:t>移動制御</a:t>
            </a:r>
            <a:endParaRPr kumimoji="1" lang="ja-JP" altLang="en-US" sz="3200" dirty="0"/>
          </a:p>
        </p:txBody>
      </p:sp>
      <p:sp>
        <p:nvSpPr>
          <p:cNvPr id="10" name="テキスト ボックス 9">
            <a:extLst>
              <a:ext uri="{FF2B5EF4-FFF2-40B4-BE49-F238E27FC236}">
                <a16:creationId xmlns:a16="http://schemas.microsoft.com/office/drawing/2014/main" id="{340786E4-1600-220B-9074-8270388AF777}"/>
              </a:ext>
            </a:extLst>
          </p:cNvPr>
          <p:cNvSpPr txBox="1"/>
          <p:nvPr/>
        </p:nvSpPr>
        <p:spPr>
          <a:xfrm>
            <a:off x="1238250" y="1755127"/>
            <a:ext cx="10953750" cy="461665"/>
          </a:xfrm>
          <a:prstGeom prst="rect">
            <a:avLst/>
          </a:prstGeom>
          <a:noFill/>
        </p:spPr>
        <p:txBody>
          <a:bodyPr wrap="square" rtlCol="0">
            <a:spAutoFit/>
          </a:bodyPr>
          <a:lstStyle/>
          <a:p>
            <a:r>
              <a:rPr lang="en-US" altLang="ja-JP" sz="2400" dirty="0"/>
              <a:t>“</a:t>
            </a:r>
            <a:r>
              <a:rPr lang="ja-JP" altLang="en-US" sz="2400" dirty="0"/>
              <a:t>向き</a:t>
            </a:r>
            <a:r>
              <a:rPr lang="en-US" altLang="ja-JP" sz="2400" dirty="0"/>
              <a:t>”</a:t>
            </a:r>
            <a:r>
              <a:rPr lang="ja-JP" altLang="en-US" sz="2400" dirty="0"/>
              <a:t>と</a:t>
            </a:r>
            <a:r>
              <a:rPr lang="en-US" altLang="ja-JP" sz="2400" dirty="0"/>
              <a:t>”</a:t>
            </a:r>
            <a:r>
              <a:rPr lang="ja-JP" altLang="en-US" sz="2400" dirty="0"/>
              <a:t>歩数</a:t>
            </a:r>
            <a:r>
              <a:rPr lang="en-US" altLang="ja-JP" sz="2400" dirty="0"/>
              <a:t>”</a:t>
            </a:r>
            <a:r>
              <a:rPr lang="ja-JP" altLang="en-US" sz="2400" dirty="0"/>
              <a:t>による自己位置推定と、目標座標への移動量計算</a:t>
            </a:r>
            <a:endParaRPr lang="en-US" altLang="ja-JP" sz="2400" dirty="0"/>
          </a:p>
        </p:txBody>
      </p:sp>
      <p:cxnSp>
        <p:nvCxnSpPr>
          <p:cNvPr id="5" name="直線コネクタ 4">
            <a:extLst>
              <a:ext uri="{FF2B5EF4-FFF2-40B4-BE49-F238E27FC236}">
                <a16:creationId xmlns:a16="http://schemas.microsoft.com/office/drawing/2014/main" id="{9F7A9C9C-0C5B-B2C4-7F62-1797A627F8B8}"/>
              </a:ext>
            </a:extLst>
          </p:cNvPr>
          <p:cNvCxnSpPr/>
          <p:nvPr/>
        </p:nvCxnSpPr>
        <p:spPr>
          <a:xfrm>
            <a:off x="7344629" y="4124790"/>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 name="直線矢印コネクタ 2">
            <a:extLst>
              <a:ext uri="{FF2B5EF4-FFF2-40B4-BE49-F238E27FC236}">
                <a16:creationId xmlns:a16="http://schemas.microsoft.com/office/drawing/2014/main" id="{4BD9CE18-5788-3328-5EFF-5B79F8C1F8B6}"/>
              </a:ext>
            </a:extLst>
          </p:cNvPr>
          <p:cNvCxnSpPr/>
          <p:nvPr/>
        </p:nvCxnSpPr>
        <p:spPr>
          <a:xfrm>
            <a:off x="7344629" y="4482990"/>
            <a:ext cx="360000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 name="直線コネクタ 7">
            <a:extLst>
              <a:ext uri="{FF2B5EF4-FFF2-40B4-BE49-F238E27FC236}">
                <a16:creationId xmlns:a16="http://schemas.microsoft.com/office/drawing/2014/main" id="{4A2BFF1E-F9B4-6C80-F458-13D2F21245EA}"/>
              </a:ext>
            </a:extLst>
          </p:cNvPr>
          <p:cNvCxnSpPr/>
          <p:nvPr/>
        </p:nvCxnSpPr>
        <p:spPr>
          <a:xfrm>
            <a:off x="7344629" y="3764790"/>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4" name="直線矢印コネクタ 3">
            <a:extLst>
              <a:ext uri="{FF2B5EF4-FFF2-40B4-BE49-F238E27FC236}">
                <a16:creationId xmlns:a16="http://schemas.microsoft.com/office/drawing/2014/main" id="{343E9AD8-D92D-614D-C2E8-1561E57DD954}"/>
              </a:ext>
            </a:extLst>
          </p:cNvPr>
          <p:cNvCxnSpPr>
            <a:cxnSpLocks/>
          </p:cNvCxnSpPr>
          <p:nvPr/>
        </p:nvCxnSpPr>
        <p:spPr>
          <a:xfrm rot="10800000">
            <a:off x="9146141" y="2682990"/>
            <a:ext cx="0" cy="360000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 name="直線矢印コネクタ 5">
            <a:extLst>
              <a:ext uri="{FF2B5EF4-FFF2-40B4-BE49-F238E27FC236}">
                <a16:creationId xmlns:a16="http://schemas.microsoft.com/office/drawing/2014/main" id="{16487FFE-982A-6337-167C-1C812ACC24C8}"/>
              </a:ext>
            </a:extLst>
          </p:cNvPr>
          <p:cNvCxnSpPr/>
          <p:nvPr/>
        </p:nvCxnSpPr>
        <p:spPr>
          <a:xfrm>
            <a:off x="7346141" y="3404790"/>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16" name="直線矢印コネクタ 15">
            <a:extLst>
              <a:ext uri="{FF2B5EF4-FFF2-40B4-BE49-F238E27FC236}">
                <a16:creationId xmlns:a16="http://schemas.microsoft.com/office/drawing/2014/main" id="{548D5867-8071-2159-87E7-7D5E9EB1474A}"/>
              </a:ext>
            </a:extLst>
          </p:cNvPr>
          <p:cNvCxnSpPr/>
          <p:nvPr/>
        </p:nvCxnSpPr>
        <p:spPr>
          <a:xfrm>
            <a:off x="7346141" y="3044790"/>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17" name="直線コネクタ 16">
            <a:extLst>
              <a:ext uri="{FF2B5EF4-FFF2-40B4-BE49-F238E27FC236}">
                <a16:creationId xmlns:a16="http://schemas.microsoft.com/office/drawing/2014/main" id="{8BCDA9BC-10B0-408B-880E-A2C961EADA71}"/>
              </a:ext>
            </a:extLst>
          </p:cNvPr>
          <p:cNvCxnSpPr/>
          <p:nvPr/>
        </p:nvCxnSpPr>
        <p:spPr>
          <a:xfrm>
            <a:off x="7344629" y="5882153"/>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FDBD6DCC-0AF6-75C8-584D-9A4232FA07A8}"/>
              </a:ext>
            </a:extLst>
          </p:cNvPr>
          <p:cNvCxnSpPr/>
          <p:nvPr/>
        </p:nvCxnSpPr>
        <p:spPr>
          <a:xfrm>
            <a:off x="7344629" y="5522153"/>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9" name="直線矢印コネクタ 18">
            <a:extLst>
              <a:ext uri="{FF2B5EF4-FFF2-40B4-BE49-F238E27FC236}">
                <a16:creationId xmlns:a16="http://schemas.microsoft.com/office/drawing/2014/main" id="{3B24D0A1-C8E1-EAF7-A889-EB3CFCA48EB2}"/>
              </a:ext>
            </a:extLst>
          </p:cNvPr>
          <p:cNvCxnSpPr/>
          <p:nvPr/>
        </p:nvCxnSpPr>
        <p:spPr>
          <a:xfrm>
            <a:off x="7346141" y="5162153"/>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20" name="直線矢印コネクタ 19">
            <a:extLst>
              <a:ext uri="{FF2B5EF4-FFF2-40B4-BE49-F238E27FC236}">
                <a16:creationId xmlns:a16="http://schemas.microsoft.com/office/drawing/2014/main" id="{A4119D8E-62CF-152B-A422-89770675A0E8}"/>
              </a:ext>
            </a:extLst>
          </p:cNvPr>
          <p:cNvCxnSpPr/>
          <p:nvPr/>
        </p:nvCxnSpPr>
        <p:spPr>
          <a:xfrm>
            <a:off x="7346141" y="4802153"/>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29" name="直線コネクタ 28">
            <a:extLst>
              <a:ext uri="{FF2B5EF4-FFF2-40B4-BE49-F238E27FC236}">
                <a16:creationId xmlns:a16="http://schemas.microsoft.com/office/drawing/2014/main" id="{0646A937-91BC-9F74-669E-2BF92BF4CD97}"/>
              </a:ext>
            </a:extLst>
          </p:cNvPr>
          <p:cNvCxnSpPr/>
          <p:nvPr/>
        </p:nvCxnSpPr>
        <p:spPr>
          <a:xfrm>
            <a:off x="878614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8479556D-DE2A-F72E-8A70-714C1032EDE2}"/>
              </a:ext>
            </a:extLst>
          </p:cNvPr>
          <p:cNvCxnSpPr/>
          <p:nvPr/>
        </p:nvCxnSpPr>
        <p:spPr>
          <a:xfrm>
            <a:off x="842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AADFCC1F-C1D1-5EE3-FF80-0DE4CD068603}"/>
              </a:ext>
            </a:extLst>
          </p:cNvPr>
          <p:cNvCxnSpPr/>
          <p:nvPr/>
        </p:nvCxnSpPr>
        <p:spPr>
          <a:xfrm>
            <a:off x="806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4" name="直線コネクタ 33">
            <a:extLst>
              <a:ext uri="{FF2B5EF4-FFF2-40B4-BE49-F238E27FC236}">
                <a16:creationId xmlns:a16="http://schemas.microsoft.com/office/drawing/2014/main" id="{E3286D15-F800-D716-F4E3-08FB8B73F726}"/>
              </a:ext>
            </a:extLst>
          </p:cNvPr>
          <p:cNvCxnSpPr/>
          <p:nvPr/>
        </p:nvCxnSpPr>
        <p:spPr>
          <a:xfrm>
            <a:off x="770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5" name="直線コネクタ 34">
            <a:extLst>
              <a:ext uri="{FF2B5EF4-FFF2-40B4-BE49-F238E27FC236}">
                <a16:creationId xmlns:a16="http://schemas.microsoft.com/office/drawing/2014/main" id="{4329CD0A-4905-9B57-5A6C-B278EDB88370}"/>
              </a:ext>
            </a:extLst>
          </p:cNvPr>
          <p:cNvCxnSpPr/>
          <p:nvPr/>
        </p:nvCxnSpPr>
        <p:spPr>
          <a:xfrm>
            <a:off x="10599701" y="2681188"/>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6" name="直線コネクタ 35">
            <a:extLst>
              <a:ext uri="{FF2B5EF4-FFF2-40B4-BE49-F238E27FC236}">
                <a16:creationId xmlns:a16="http://schemas.microsoft.com/office/drawing/2014/main" id="{424CFE13-F66E-3CEC-5707-71814EF0AE26}"/>
              </a:ext>
            </a:extLst>
          </p:cNvPr>
          <p:cNvCxnSpPr/>
          <p:nvPr/>
        </p:nvCxnSpPr>
        <p:spPr>
          <a:xfrm>
            <a:off x="1023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7" name="直線コネクタ 36">
            <a:extLst>
              <a:ext uri="{FF2B5EF4-FFF2-40B4-BE49-F238E27FC236}">
                <a16:creationId xmlns:a16="http://schemas.microsoft.com/office/drawing/2014/main" id="{061ED2F7-AD98-2C64-A36C-B2A418FA0D98}"/>
              </a:ext>
            </a:extLst>
          </p:cNvPr>
          <p:cNvCxnSpPr/>
          <p:nvPr/>
        </p:nvCxnSpPr>
        <p:spPr>
          <a:xfrm>
            <a:off x="987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8" name="直線コネクタ 37">
            <a:extLst>
              <a:ext uri="{FF2B5EF4-FFF2-40B4-BE49-F238E27FC236}">
                <a16:creationId xmlns:a16="http://schemas.microsoft.com/office/drawing/2014/main" id="{9CA37665-3626-0C71-B6E4-5C974F18B9B4}"/>
              </a:ext>
            </a:extLst>
          </p:cNvPr>
          <p:cNvCxnSpPr/>
          <p:nvPr/>
        </p:nvCxnSpPr>
        <p:spPr>
          <a:xfrm>
            <a:off x="951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sp>
        <p:nvSpPr>
          <p:cNvPr id="39" name="テキスト ボックス 38">
            <a:extLst>
              <a:ext uri="{FF2B5EF4-FFF2-40B4-BE49-F238E27FC236}">
                <a16:creationId xmlns:a16="http://schemas.microsoft.com/office/drawing/2014/main" id="{530954ED-CAF9-E94B-5BA4-7BFBC48E3660}"/>
              </a:ext>
            </a:extLst>
          </p:cNvPr>
          <p:cNvSpPr txBox="1"/>
          <p:nvPr/>
        </p:nvSpPr>
        <p:spPr>
          <a:xfrm>
            <a:off x="10878514" y="4157185"/>
            <a:ext cx="267345" cy="584775"/>
          </a:xfrm>
          <a:prstGeom prst="rect">
            <a:avLst/>
          </a:prstGeom>
          <a:noFill/>
        </p:spPr>
        <p:txBody>
          <a:bodyPr wrap="square" rtlCol="0" anchor="t">
            <a:spAutoFit/>
          </a:bodyPr>
          <a:lstStyle/>
          <a:p>
            <a:r>
              <a:rPr kumimoji="1" lang="en-US" altLang="ja-JP" sz="3200" b="1" dirty="0">
                <a:latin typeface="Gigi" panose="04040504060007020D02" pitchFamily="82" charset="0"/>
              </a:rPr>
              <a:t>x</a:t>
            </a:r>
            <a:endParaRPr kumimoji="1" lang="ja-JP" altLang="en-US" sz="3200" b="1" dirty="0">
              <a:latin typeface="Gigi" panose="04040504060007020D02" pitchFamily="82" charset="0"/>
            </a:endParaRPr>
          </a:p>
        </p:txBody>
      </p:sp>
      <p:sp>
        <p:nvSpPr>
          <p:cNvPr id="40" name="テキスト ボックス 39">
            <a:extLst>
              <a:ext uri="{FF2B5EF4-FFF2-40B4-BE49-F238E27FC236}">
                <a16:creationId xmlns:a16="http://schemas.microsoft.com/office/drawing/2014/main" id="{6A16E8A4-918B-FA28-944E-7E655755B3E7}"/>
              </a:ext>
            </a:extLst>
          </p:cNvPr>
          <p:cNvSpPr txBox="1"/>
          <p:nvPr/>
        </p:nvSpPr>
        <p:spPr>
          <a:xfrm>
            <a:off x="8930273" y="2116703"/>
            <a:ext cx="267345" cy="584775"/>
          </a:xfrm>
          <a:prstGeom prst="rect">
            <a:avLst/>
          </a:prstGeom>
          <a:noFill/>
        </p:spPr>
        <p:txBody>
          <a:bodyPr wrap="square" rtlCol="0">
            <a:spAutoFit/>
          </a:bodyPr>
          <a:lstStyle/>
          <a:p>
            <a:r>
              <a:rPr lang="en-US" altLang="ja-JP" sz="3200" b="1" dirty="0">
                <a:latin typeface="Gigi" panose="04040504060007020D02" pitchFamily="82" charset="0"/>
              </a:rPr>
              <a:t>y</a:t>
            </a:r>
            <a:endParaRPr kumimoji="1" lang="ja-JP" altLang="en-US" sz="3200" b="1" dirty="0">
              <a:latin typeface="Gigi" panose="04040504060007020D02" pitchFamily="82" charset="0"/>
            </a:endParaRPr>
          </a:p>
        </p:txBody>
      </p:sp>
      <p:sp>
        <p:nvSpPr>
          <p:cNvPr id="41" name="テキスト ボックス 40">
            <a:extLst>
              <a:ext uri="{FF2B5EF4-FFF2-40B4-BE49-F238E27FC236}">
                <a16:creationId xmlns:a16="http://schemas.microsoft.com/office/drawing/2014/main" id="{71979AF8-6036-6D8C-1314-E9A9777EF97D}"/>
              </a:ext>
            </a:extLst>
          </p:cNvPr>
          <p:cNvSpPr txBox="1"/>
          <p:nvPr/>
        </p:nvSpPr>
        <p:spPr>
          <a:xfrm>
            <a:off x="9109438" y="2161962"/>
            <a:ext cx="1020485" cy="523220"/>
          </a:xfrm>
          <a:prstGeom prst="rect">
            <a:avLst/>
          </a:prstGeom>
          <a:noFill/>
        </p:spPr>
        <p:txBody>
          <a:bodyPr wrap="square" rtlCol="0">
            <a:spAutoFit/>
          </a:bodyPr>
          <a:lstStyle/>
          <a:p>
            <a:pPr algn="ctr"/>
            <a:r>
              <a:rPr kumimoji="1" lang="en-US" altLang="ja-JP" sz="2800" dirty="0"/>
              <a:t>90°</a:t>
            </a:r>
            <a:endParaRPr kumimoji="1" lang="ja-JP" altLang="en-US" sz="2800" dirty="0"/>
          </a:p>
        </p:txBody>
      </p:sp>
      <p:sp>
        <p:nvSpPr>
          <p:cNvPr id="42" name="テキスト ボックス 41">
            <a:extLst>
              <a:ext uri="{FF2B5EF4-FFF2-40B4-BE49-F238E27FC236}">
                <a16:creationId xmlns:a16="http://schemas.microsoft.com/office/drawing/2014/main" id="{34A7B380-0419-C9F9-B178-785627A6FFD7}"/>
              </a:ext>
            </a:extLst>
          </p:cNvPr>
          <p:cNvSpPr txBox="1"/>
          <p:nvPr/>
        </p:nvSpPr>
        <p:spPr>
          <a:xfrm>
            <a:off x="11144105" y="4233942"/>
            <a:ext cx="1020485" cy="830997"/>
          </a:xfrm>
          <a:prstGeom prst="rect">
            <a:avLst/>
          </a:prstGeom>
          <a:noFill/>
        </p:spPr>
        <p:txBody>
          <a:bodyPr wrap="square" rtlCol="0">
            <a:spAutoFit/>
          </a:bodyPr>
          <a:lstStyle/>
          <a:p>
            <a:r>
              <a:rPr kumimoji="1" lang="en-US" altLang="ja-JP" sz="2800" dirty="0"/>
              <a:t> 0°</a:t>
            </a:r>
          </a:p>
          <a:p>
            <a:r>
              <a:rPr lang="en-US" altLang="ja-JP" sz="2000" dirty="0"/>
              <a:t>(360°)</a:t>
            </a:r>
            <a:endParaRPr kumimoji="1" lang="ja-JP" altLang="en-US" sz="2000" dirty="0"/>
          </a:p>
        </p:txBody>
      </p:sp>
      <p:sp>
        <p:nvSpPr>
          <p:cNvPr id="43" name="テキスト ボックス 42">
            <a:extLst>
              <a:ext uri="{FF2B5EF4-FFF2-40B4-BE49-F238E27FC236}">
                <a16:creationId xmlns:a16="http://schemas.microsoft.com/office/drawing/2014/main" id="{C38B0B89-5447-643A-CE2B-82937106BD84}"/>
              </a:ext>
            </a:extLst>
          </p:cNvPr>
          <p:cNvSpPr txBox="1"/>
          <p:nvPr/>
        </p:nvSpPr>
        <p:spPr>
          <a:xfrm>
            <a:off x="8714717" y="6340542"/>
            <a:ext cx="1020485" cy="523220"/>
          </a:xfrm>
          <a:prstGeom prst="rect">
            <a:avLst/>
          </a:prstGeom>
          <a:noFill/>
        </p:spPr>
        <p:txBody>
          <a:bodyPr wrap="square" rtlCol="0">
            <a:spAutoFit/>
          </a:bodyPr>
          <a:lstStyle/>
          <a:p>
            <a:pPr algn="ctr"/>
            <a:r>
              <a:rPr lang="en-US" altLang="ja-JP" sz="2800" dirty="0"/>
              <a:t>270</a:t>
            </a:r>
            <a:r>
              <a:rPr kumimoji="1" lang="en-US" altLang="ja-JP" sz="2800" dirty="0"/>
              <a:t>°</a:t>
            </a:r>
            <a:endParaRPr kumimoji="1" lang="ja-JP" altLang="en-US" sz="2800" dirty="0"/>
          </a:p>
        </p:txBody>
      </p:sp>
      <p:sp>
        <p:nvSpPr>
          <p:cNvPr id="44" name="テキスト ボックス 43">
            <a:extLst>
              <a:ext uri="{FF2B5EF4-FFF2-40B4-BE49-F238E27FC236}">
                <a16:creationId xmlns:a16="http://schemas.microsoft.com/office/drawing/2014/main" id="{C14DCD18-655A-EC93-E064-3901D948FB68}"/>
              </a:ext>
            </a:extLst>
          </p:cNvPr>
          <p:cNvSpPr txBox="1"/>
          <p:nvPr/>
        </p:nvSpPr>
        <p:spPr>
          <a:xfrm>
            <a:off x="6387152" y="4232640"/>
            <a:ext cx="1020485" cy="523220"/>
          </a:xfrm>
          <a:prstGeom prst="rect">
            <a:avLst/>
          </a:prstGeom>
          <a:noFill/>
        </p:spPr>
        <p:txBody>
          <a:bodyPr wrap="square" rtlCol="0">
            <a:spAutoFit/>
          </a:bodyPr>
          <a:lstStyle/>
          <a:p>
            <a:pPr algn="ctr"/>
            <a:r>
              <a:rPr lang="en-US" altLang="ja-JP" sz="2800" dirty="0"/>
              <a:t>18</a:t>
            </a:r>
            <a:r>
              <a:rPr kumimoji="1" lang="en-US" altLang="ja-JP" sz="2800" dirty="0"/>
              <a:t>0°</a:t>
            </a:r>
            <a:endParaRPr kumimoji="1" lang="ja-JP" altLang="en-US" sz="2800" dirty="0"/>
          </a:p>
        </p:txBody>
      </p:sp>
      <p:sp>
        <p:nvSpPr>
          <p:cNvPr id="48" name="テキスト ボックス 47">
            <a:extLst>
              <a:ext uri="{FF2B5EF4-FFF2-40B4-BE49-F238E27FC236}">
                <a16:creationId xmlns:a16="http://schemas.microsoft.com/office/drawing/2014/main" id="{9780BD1F-1AEC-04A0-91E9-503887F5374B}"/>
              </a:ext>
            </a:extLst>
          </p:cNvPr>
          <p:cNvSpPr txBox="1"/>
          <p:nvPr/>
        </p:nvSpPr>
        <p:spPr>
          <a:xfrm>
            <a:off x="4867322" y="6143763"/>
            <a:ext cx="281490" cy="523220"/>
          </a:xfrm>
          <a:prstGeom prst="rect">
            <a:avLst/>
          </a:prstGeom>
          <a:noFill/>
        </p:spPr>
        <p:txBody>
          <a:bodyPr wrap="square" rtlCol="0">
            <a:spAutoFit/>
          </a:bodyPr>
          <a:lstStyle/>
          <a:p>
            <a:r>
              <a:rPr lang="en-US" altLang="ja-JP" sz="2800" dirty="0"/>
              <a:t>(</a:t>
            </a:r>
            <a:endParaRPr kumimoji="1" lang="ja-JP" altLang="en-US" sz="2800" dirty="0"/>
          </a:p>
        </p:txBody>
      </p:sp>
      <p:sp>
        <p:nvSpPr>
          <p:cNvPr id="52" name="テキスト ボックス 51">
            <a:extLst>
              <a:ext uri="{FF2B5EF4-FFF2-40B4-BE49-F238E27FC236}">
                <a16:creationId xmlns:a16="http://schemas.microsoft.com/office/drawing/2014/main" id="{BB110437-6313-1A7A-73D8-F701A67D6B26}"/>
              </a:ext>
            </a:extLst>
          </p:cNvPr>
          <p:cNvSpPr txBox="1"/>
          <p:nvPr/>
        </p:nvSpPr>
        <p:spPr>
          <a:xfrm>
            <a:off x="6967885" y="6143763"/>
            <a:ext cx="281490" cy="523220"/>
          </a:xfrm>
          <a:prstGeom prst="rect">
            <a:avLst/>
          </a:prstGeom>
          <a:noFill/>
        </p:spPr>
        <p:txBody>
          <a:bodyPr wrap="square" rtlCol="0">
            <a:spAutoFit/>
          </a:bodyPr>
          <a:lstStyle/>
          <a:p>
            <a:r>
              <a:rPr kumimoji="1" lang="en-US" altLang="ja-JP" sz="2800" dirty="0"/>
              <a:t>)</a:t>
            </a:r>
            <a:endParaRPr kumimoji="1" lang="ja-JP" altLang="en-US" sz="2800" dirty="0"/>
          </a:p>
        </p:txBody>
      </p:sp>
      <p:sp>
        <p:nvSpPr>
          <p:cNvPr id="56" name="テキスト ボックス 55">
            <a:extLst>
              <a:ext uri="{FF2B5EF4-FFF2-40B4-BE49-F238E27FC236}">
                <a16:creationId xmlns:a16="http://schemas.microsoft.com/office/drawing/2014/main" id="{1B80646D-9AFF-5667-C31D-7083A1157CCB}"/>
              </a:ext>
            </a:extLst>
          </p:cNvPr>
          <p:cNvSpPr txBox="1"/>
          <p:nvPr/>
        </p:nvSpPr>
        <p:spPr>
          <a:xfrm>
            <a:off x="5962379" y="6143763"/>
            <a:ext cx="281490" cy="523220"/>
          </a:xfrm>
          <a:prstGeom prst="rect">
            <a:avLst/>
          </a:prstGeom>
          <a:noFill/>
        </p:spPr>
        <p:txBody>
          <a:bodyPr wrap="square" rtlCol="0">
            <a:spAutoFit/>
          </a:bodyPr>
          <a:lstStyle/>
          <a:p>
            <a:r>
              <a:rPr lang="en-US" altLang="ja-JP" sz="2800" dirty="0"/>
              <a:t>,</a:t>
            </a:r>
          </a:p>
        </p:txBody>
      </p:sp>
      <p:sp>
        <p:nvSpPr>
          <p:cNvPr id="60" name="楕円 59">
            <a:extLst>
              <a:ext uri="{FF2B5EF4-FFF2-40B4-BE49-F238E27FC236}">
                <a16:creationId xmlns:a16="http://schemas.microsoft.com/office/drawing/2014/main" id="{5E842188-4AAD-05A9-3415-F34D678BAA68}"/>
              </a:ext>
            </a:extLst>
          </p:cNvPr>
          <p:cNvSpPr/>
          <p:nvPr/>
        </p:nvSpPr>
        <p:spPr>
          <a:xfrm>
            <a:off x="10389122" y="3152458"/>
            <a:ext cx="419390" cy="419390"/>
          </a:xfrm>
          <a:prstGeom prst="ellipse">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800" b="1" dirty="0">
                <a:solidFill>
                  <a:schemeClr val="bg2"/>
                </a:solidFill>
              </a:rPr>
              <a:t>G</a:t>
            </a:r>
            <a:endParaRPr kumimoji="1" lang="ja-JP" altLang="en-US" sz="2800" b="1" dirty="0">
              <a:solidFill>
                <a:schemeClr val="bg2"/>
              </a:solidFill>
            </a:endParaRPr>
          </a:p>
        </p:txBody>
      </p:sp>
      <p:sp>
        <p:nvSpPr>
          <p:cNvPr id="61" name="テキスト ボックス 60">
            <a:extLst>
              <a:ext uri="{FF2B5EF4-FFF2-40B4-BE49-F238E27FC236}">
                <a16:creationId xmlns:a16="http://schemas.microsoft.com/office/drawing/2014/main" id="{901D19B7-3725-0FA0-E07C-B8BB13E0A0A9}"/>
              </a:ext>
            </a:extLst>
          </p:cNvPr>
          <p:cNvSpPr txBox="1"/>
          <p:nvPr/>
        </p:nvSpPr>
        <p:spPr>
          <a:xfrm>
            <a:off x="10777538" y="2936791"/>
            <a:ext cx="1183482" cy="523220"/>
          </a:xfrm>
          <a:prstGeom prst="rect">
            <a:avLst/>
          </a:prstGeom>
          <a:noFill/>
        </p:spPr>
        <p:txBody>
          <a:bodyPr wrap="square" rtlCol="0">
            <a:spAutoFit/>
          </a:bodyPr>
          <a:lstStyle/>
          <a:p>
            <a:r>
              <a:rPr kumimoji="1" lang="en-US" altLang="ja-JP" sz="2800" dirty="0"/>
              <a:t>( 4 , 3 )</a:t>
            </a:r>
            <a:endParaRPr kumimoji="1" lang="ja-JP" altLang="en-US" sz="2800" dirty="0"/>
          </a:p>
        </p:txBody>
      </p:sp>
      <p:sp>
        <p:nvSpPr>
          <p:cNvPr id="26" name="矢印: 右 25">
            <a:extLst>
              <a:ext uri="{FF2B5EF4-FFF2-40B4-BE49-F238E27FC236}">
                <a16:creationId xmlns:a16="http://schemas.microsoft.com/office/drawing/2014/main" id="{D284032E-5510-7824-1D83-28C962F9E557}"/>
              </a:ext>
            </a:extLst>
          </p:cNvPr>
          <p:cNvSpPr/>
          <p:nvPr/>
        </p:nvSpPr>
        <p:spPr>
          <a:xfrm rot="19800000">
            <a:off x="10220781" y="3372412"/>
            <a:ext cx="356398" cy="378745"/>
          </a:xfrm>
          <a:prstGeom prst="rightArrow">
            <a:avLst>
              <a:gd name="adj1" fmla="val 38683"/>
              <a:gd name="adj2" fmla="val 54009"/>
            </a:avLst>
          </a:prstGeom>
          <a:solidFill>
            <a:schemeClr val="tx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矢印: 右 66">
            <a:extLst>
              <a:ext uri="{FF2B5EF4-FFF2-40B4-BE49-F238E27FC236}">
                <a16:creationId xmlns:a16="http://schemas.microsoft.com/office/drawing/2014/main" id="{83DF00B5-E507-6B41-1F09-2F2C947A7454}"/>
              </a:ext>
            </a:extLst>
          </p:cNvPr>
          <p:cNvSpPr/>
          <p:nvPr/>
        </p:nvSpPr>
        <p:spPr>
          <a:xfrm rot="16200000">
            <a:off x="10503268" y="3447139"/>
            <a:ext cx="233678" cy="158670"/>
          </a:xfrm>
          <a:prstGeom prst="rightArrow">
            <a:avLst>
              <a:gd name="adj1" fmla="val 40995"/>
              <a:gd name="adj2" fmla="val 50000"/>
            </a:avLst>
          </a:prstGeom>
          <a:solidFill>
            <a:srgbClr val="C0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矢印: 右 67">
            <a:extLst>
              <a:ext uri="{FF2B5EF4-FFF2-40B4-BE49-F238E27FC236}">
                <a16:creationId xmlns:a16="http://schemas.microsoft.com/office/drawing/2014/main" id="{AC7CF50C-4752-3221-1131-D57522D2C5D8}"/>
              </a:ext>
            </a:extLst>
          </p:cNvPr>
          <p:cNvSpPr/>
          <p:nvPr/>
        </p:nvSpPr>
        <p:spPr>
          <a:xfrm>
            <a:off x="10270680" y="3565283"/>
            <a:ext cx="329022" cy="158670"/>
          </a:xfrm>
          <a:prstGeom prst="rightArrow">
            <a:avLst>
              <a:gd name="adj1" fmla="val 40995"/>
              <a:gd name="adj2" fmla="val 50000"/>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矢印: 右 68">
            <a:extLst>
              <a:ext uri="{FF2B5EF4-FFF2-40B4-BE49-F238E27FC236}">
                <a16:creationId xmlns:a16="http://schemas.microsoft.com/office/drawing/2014/main" id="{572AB606-CAF4-B016-D65B-0E8373B2B302}"/>
              </a:ext>
            </a:extLst>
          </p:cNvPr>
          <p:cNvSpPr/>
          <p:nvPr/>
        </p:nvSpPr>
        <p:spPr>
          <a:xfrm rot="19641983">
            <a:off x="10218311" y="3450676"/>
            <a:ext cx="420051" cy="158670"/>
          </a:xfrm>
          <a:prstGeom prst="rightArrow">
            <a:avLst>
              <a:gd name="adj1" fmla="val 40995"/>
              <a:gd name="adj2" fmla="val 50000"/>
            </a:avLst>
          </a:prstGeom>
          <a:solidFill>
            <a:srgbClr val="00B0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テキスト ボックス 61">
            <a:extLst>
              <a:ext uri="{FF2B5EF4-FFF2-40B4-BE49-F238E27FC236}">
                <a16:creationId xmlns:a16="http://schemas.microsoft.com/office/drawing/2014/main" id="{76817A85-33B3-65AA-2FDD-680B05AA2198}"/>
              </a:ext>
            </a:extLst>
          </p:cNvPr>
          <p:cNvSpPr txBox="1"/>
          <p:nvPr/>
        </p:nvSpPr>
        <p:spPr>
          <a:xfrm>
            <a:off x="771525" y="3467162"/>
            <a:ext cx="4447818" cy="523220"/>
          </a:xfrm>
          <a:prstGeom prst="rect">
            <a:avLst/>
          </a:prstGeom>
          <a:noFill/>
        </p:spPr>
        <p:txBody>
          <a:bodyPr wrap="square" rtlCol="0">
            <a:spAutoFit/>
          </a:bodyPr>
          <a:lstStyle/>
          <a:p>
            <a:r>
              <a:rPr lang="en-US" altLang="ja-JP" sz="2800" dirty="0"/>
              <a:t>a</a:t>
            </a:r>
            <a:r>
              <a:rPr kumimoji="1" lang="en-US" altLang="ja-JP" sz="2800" dirty="0"/>
              <a:t>rctan(</a:t>
            </a:r>
            <a:r>
              <a:rPr kumimoji="1" lang="en-US" altLang="ja-JP" sz="2800" dirty="0" err="1"/>
              <a:t>Δy</a:t>
            </a:r>
            <a:r>
              <a:rPr kumimoji="1" lang="en-US" altLang="ja-JP" sz="2800" dirty="0"/>
              <a:t>/</a:t>
            </a:r>
            <a:r>
              <a:rPr kumimoji="1" lang="en-US" altLang="ja-JP" sz="2800" dirty="0" err="1"/>
              <a:t>Δx</a:t>
            </a:r>
            <a:r>
              <a:rPr kumimoji="1" lang="en-US" altLang="ja-JP" sz="2800" dirty="0"/>
              <a:t>) </a:t>
            </a:r>
            <a:r>
              <a:rPr kumimoji="1" lang="ja-JP" altLang="en-US" sz="2800" dirty="0"/>
              <a:t>≈</a:t>
            </a:r>
          </a:p>
        </p:txBody>
      </p:sp>
      <p:sp>
        <p:nvSpPr>
          <p:cNvPr id="24" name="テキスト ボックス 23">
            <a:extLst>
              <a:ext uri="{FF2B5EF4-FFF2-40B4-BE49-F238E27FC236}">
                <a16:creationId xmlns:a16="http://schemas.microsoft.com/office/drawing/2014/main" id="{945F0FDC-D42B-2028-425D-297F605A504F}"/>
              </a:ext>
            </a:extLst>
          </p:cNvPr>
          <p:cNvSpPr txBox="1"/>
          <p:nvPr/>
        </p:nvSpPr>
        <p:spPr>
          <a:xfrm>
            <a:off x="780575" y="4404567"/>
            <a:ext cx="4447818" cy="523220"/>
          </a:xfrm>
          <a:prstGeom prst="rect">
            <a:avLst/>
          </a:prstGeom>
          <a:noFill/>
        </p:spPr>
        <p:txBody>
          <a:bodyPr wrap="square" rtlCol="0">
            <a:spAutoFit/>
          </a:bodyPr>
          <a:lstStyle/>
          <a:p>
            <a:r>
              <a:rPr kumimoji="1" lang="ja-JP" altLang="en-US" sz="2800" dirty="0"/>
              <a:t>√</a:t>
            </a:r>
            <a:r>
              <a:rPr kumimoji="1" lang="en-US" altLang="ja-JP" sz="2800" dirty="0"/>
              <a:t>((</a:t>
            </a:r>
            <a:r>
              <a:rPr kumimoji="1" lang="en-US" altLang="ja-JP" sz="2800" dirty="0" err="1"/>
              <a:t>Δx</a:t>
            </a:r>
            <a:r>
              <a:rPr kumimoji="1" lang="en-US" altLang="ja-JP" sz="2800" dirty="0"/>
              <a:t>)²+(</a:t>
            </a:r>
            <a:r>
              <a:rPr kumimoji="1" lang="en-US" altLang="ja-JP" sz="2800" dirty="0" err="1"/>
              <a:t>Δy</a:t>
            </a:r>
            <a:r>
              <a:rPr kumimoji="1" lang="en-US" altLang="ja-JP" sz="2800" dirty="0"/>
              <a:t>)²)</a:t>
            </a:r>
            <a:endParaRPr kumimoji="1" lang="ja-JP" altLang="en-US" sz="2800" dirty="0"/>
          </a:p>
        </p:txBody>
      </p:sp>
      <p:sp>
        <p:nvSpPr>
          <p:cNvPr id="27" name="テキスト ボックス 26">
            <a:extLst>
              <a:ext uri="{FF2B5EF4-FFF2-40B4-BE49-F238E27FC236}">
                <a16:creationId xmlns:a16="http://schemas.microsoft.com/office/drawing/2014/main" id="{253EC271-57F6-5A3C-B928-763CB96D3A43}"/>
              </a:ext>
            </a:extLst>
          </p:cNvPr>
          <p:cNvSpPr txBox="1"/>
          <p:nvPr/>
        </p:nvSpPr>
        <p:spPr>
          <a:xfrm>
            <a:off x="774542" y="3956168"/>
            <a:ext cx="4447818" cy="523220"/>
          </a:xfrm>
          <a:prstGeom prst="rect">
            <a:avLst/>
          </a:prstGeom>
          <a:noFill/>
        </p:spPr>
        <p:txBody>
          <a:bodyPr wrap="square" rtlCol="0">
            <a:spAutoFit/>
          </a:bodyPr>
          <a:lstStyle/>
          <a:p>
            <a:r>
              <a:rPr lang="en-US" altLang="ja-JP" sz="2800" dirty="0"/>
              <a:t>     </a:t>
            </a:r>
            <a:r>
              <a:rPr kumimoji="1" lang="en-US" altLang="ja-JP" sz="2800" dirty="0"/>
              <a:t>°</a:t>
            </a:r>
            <a:r>
              <a:rPr lang="ja-JP" altLang="en-US" sz="2800" dirty="0"/>
              <a:t> </a:t>
            </a:r>
            <a:r>
              <a:rPr lang="en-US" altLang="ja-JP" sz="2800" dirty="0"/>
              <a:t>-</a:t>
            </a:r>
            <a:r>
              <a:rPr lang="ja-JP" altLang="en-US" sz="2800" dirty="0"/>
              <a:t> </a:t>
            </a:r>
            <a:r>
              <a:rPr lang="en-US" altLang="ja-JP" sz="2800" dirty="0"/>
              <a:t>     °</a:t>
            </a:r>
            <a:r>
              <a:rPr lang="ja-JP" altLang="en-US" sz="2800" dirty="0"/>
              <a:t> </a:t>
            </a:r>
            <a:r>
              <a:rPr kumimoji="1" lang="en-US" altLang="ja-JP" sz="2800" dirty="0"/>
              <a:t>=</a:t>
            </a:r>
            <a:endParaRPr kumimoji="1" lang="ja-JP" altLang="en-US" sz="2800" dirty="0"/>
          </a:p>
        </p:txBody>
      </p:sp>
      <p:sp>
        <p:nvSpPr>
          <p:cNvPr id="32" name="テキスト ボックス 31">
            <a:extLst>
              <a:ext uri="{FF2B5EF4-FFF2-40B4-BE49-F238E27FC236}">
                <a16:creationId xmlns:a16="http://schemas.microsoft.com/office/drawing/2014/main" id="{C8F974B6-0484-AF12-9636-87E4574FAB36}"/>
              </a:ext>
            </a:extLst>
          </p:cNvPr>
          <p:cNvSpPr txBox="1"/>
          <p:nvPr/>
        </p:nvSpPr>
        <p:spPr>
          <a:xfrm>
            <a:off x="2820764" y="4404567"/>
            <a:ext cx="305817" cy="523220"/>
          </a:xfrm>
          <a:prstGeom prst="rect">
            <a:avLst/>
          </a:prstGeom>
          <a:noFill/>
        </p:spPr>
        <p:txBody>
          <a:bodyPr wrap="square">
            <a:spAutoFit/>
          </a:bodyPr>
          <a:lstStyle/>
          <a:p>
            <a:r>
              <a:rPr lang="ja-JP" altLang="en-US" sz="2800" dirty="0"/>
              <a:t>≈</a:t>
            </a:r>
          </a:p>
        </p:txBody>
      </p:sp>
      <p:sp>
        <p:nvSpPr>
          <p:cNvPr id="51" name="テキスト ボックス 50">
            <a:extLst>
              <a:ext uri="{FF2B5EF4-FFF2-40B4-BE49-F238E27FC236}">
                <a16:creationId xmlns:a16="http://schemas.microsoft.com/office/drawing/2014/main" id="{DF37BC19-853E-2361-A9C5-5161D4FFF983}"/>
              </a:ext>
            </a:extLst>
          </p:cNvPr>
          <p:cNvSpPr txBox="1"/>
          <p:nvPr/>
        </p:nvSpPr>
        <p:spPr>
          <a:xfrm>
            <a:off x="818849" y="3957968"/>
            <a:ext cx="911225" cy="523220"/>
          </a:xfrm>
          <a:prstGeom prst="rect">
            <a:avLst/>
          </a:prstGeom>
          <a:noFill/>
        </p:spPr>
        <p:txBody>
          <a:bodyPr wrap="square" rtlCol="0">
            <a:spAutoFit/>
          </a:bodyPr>
          <a:lstStyle/>
          <a:p>
            <a:r>
              <a:rPr kumimoji="1" lang="en-US" altLang="ja-JP" sz="2800" dirty="0"/>
              <a:t>30</a:t>
            </a:r>
            <a:endParaRPr kumimoji="1" lang="ja-JP" altLang="en-US" sz="2800" dirty="0"/>
          </a:p>
        </p:txBody>
      </p:sp>
      <p:grpSp>
        <p:nvGrpSpPr>
          <p:cNvPr id="78" name="グループ化 77">
            <a:extLst>
              <a:ext uri="{FF2B5EF4-FFF2-40B4-BE49-F238E27FC236}">
                <a16:creationId xmlns:a16="http://schemas.microsoft.com/office/drawing/2014/main" id="{BB671CE0-1EA0-EDA2-7D04-C97A1D08C750}"/>
              </a:ext>
            </a:extLst>
          </p:cNvPr>
          <p:cNvGrpSpPr/>
          <p:nvPr/>
        </p:nvGrpSpPr>
        <p:grpSpPr>
          <a:xfrm>
            <a:off x="4997709" y="5905636"/>
            <a:ext cx="2151720" cy="954109"/>
            <a:chOff x="4997709" y="5905636"/>
            <a:chExt cx="2151720" cy="954109"/>
          </a:xfrm>
        </p:grpSpPr>
        <p:sp>
          <p:nvSpPr>
            <p:cNvPr id="46" name="テキスト ボックス 45">
              <a:extLst>
                <a:ext uri="{FF2B5EF4-FFF2-40B4-BE49-F238E27FC236}">
                  <a16:creationId xmlns:a16="http://schemas.microsoft.com/office/drawing/2014/main" id="{7C54B791-6EA2-EC33-F8C8-6D243234688D}"/>
                </a:ext>
              </a:extLst>
            </p:cNvPr>
            <p:cNvSpPr txBox="1"/>
            <p:nvPr/>
          </p:nvSpPr>
          <p:spPr>
            <a:xfrm>
              <a:off x="5011771" y="5905638"/>
              <a:ext cx="1131640" cy="954107"/>
            </a:xfrm>
            <a:prstGeom prst="rect">
              <a:avLst/>
            </a:prstGeom>
            <a:noFill/>
          </p:spPr>
          <p:txBody>
            <a:bodyPr wrap="square" rtlCol="0">
              <a:spAutoFit/>
            </a:bodyPr>
            <a:lstStyle/>
            <a:p>
              <a:r>
                <a:rPr lang="en-US" altLang="ja-JP" sz="2800" dirty="0"/>
                <a:t>1+3</a:t>
              </a:r>
              <a:r>
                <a:rPr lang="ja-JP" altLang="en-US" sz="2800" dirty="0"/>
                <a:t>√</a:t>
              </a:r>
              <a:r>
                <a:rPr lang="en-US" altLang="ja-JP" sz="2800" dirty="0"/>
                <a:t>3</a:t>
              </a:r>
              <a:endParaRPr kumimoji="1" lang="en-US" altLang="ja-JP" sz="2800" dirty="0"/>
            </a:p>
            <a:p>
              <a:r>
                <a:rPr lang="en-US" altLang="ja-JP" sz="2800" dirty="0"/>
                <a:t>    </a:t>
              </a:r>
              <a:r>
                <a:rPr kumimoji="1" lang="en-US" altLang="ja-JP" sz="2800" dirty="0"/>
                <a:t>2</a:t>
              </a:r>
              <a:endParaRPr kumimoji="1" lang="ja-JP" altLang="en-US" sz="2800" dirty="0"/>
            </a:p>
          </p:txBody>
        </p:sp>
        <p:sp>
          <p:nvSpPr>
            <p:cNvPr id="14" name="テキスト ボックス 13">
              <a:extLst>
                <a:ext uri="{FF2B5EF4-FFF2-40B4-BE49-F238E27FC236}">
                  <a16:creationId xmlns:a16="http://schemas.microsoft.com/office/drawing/2014/main" id="{9B5822C2-41A6-E868-A532-66F86B81EDC3}"/>
                </a:ext>
              </a:extLst>
            </p:cNvPr>
            <p:cNvSpPr txBox="1"/>
            <p:nvPr/>
          </p:nvSpPr>
          <p:spPr>
            <a:xfrm>
              <a:off x="4997709" y="6108838"/>
              <a:ext cx="1245874" cy="523220"/>
            </a:xfrm>
            <a:prstGeom prst="rect">
              <a:avLst/>
            </a:prstGeom>
            <a:noFill/>
          </p:spPr>
          <p:txBody>
            <a:bodyPr wrap="square" rtlCol="0">
              <a:spAutoFit/>
            </a:bodyPr>
            <a:lstStyle/>
            <a:p>
              <a:r>
                <a:rPr lang="en-US" altLang="ja-JP" sz="2800" dirty="0"/>
                <a:t>―――</a:t>
              </a:r>
              <a:endParaRPr kumimoji="1" lang="ja-JP" altLang="en-US" sz="2800" dirty="0"/>
            </a:p>
          </p:txBody>
        </p:sp>
        <p:sp>
          <p:nvSpPr>
            <p:cNvPr id="31" name="テキスト ボックス 30">
              <a:extLst>
                <a:ext uri="{FF2B5EF4-FFF2-40B4-BE49-F238E27FC236}">
                  <a16:creationId xmlns:a16="http://schemas.microsoft.com/office/drawing/2014/main" id="{855FD34B-90DD-9C76-3DCE-58AD1F6CCA45}"/>
                </a:ext>
              </a:extLst>
            </p:cNvPr>
            <p:cNvSpPr txBox="1"/>
            <p:nvPr/>
          </p:nvSpPr>
          <p:spPr>
            <a:xfrm>
              <a:off x="6047411" y="5905636"/>
              <a:ext cx="963158" cy="954107"/>
            </a:xfrm>
            <a:prstGeom prst="rect">
              <a:avLst/>
            </a:prstGeom>
            <a:noFill/>
          </p:spPr>
          <p:txBody>
            <a:bodyPr wrap="square" rtlCol="0">
              <a:spAutoFit/>
            </a:bodyPr>
            <a:lstStyle/>
            <a:p>
              <a:r>
                <a:rPr lang="en-US" altLang="ja-JP" sz="2800" dirty="0"/>
                <a:t>3+</a:t>
              </a:r>
              <a:r>
                <a:rPr lang="ja-JP" altLang="en-US" sz="2800" dirty="0"/>
                <a:t>√</a:t>
              </a:r>
              <a:r>
                <a:rPr lang="en-US" altLang="ja-JP" sz="2800" dirty="0"/>
                <a:t>3</a:t>
              </a:r>
              <a:endParaRPr kumimoji="1" lang="en-US" altLang="ja-JP" sz="2800" dirty="0"/>
            </a:p>
            <a:p>
              <a:r>
                <a:rPr lang="en-US" altLang="ja-JP" sz="2800" dirty="0"/>
                <a:t>   </a:t>
              </a:r>
              <a:r>
                <a:rPr kumimoji="1" lang="en-US" altLang="ja-JP" sz="2800" dirty="0"/>
                <a:t>2</a:t>
              </a:r>
              <a:endParaRPr kumimoji="1" lang="ja-JP" altLang="en-US" sz="2800" dirty="0"/>
            </a:p>
          </p:txBody>
        </p:sp>
        <p:sp>
          <p:nvSpPr>
            <p:cNvPr id="45" name="テキスト ボックス 44">
              <a:extLst>
                <a:ext uri="{FF2B5EF4-FFF2-40B4-BE49-F238E27FC236}">
                  <a16:creationId xmlns:a16="http://schemas.microsoft.com/office/drawing/2014/main" id="{891B91FA-A27A-6207-E25B-6CE6EC01BE97}"/>
                </a:ext>
              </a:extLst>
            </p:cNvPr>
            <p:cNvSpPr txBox="1"/>
            <p:nvPr/>
          </p:nvSpPr>
          <p:spPr>
            <a:xfrm>
              <a:off x="5994661" y="6108836"/>
              <a:ext cx="1154768" cy="523220"/>
            </a:xfrm>
            <a:prstGeom prst="rect">
              <a:avLst/>
            </a:prstGeom>
            <a:noFill/>
          </p:spPr>
          <p:txBody>
            <a:bodyPr wrap="square" rtlCol="0">
              <a:spAutoFit/>
            </a:bodyPr>
            <a:lstStyle/>
            <a:p>
              <a:r>
                <a:rPr lang="en-US" altLang="ja-JP" sz="2800" dirty="0"/>
                <a:t>―――</a:t>
              </a:r>
              <a:endParaRPr kumimoji="1" lang="ja-JP" altLang="en-US" sz="2800" dirty="0"/>
            </a:p>
          </p:txBody>
        </p:sp>
      </p:grpSp>
      <p:grpSp>
        <p:nvGrpSpPr>
          <p:cNvPr id="102" name="グループ化 101">
            <a:extLst>
              <a:ext uri="{FF2B5EF4-FFF2-40B4-BE49-F238E27FC236}">
                <a16:creationId xmlns:a16="http://schemas.microsoft.com/office/drawing/2014/main" id="{E08AEBFF-3556-2477-B0E3-15F20416D741}"/>
              </a:ext>
            </a:extLst>
          </p:cNvPr>
          <p:cNvGrpSpPr/>
          <p:nvPr/>
        </p:nvGrpSpPr>
        <p:grpSpPr>
          <a:xfrm>
            <a:off x="1698846" y="3350450"/>
            <a:ext cx="2297501" cy="1475732"/>
            <a:chOff x="3495896" y="2486850"/>
            <a:chExt cx="2297501" cy="1475732"/>
          </a:xfrm>
        </p:grpSpPr>
        <p:sp>
          <p:nvSpPr>
            <p:cNvPr id="15" name="テキスト ボックス 14">
              <a:extLst>
                <a:ext uri="{FF2B5EF4-FFF2-40B4-BE49-F238E27FC236}">
                  <a16:creationId xmlns:a16="http://schemas.microsoft.com/office/drawing/2014/main" id="{D35B600E-37E0-BF7A-E737-FCDA29BFA32D}"/>
                </a:ext>
              </a:extLst>
            </p:cNvPr>
            <p:cNvSpPr txBox="1"/>
            <p:nvPr/>
          </p:nvSpPr>
          <p:spPr>
            <a:xfrm>
              <a:off x="4882172" y="2486850"/>
              <a:ext cx="911225" cy="523220"/>
            </a:xfrm>
            <a:prstGeom prst="rect">
              <a:avLst/>
            </a:prstGeom>
            <a:noFill/>
          </p:spPr>
          <p:txBody>
            <a:bodyPr wrap="square" rtlCol="0">
              <a:spAutoFit/>
            </a:bodyPr>
            <a:lstStyle/>
            <a:p>
              <a:r>
                <a:rPr lang="en-US" altLang="ja-JP" sz="2800" dirty="0">
                  <a:noFill/>
                </a:rPr>
                <a:t>33</a:t>
              </a:r>
              <a:r>
                <a:rPr kumimoji="1" lang="en-US" altLang="ja-JP" sz="2800" dirty="0">
                  <a:noFill/>
                </a:rPr>
                <a:t>°</a:t>
              </a:r>
              <a:endParaRPr kumimoji="1" lang="ja-JP" altLang="en-US" sz="2800" dirty="0">
                <a:noFill/>
              </a:endParaRPr>
            </a:p>
          </p:txBody>
        </p:sp>
        <p:sp>
          <p:nvSpPr>
            <p:cNvPr id="22" name="テキスト ボックス 21">
              <a:extLst>
                <a:ext uri="{FF2B5EF4-FFF2-40B4-BE49-F238E27FC236}">
                  <a16:creationId xmlns:a16="http://schemas.microsoft.com/office/drawing/2014/main" id="{C98EA06D-D369-3477-EB33-B2CFAF65A8FA}"/>
                </a:ext>
              </a:extLst>
            </p:cNvPr>
            <p:cNvSpPr txBox="1"/>
            <p:nvPr/>
          </p:nvSpPr>
          <p:spPr>
            <a:xfrm>
              <a:off x="4844797" y="3439362"/>
              <a:ext cx="911225" cy="523220"/>
            </a:xfrm>
            <a:prstGeom prst="rect">
              <a:avLst/>
            </a:prstGeom>
            <a:noFill/>
          </p:spPr>
          <p:txBody>
            <a:bodyPr wrap="square" rtlCol="0">
              <a:spAutoFit/>
            </a:bodyPr>
            <a:lstStyle/>
            <a:p>
              <a:r>
                <a:rPr kumimoji="1" lang="en-US" altLang="ja-JP" sz="2800" dirty="0">
                  <a:noFill/>
                </a:rPr>
                <a:t>2.10</a:t>
              </a:r>
              <a:endParaRPr kumimoji="1" lang="ja-JP" altLang="en-US" sz="2800" dirty="0">
                <a:noFill/>
              </a:endParaRPr>
            </a:p>
          </p:txBody>
        </p:sp>
        <p:sp>
          <p:nvSpPr>
            <p:cNvPr id="23" name="テキスト ボックス 22">
              <a:extLst>
                <a:ext uri="{FF2B5EF4-FFF2-40B4-BE49-F238E27FC236}">
                  <a16:creationId xmlns:a16="http://schemas.microsoft.com/office/drawing/2014/main" id="{4978CE16-739F-88E3-212C-755DFA5AACD8}"/>
                </a:ext>
              </a:extLst>
            </p:cNvPr>
            <p:cNvSpPr txBox="1"/>
            <p:nvPr/>
          </p:nvSpPr>
          <p:spPr>
            <a:xfrm>
              <a:off x="4326368" y="2967895"/>
              <a:ext cx="911225" cy="523220"/>
            </a:xfrm>
            <a:prstGeom prst="rect">
              <a:avLst/>
            </a:prstGeom>
            <a:noFill/>
          </p:spPr>
          <p:txBody>
            <a:bodyPr wrap="square" rtlCol="0">
              <a:spAutoFit/>
            </a:bodyPr>
            <a:lstStyle/>
            <a:p>
              <a:r>
                <a:rPr lang="en-US" altLang="ja-JP" sz="2800" dirty="0">
                  <a:noFill/>
                </a:rPr>
                <a:t>-3°</a:t>
              </a:r>
              <a:endParaRPr kumimoji="1" lang="ja-JP" altLang="en-US" sz="2800" dirty="0">
                <a:noFill/>
              </a:endParaRPr>
            </a:p>
          </p:txBody>
        </p:sp>
        <p:sp>
          <p:nvSpPr>
            <p:cNvPr id="49" name="テキスト ボックス 48">
              <a:extLst>
                <a:ext uri="{FF2B5EF4-FFF2-40B4-BE49-F238E27FC236}">
                  <a16:creationId xmlns:a16="http://schemas.microsoft.com/office/drawing/2014/main" id="{5115D228-05F5-837E-E5ED-C508CFE65F91}"/>
                </a:ext>
              </a:extLst>
            </p:cNvPr>
            <p:cNvSpPr txBox="1"/>
            <p:nvPr/>
          </p:nvSpPr>
          <p:spPr>
            <a:xfrm>
              <a:off x="3495896" y="2974382"/>
              <a:ext cx="911225" cy="523220"/>
            </a:xfrm>
            <a:prstGeom prst="rect">
              <a:avLst/>
            </a:prstGeom>
            <a:noFill/>
          </p:spPr>
          <p:txBody>
            <a:bodyPr wrap="square" rtlCol="0">
              <a:spAutoFit/>
            </a:bodyPr>
            <a:lstStyle/>
            <a:p>
              <a:r>
                <a:rPr kumimoji="1" lang="en-US" altLang="ja-JP" sz="2800" dirty="0">
                  <a:noFill/>
                </a:rPr>
                <a:t>3</a:t>
              </a:r>
              <a:r>
                <a:rPr lang="en-US" altLang="ja-JP" sz="2800" dirty="0">
                  <a:noFill/>
                </a:rPr>
                <a:t>3</a:t>
              </a:r>
              <a:endParaRPr kumimoji="1" lang="ja-JP" altLang="en-US" sz="2800" dirty="0">
                <a:noFill/>
              </a:endParaRPr>
            </a:p>
          </p:txBody>
        </p:sp>
      </p:grpSp>
      <p:grpSp>
        <p:nvGrpSpPr>
          <p:cNvPr id="65" name="グループ化 64">
            <a:extLst>
              <a:ext uri="{FF2B5EF4-FFF2-40B4-BE49-F238E27FC236}">
                <a16:creationId xmlns:a16="http://schemas.microsoft.com/office/drawing/2014/main" id="{FBF10CDC-2258-168A-14C8-9E64FAA3514A}"/>
              </a:ext>
            </a:extLst>
          </p:cNvPr>
          <p:cNvGrpSpPr/>
          <p:nvPr/>
        </p:nvGrpSpPr>
        <p:grpSpPr>
          <a:xfrm>
            <a:off x="4997709" y="5581778"/>
            <a:ext cx="2151720" cy="954109"/>
            <a:chOff x="4997709" y="5905636"/>
            <a:chExt cx="2151720" cy="954109"/>
          </a:xfrm>
        </p:grpSpPr>
        <p:sp>
          <p:nvSpPr>
            <p:cNvPr id="71" name="テキスト ボックス 70">
              <a:extLst>
                <a:ext uri="{FF2B5EF4-FFF2-40B4-BE49-F238E27FC236}">
                  <a16:creationId xmlns:a16="http://schemas.microsoft.com/office/drawing/2014/main" id="{7BE232BF-341C-2CC8-4DD6-1CF26872063E}"/>
                </a:ext>
              </a:extLst>
            </p:cNvPr>
            <p:cNvSpPr txBox="1"/>
            <p:nvPr/>
          </p:nvSpPr>
          <p:spPr>
            <a:xfrm>
              <a:off x="5011771" y="5905638"/>
              <a:ext cx="1131640" cy="954107"/>
            </a:xfrm>
            <a:prstGeom prst="rect">
              <a:avLst/>
            </a:prstGeom>
            <a:noFill/>
          </p:spPr>
          <p:txBody>
            <a:bodyPr wrap="square" rtlCol="0">
              <a:spAutoFit/>
            </a:bodyPr>
            <a:lstStyle/>
            <a:p>
              <a:r>
                <a:rPr kumimoji="1" lang="en-US" altLang="ja-JP" sz="2800" dirty="0">
                  <a:noFill/>
                </a:rPr>
                <a:t>1</a:t>
              </a:r>
              <a:r>
                <a:rPr lang="en-US" altLang="ja-JP" sz="2800" dirty="0">
                  <a:noFill/>
                </a:rPr>
                <a:t>+2</a:t>
              </a:r>
              <a:r>
                <a:rPr lang="ja-JP" altLang="en-US" sz="2800" dirty="0">
                  <a:noFill/>
                </a:rPr>
                <a:t>√</a:t>
              </a:r>
              <a:r>
                <a:rPr lang="en-US" altLang="ja-JP" sz="2800" dirty="0">
                  <a:noFill/>
                </a:rPr>
                <a:t>3</a:t>
              </a:r>
              <a:endParaRPr kumimoji="1" lang="en-US" altLang="ja-JP" sz="2800" dirty="0">
                <a:noFill/>
              </a:endParaRPr>
            </a:p>
            <a:p>
              <a:r>
                <a:rPr lang="en-US" altLang="ja-JP" sz="2800" dirty="0">
                  <a:noFill/>
                </a:rPr>
                <a:t>    </a:t>
              </a:r>
              <a:r>
                <a:rPr kumimoji="1" lang="en-US" altLang="ja-JP" sz="2800" dirty="0">
                  <a:noFill/>
                </a:rPr>
                <a:t>2</a:t>
              </a:r>
              <a:endParaRPr kumimoji="1" lang="ja-JP" altLang="en-US" sz="2800" dirty="0">
                <a:noFill/>
              </a:endParaRPr>
            </a:p>
          </p:txBody>
        </p:sp>
        <p:sp>
          <p:nvSpPr>
            <p:cNvPr id="73" name="テキスト ボックス 72">
              <a:extLst>
                <a:ext uri="{FF2B5EF4-FFF2-40B4-BE49-F238E27FC236}">
                  <a16:creationId xmlns:a16="http://schemas.microsoft.com/office/drawing/2014/main" id="{6794A3DB-5BB5-D946-000D-CE54348D3AD8}"/>
                </a:ext>
              </a:extLst>
            </p:cNvPr>
            <p:cNvSpPr txBox="1"/>
            <p:nvPr/>
          </p:nvSpPr>
          <p:spPr>
            <a:xfrm>
              <a:off x="4997709" y="6108838"/>
              <a:ext cx="1245874" cy="523220"/>
            </a:xfrm>
            <a:prstGeom prst="rect">
              <a:avLst/>
            </a:prstGeom>
            <a:noFill/>
          </p:spPr>
          <p:txBody>
            <a:bodyPr wrap="square" rtlCol="0">
              <a:spAutoFit/>
            </a:bodyPr>
            <a:lstStyle/>
            <a:p>
              <a:r>
                <a:rPr lang="en-US" altLang="ja-JP" sz="2800" dirty="0">
                  <a:noFill/>
                </a:rPr>
                <a:t>―――</a:t>
              </a:r>
              <a:endParaRPr kumimoji="1" lang="ja-JP" altLang="en-US" sz="2800" dirty="0">
                <a:noFill/>
              </a:endParaRPr>
            </a:p>
          </p:txBody>
        </p:sp>
        <p:sp>
          <p:nvSpPr>
            <p:cNvPr id="74" name="テキスト ボックス 73">
              <a:extLst>
                <a:ext uri="{FF2B5EF4-FFF2-40B4-BE49-F238E27FC236}">
                  <a16:creationId xmlns:a16="http://schemas.microsoft.com/office/drawing/2014/main" id="{876A76B1-7EDD-FAB7-ACC0-614E7F83F96B}"/>
                </a:ext>
              </a:extLst>
            </p:cNvPr>
            <p:cNvSpPr txBox="1"/>
            <p:nvPr/>
          </p:nvSpPr>
          <p:spPr>
            <a:xfrm>
              <a:off x="6047411" y="5905636"/>
              <a:ext cx="963158" cy="954107"/>
            </a:xfrm>
            <a:prstGeom prst="rect">
              <a:avLst/>
            </a:prstGeom>
            <a:noFill/>
          </p:spPr>
          <p:txBody>
            <a:bodyPr wrap="square" rtlCol="0">
              <a:spAutoFit/>
            </a:bodyPr>
            <a:lstStyle/>
            <a:p>
              <a:r>
                <a:rPr lang="en-US" altLang="ja-JP" sz="2800" dirty="0">
                  <a:noFill/>
                </a:rPr>
                <a:t>2+</a:t>
              </a:r>
              <a:r>
                <a:rPr lang="ja-JP" altLang="en-US" sz="2800" dirty="0">
                  <a:noFill/>
                </a:rPr>
                <a:t>√</a:t>
              </a:r>
              <a:r>
                <a:rPr lang="en-US" altLang="ja-JP" sz="2800" dirty="0">
                  <a:noFill/>
                </a:rPr>
                <a:t>3</a:t>
              </a:r>
              <a:endParaRPr kumimoji="1" lang="en-US" altLang="ja-JP" sz="2800" dirty="0">
                <a:noFill/>
              </a:endParaRPr>
            </a:p>
            <a:p>
              <a:r>
                <a:rPr lang="en-US" altLang="ja-JP" sz="2800" dirty="0">
                  <a:noFill/>
                </a:rPr>
                <a:t>   </a:t>
              </a:r>
              <a:r>
                <a:rPr kumimoji="1" lang="en-US" altLang="ja-JP" sz="2800" dirty="0">
                  <a:noFill/>
                </a:rPr>
                <a:t>2</a:t>
              </a:r>
              <a:endParaRPr kumimoji="1" lang="ja-JP" altLang="en-US" sz="2800" dirty="0">
                <a:noFill/>
              </a:endParaRPr>
            </a:p>
          </p:txBody>
        </p:sp>
        <p:sp>
          <p:nvSpPr>
            <p:cNvPr id="77" name="テキスト ボックス 76">
              <a:extLst>
                <a:ext uri="{FF2B5EF4-FFF2-40B4-BE49-F238E27FC236}">
                  <a16:creationId xmlns:a16="http://schemas.microsoft.com/office/drawing/2014/main" id="{F3F34800-D008-D0AC-7832-917C578AD1E3}"/>
                </a:ext>
              </a:extLst>
            </p:cNvPr>
            <p:cNvSpPr txBox="1"/>
            <p:nvPr/>
          </p:nvSpPr>
          <p:spPr>
            <a:xfrm>
              <a:off x="5994661" y="6108836"/>
              <a:ext cx="1154768" cy="523220"/>
            </a:xfrm>
            <a:prstGeom prst="rect">
              <a:avLst/>
            </a:prstGeom>
            <a:noFill/>
          </p:spPr>
          <p:txBody>
            <a:bodyPr wrap="square" rtlCol="0">
              <a:spAutoFit/>
            </a:bodyPr>
            <a:lstStyle/>
            <a:p>
              <a:r>
                <a:rPr lang="en-US" altLang="ja-JP" sz="2800" dirty="0">
                  <a:noFill/>
                </a:rPr>
                <a:t>―――</a:t>
              </a:r>
              <a:endParaRPr kumimoji="1" lang="ja-JP" altLang="en-US" sz="2800" dirty="0">
                <a:noFill/>
              </a:endParaRPr>
            </a:p>
          </p:txBody>
        </p:sp>
      </p:grpSp>
      <p:grpSp>
        <p:nvGrpSpPr>
          <p:cNvPr id="83" name="グループ化 82">
            <a:extLst>
              <a:ext uri="{FF2B5EF4-FFF2-40B4-BE49-F238E27FC236}">
                <a16:creationId xmlns:a16="http://schemas.microsoft.com/office/drawing/2014/main" id="{1F1AD768-FAC1-B64C-3120-C284E2B5D463}"/>
              </a:ext>
            </a:extLst>
          </p:cNvPr>
          <p:cNvGrpSpPr/>
          <p:nvPr/>
        </p:nvGrpSpPr>
        <p:grpSpPr>
          <a:xfrm>
            <a:off x="4953094" y="6314260"/>
            <a:ext cx="2226083" cy="956490"/>
            <a:chOff x="1771744" y="5901510"/>
            <a:chExt cx="2226083" cy="956490"/>
          </a:xfrm>
        </p:grpSpPr>
        <p:sp>
          <p:nvSpPr>
            <p:cNvPr id="84" name="テキスト ボックス 83">
              <a:extLst>
                <a:ext uri="{FF2B5EF4-FFF2-40B4-BE49-F238E27FC236}">
                  <a16:creationId xmlns:a16="http://schemas.microsoft.com/office/drawing/2014/main" id="{6899D799-6C4C-CF28-0536-402A46B5D95D}"/>
                </a:ext>
              </a:extLst>
            </p:cNvPr>
            <p:cNvSpPr txBox="1"/>
            <p:nvPr/>
          </p:nvSpPr>
          <p:spPr>
            <a:xfrm>
              <a:off x="1840736" y="5903893"/>
              <a:ext cx="1131640" cy="954107"/>
            </a:xfrm>
            <a:prstGeom prst="rect">
              <a:avLst/>
            </a:prstGeom>
            <a:noFill/>
          </p:spPr>
          <p:txBody>
            <a:bodyPr wrap="square" rtlCol="0">
              <a:spAutoFit/>
            </a:bodyPr>
            <a:lstStyle/>
            <a:p>
              <a:r>
                <a:rPr lang="en-US" altLang="ja-JP" sz="2800" dirty="0">
                  <a:noFill/>
                </a:rPr>
                <a:t>1+4</a:t>
              </a:r>
              <a:r>
                <a:rPr lang="ja-JP" altLang="en-US" sz="2800" dirty="0">
                  <a:noFill/>
                </a:rPr>
                <a:t>√</a:t>
              </a:r>
              <a:r>
                <a:rPr lang="en-US" altLang="ja-JP" sz="2800" dirty="0">
                  <a:noFill/>
                </a:rPr>
                <a:t>3</a:t>
              </a:r>
              <a:endParaRPr kumimoji="1" lang="en-US" altLang="ja-JP" sz="2800" dirty="0">
                <a:noFill/>
              </a:endParaRPr>
            </a:p>
            <a:p>
              <a:r>
                <a:rPr lang="en-US" altLang="ja-JP" sz="2800" dirty="0">
                  <a:noFill/>
                </a:rPr>
                <a:t>    </a:t>
              </a:r>
              <a:r>
                <a:rPr kumimoji="1" lang="en-US" altLang="ja-JP" sz="2800" dirty="0">
                  <a:noFill/>
                </a:rPr>
                <a:t>2</a:t>
              </a:r>
              <a:endParaRPr kumimoji="1" lang="ja-JP" altLang="en-US" sz="2800" dirty="0">
                <a:noFill/>
              </a:endParaRPr>
            </a:p>
          </p:txBody>
        </p:sp>
        <p:sp>
          <p:nvSpPr>
            <p:cNvPr id="85" name="テキスト ボックス 84">
              <a:extLst>
                <a:ext uri="{FF2B5EF4-FFF2-40B4-BE49-F238E27FC236}">
                  <a16:creationId xmlns:a16="http://schemas.microsoft.com/office/drawing/2014/main" id="{FDAFA73F-147B-0F9E-3461-A4234323C966}"/>
                </a:ext>
              </a:extLst>
            </p:cNvPr>
            <p:cNvSpPr txBox="1"/>
            <p:nvPr/>
          </p:nvSpPr>
          <p:spPr>
            <a:xfrm>
              <a:off x="1771744" y="6142018"/>
              <a:ext cx="1245874" cy="523220"/>
            </a:xfrm>
            <a:prstGeom prst="rect">
              <a:avLst/>
            </a:prstGeom>
            <a:noFill/>
          </p:spPr>
          <p:txBody>
            <a:bodyPr wrap="square" rtlCol="0">
              <a:spAutoFit/>
            </a:bodyPr>
            <a:lstStyle/>
            <a:p>
              <a:r>
                <a:rPr lang="en-US" altLang="ja-JP" sz="2800" dirty="0">
                  <a:noFill/>
                </a:rPr>
                <a:t>―――</a:t>
              </a:r>
              <a:endParaRPr kumimoji="1" lang="ja-JP" altLang="en-US" sz="2800" dirty="0">
                <a:noFill/>
              </a:endParaRPr>
            </a:p>
          </p:txBody>
        </p:sp>
        <p:sp>
          <p:nvSpPr>
            <p:cNvPr id="86" name="テキスト ボックス 85">
              <a:extLst>
                <a:ext uri="{FF2B5EF4-FFF2-40B4-BE49-F238E27FC236}">
                  <a16:creationId xmlns:a16="http://schemas.microsoft.com/office/drawing/2014/main" id="{7814A079-D5F0-DFBE-15DC-1CEEFFE94D64}"/>
                </a:ext>
              </a:extLst>
            </p:cNvPr>
            <p:cNvSpPr txBox="1"/>
            <p:nvPr/>
          </p:nvSpPr>
          <p:spPr>
            <a:xfrm>
              <a:off x="2960253" y="5901510"/>
              <a:ext cx="963158" cy="954107"/>
            </a:xfrm>
            <a:prstGeom prst="rect">
              <a:avLst/>
            </a:prstGeom>
            <a:noFill/>
          </p:spPr>
          <p:txBody>
            <a:bodyPr wrap="square" rtlCol="0">
              <a:spAutoFit/>
            </a:bodyPr>
            <a:lstStyle/>
            <a:p>
              <a:r>
                <a:rPr lang="en-US" altLang="ja-JP" sz="2800" dirty="0">
                  <a:noFill/>
                </a:rPr>
                <a:t>4+</a:t>
              </a:r>
              <a:r>
                <a:rPr lang="ja-JP" altLang="en-US" sz="2800" dirty="0">
                  <a:noFill/>
                </a:rPr>
                <a:t>√</a:t>
              </a:r>
              <a:r>
                <a:rPr lang="en-US" altLang="ja-JP" sz="2800" dirty="0">
                  <a:noFill/>
                </a:rPr>
                <a:t>3</a:t>
              </a:r>
              <a:endParaRPr kumimoji="1" lang="en-US" altLang="ja-JP" sz="2800" dirty="0">
                <a:noFill/>
              </a:endParaRPr>
            </a:p>
            <a:p>
              <a:r>
                <a:rPr lang="en-US" altLang="ja-JP" sz="2800" dirty="0">
                  <a:noFill/>
                </a:rPr>
                <a:t>   </a:t>
              </a:r>
              <a:r>
                <a:rPr kumimoji="1" lang="en-US" altLang="ja-JP" sz="2800" dirty="0">
                  <a:noFill/>
                </a:rPr>
                <a:t>2</a:t>
              </a:r>
              <a:endParaRPr kumimoji="1" lang="ja-JP" altLang="en-US" sz="2800" dirty="0">
                <a:noFill/>
              </a:endParaRPr>
            </a:p>
          </p:txBody>
        </p:sp>
        <p:sp>
          <p:nvSpPr>
            <p:cNvPr id="87" name="テキスト ボックス 86">
              <a:extLst>
                <a:ext uri="{FF2B5EF4-FFF2-40B4-BE49-F238E27FC236}">
                  <a16:creationId xmlns:a16="http://schemas.microsoft.com/office/drawing/2014/main" id="{C1E71D95-557B-96ED-0F66-434369769AC1}"/>
                </a:ext>
              </a:extLst>
            </p:cNvPr>
            <p:cNvSpPr txBox="1"/>
            <p:nvPr/>
          </p:nvSpPr>
          <p:spPr>
            <a:xfrm>
              <a:off x="2843059" y="6142173"/>
              <a:ext cx="1154768" cy="523220"/>
            </a:xfrm>
            <a:prstGeom prst="rect">
              <a:avLst/>
            </a:prstGeom>
            <a:noFill/>
          </p:spPr>
          <p:txBody>
            <a:bodyPr wrap="square" rtlCol="0">
              <a:spAutoFit/>
            </a:bodyPr>
            <a:lstStyle/>
            <a:p>
              <a:r>
                <a:rPr lang="en-US" altLang="ja-JP" sz="2800" dirty="0">
                  <a:noFill/>
                </a:rPr>
                <a:t>―――</a:t>
              </a:r>
              <a:endParaRPr kumimoji="1" lang="ja-JP" altLang="en-US" sz="2800" dirty="0">
                <a:noFill/>
              </a:endParaRPr>
            </a:p>
          </p:txBody>
        </p:sp>
      </p:grpSp>
      <p:grpSp>
        <p:nvGrpSpPr>
          <p:cNvPr id="92" name="グループ化 91">
            <a:extLst>
              <a:ext uri="{FF2B5EF4-FFF2-40B4-BE49-F238E27FC236}">
                <a16:creationId xmlns:a16="http://schemas.microsoft.com/office/drawing/2014/main" id="{C36A25D1-0AE3-E2B7-2538-F917A383BEA2}"/>
              </a:ext>
            </a:extLst>
          </p:cNvPr>
          <p:cNvGrpSpPr/>
          <p:nvPr/>
        </p:nvGrpSpPr>
        <p:grpSpPr>
          <a:xfrm>
            <a:off x="1697613" y="3462834"/>
            <a:ext cx="2297501" cy="1475732"/>
            <a:chOff x="4015300" y="2403581"/>
            <a:chExt cx="2297501" cy="1475732"/>
          </a:xfrm>
        </p:grpSpPr>
        <p:sp>
          <p:nvSpPr>
            <p:cNvPr id="93" name="テキスト ボックス 92">
              <a:extLst>
                <a:ext uri="{FF2B5EF4-FFF2-40B4-BE49-F238E27FC236}">
                  <a16:creationId xmlns:a16="http://schemas.microsoft.com/office/drawing/2014/main" id="{FB5FF721-11E5-4088-585A-5011643F3E88}"/>
                </a:ext>
              </a:extLst>
            </p:cNvPr>
            <p:cNvSpPr txBox="1"/>
            <p:nvPr/>
          </p:nvSpPr>
          <p:spPr>
            <a:xfrm>
              <a:off x="5401576" y="2403581"/>
              <a:ext cx="911225" cy="523220"/>
            </a:xfrm>
            <a:prstGeom prst="rect">
              <a:avLst/>
            </a:prstGeom>
            <a:noFill/>
          </p:spPr>
          <p:txBody>
            <a:bodyPr wrap="square" rtlCol="0">
              <a:spAutoFit/>
            </a:bodyPr>
            <a:lstStyle/>
            <a:p>
              <a:r>
                <a:rPr kumimoji="1" lang="en-US" altLang="ja-JP" sz="2800" dirty="0"/>
                <a:t>35°</a:t>
              </a:r>
              <a:endParaRPr kumimoji="1" lang="ja-JP" altLang="en-US" sz="2800" dirty="0"/>
            </a:p>
          </p:txBody>
        </p:sp>
        <p:sp>
          <p:nvSpPr>
            <p:cNvPr id="94" name="テキスト ボックス 93">
              <a:extLst>
                <a:ext uri="{FF2B5EF4-FFF2-40B4-BE49-F238E27FC236}">
                  <a16:creationId xmlns:a16="http://schemas.microsoft.com/office/drawing/2014/main" id="{AD13B4F1-A0B7-0A46-E6F6-6FE1592BA4F5}"/>
                </a:ext>
              </a:extLst>
            </p:cNvPr>
            <p:cNvSpPr txBox="1"/>
            <p:nvPr/>
          </p:nvSpPr>
          <p:spPr>
            <a:xfrm>
              <a:off x="5364201" y="3356093"/>
              <a:ext cx="911225" cy="523220"/>
            </a:xfrm>
            <a:prstGeom prst="rect">
              <a:avLst/>
            </a:prstGeom>
            <a:noFill/>
          </p:spPr>
          <p:txBody>
            <a:bodyPr wrap="square" rtlCol="0">
              <a:spAutoFit/>
            </a:bodyPr>
            <a:lstStyle/>
            <a:p>
              <a:r>
                <a:rPr lang="en-US" altLang="ja-JP" sz="2800" dirty="0"/>
                <a:t>1.10</a:t>
              </a:r>
              <a:endParaRPr kumimoji="1" lang="ja-JP" altLang="en-US" sz="2800" dirty="0"/>
            </a:p>
          </p:txBody>
        </p:sp>
        <p:sp>
          <p:nvSpPr>
            <p:cNvPr id="95" name="テキスト ボックス 94">
              <a:extLst>
                <a:ext uri="{FF2B5EF4-FFF2-40B4-BE49-F238E27FC236}">
                  <a16:creationId xmlns:a16="http://schemas.microsoft.com/office/drawing/2014/main" id="{4C460B1A-E78B-534D-66A3-B64AC18CB0B1}"/>
                </a:ext>
              </a:extLst>
            </p:cNvPr>
            <p:cNvSpPr txBox="1"/>
            <p:nvPr/>
          </p:nvSpPr>
          <p:spPr>
            <a:xfrm>
              <a:off x="4845772" y="2884626"/>
              <a:ext cx="911225" cy="523220"/>
            </a:xfrm>
            <a:prstGeom prst="rect">
              <a:avLst/>
            </a:prstGeom>
            <a:noFill/>
          </p:spPr>
          <p:txBody>
            <a:bodyPr wrap="square" rtlCol="0">
              <a:spAutoFit/>
            </a:bodyPr>
            <a:lstStyle/>
            <a:p>
              <a:r>
                <a:rPr lang="en-US" altLang="ja-JP" sz="2800" dirty="0"/>
                <a:t>-5°</a:t>
              </a:r>
              <a:endParaRPr kumimoji="1" lang="ja-JP" altLang="en-US" sz="2800" dirty="0"/>
            </a:p>
          </p:txBody>
        </p:sp>
        <p:sp>
          <p:nvSpPr>
            <p:cNvPr id="96" name="テキスト ボックス 95">
              <a:extLst>
                <a:ext uri="{FF2B5EF4-FFF2-40B4-BE49-F238E27FC236}">
                  <a16:creationId xmlns:a16="http://schemas.microsoft.com/office/drawing/2014/main" id="{CB3736C0-0F57-E9DB-BA1B-87FC76538783}"/>
                </a:ext>
              </a:extLst>
            </p:cNvPr>
            <p:cNvSpPr txBox="1"/>
            <p:nvPr/>
          </p:nvSpPr>
          <p:spPr>
            <a:xfrm>
              <a:off x="4015300" y="2891113"/>
              <a:ext cx="911225" cy="523220"/>
            </a:xfrm>
            <a:prstGeom prst="rect">
              <a:avLst/>
            </a:prstGeom>
            <a:noFill/>
          </p:spPr>
          <p:txBody>
            <a:bodyPr wrap="square" rtlCol="0">
              <a:spAutoFit/>
            </a:bodyPr>
            <a:lstStyle/>
            <a:p>
              <a:r>
                <a:rPr kumimoji="1" lang="en-US" altLang="ja-JP" sz="2800" dirty="0"/>
                <a:t>35</a:t>
              </a:r>
              <a:endParaRPr kumimoji="1" lang="ja-JP" altLang="en-US" sz="2800" dirty="0"/>
            </a:p>
          </p:txBody>
        </p:sp>
      </p:grpSp>
      <p:grpSp>
        <p:nvGrpSpPr>
          <p:cNvPr id="97" name="グループ化 96">
            <a:extLst>
              <a:ext uri="{FF2B5EF4-FFF2-40B4-BE49-F238E27FC236}">
                <a16:creationId xmlns:a16="http://schemas.microsoft.com/office/drawing/2014/main" id="{065388D0-A16B-A63F-91FB-AFF164148B85}"/>
              </a:ext>
            </a:extLst>
          </p:cNvPr>
          <p:cNvGrpSpPr/>
          <p:nvPr/>
        </p:nvGrpSpPr>
        <p:grpSpPr>
          <a:xfrm>
            <a:off x="1709349" y="3568596"/>
            <a:ext cx="2297501" cy="1475732"/>
            <a:chOff x="1709349" y="3469536"/>
            <a:chExt cx="2297501" cy="1475732"/>
          </a:xfrm>
        </p:grpSpPr>
        <p:sp>
          <p:nvSpPr>
            <p:cNvPr id="98" name="テキスト ボックス 97">
              <a:extLst>
                <a:ext uri="{FF2B5EF4-FFF2-40B4-BE49-F238E27FC236}">
                  <a16:creationId xmlns:a16="http://schemas.microsoft.com/office/drawing/2014/main" id="{503C2F2E-4EC7-C9FA-A2A4-073325648492}"/>
                </a:ext>
              </a:extLst>
            </p:cNvPr>
            <p:cNvSpPr txBox="1"/>
            <p:nvPr/>
          </p:nvSpPr>
          <p:spPr>
            <a:xfrm>
              <a:off x="3095625" y="3469536"/>
              <a:ext cx="911225" cy="523220"/>
            </a:xfrm>
            <a:prstGeom prst="rect">
              <a:avLst/>
            </a:prstGeom>
            <a:noFill/>
          </p:spPr>
          <p:txBody>
            <a:bodyPr wrap="square" rtlCol="0">
              <a:spAutoFit/>
            </a:bodyPr>
            <a:lstStyle/>
            <a:p>
              <a:r>
                <a:rPr kumimoji="1" lang="en-US" altLang="ja-JP" sz="2800" dirty="0">
                  <a:noFill/>
                </a:rPr>
                <a:t>75°</a:t>
              </a:r>
              <a:endParaRPr kumimoji="1" lang="ja-JP" altLang="en-US" sz="2800" dirty="0">
                <a:noFill/>
              </a:endParaRPr>
            </a:p>
          </p:txBody>
        </p:sp>
        <p:sp>
          <p:nvSpPr>
            <p:cNvPr id="99" name="テキスト ボックス 98">
              <a:extLst>
                <a:ext uri="{FF2B5EF4-FFF2-40B4-BE49-F238E27FC236}">
                  <a16:creationId xmlns:a16="http://schemas.microsoft.com/office/drawing/2014/main" id="{34217869-1480-8999-0671-BFE58A610AD6}"/>
                </a:ext>
              </a:extLst>
            </p:cNvPr>
            <p:cNvSpPr txBox="1"/>
            <p:nvPr/>
          </p:nvSpPr>
          <p:spPr>
            <a:xfrm>
              <a:off x="3058250" y="4422048"/>
              <a:ext cx="911225" cy="523220"/>
            </a:xfrm>
            <a:prstGeom prst="rect">
              <a:avLst/>
            </a:prstGeom>
            <a:noFill/>
          </p:spPr>
          <p:txBody>
            <a:bodyPr wrap="square" rtlCol="0">
              <a:spAutoFit/>
            </a:bodyPr>
            <a:lstStyle/>
            <a:p>
              <a:r>
                <a:rPr kumimoji="1" lang="en-US" altLang="ja-JP" sz="2800" dirty="0">
                  <a:noFill/>
                </a:rPr>
                <a:t>0.13</a:t>
              </a:r>
              <a:endParaRPr kumimoji="1" lang="ja-JP" altLang="en-US" sz="2800" dirty="0">
                <a:noFill/>
              </a:endParaRPr>
            </a:p>
          </p:txBody>
        </p:sp>
        <p:sp>
          <p:nvSpPr>
            <p:cNvPr id="100" name="テキスト ボックス 99">
              <a:extLst>
                <a:ext uri="{FF2B5EF4-FFF2-40B4-BE49-F238E27FC236}">
                  <a16:creationId xmlns:a16="http://schemas.microsoft.com/office/drawing/2014/main" id="{F2C52D48-197C-DC60-452F-8D6B01669C42}"/>
                </a:ext>
              </a:extLst>
            </p:cNvPr>
            <p:cNvSpPr txBox="1"/>
            <p:nvPr/>
          </p:nvSpPr>
          <p:spPr>
            <a:xfrm>
              <a:off x="2539821" y="3950581"/>
              <a:ext cx="911225" cy="523220"/>
            </a:xfrm>
            <a:prstGeom prst="rect">
              <a:avLst/>
            </a:prstGeom>
            <a:noFill/>
          </p:spPr>
          <p:txBody>
            <a:bodyPr wrap="square" rtlCol="0">
              <a:spAutoFit/>
            </a:bodyPr>
            <a:lstStyle/>
            <a:p>
              <a:r>
                <a:rPr lang="en-US" altLang="ja-JP" sz="2800" dirty="0">
                  <a:noFill/>
                </a:rPr>
                <a:t>-45°</a:t>
              </a:r>
              <a:endParaRPr kumimoji="1" lang="ja-JP" altLang="en-US" sz="2800" dirty="0">
                <a:noFill/>
              </a:endParaRPr>
            </a:p>
          </p:txBody>
        </p:sp>
        <p:sp>
          <p:nvSpPr>
            <p:cNvPr id="101" name="テキスト ボックス 100">
              <a:extLst>
                <a:ext uri="{FF2B5EF4-FFF2-40B4-BE49-F238E27FC236}">
                  <a16:creationId xmlns:a16="http://schemas.microsoft.com/office/drawing/2014/main" id="{15ED2090-949F-EDEC-48AC-666CE7379B0E}"/>
                </a:ext>
              </a:extLst>
            </p:cNvPr>
            <p:cNvSpPr txBox="1"/>
            <p:nvPr/>
          </p:nvSpPr>
          <p:spPr>
            <a:xfrm>
              <a:off x="1709349" y="3957068"/>
              <a:ext cx="911225" cy="523220"/>
            </a:xfrm>
            <a:prstGeom prst="rect">
              <a:avLst/>
            </a:prstGeom>
            <a:noFill/>
          </p:spPr>
          <p:txBody>
            <a:bodyPr wrap="square" rtlCol="0">
              <a:spAutoFit/>
            </a:bodyPr>
            <a:lstStyle/>
            <a:p>
              <a:r>
                <a:rPr lang="en-US" altLang="ja-JP" sz="2800" dirty="0">
                  <a:noFill/>
                </a:rPr>
                <a:t>75</a:t>
              </a:r>
              <a:endParaRPr kumimoji="1" lang="ja-JP" altLang="en-US" sz="2800" dirty="0">
                <a:noFill/>
              </a:endParaRPr>
            </a:p>
          </p:txBody>
        </p:sp>
      </p:grpSp>
    </p:spTree>
    <p:extLst>
      <p:ext uri="{BB962C8B-B14F-4D97-AF65-F5344CB8AC3E}">
        <p14:creationId xmlns:p14="http://schemas.microsoft.com/office/powerpoint/2010/main" val="283401404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D5CCC-085B-D8FD-7B74-2F80B0895B04}"/>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1BE2E106-7937-5ED6-63BB-975E50BEC02D}"/>
              </a:ext>
            </a:extLst>
          </p:cNvPr>
          <p:cNvSpPr/>
          <p:nvPr/>
        </p:nvSpPr>
        <p:spPr>
          <a:xfrm>
            <a:off x="3046801"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86A0EDC6-BC92-99D4-9E15-AFA7FBD21603}"/>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09688E9D-09D4-17E0-5771-1B0FED2575E0}"/>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bg1"/>
                </a:solidFill>
              </a:rPr>
              <a:t>システム要件</a:t>
            </a:r>
          </a:p>
        </p:txBody>
      </p:sp>
      <p:sp>
        <p:nvSpPr>
          <p:cNvPr id="11" name="四角形: 角を丸くする 10">
            <a:extLst>
              <a:ext uri="{FF2B5EF4-FFF2-40B4-BE49-F238E27FC236}">
                <a16:creationId xmlns:a16="http://schemas.microsoft.com/office/drawing/2014/main" id="{9A431CD9-9586-A084-ADF8-408910F428A0}"/>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A0051F2C-46CE-A3E9-4D5C-17CA52AB40D6}"/>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t>プログラム説明</a:t>
            </a:r>
            <a:endParaRPr kumimoji="1" lang="ja-JP" altLang="en-US" sz="2400" dirty="0"/>
          </a:p>
        </p:txBody>
      </p:sp>
      <p:sp>
        <p:nvSpPr>
          <p:cNvPr id="7" name="テキスト ボックス 6">
            <a:extLst>
              <a:ext uri="{FF2B5EF4-FFF2-40B4-BE49-F238E27FC236}">
                <a16:creationId xmlns:a16="http://schemas.microsoft.com/office/drawing/2014/main" id="{3E5446A1-E47B-DF34-2A88-AEFFAD0D3DDD}"/>
              </a:ext>
            </a:extLst>
          </p:cNvPr>
          <p:cNvSpPr txBox="1"/>
          <p:nvPr/>
        </p:nvSpPr>
        <p:spPr>
          <a:xfrm>
            <a:off x="771525" y="1171575"/>
            <a:ext cx="2275276" cy="584775"/>
          </a:xfrm>
          <a:prstGeom prst="rect">
            <a:avLst/>
          </a:prstGeom>
          <a:noFill/>
        </p:spPr>
        <p:txBody>
          <a:bodyPr wrap="square" rtlCol="0">
            <a:spAutoFit/>
          </a:bodyPr>
          <a:lstStyle/>
          <a:p>
            <a:r>
              <a:rPr lang="ja-JP" altLang="en-US" sz="3200" dirty="0"/>
              <a:t>移動制御</a:t>
            </a:r>
            <a:endParaRPr kumimoji="1" lang="ja-JP" altLang="en-US" sz="3200" dirty="0"/>
          </a:p>
        </p:txBody>
      </p:sp>
      <p:sp>
        <p:nvSpPr>
          <p:cNvPr id="10" name="テキスト ボックス 9">
            <a:extLst>
              <a:ext uri="{FF2B5EF4-FFF2-40B4-BE49-F238E27FC236}">
                <a16:creationId xmlns:a16="http://schemas.microsoft.com/office/drawing/2014/main" id="{5F56A162-C14D-3E82-FABC-D97D92206EEE}"/>
              </a:ext>
            </a:extLst>
          </p:cNvPr>
          <p:cNvSpPr txBox="1"/>
          <p:nvPr/>
        </p:nvSpPr>
        <p:spPr>
          <a:xfrm>
            <a:off x="1238250" y="1755127"/>
            <a:ext cx="10953750" cy="461665"/>
          </a:xfrm>
          <a:prstGeom prst="rect">
            <a:avLst/>
          </a:prstGeom>
          <a:noFill/>
        </p:spPr>
        <p:txBody>
          <a:bodyPr wrap="square" rtlCol="0">
            <a:spAutoFit/>
          </a:bodyPr>
          <a:lstStyle/>
          <a:p>
            <a:r>
              <a:rPr lang="en-US" altLang="ja-JP" sz="2400" dirty="0"/>
              <a:t>“</a:t>
            </a:r>
            <a:r>
              <a:rPr lang="ja-JP" altLang="en-US" sz="2400" dirty="0"/>
              <a:t>向き</a:t>
            </a:r>
            <a:r>
              <a:rPr lang="en-US" altLang="ja-JP" sz="2400" dirty="0"/>
              <a:t>”</a:t>
            </a:r>
            <a:r>
              <a:rPr lang="ja-JP" altLang="en-US" sz="2400" dirty="0"/>
              <a:t>と</a:t>
            </a:r>
            <a:r>
              <a:rPr lang="en-US" altLang="ja-JP" sz="2400" dirty="0"/>
              <a:t>”</a:t>
            </a:r>
            <a:r>
              <a:rPr lang="ja-JP" altLang="en-US" sz="2400" dirty="0"/>
              <a:t>歩数</a:t>
            </a:r>
            <a:r>
              <a:rPr lang="en-US" altLang="ja-JP" sz="2400" dirty="0"/>
              <a:t>”</a:t>
            </a:r>
            <a:r>
              <a:rPr lang="ja-JP" altLang="en-US" sz="2400" dirty="0"/>
              <a:t>による自己位置推定と、目標座標への移動量計算</a:t>
            </a:r>
            <a:endParaRPr lang="en-US" altLang="ja-JP" sz="2400" dirty="0"/>
          </a:p>
        </p:txBody>
      </p:sp>
      <p:cxnSp>
        <p:nvCxnSpPr>
          <p:cNvPr id="5" name="直線コネクタ 4">
            <a:extLst>
              <a:ext uri="{FF2B5EF4-FFF2-40B4-BE49-F238E27FC236}">
                <a16:creationId xmlns:a16="http://schemas.microsoft.com/office/drawing/2014/main" id="{5045A1DF-7C97-9963-8359-2B46F6FE5BCB}"/>
              </a:ext>
            </a:extLst>
          </p:cNvPr>
          <p:cNvCxnSpPr/>
          <p:nvPr/>
        </p:nvCxnSpPr>
        <p:spPr>
          <a:xfrm>
            <a:off x="7344629" y="4124790"/>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 name="直線矢印コネクタ 2">
            <a:extLst>
              <a:ext uri="{FF2B5EF4-FFF2-40B4-BE49-F238E27FC236}">
                <a16:creationId xmlns:a16="http://schemas.microsoft.com/office/drawing/2014/main" id="{88A5E2C0-0C61-3727-AECA-CE724F2681D8}"/>
              </a:ext>
            </a:extLst>
          </p:cNvPr>
          <p:cNvCxnSpPr/>
          <p:nvPr/>
        </p:nvCxnSpPr>
        <p:spPr>
          <a:xfrm>
            <a:off x="7344629" y="4482990"/>
            <a:ext cx="360000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 name="直線コネクタ 7">
            <a:extLst>
              <a:ext uri="{FF2B5EF4-FFF2-40B4-BE49-F238E27FC236}">
                <a16:creationId xmlns:a16="http://schemas.microsoft.com/office/drawing/2014/main" id="{D44FDA90-2F3A-3BC3-4F00-227C9775DB1A}"/>
              </a:ext>
            </a:extLst>
          </p:cNvPr>
          <p:cNvCxnSpPr/>
          <p:nvPr/>
        </p:nvCxnSpPr>
        <p:spPr>
          <a:xfrm>
            <a:off x="7344629" y="3764790"/>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4" name="直線矢印コネクタ 3">
            <a:extLst>
              <a:ext uri="{FF2B5EF4-FFF2-40B4-BE49-F238E27FC236}">
                <a16:creationId xmlns:a16="http://schemas.microsoft.com/office/drawing/2014/main" id="{5B89817F-5FDB-81B4-DE07-E678C218F242}"/>
              </a:ext>
            </a:extLst>
          </p:cNvPr>
          <p:cNvCxnSpPr>
            <a:cxnSpLocks/>
          </p:cNvCxnSpPr>
          <p:nvPr/>
        </p:nvCxnSpPr>
        <p:spPr>
          <a:xfrm rot="10800000">
            <a:off x="9146141" y="2682990"/>
            <a:ext cx="0" cy="360000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 name="直線矢印コネクタ 5">
            <a:extLst>
              <a:ext uri="{FF2B5EF4-FFF2-40B4-BE49-F238E27FC236}">
                <a16:creationId xmlns:a16="http://schemas.microsoft.com/office/drawing/2014/main" id="{AD11C176-AFCD-27F4-1844-30C44C360BF3}"/>
              </a:ext>
            </a:extLst>
          </p:cNvPr>
          <p:cNvCxnSpPr/>
          <p:nvPr/>
        </p:nvCxnSpPr>
        <p:spPr>
          <a:xfrm>
            <a:off x="7346141" y="3404790"/>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16" name="直線矢印コネクタ 15">
            <a:extLst>
              <a:ext uri="{FF2B5EF4-FFF2-40B4-BE49-F238E27FC236}">
                <a16:creationId xmlns:a16="http://schemas.microsoft.com/office/drawing/2014/main" id="{35349570-E2C3-6254-0C3B-07C45B13D0F2}"/>
              </a:ext>
            </a:extLst>
          </p:cNvPr>
          <p:cNvCxnSpPr/>
          <p:nvPr/>
        </p:nvCxnSpPr>
        <p:spPr>
          <a:xfrm>
            <a:off x="7346141" y="3044790"/>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17" name="直線コネクタ 16">
            <a:extLst>
              <a:ext uri="{FF2B5EF4-FFF2-40B4-BE49-F238E27FC236}">
                <a16:creationId xmlns:a16="http://schemas.microsoft.com/office/drawing/2014/main" id="{3AA2BAD0-4E2A-EB6C-BC72-2BB99761C40A}"/>
              </a:ext>
            </a:extLst>
          </p:cNvPr>
          <p:cNvCxnSpPr/>
          <p:nvPr/>
        </p:nvCxnSpPr>
        <p:spPr>
          <a:xfrm>
            <a:off x="7344629" y="5882153"/>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F35090E9-BD5D-49F6-E7C4-C4E4F75E0717}"/>
              </a:ext>
            </a:extLst>
          </p:cNvPr>
          <p:cNvCxnSpPr/>
          <p:nvPr/>
        </p:nvCxnSpPr>
        <p:spPr>
          <a:xfrm>
            <a:off x="7344629" y="5522153"/>
            <a:ext cx="3600000" cy="0"/>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9" name="直線矢印コネクタ 18">
            <a:extLst>
              <a:ext uri="{FF2B5EF4-FFF2-40B4-BE49-F238E27FC236}">
                <a16:creationId xmlns:a16="http://schemas.microsoft.com/office/drawing/2014/main" id="{0AE4F724-4F66-C13D-183A-51D08118E1FF}"/>
              </a:ext>
            </a:extLst>
          </p:cNvPr>
          <p:cNvCxnSpPr/>
          <p:nvPr/>
        </p:nvCxnSpPr>
        <p:spPr>
          <a:xfrm>
            <a:off x="7346141" y="5162153"/>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20" name="直線矢印コネクタ 19">
            <a:extLst>
              <a:ext uri="{FF2B5EF4-FFF2-40B4-BE49-F238E27FC236}">
                <a16:creationId xmlns:a16="http://schemas.microsoft.com/office/drawing/2014/main" id="{DA7F47A7-CE3F-85F8-4B71-A04C816B7E4A}"/>
              </a:ext>
            </a:extLst>
          </p:cNvPr>
          <p:cNvCxnSpPr/>
          <p:nvPr/>
        </p:nvCxnSpPr>
        <p:spPr>
          <a:xfrm>
            <a:off x="7346141" y="4802153"/>
            <a:ext cx="3600000" cy="0"/>
          </a:xfrm>
          <a:prstGeom prst="straightConnector1">
            <a:avLst/>
          </a:prstGeom>
          <a:ln>
            <a:solidFill>
              <a:schemeClr val="tx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29" name="直線コネクタ 28">
            <a:extLst>
              <a:ext uri="{FF2B5EF4-FFF2-40B4-BE49-F238E27FC236}">
                <a16:creationId xmlns:a16="http://schemas.microsoft.com/office/drawing/2014/main" id="{20D08E54-26D0-D58D-737F-FD61B9FF21D4}"/>
              </a:ext>
            </a:extLst>
          </p:cNvPr>
          <p:cNvCxnSpPr/>
          <p:nvPr/>
        </p:nvCxnSpPr>
        <p:spPr>
          <a:xfrm>
            <a:off x="878614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6CEE3DE2-016D-E63D-7546-DF9D1C01F28F}"/>
              </a:ext>
            </a:extLst>
          </p:cNvPr>
          <p:cNvCxnSpPr/>
          <p:nvPr/>
        </p:nvCxnSpPr>
        <p:spPr>
          <a:xfrm>
            <a:off x="842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30B6A90D-7494-E829-5AB4-4CE487E2E81E}"/>
              </a:ext>
            </a:extLst>
          </p:cNvPr>
          <p:cNvCxnSpPr/>
          <p:nvPr/>
        </p:nvCxnSpPr>
        <p:spPr>
          <a:xfrm>
            <a:off x="806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4" name="直線コネクタ 33">
            <a:extLst>
              <a:ext uri="{FF2B5EF4-FFF2-40B4-BE49-F238E27FC236}">
                <a16:creationId xmlns:a16="http://schemas.microsoft.com/office/drawing/2014/main" id="{9FB6ED03-685E-9A30-F330-FC3D64D1E90F}"/>
              </a:ext>
            </a:extLst>
          </p:cNvPr>
          <p:cNvCxnSpPr/>
          <p:nvPr/>
        </p:nvCxnSpPr>
        <p:spPr>
          <a:xfrm>
            <a:off x="7706141" y="2684790"/>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5" name="直線コネクタ 34">
            <a:extLst>
              <a:ext uri="{FF2B5EF4-FFF2-40B4-BE49-F238E27FC236}">
                <a16:creationId xmlns:a16="http://schemas.microsoft.com/office/drawing/2014/main" id="{208AAE1A-763B-4659-013B-6F5011EB11DC}"/>
              </a:ext>
            </a:extLst>
          </p:cNvPr>
          <p:cNvCxnSpPr/>
          <p:nvPr/>
        </p:nvCxnSpPr>
        <p:spPr>
          <a:xfrm>
            <a:off x="10599701" y="2681188"/>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6" name="直線コネクタ 35">
            <a:extLst>
              <a:ext uri="{FF2B5EF4-FFF2-40B4-BE49-F238E27FC236}">
                <a16:creationId xmlns:a16="http://schemas.microsoft.com/office/drawing/2014/main" id="{071728AB-4A20-A831-603E-B6B1B01BAECD}"/>
              </a:ext>
            </a:extLst>
          </p:cNvPr>
          <p:cNvCxnSpPr/>
          <p:nvPr/>
        </p:nvCxnSpPr>
        <p:spPr>
          <a:xfrm>
            <a:off x="1023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7" name="直線コネクタ 36">
            <a:extLst>
              <a:ext uri="{FF2B5EF4-FFF2-40B4-BE49-F238E27FC236}">
                <a16:creationId xmlns:a16="http://schemas.microsoft.com/office/drawing/2014/main" id="{23754AE6-2A23-279F-9A27-87E59C73B567}"/>
              </a:ext>
            </a:extLst>
          </p:cNvPr>
          <p:cNvCxnSpPr/>
          <p:nvPr/>
        </p:nvCxnSpPr>
        <p:spPr>
          <a:xfrm>
            <a:off x="987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8" name="直線コネクタ 37">
            <a:extLst>
              <a:ext uri="{FF2B5EF4-FFF2-40B4-BE49-F238E27FC236}">
                <a16:creationId xmlns:a16="http://schemas.microsoft.com/office/drawing/2014/main" id="{0C13FFBD-0D85-D705-8C97-B0643F1AF397}"/>
              </a:ext>
            </a:extLst>
          </p:cNvPr>
          <p:cNvCxnSpPr/>
          <p:nvPr/>
        </p:nvCxnSpPr>
        <p:spPr>
          <a:xfrm>
            <a:off x="9519701" y="2682989"/>
            <a:ext cx="0" cy="3600001"/>
          </a:xfrm>
          <a:prstGeom prst="line">
            <a:avLst/>
          </a:prstGeom>
          <a:ln>
            <a:solidFill>
              <a:schemeClr val="tx1">
                <a:lumMod val="65000"/>
              </a:schemeClr>
            </a:solidFill>
          </a:ln>
        </p:spPr>
        <p:style>
          <a:lnRef idx="2">
            <a:schemeClr val="accent1"/>
          </a:lnRef>
          <a:fillRef idx="0">
            <a:schemeClr val="accent1"/>
          </a:fillRef>
          <a:effectRef idx="1">
            <a:schemeClr val="accent1"/>
          </a:effectRef>
          <a:fontRef idx="minor">
            <a:schemeClr val="tx1"/>
          </a:fontRef>
        </p:style>
      </p:cxnSp>
      <p:sp>
        <p:nvSpPr>
          <p:cNvPr id="39" name="テキスト ボックス 38">
            <a:extLst>
              <a:ext uri="{FF2B5EF4-FFF2-40B4-BE49-F238E27FC236}">
                <a16:creationId xmlns:a16="http://schemas.microsoft.com/office/drawing/2014/main" id="{580CB8C0-FEB2-10B4-B30C-CDE4ECFCD001}"/>
              </a:ext>
            </a:extLst>
          </p:cNvPr>
          <p:cNvSpPr txBox="1"/>
          <p:nvPr/>
        </p:nvSpPr>
        <p:spPr>
          <a:xfrm>
            <a:off x="10878514" y="4157185"/>
            <a:ext cx="267345" cy="584775"/>
          </a:xfrm>
          <a:prstGeom prst="rect">
            <a:avLst/>
          </a:prstGeom>
          <a:noFill/>
        </p:spPr>
        <p:txBody>
          <a:bodyPr wrap="square" rtlCol="0" anchor="t">
            <a:spAutoFit/>
          </a:bodyPr>
          <a:lstStyle/>
          <a:p>
            <a:r>
              <a:rPr kumimoji="1" lang="en-US" altLang="ja-JP" sz="3200" b="1" dirty="0">
                <a:latin typeface="Gigi" panose="04040504060007020D02" pitchFamily="82" charset="0"/>
              </a:rPr>
              <a:t>x</a:t>
            </a:r>
            <a:endParaRPr kumimoji="1" lang="ja-JP" altLang="en-US" sz="3200" b="1" dirty="0">
              <a:latin typeface="Gigi" panose="04040504060007020D02" pitchFamily="82" charset="0"/>
            </a:endParaRPr>
          </a:p>
        </p:txBody>
      </p:sp>
      <p:sp>
        <p:nvSpPr>
          <p:cNvPr id="40" name="テキスト ボックス 39">
            <a:extLst>
              <a:ext uri="{FF2B5EF4-FFF2-40B4-BE49-F238E27FC236}">
                <a16:creationId xmlns:a16="http://schemas.microsoft.com/office/drawing/2014/main" id="{8F284B00-9A7D-DB00-F992-C860E98BB48F}"/>
              </a:ext>
            </a:extLst>
          </p:cNvPr>
          <p:cNvSpPr txBox="1"/>
          <p:nvPr/>
        </p:nvSpPr>
        <p:spPr>
          <a:xfrm>
            <a:off x="8930273" y="2116703"/>
            <a:ext cx="267345" cy="584775"/>
          </a:xfrm>
          <a:prstGeom prst="rect">
            <a:avLst/>
          </a:prstGeom>
          <a:noFill/>
        </p:spPr>
        <p:txBody>
          <a:bodyPr wrap="square" rtlCol="0">
            <a:spAutoFit/>
          </a:bodyPr>
          <a:lstStyle/>
          <a:p>
            <a:r>
              <a:rPr lang="en-US" altLang="ja-JP" sz="3200" b="1" dirty="0">
                <a:latin typeface="Gigi" panose="04040504060007020D02" pitchFamily="82" charset="0"/>
              </a:rPr>
              <a:t>y</a:t>
            </a:r>
            <a:endParaRPr kumimoji="1" lang="ja-JP" altLang="en-US" sz="3200" b="1" dirty="0">
              <a:latin typeface="Gigi" panose="04040504060007020D02" pitchFamily="82" charset="0"/>
            </a:endParaRPr>
          </a:p>
        </p:txBody>
      </p:sp>
      <p:sp>
        <p:nvSpPr>
          <p:cNvPr id="41" name="テキスト ボックス 40">
            <a:extLst>
              <a:ext uri="{FF2B5EF4-FFF2-40B4-BE49-F238E27FC236}">
                <a16:creationId xmlns:a16="http://schemas.microsoft.com/office/drawing/2014/main" id="{9EDDB3AA-6C7E-7378-A18F-1C77A341F757}"/>
              </a:ext>
            </a:extLst>
          </p:cNvPr>
          <p:cNvSpPr txBox="1"/>
          <p:nvPr/>
        </p:nvSpPr>
        <p:spPr>
          <a:xfrm>
            <a:off x="9109438" y="2161962"/>
            <a:ext cx="1020485" cy="523220"/>
          </a:xfrm>
          <a:prstGeom prst="rect">
            <a:avLst/>
          </a:prstGeom>
          <a:noFill/>
        </p:spPr>
        <p:txBody>
          <a:bodyPr wrap="square" rtlCol="0">
            <a:spAutoFit/>
          </a:bodyPr>
          <a:lstStyle/>
          <a:p>
            <a:pPr algn="ctr"/>
            <a:r>
              <a:rPr kumimoji="1" lang="en-US" altLang="ja-JP" sz="2800" dirty="0"/>
              <a:t>90°</a:t>
            </a:r>
            <a:endParaRPr kumimoji="1" lang="ja-JP" altLang="en-US" sz="2800" dirty="0"/>
          </a:p>
        </p:txBody>
      </p:sp>
      <p:sp>
        <p:nvSpPr>
          <p:cNvPr id="42" name="テキスト ボックス 41">
            <a:extLst>
              <a:ext uri="{FF2B5EF4-FFF2-40B4-BE49-F238E27FC236}">
                <a16:creationId xmlns:a16="http://schemas.microsoft.com/office/drawing/2014/main" id="{F433B909-6336-4FBC-5627-0C6ED01CE31B}"/>
              </a:ext>
            </a:extLst>
          </p:cNvPr>
          <p:cNvSpPr txBox="1"/>
          <p:nvPr/>
        </p:nvSpPr>
        <p:spPr>
          <a:xfrm>
            <a:off x="11144105" y="4233942"/>
            <a:ext cx="1020485" cy="830997"/>
          </a:xfrm>
          <a:prstGeom prst="rect">
            <a:avLst/>
          </a:prstGeom>
          <a:noFill/>
        </p:spPr>
        <p:txBody>
          <a:bodyPr wrap="square" rtlCol="0">
            <a:spAutoFit/>
          </a:bodyPr>
          <a:lstStyle/>
          <a:p>
            <a:r>
              <a:rPr kumimoji="1" lang="en-US" altLang="ja-JP" sz="2800" dirty="0"/>
              <a:t> 0°</a:t>
            </a:r>
          </a:p>
          <a:p>
            <a:r>
              <a:rPr lang="en-US" altLang="ja-JP" sz="2000" dirty="0"/>
              <a:t>(360°)</a:t>
            </a:r>
            <a:endParaRPr kumimoji="1" lang="ja-JP" altLang="en-US" sz="2000" dirty="0"/>
          </a:p>
        </p:txBody>
      </p:sp>
      <p:sp>
        <p:nvSpPr>
          <p:cNvPr id="43" name="テキスト ボックス 42">
            <a:extLst>
              <a:ext uri="{FF2B5EF4-FFF2-40B4-BE49-F238E27FC236}">
                <a16:creationId xmlns:a16="http://schemas.microsoft.com/office/drawing/2014/main" id="{68D22B06-F087-8706-9BBA-ECB6090AE0F6}"/>
              </a:ext>
            </a:extLst>
          </p:cNvPr>
          <p:cNvSpPr txBox="1"/>
          <p:nvPr/>
        </p:nvSpPr>
        <p:spPr>
          <a:xfrm>
            <a:off x="8714717" y="6340542"/>
            <a:ext cx="1020485" cy="523220"/>
          </a:xfrm>
          <a:prstGeom prst="rect">
            <a:avLst/>
          </a:prstGeom>
          <a:noFill/>
        </p:spPr>
        <p:txBody>
          <a:bodyPr wrap="square" rtlCol="0">
            <a:spAutoFit/>
          </a:bodyPr>
          <a:lstStyle/>
          <a:p>
            <a:pPr algn="ctr"/>
            <a:r>
              <a:rPr lang="en-US" altLang="ja-JP" sz="2800" dirty="0"/>
              <a:t>270</a:t>
            </a:r>
            <a:r>
              <a:rPr kumimoji="1" lang="en-US" altLang="ja-JP" sz="2800" dirty="0"/>
              <a:t>°</a:t>
            </a:r>
            <a:endParaRPr kumimoji="1" lang="ja-JP" altLang="en-US" sz="2800" dirty="0"/>
          </a:p>
        </p:txBody>
      </p:sp>
      <p:sp>
        <p:nvSpPr>
          <p:cNvPr id="44" name="テキスト ボックス 43">
            <a:extLst>
              <a:ext uri="{FF2B5EF4-FFF2-40B4-BE49-F238E27FC236}">
                <a16:creationId xmlns:a16="http://schemas.microsoft.com/office/drawing/2014/main" id="{AF451A63-F5AA-3765-62F4-100B8D90AA5B}"/>
              </a:ext>
            </a:extLst>
          </p:cNvPr>
          <p:cNvSpPr txBox="1"/>
          <p:nvPr/>
        </p:nvSpPr>
        <p:spPr>
          <a:xfrm>
            <a:off x="6387152" y="4232640"/>
            <a:ext cx="1020485" cy="523220"/>
          </a:xfrm>
          <a:prstGeom prst="rect">
            <a:avLst/>
          </a:prstGeom>
          <a:noFill/>
        </p:spPr>
        <p:txBody>
          <a:bodyPr wrap="square" rtlCol="0">
            <a:spAutoFit/>
          </a:bodyPr>
          <a:lstStyle/>
          <a:p>
            <a:pPr algn="ctr"/>
            <a:r>
              <a:rPr lang="en-US" altLang="ja-JP" sz="2800" dirty="0"/>
              <a:t>18</a:t>
            </a:r>
            <a:r>
              <a:rPr kumimoji="1" lang="en-US" altLang="ja-JP" sz="2800" dirty="0"/>
              <a:t>0°</a:t>
            </a:r>
            <a:endParaRPr kumimoji="1" lang="ja-JP" altLang="en-US" sz="2800" dirty="0"/>
          </a:p>
        </p:txBody>
      </p:sp>
      <p:sp>
        <p:nvSpPr>
          <p:cNvPr id="48" name="テキスト ボックス 47">
            <a:extLst>
              <a:ext uri="{FF2B5EF4-FFF2-40B4-BE49-F238E27FC236}">
                <a16:creationId xmlns:a16="http://schemas.microsoft.com/office/drawing/2014/main" id="{AB378DA3-EC4A-9D28-E188-9A298FA84FF2}"/>
              </a:ext>
            </a:extLst>
          </p:cNvPr>
          <p:cNvSpPr txBox="1"/>
          <p:nvPr/>
        </p:nvSpPr>
        <p:spPr>
          <a:xfrm>
            <a:off x="4867322" y="6143763"/>
            <a:ext cx="281490" cy="523220"/>
          </a:xfrm>
          <a:prstGeom prst="rect">
            <a:avLst/>
          </a:prstGeom>
          <a:noFill/>
        </p:spPr>
        <p:txBody>
          <a:bodyPr wrap="square" rtlCol="0">
            <a:spAutoFit/>
          </a:bodyPr>
          <a:lstStyle/>
          <a:p>
            <a:r>
              <a:rPr lang="en-US" altLang="ja-JP" sz="2800" dirty="0"/>
              <a:t>(</a:t>
            </a:r>
            <a:endParaRPr kumimoji="1" lang="ja-JP" altLang="en-US" sz="2800" dirty="0"/>
          </a:p>
        </p:txBody>
      </p:sp>
      <p:sp>
        <p:nvSpPr>
          <p:cNvPr id="52" name="テキスト ボックス 51">
            <a:extLst>
              <a:ext uri="{FF2B5EF4-FFF2-40B4-BE49-F238E27FC236}">
                <a16:creationId xmlns:a16="http://schemas.microsoft.com/office/drawing/2014/main" id="{8B635F26-0507-C399-C00B-6CE61544CBAA}"/>
              </a:ext>
            </a:extLst>
          </p:cNvPr>
          <p:cNvSpPr txBox="1"/>
          <p:nvPr/>
        </p:nvSpPr>
        <p:spPr>
          <a:xfrm>
            <a:off x="6967885" y="6143763"/>
            <a:ext cx="281490" cy="523220"/>
          </a:xfrm>
          <a:prstGeom prst="rect">
            <a:avLst/>
          </a:prstGeom>
          <a:noFill/>
        </p:spPr>
        <p:txBody>
          <a:bodyPr wrap="square" rtlCol="0">
            <a:spAutoFit/>
          </a:bodyPr>
          <a:lstStyle/>
          <a:p>
            <a:r>
              <a:rPr kumimoji="1" lang="en-US" altLang="ja-JP" sz="2800" dirty="0"/>
              <a:t>)</a:t>
            </a:r>
            <a:endParaRPr kumimoji="1" lang="ja-JP" altLang="en-US" sz="2800" dirty="0"/>
          </a:p>
        </p:txBody>
      </p:sp>
      <p:sp>
        <p:nvSpPr>
          <p:cNvPr id="56" name="テキスト ボックス 55">
            <a:extLst>
              <a:ext uri="{FF2B5EF4-FFF2-40B4-BE49-F238E27FC236}">
                <a16:creationId xmlns:a16="http://schemas.microsoft.com/office/drawing/2014/main" id="{FF696B39-DF06-0E1E-EDE3-28B45A623D80}"/>
              </a:ext>
            </a:extLst>
          </p:cNvPr>
          <p:cNvSpPr txBox="1"/>
          <p:nvPr/>
        </p:nvSpPr>
        <p:spPr>
          <a:xfrm>
            <a:off x="5962379" y="6143763"/>
            <a:ext cx="281490" cy="523220"/>
          </a:xfrm>
          <a:prstGeom prst="rect">
            <a:avLst/>
          </a:prstGeom>
          <a:noFill/>
        </p:spPr>
        <p:txBody>
          <a:bodyPr wrap="square" rtlCol="0">
            <a:spAutoFit/>
          </a:bodyPr>
          <a:lstStyle/>
          <a:p>
            <a:r>
              <a:rPr lang="en-US" altLang="ja-JP" sz="2800" dirty="0"/>
              <a:t>,</a:t>
            </a:r>
          </a:p>
        </p:txBody>
      </p:sp>
      <p:sp>
        <p:nvSpPr>
          <p:cNvPr id="61" name="テキスト ボックス 60">
            <a:extLst>
              <a:ext uri="{FF2B5EF4-FFF2-40B4-BE49-F238E27FC236}">
                <a16:creationId xmlns:a16="http://schemas.microsoft.com/office/drawing/2014/main" id="{D3A82B66-C2D4-B892-B81C-66F0FF2F14C8}"/>
              </a:ext>
            </a:extLst>
          </p:cNvPr>
          <p:cNvSpPr txBox="1"/>
          <p:nvPr/>
        </p:nvSpPr>
        <p:spPr>
          <a:xfrm>
            <a:off x="10777538" y="2936791"/>
            <a:ext cx="1183482" cy="523220"/>
          </a:xfrm>
          <a:prstGeom prst="rect">
            <a:avLst/>
          </a:prstGeom>
          <a:noFill/>
        </p:spPr>
        <p:txBody>
          <a:bodyPr wrap="square" rtlCol="0">
            <a:spAutoFit/>
          </a:bodyPr>
          <a:lstStyle/>
          <a:p>
            <a:r>
              <a:rPr kumimoji="1" lang="en-US" altLang="ja-JP" sz="2800" dirty="0"/>
              <a:t>( 4 , 3 )</a:t>
            </a:r>
            <a:endParaRPr kumimoji="1" lang="ja-JP" altLang="en-US" sz="2800" dirty="0"/>
          </a:p>
        </p:txBody>
      </p:sp>
      <p:sp>
        <p:nvSpPr>
          <p:cNvPr id="65" name="楕円 64">
            <a:extLst>
              <a:ext uri="{FF2B5EF4-FFF2-40B4-BE49-F238E27FC236}">
                <a16:creationId xmlns:a16="http://schemas.microsoft.com/office/drawing/2014/main" id="{B789B47D-81EB-125B-BCB2-FBFADE9867E6}"/>
              </a:ext>
            </a:extLst>
          </p:cNvPr>
          <p:cNvSpPr/>
          <p:nvPr/>
        </p:nvSpPr>
        <p:spPr>
          <a:xfrm>
            <a:off x="10389122" y="3152458"/>
            <a:ext cx="419390" cy="419390"/>
          </a:xfrm>
          <a:prstGeom prst="ellipse">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800" b="1" dirty="0">
                <a:solidFill>
                  <a:schemeClr val="bg2"/>
                </a:solidFill>
              </a:rPr>
              <a:t>G</a:t>
            </a:r>
            <a:endParaRPr kumimoji="1" lang="ja-JP" altLang="en-US" sz="2800" b="1" dirty="0">
              <a:solidFill>
                <a:schemeClr val="bg2"/>
              </a:solidFill>
            </a:endParaRPr>
          </a:p>
        </p:txBody>
      </p:sp>
      <p:sp>
        <p:nvSpPr>
          <p:cNvPr id="26" name="矢印: 右 25">
            <a:extLst>
              <a:ext uri="{FF2B5EF4-FFF2-40B4-BE49-F238E27FC236}">
                <a16:creationId xmlns:a16="http://schemas.microsoft.com/office/drawing/2014/main" id="{B1035EAF-DEDA-D979-BF2C-B8E275175621}"/>
              </a:ext>
            </a:extLst>
          </p:cNvPr>
          <p:cNvSpPr/>
          <p:nvPr/>
        </p:nvSpPr>
        <p:spPr>
          <a:xfrm rot="19800000">
            <a:off x="10534420" y="3182051"/>
            <a:ext cx="356398" cy="378745"/>
          </a:xfrm>
          <a:prstGeom prst="rightArrow">
            <a:avLst>
              <a:gd name="adj1" fmla="val 38683"/>
              <a:gd name="adj2" fmla="val 54009"/>
            </a:avLst>
          </a:prstGeom>
          <a:solidFill>
            <a:schemeClr val="tx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矢印: 右 66">
            <a:extLst>
              <a:ext uri="{FF2B5EF4-FFF2-40B4-BE49-F238E27FC236}">
                <a16:creationId xmlns:a16="http://schemas.microsoft.com/office/drawing/2014/main" id="{DE76A58D-A90B-5A01-7C24-A3CA2E005AE1}"/>
              </a:ext>
            </a:extLst>
          </p:cNvPr>
          <p:cNvSpPr/>
          <p:nvPr/>
        </p:nvSpPr>
        <p:spPr>
          <a:xfrm rot="16200000">
            <a:off x="10576941" y="3354106"/>
            <a:ext cx="45719" cy="158670"/>
          </a:xfrm>
          <a:prstGeom prst="rightArrow">
            <a:avLst>
              <a:gd name="adj1" fmla="val 40995"/>
              <a:gd name="adj2" fmla="val 50000"/>
            </a:avLst>
          </a:prstGeom>
          <a:solidFill>
            <a:srgbClr val="C0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矢印: 右 67">
            <a:extLst>
              <a:ext uri="{FF2B5EF4-FFF2-40B4-BE49-F238E27FC236}">
                <a16:creationId xmlns:a16="http://schemas.microsoft.com/office/drawing/2014/main" id="{722F878E-C822-70C2-81A0-60CFC39BED01}"/>
              </a:ext>
            </a:extLst>
          </p:cNvPr>
          <p:cNvSpPr/>
          <p:nvPr/>
        </p:nvSpPr>
        <p:spPr>
          <a:xfrm>
            <a:off x="10563506" y="3384306"/>
            <a:ext cx="45719" cy="158670"/>
          </a:xfrm>
          <a:prstGeom prst="rightArrow">
            <a:avLst>
              <a:gd name="adj1" fmla="val 40995"/>
              <a:gd name="adj2" fmla="val 50000"/>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矢印: 右 68">
            <a:extLst>
              <a:ext uri="{FF2B5EF4-FFF2-40B4-BE49-F238E27FC236}">
                <a16:creationId xmlns:a16="http://schemas.microsoft.com/office/drawing/2014/main" id="{837509CB-6352-1105-39E8-FF0EAFB0A7B6}"/>
              </a:ext>
            </a:extLst>
          </p:cNvPr>
          <p:cNvSpPr/>
          <p:nvPr/>
        </p:nvSpPr>
        <p:spPr>
          <a:xfrm rot="19641983">
            <a:off x="10551189" y="3344982"/>
            <a:ext cx="45719" cy="158670"/>
          </a:xfrm>
          <a:prstGeom prst="rightArrow">
            <a:avLst>
              <a:gd name="adj1" fmla="val 40995"/>
              <a:gd name="adj2" fmla="val 50000"/>
            </a:avLst>
          </a:prstGeom>
          <a:solidFill>
            <a:srgbClr val="00B0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テキスト ボックス 61">
            <a:extLst>
              <a:ext uri="{FF2B5EF4-FFF2-40B4-BE49-F238E27FC236}">
                <a16:creationId xmlns:a16="http://schemas.microsoft.com/office/drawing/2014/main" id="{70CC4315-0177-15EE-C07A-A26248B59102}"/>
              </a:ext>
            </a:extLst>
          </p:cNvPr>
          <p:cNvSpPr txBox="1"/>
          <p:nvPr/>
        </p:nvSpPr>
        <p:spPr>
          <a:xfrm>
            <a:off x="771525" y="3467162"/>
            <a:ext cx="4447818" cy="523220"/>
          </a:xfrm>
          <a:prstGeom prst="rect">
            <a:avLst/>
          </a:prstGeom>
          <a:noFill/>
        </p:spPr>
        <p:txBody>
          <a:bodyPr wrap="square" rtlCol="0">
            <a:spAutoFit/>
          </a:bodyPr>
          <a:lstStyle/>
          <a:p>
            <a:r>
              <a:rPr lang="en-US" altLang="ja-JP" sz="2800" dirty="0"/>
              <a:t>a</a:t>
            </a:r>
            <a:r>
              <a:rPr kumimoji="1" lang="en-US" altLang="ja-JP" sz="2800" dirty="0"/>
              <a:t>rctan(</a:t>
            </a:r>
            <a:r>
              <a:rPr kumimoji="1" lang="en-US" altLang="ja-JP" sz="2800" dirty="0" err="1"/>
              <a:t>Δy</a:t>
            </a:r>
            <a:r>
              <a:rPr kumimoji="1" lang="en-US" altLang="ja-JP" sz="2800" dirty="0"/>
              <a:t>/</a:t>
            </a:r>
            <a:r>
              <a:rPr kumimoji="1" lang="en-US" altLang="ja-JP" sz="2800" dirty="0" err="1"/>
              <a:t>Δx</a:t>
            </a:r>
            <a:r>
              <a:rPr kumimoji="1" lang="en-US" altLang="ja-JP" sz="2800" dirty="0"/>
              <a:t>) </a:t>
            </a:r>
            <a:r>
              <a:rPr kumimoji="1" lang="ja-JP" altLang="en-US" sz="2800" dirty="0"/>
              <a:t>≈</a:t>
            </a:r>
          </a:p>
        </p:txBody>
      </p:sp>
      <p:sp>
        <p:nvSpPr>
          <p:cNvPr id="24" name="テキスト ボックス 23">
            <a:extLst>
              <a:ext uri="{FF2B5EF4-FFF2-40B4-BE49-F238E27FC236}">
                <a16:creationId xmlns:a16="http://schemas.microsoft.com/office/drawing/2014/main" id="{7C8B6C16-08D4-FA23-C4AA-A01C1CCDDA60}"/>
              </a:ext>
            </a:extLst>
          </p:cNvPr>
          <p:cNvSpPr txBox="1"/>
          <p:nvPr/>
        </p:nvSpPr>
        <p:spPr>
          <a:xfrm>
            <a:off x="780575" y="4404567"/>
            <a:ext cx="4447818" cy="523220"/>
          </a:xfrm>
          <a:prstGeom prst="rect">
            <a:avLst/>
          </a:prstGeom>
          <a:noFill/>
        </p:spPr>
        <p:txBody>
          <a:bodyPr wrap="square" rtlCol="0">
            <a:spAutoFit/>
          </a:bodyPr>
          <a:lstStyle/>
          <a:p>
            <a:r>
              <a:rPr kumimoji="1" lang="ja-JP" altLang="en-US" sz="2800" dirty="0"/>
              <a:t>√</a:t>
            </a:r>
            <a:r>
              <a:rPr kumimoji="1" lang="en-US" altLang="ja-JP" sz="2800" dirty="0"/>
              <a:t>((</a:t>
            </a:r>
            <a:r>
              <a:rPr kumimoji="1" lang="en-US" altLang="ja-JP" sz="2800" dirty="0" err="1"/>
              <a:t>Δx</a:t>
            </a:r>
            <a:r>
              <a:rPr kumimoji="1" lang="en-US" altLang="ja-JP" sz="2800" dirty="0"/>
              <a:t>)²+(</a:t>
            </a:r>
            <a:r>
              <a:rPr kumimoji="1" lang="en-US" altLang="ja-JP" sz="2800" dirty="0" err="1"/>
              <a:t>Δy</a:t>
            </a:r>
            <a:r>
              <a:rPr kumimoji="1" lang="en-US" altLang="ja-JP" sz="2800" dirty="0"/>
              <a:t>)²)</a:t>
            </a:r>
            <a:endParaRPr kumimoji="1" lang="ja-JP" altLang="en-US" sz="2800" dirty="0"/>
          </a:p>
        </p:txBody>
      </p:sp>
      <p:sp>
        <p:nvSpPr>
          <p:cNvPr id="27" name="テキスト ボックス 26">
            <a:extLst>
              <a:ext uri="{FF2B5EF4-FFF2-40B4-BE49-F238E27FC236}">
                <a16:creationId xmlns:a16="http://schemas.microsoft.com/office/drawing/2014/main" id="{B54A3E62-455E-B9B0-7C31-B2D6B4CADD97}"/>
              </a:ext>
            </a:extLst>
          </p:cNvPr>
          <p:cNvSpPr txBox="1"/>
          <p:nvPr/>
        </p:nvSpPr>
        <p:spPr>
          <a:xfrm>
            <a:off x="774542" y="3956168"/>
            <a:ext cx="4447818" cy="523220"/>
          </a:xfrm>
          <a:prstGeom prst="rect">
            <a:avLst/>
          </a:prstGeom>
          <a:noFill/>
        </p:spPr>
        <p:txBody>
          <a:bodyPr wrap="square" rtlCol="0">
            <a:spAutoFit/>
          </a:bodyPr>
          <a:lstStyle/>
          <a:p>
            <a:r>
              <a:rPr lang="en-US" altLang="ja-JP" sz="2800" dirty="0"/>
              <a:t>     </a:t>
            </a:r>
            <a:r>
              <a:rPr kumimoji="1" lang="en-US" altLang="ja-JP" sz="2800" dirty="0"/>
              <a:t>°</a:t>
            </a:r>
            <a:r>
              <a:rPr lang="ja-JP" altLang="en-US" sz="2800" dirty="0"/>
              <a:t> </a:t>
            </a:r>
            <a:r>
              <a:rPr lang="en-US" altLang="ja-JP" sz="2800" dirty="0"/>
              <a:t>-</a:t>
            </a:r>
            <a:r>
              <a:rPr lang="ja-JP" altLang="en-US" sz="2800" dirty="0"/>
              <a:t> </a:t>
            </a:r>
            <a:r>
              <a:rPr lang="en-US" altLang="ja-JP" sz="2800" dirty="0"/>
              <a:t>     °</a:t>
            </a:r>
            <a:r>
              <a:rPr lang="ja-JP" altLang="en-US" sz="2800" dirty="0"/>
              <a:t> </a:t>
            </a:r>
            <a:r>
              <a:rPr kumimoji="1" lang="en-US" altLang="ja-JP" sz="2800" dirty="0"/>
              <a:t>=</a:t>
            </a:r>
            <a:endParaRPr kumimoji="1" lang="ja-JP" altLang="en-US" sz="2800" dirty="0"/>
          </a:p>
        </p:txBody>
      </p:sp>
      <p:sp>
        <p:nvSpPr>
          <p:cNvPr id="32" name="テキスト ボックス 31">
            <a:extLst>
              <a:ext uri="{FF2B5EF4-FFF2-40B4-BE49-F238E27FC236}">
                <a16:creationId xmlns:a16="http://schemas.microsoft.com/office/drawing/2014/main" id="{EE31E944-8B55-719C-2C4A-D32D8EBC75E2}"/>
              </a:ext>
            </a:extLst>
          </p:cNvPr>
          <p:cNvSpPr txBox="1"/>
          <p:nvPr/>
        </p:nvSpPr>
        <p:spPr>
          <a:xfrm>
            <a:off x="2820764" y="4404567"/>
            <a:ext cx="305817" cy="523220"/>
          </a:xfrm>
          <a:prstGeom prst="rect">
            <a:avLst/>
          </a:prstGeom>
          <a:noFill/>
        </p:spPr>
        <p:txBody>
          <a:bodyPr wrap="square">
            <a:spAutoFit/>
          </a:bodyPr>
          <a:lstStyle/>
          <a:p>
            <a:r>
              <a:rPr lang="ja-JP" altLang="en-US" sz="2800" dirty="0"/>
              <a:t>≈</a:t>
            </a:r>
          </a:p>
        </p:txBody>
      </p:sp>
      <p:sp>
        <p:nvSpPr>
          <p:cNvPr id="51" name="テキスト ボックス 50">
            <a:extLst>
              <a:ext uri="{FF2B5EF4-FFF2-40B4-BE49-F238E27FC236}">
                <a16:creationId xmlns:a16="http://schemas.microsoft.com/office/drawing/2014/main" id="{5129B928-24EA-D4F7-F918-B1BBCACB0765}"/>
              </a:ext>
            </a:extLst>
          </p:cNvPr>
          <p:cNvSpPr txBox="1"/>
          <p:nvPr/>
        </p:nvSpPr>
        <p:spPr>
          <a:xfrm>
            <a:off x="818849" y="3957968"/>
            <a:ext cx="911225" cy="523220"/>
          </a:xfrm>
          <a:prstGeom prst="rect">
            <a:avLst/>
          </a:prstGeom>
          <a:noFill/>
        </p:spPr>
        <p:txBody>
          <a:bodyPr wrap="square" rtlCol="0">
            <a:spAutoFit/>
          </a:bodyPr>
          <a:lstStyle/>
          <a:p>
            <a:r>
              <a:rPr kumimoji="1" lang="en-US" altLang="ja-JP" sz="2800" dirty="0"/>
              <a:t>30</a:t>
            </a:r>
            <a:endParaRPr kumimoji="1" lang="ja-JP" altLang="en-US" sz="2800" dirty="0"/>
          </a:p>
        </p:txBody>
      </p:sp>
      <p:grpSp>
        <p:nvGrpSpPr>
          <p:cNvPr id="75" name="グループ化 74">
            <a:extLst>
              <a:ext uri="{FF2B5EF4-FFF2-40B4-BE49-F238E27FC236}">
                <a16:creationId xmlns:a16="http://schemas.microsoft.com/office/drawing/2014/main" id="{CC865482-6270-EEFB-574D-C3B7CDEEAD46}"/>
              </a:ext>
            </a:extLst>
          </p:cNvPr>
          <p:cNvGrpSpPr/>
          <p:nvPr/>
        </p:nvGrpSpPr>
        <p:grpSpPr>
          <a:xfrm>
            <a:off x="1709349" y="3469536"/>
            <a:ext cx="2297501" cy="1475732"/>
            <a:chOff x="1709349" y="3469536"/>
            <a:chExt cx="2297501" cy="1475732"/>
          </a:xfrm>
        </p:grpSpPr>
        <p:sp>
          <p:nvSpPr>
            <p:cNvPr id="72" name="テキスト ボックス 71">
              <a:extLst>
                <a:ext uri="{FF2B5EF4-FFF2-40B4-BE49-F238E27FC236}">
                  <a16:creationId xmlns:a16="http://schemas.microsoft.com/office/drawing/2014/main" id="{37541BAB-AFEF-9C94-1F32-62A211CB5529}"/>
                </a:ext>
              </a:extLst>
            </p:cNvPr>
            <p:cNvSpPr txBox="1"/>
            <p:nvPr/>
          </p:nvSpPr>
          <p:spPr>
            <a:xfrm>
              <a:off x="3095625" y="3469536"/>
              <a:ext cx="911225" cy="523220"/>
            </a:xfrm>
            <a:prstGeom prst="rect">
              <a:avLst/>
            </a:prstGeom>
            <a:noFill/>
          </p:spPr>
          <p:txBody>
            <a:bodyPr wrap="square" rtlCol="0">
              <a:spAutoFit/>
            </a:bodyPr>
            <a:lstStyle/>
            <a:p>
              <a:r>
                <a:rPr kumimoji="1" lang="en-US" altLang="ja-JP" sz="2800" dirty="0"/>
                <a:t>75°</a:t>
              </a:r>
              <a:endParaRPr kumimoji="1" lang="ja-JP" altLang="en-US" sz="2800" dirty="0"/>
            </a:p>
          </p:txBody>
        </p:sp>
        <p:sp>
          <p:nvSpPr>
            <p:cNvPr id="25" name="テキスト ボックス 24">
              <a:extLst>
                <a:ext uri="{FF2B5EF4-FFF2-40B4-BE49-F238E27FC236}">
                  <a16:creationId xmlns:a16="http://schemas.microsoft.com/office/drawing/2014/main" id="{F9B1C8E1-E8AC-A0BD-BC7B-8BD6ED2EF046}"/>
                </a:ext>
              </a:extLst>
            </p:cNvPr>
            <p:cNvSpPr txBox="1"/>
            <p:nvPr/>
          </p:nvSpPr>
          <p:spPr>
            <a:xfrm>
              <a:off x="3058250" y="4422048"/>
              <a:ext cx="911225" cy="523220"/>
            </a:xfrm>
            <a:prstGeom prst="rect">
              <a:avLst/>
            </a:prstGeom>
            <a:noFill/>
          </p:spPr>
          <p:txBody>
            <a:bodyPr wrap="square" rtlCol="0">
              <a:spAutoFit/>
            </a:bodyPr>
            <a:lstStyle/>
            <a:p>
              <a:r>
                <a:rPr kumimoji="1" lang="en-US" altLang="ja-JP" sz="2800" dirty="0"/>
                <a:t>0.13</a:t>
              </a:r>
              <a:endParaRPr kumimoji="1" lang="ja-JP" altLang="en-US" sz="2800" dirty="0"/>
            </a:p>
          </p:txBody>
        </p:sp>
        <p:sp>
          <p:nvSpPr>
            <p:cNvPr id="28" name="テキスト ボックス 27">
              <a:extLst>
                <a:ext uri="{FF2B5EF4-FFF2-40B4-BE49-F238E27FC236}">
                  <a16:creationId xmlns:a16="http://schemas.microsoft.com/office/drawing/2014/main" id="{A364CBA8-0DE9-4889-D40D-5B7027AA86D4}"/>
                </a:ext>
              </a:extLst>
            </p:cNvPr>
            <p:cNvSpPr txBox="1"/>
            <p:nvPr/>
          </p:nvSpPr>
          <p:spPr>
            <a:xfrm>
              <a:off x="2539821" y="3950581"/>
              <a:ext cx="911225" cy="523220"/>
            </a:xfrm>
            <a:prstGeom prst="rect">
              <a:avLst/>
            </a:prstGeom>
            <a:noFill/>
          </p:spPr>
          <p:txBody>
            <a:bodyPr wrap="square" rtlCol="0">
              <a:spAutoFit/>
            </a:bodyPr>
            <a:lstStyle/>
            <a:p>
              <a:r>
                <a:rPr lang="en-US" altLang="ja-JP" sz="2800" dirty="0"/>
                <a:t>-45°</a:t>
              </a:r>
              <a:endParaRPr kumimoji="1" lang="ja-JP" altLang="en-US" sz="2800" dirty="0"/>
            </a:p>
          </p:txBody>
        </p:sp>
        <p:sp>
          <p:nvSpPr>
            <p:cNvPr id="53" name="テキスト ボックス 52">
              <a:extLst>
                <a:ext uri="{FF2B5EF4-FFF2-40B4-BE49-F238E27FC236}">
                  <a16:creationId xmlns:a16="http://schemas.microsoft.com/office/drawing/2014/main" id="{AF8EF1D1-3688-C122-8C4E-EF8B5C4F30D1}"/>
                </a:ext>
              </a:extLst>
            </p:cNvPr>
            <p:cNvSpPr txBox="1"/>
            <p:nvPr/>
          </p:nvSpPr>
          <p:spPr>
            <a:xfrm>
              <a:off x="1709349" y="3957068"/>
              <a:ext cx="911225" cy="523220"/>
            </a:xfrm>
            <a:prstGeom prst="rect">
              <a:avLst/>
            </a:prstGeom>
            <a:noFill/>
          </p:spPr>
          <p:txBody>
            <a:bodyPr wrap="square" rtlCol="0">
              <a:spAutoFit/>
            </a:bodyPr>
            <a:lstStyle/>
            <a:p>
              <a:r>
                <a:rPr lang="en-US" altLang="ja-JP" sz="2800" dirty="0"/>
                <a:t>75</a:t>
              </a:r>
              <a:endParaRPr kumimoji="1" lang="ja-JP" altLang="en-US" sz="2800" dirty="0"/>
            </a:p>
          </p:txBody>
        </p:sp>
      </p:grpSp>
      <p:grpSp>
        <p:nvGrpSpPr>
          <p:cNvPr id="66" name="グループ化 65">
            <a:extLst>
              <a:ext uri="{FF2B5EF4-FFF2-40B4-BE49-F238E27FC236}">
                <a16:creationId xmlns:a16="http://schemas.microsoft.com/office/drawing/2014/main" id="{49E4A00E-9A31-12F7-B465-F3001777AD27}"/>
              </a:ext>
            </a:extLst>
          </p:cNvPr>
          <p:cNvGrpSpPr/>
          <p:nvPr/>
        </p:nvGrpSpPr>
        <p:grpSpPr>
          <a:xfrm>
            <a:off x="4953094" y="5901510"/>
            <a:ext cx="2226083" cy="956490"/>
            <a:chOff x="1771744" y="5901510"/>
            <a:chExt cx="2226083" cy="956490"/>
          </a:xfrm>
        </p:grpSpPr>
        <p:sp>
          <p:nvSpPr>
            <p:cNvPr id="58" name="テキスト ボックス 57">
              <a:extLst>
                <a:ext uri="{FF2B5EF4-FFF2-40B4-BE49-F238E27FC236}">
                  <a16:creationId xmlns:a16="http://schemas.microsoft.com/office/drawing/2014/main" id="{EF175BC7-FE05-B255-3337-DDCFB10F96FC}"/>
                </a:ext>
              </a:extLst>
            </p:cNvPr>
            <p:cNvSpPr txBox="1"/>
            <p:nvPr/>
          </p:nvSpPr>
          <p:spPr>
            <a:xfrm>
              <a:off x="1840736" y="5903893"/>
              <a:ext cx="1131640" cy="954107"/>
            </a:xfrm>
            <a:prstGeom prst="rect">
              <a:avLst/>
            </a:prstGeom>
            <a:noFill/>
          </p:spPr>
          <p:txBody>
            <a:bodyPr wrap="square" rtlCol="0">
              <a:spAutoFit/>
            </a:bodyPr>
            <a:lstStyle/>
            <a:p>
              <a:r>
                <a:rPr lang="en-US" altLang="ja-JP" sz="2800" dirty="0"/>
                <a:t>1+4</a:t>
              </a:r>
              <a:r>
                <a:rPr lang="ja-JP" altLang="en-US" sz="2800" dirty="0"/>
                <a:t>√</a:t>
              </a:r>
              <a:r>
                <a:rPr lang="en-US" altLang="ja-JP" sz="2800" dirty="0"/>
                <a:t>3</a:t>
              </a:r>
              <a:endParaRPr kumimoji="1" lang="en-US" altLang="ja-JP" sz="2800" dirty="0"/>
            </a:p>
            <a:p>
              <a:r>
                <a:rPr lang="en-US" altLang="ja-JP" sz="2800" dirty="0"/>
                <a:t>    </a:t>
              </a:r>
              <a:r>
                <a:rPr kumimoji="1" lang="en-US" altLang="ja-JP" sz="2800" dirty="0"/>
                <a:t>2</a:t>
              </a:r>
              <a:endParaRPr kumimoji="1" lang="ja-JP" altLang="en-US" sz="2800" dirty="0"/>
            </a:p>
          </p:txBody>
        </p:sp>
        <p:sp>
          <p:nvSpPr>
            <p:cNvPr id="59" name="テキスト ボックス 58">
              <a:extLst>
                <a:ext uri="{FF2B5EF4-FFF2-40B4-BE49-F238E27FC236}">
                  <a16:creationId xmlns:a16="http://schemas.microsoft.com/office/drawing/2014/main" id="{E20E1245-F737-9C82-CD5F-F965A2298BAD}"/>
                </a:ext>
              </a:extLst>
            </p:cNvPr>
            <p:cNvSpPr txBox="1"/>
            <p:nvPr/>
          </p:nvSpPr>
          <p:spPr>
            <a:xfrm>
              <a:off x="1771744" y="6142018"/>
              <a:ext cx="1245874" cy="523220"/>
            </a:xfrm>
            <a:prstGeom prst="rect">
              <a:avLst/>
            </a:prstGeom>
            <a:noFill/>
          </p:spPr>
          <p:txBody>
            <a:bodyPr wrap="square" rtlCol="0">
              <a:spAutoFit/>
            </a:bodyPr>
            <a:lstStyle/>
            <a:p>
              <a:r>
                <a:rPr lang="en-US" altLang="ja-JP" sz="2800" dirty="0"/>
                <a:t>―――</a:t>
              </a:r>
              <a:endParaRPr kumimoji="1" lang="ja-JP" altLang="en-US" sz="2800" dirty="0"/>
            </a:p>
          </p:txBody>
        </p:sp>
        <p:sp>
          <p:nvSpPr>
            <p:cNvPr id="63" name="テキスト ボックス 62">
              <a:extLst>
                <a:ext uri="{FF2B5EF4-FFF2-40B4-BE49-F238E27FC236}">
                  <a16:creationId xmlns:a16="http://schemas.microsoft.com/office/drawing/2014/main" id="{0DB007B7-62CA-26CF-319F-9E1FD3EC0CCC}"/>
                </a:ext>
              </a:extLst>
            </p:cNvPr>
            <p:cNvSpPr txBox="1"/>
            <p:nvPr/>
          </p:nvSpPr>
          <p:spPr>
            <a:xfrm>
              <a:off x="2960253" y="5901510"/>
              <a:ext cx="963158" cy="954107"/>
            </a:xfrm>
            <a:prstGeom prst="rect">
              <a:avLst/>
            </a:prstGeom>
            <a:noFill/>
          </p:spPr>
          <p:txBody>
            <a:bodyPr wrap="square" rtlCol="0">
              <a:spAutoFit/>
            </a:bodyPr>
            <a:lstStyle/>
            <a:p>
              <a:r>
                <a:rPr lang="en-US" altLang="ja-JP" sz="2800" dirty="0"/>
                <a:t>4+</a:t>
              </a:r>
              <a:r>
                <a:rPr lang="ja-JP" altLang="en-US" sz="2800" dirty="0"/>
                <a:t>√</a:t>
              </a:r>
              <a:r>
                <a:rPr lang="en-US" altLang="ja-JP" sz="2800" dirty="0"/>
                <a:t>3</a:t>
              </a:r>
              <a:endParaRPr kumimoji="1" lang="en-US" altLang="ja-JP" sz="2800" dirty="0"/>
            </a:p>
            <a:p>
              <a:r>
                <a:rPr lang="en-US" altLang="ja-JP" sz="2800" dirty="0"/>
                <a:t>   </a:t>
              </a:r>
              <a:r>
                <a:rPr kumimoji="1" lang="en-US" altLang="ja-JP" sz="2800" dirty="0"/>
                <a:t>2</a:t>
              </a:r>
              <a:endParaRPr kumimoji="1" lang="ja-JP" altLang="en-US" sz="2800" dirty="0"/>
            </a:p>
          </p:txBody>
        </p:sp>
        <p:sp>
          <p:nvSpPr>
            <p:cNvPr id="64" name="テキスト ボックス 63">
              <a:extLst>
                <a:ext uri="{FF2B5EF4-FFF2-40B4-BE49-F238E27FC236}">
                  <a16:creationId xmlns:a16="http://schemas.microsoft.com/office/drawing/2014/main" id="{A87795AE-50EF-EFD0-D9D5-5BCD9AEACEB1}"/>
                </a:ext>
              </a:extLst>
            </p:cNvPr>
            <p:cNvSpPr txBox="1"/>
            <p:nvPr/>
          </p:nvSpPr>
          <p:spPr>
            <a:xfrm>
              <a:off x="2843059" y="6142173"/>
              <a:ext cx="1154768" cy="523220"/>
            </a:xfrm>
            <a:prstGeom prst="rect">
              <a:avLst/>
            </a:prstGeom>
            <a:noFill/>
          </p:spPr>
          <p:txBody>
            <a:bodyPr wrap="square" rtlCol="0">
              <a:spAutoFit/>
            </a:bodyPr>
            <a:lstStyle/>
            <a:p>
              <a:r>
                <a:rPr lang="en-US" altLang="ja-JP" sz="2800" dirty="0"/>
                <a:t>―――</a:t>
              </a:r>
              <a:endParaRPr kumimoji="1" lang="ja-JP" altLang="en-US" sz="2800" dirty="0"/>
            </a:p>
          </p:txBody>
        </p:sp>
      </p:grpSp>
      <p:grpSp>
        <p:nvGrpSpPr>
          <p:cNvPr id="47" name="グループ化 46">
            <a:extLst>
              <a:ext uri="{FF2B5EF4-FFF2-40B4-BE49-F238E27FC236}">
                <a16:creationId xmlns:a16="http://schemas.microsoft.com/office/drawing/2014/main" id="{6F237188-50CE-0189-C6C2-2ACC81C01EF5}"/>
              </a:ext>
            </a:extLst>
          </p:cNvPr>
          <p:cNvGrpSpPr/>
          <p:nvPr/>
        </p:nvGrpSpPr>
        <p:grpSpPr>
          <a:xfrm>
            <a:off x="4997709" y="5557964"/>
            <a:ext cx="2151720" cy="954109"/>
            <a:chOff x="4997709" y="5905636"/>
            <a:chExt cx="2151720" cy="954109"/>
          </a:xfrm>
        </p:grpSpPr>
        <p:sp>
          <p:nvSpPr>
            <p:cNvPr id="50" name="テキスト ボックス 49">
              <a:extLst>
                <a:ext uri="{FF2B5EF4-FFF2-40B4-BE49-F238E27FC236}">
                  <a16:creationId xmlns:a16="http://schemas.microsoft.com/office/drawing/2014/main" id="{309A90AA-9562-1835-6E4D-874DE2F14EBD}"/>
                </a:ext>
              </a:extLst>
            </p:cNvPr>
            <p:cNvSpPr txBox="1"/>
            <p:nvPr/>
          </p:nvSpPr>
          <p:spPr>
            <a:xfrm>
              <a:off x="5011771" y="5905638"/>
              <a:ext cx="1131640" cy="954107"/>
            </a:xfrm>
            <a:prstGeom prst="rect">
              <a:avLst/>
            </a:prstGeom>
            <a:noFill/>
          </p:spPr>
          <p:txBody>
            <a:bodyPr wrap="square" rtlCol="0">
              <a:spAutoFit/>
            </a:bodyPr>
            <a:lstStyle/>
            <a:p>
              <a:r>
                <a:rPr lang="en-US" altLang="ja-JP" sz="2800" dirty="0">
                  <a:noFill/>
                </a:rPr>
                <a:t>1+3</a:t>
              </a:r>
              <a:r>
                <a:rPr lang="ja-JP" altLang="en-US" sz="2800" dirty="0">
                  <a:noFill/>
                </a:rPr>
                <a:t>√</a:t>
              </a:r>
              <a:r>
                <a:rPr lang="en-US" altLang="ja-JP" sz="2800" dirty="0">
                  <a:noFill/>
                </a:rPr>
                <a:t>3</a:t>
              </a:r>
              <a:endParaRPr kumimoji="1" lang="en-US" altLang="ja-JP" sz="2800" dirty="0">
                <a:noFill/>
              </a:endParaRPr>
            </a:p>
            <a:p>
              <a:r>
                <a:rPr lang="en-US" altLang="ja-JP" sz="2800" dirty="0">
                  <a:noFill/>
                </a:rPr>
                <a:t>    </a:t>
              </a:r>
              <a:r>
                <a:rPr kumimoji="1" lang="en-US" altLang="ja-JP" sz="2800" dirty="0">
                  <a:noFill/>
                </a:rPr>
                <a:t>2</a:t>
              </a:r>
              <a:endParaRPr kumimoji="1" lang="ja-JP" altLang="en-US" sz="2800" dirty="0">
                <a:noFill/>
              </a:endParaRPr>
            </a:p>
          </p:txBody>
        </p:sp>
        <p:sp>
          <p:nvSpPr>
            <p:cNvPr id="54" name="テキスト ボックス 53">
              <a:extLst>
                <a:ext uri="{FF2B5EF4-FFF2-40B4-BE49-F238E27FC236}">
                  <a16:creationId xmlns:a16="http://schemas.microsoft.com/office/drawing/2014/main" id="{1558CB88-BFC3-D10F-0DB6-C989656884BA}"/>
                </a:ext>
              </a:extLst>
            </p:cNvPr>
            <p:cNvSpPr txBox="1"/>
            <p:nvPr/>
          </p:nvSpPr>
          <p:spPr>
            <a:xfrm>
              <a:off x="4997709" y="6108838"/>
              <a:ext cx="1245874" cy="523220"/>
            </a:xfrm>
            <a:prstGeom prst="rect">
              <a:avLst/>
            </a:prstGeom>
            <a:noFill/>
          </p:spPr>
          <p:txBody>
            <a:bodyPr wrap="square" rtlCol="0">
              <a:spAutoFit/>
            </a:bodyPr>
            <a:lstStyle/>
            <a:p>
              <a:r>
                <a:rPr lang="en-US" altLang="ja-JP" sz="2800" dirty="0">
                  <a:noFill/>
                </a:rPr>
                <a:t>―――</a:t>
              </a:r>
              <a:endParaRPr kumimoji="1" lang="ja-JP" altLang="en-US" sz="2800" dirty="0">
                <a:noFill/>
              </a:endParaRPr>
            </a:p>
          </p:txBody>
        </p:sp>
        <p:sp>
          <p:nvSpPr>
            <p:cNvPr id="55" name="テキスト ボックス 54">
              <a:extLst>
                <a:ext uri="{FF2B5EF4-FFF2-40B4-BE49-F238E27FC236}">
                  <a16:creationId xmlns:a16="http://schemas.microsoft.com/office/drawing/2014/main" id="{31FF21A1-C19C-C484-FB82-3DE04EB2296E}"/>
                </a:ext>
              </a:extLst>
            </p:cNvPr>
            <p:cNvSpPr txBox="1"/>
            <p:nvPr/>
          </p:nvSpPr>
          <p:spPr>
            <a:xfrm>
              <a:off x="6047411" y="5905636"/>
              <a:ext cx="963158" cy="954107"/>
            </a:xfrm>
            <a:prstGeom prst="rect">
              <a:avLst/>
            </a:prstGeom>
            <a:noFill/>
          </p:spPr>
          <p:txBody>
            <a:bodyPr wrap="square" rtlCol="0">
              <a:spAutoFit/>
            </a:bodyPr>
            <a:lstStyle/>
            <a:p>
              <a:r>
                <a:rPr lang="en-US" altLang="ja-JP" sz="2800" dirty="0">
                  <a:noFill/>
                </a:rPr>
                <a:t>3+</a:t>
              </a:r>
              <a:r>
                <a:rPr lang="ja-JP" altLang="en-US" sz="2800" dirty="0">
                  <a:noFill/>
                </a:rPr>
                <a:t>√</a:t>
              </a:r>
              <a:r>
                <a:rPr lang="en-US" altLang="ja-JP" sz="2800" dirty="0">
                  <a:noFill/>
                </a:rPr>
                <a:t>3</a:t>
              </a:r>
              <a:endParaRPr kumimoji="1" lang="en-US" altLang="ja-JP" sz="2800" dirty="0">
                <a:noFill/>
              </a:endParaRPr>
            </a:p>
            <a:p>
              <a:r>
                <a:rPr lang="en-US" altLang="ja-JP" sz="2800" dirty="0">
                  <a:noFill/>
                </a:rPr>
                <a:t>   </a:t>
              </a:r>
              <a:r>
                <a:rPr kumimoji="1" lang="en-US" altLang="ja-JP" sz="2800" dirty="0">
                  <a:noFill/>
                </a:rPr>
                <a:t>2</a:t>
              </a:r>
              <a:endParaRPr kumimoji="1" lang="ja-JP" altLang="en-US" sz="2800" dirty="0">
                <a:noFill/>
              </a:endParaRPr>
            </a:p>
          </p:txBody>
        </p:sp>
        <p:sp>
          <p:nvSpPr>
            <p:cNvPr id="57" name="テキスト ボックス 56">
              <a:extLst>
                <a:ext uri="{FF2B5EF4-FFF2-40B4-BE49-F238E27FC236}">
                  <a16:creationId xmlns:a16="http://schemas.microsoft.com/office/drawing/2014/main" id="{67F75A04-A8CD-9F94-C6CD-43476C46CC4A}"/>
                </a:ext>
              </a:extLst>
            </p:cNvPr>
            <p:cNvSpPr txBox="1"/>
            <p:nvPr/>
          </p:nvSpPr>
          <p:spPr>
            <a:xfrm>
              <a:off x="5994661" y="6108836"/>
              <a:ext cx="1154768" cy="523220"/>
            </a:xfrm>
            <a:prstGeom prst="rect">
              <a:avLst/>
            </a:prstGeom>
            <a:noFill/>
          </p:spPr>
          <p:txBody>
            <a:bodyPr wrap="square" rtlCol="0">
              <a:spAutoFit/>
            </a:bodyPr>
            <a:lstStyle/>
            <a:p>
              <a:r>
                <a:rPr lang="en-US" altLang="ja-JP" sz="2800" dirty="0">
                  <a:noFill/>
                </a:rPr>
                <a:t>―――</a:t>
              </a:r>
              <a:endParaRPr kumimoji="1" lang="ja-JP" altLang="en-US" sz="2800" dirty="0">
                <a:noFill/>
              </a:endParaRPr>
            </a:p>
          </p:txBody>
        </p:sp>
      </p:grpSp>
      <p:grpSp>
        <p:nvGrpSpPr>
          <p:cNvPr id="76" name="グループ化 75">
            <a:extLst>
              <a:ext uri="{FF2B5EF4-FFF2-40B4-BE49-F238E27FC236}">
                <a16:creationId xmlns:a16="http://schemas.microsoft.com/office/drawing/2014/main" id="{D68A0208-8EB4-33AC-2F27-497A1653C950}"/>
              </a:ext>
            </a:extLst>
          </p:cNvPr>
          <p:cNvGrpSpPr/>
          <p:nvPr/>
        </p:nvGrpSpPr>
        <p:grpSpPr>
          <a:xfrm>
            <a:off x="1710531" y="3371111"/>
            <a:ext cx="2297501" cy="1475732"/>
            <a:chOff x="4015300" y="2403581"/>
            <a:chExt cx="2297501" cy="1475732"/>
          </a:xfrm>
        </p:grpSpPr>
        <p:sp>
          <p:nvSpPr>
            <p:cNvPr id="70" name="テキスト ボックス 69">
              <a:extLst>
                <a:ext uri="{FF2B5EF4-FFF2-40B4-BE49-F238E27FC236}">
                  <a16:creationId xmlns:a16="http://schemas.microsoft.com/office/drawing/2014/main" id="{BCFFE94C-F8A3-E0CD-D06D-2C774AD5F7BE}"/>
                </a:ext>
              </a:extLst>
            </p:cNvPr>
            <p:cNvSpPr txBox="1"/>
            <p:nvPr/>
          </p:nvSpPr>
          <p:spPr>
            <a:xfrm>
              <a:off x="5401576" y="2403581"/>
              <a:ext cx="911225" cy="523220"/>
            </a:xfrm>
            <a:prstGeom prst="rect">
              <a:avLst/>
            </a:prstGeom>
            <a:noFill/>
          </p:spPr>
          <p:txBody>
            <a:bodyPr wrap="square" rtlCol="0">
              <a:spAutoFit/>
            </a:bodyPr>
            <a:lstStyle/>
            <a:p>
              <a:r>
                <a:rPr kumimoji="1" lang="en-US" altLang="ja-JP" sz="2800" dirty="0">
                  <a:noFill/>
                </a:rPr>
                <a:t>35°</a:t>
              </a:r>
              <a:endParaRPr kumimoji="1" lang="ja-JP" altLang="en-US" sz="2800" dirty="0">
                <a:noFill/>
              </a:endParaRPr>
            </a:p>
          </p:txBody>
        </p:sp>
        <p:sp>
          <p:nvSpPr>
            <p:cNvPr id="71" name="テキスト ボックス 70">
              <a:extLst>
                <a:ext uri="{FF2B5EF4-FFF2-40B4-BE49-F238E27FC236}">
                  <a16:creationId xmlns:a16="http://schemas.microsoft.com/office/drawing/2014/main" id="{F3BB28B9-0D9E-92DA-855F-E9B498BA70EF}"/>
                </a:ext>
              </a:extLst>
            </p:cNvPr>
            <p:cNvSpPr txBox="1"/>
            <p:nvPr/>
          </p:nvSpPr>
          <p:spPr>
            <a:xfrm>
              <a:off x="5364201" y="3356093"/>
              <a:ext cx="911225" cy="523220"/>
            </a:xfrm>
            <a:prstGeom prst="rect">
              <a:avLst/>
            </a:prstGeom>
            <a:noFill/>
          </p:spPr>
          <p:txBody>
            <a:bodyPr wrap="square" rtlCol="0">
              <a:spAutoFit/>
            </a:bodyPr>
            <a:lstStyle/>
            <a:p>
              <a:r>
                <a:rPr lang="en-US" altLang="ja-JP" sz="2800" dirty="0">
                  <a:noFill/>
                </a:rPr>
                <a:t>1.10</a:t>
              </a:r>
              <a:endParaRPr kumimoji="1" lang="ja-JP" altLang="en-US" sz="2800" dirty="0">
                <a:noFill/>
              </a:endParaRPr>
            </a:p>
          </p:txBody>
        </p:sp>
        <p:sp>
          <p:nvSpPr>
            <p:cNvPr id="73" name="テキスト ボックス 72">
              <a:extLst>
                <a:ext uri="{FF2B5EF4-FFF2-40B4-BE49-F238E27FC236}">
                  <a16:creationId xmlns:a16="http://schemas.microsoft.com/office/drawing/2014/main" id="{2933DFC7-ADD5-3AB1-453B-34333869F72B}"/>
                </a:ext>
              </a:extLst>
            </p:cNvPr>
            <p:cNvSpPr txBox="1"/>
            <p:nvPr/>
          </p:nvSpPr>
          <p:spPr>
            <a:xfrm>
              <a:off x="4845772" y="2884626"/>
              <a:ext cx="911225" cy="523220"/>
            </a:xfrm>
            <a:prstGeom prst="rect">
              <a:avLst/>
            </a:prstGeom>
            <a:noFill/>
          </p:spPr>
          <p:txBody>
            <a:bodyPr wrap="square" rtlCol="0">
              <a:spAutoFit/>
            </a:bodyPr>
            <a:lstStyle/>
            <a:p>
              <a:r>
                <a:rPr lang="en-US" altLang="ja-JP" sz="2800" dirty="0">
                  <a:noFill/>
                </a:rPr>
                <a:t>-5°</a:t>
              </a:r>
              <a:endParaRPr kumimoji="1" lang="ja-JP" altLang="en-US" sz="2800" dirty="0">
                <a:noFill/>
              </a:endParaRPr>
            </a:p>
          </p:txBody>
        </p:sp>
        <p:sp>
          <p:nvSpPr>
            <p:cNvPr id="74" name="テキスト ボックス 73">
              <a:extLst>
                <a:ext uri="{FF2B5EF4-FFF2-40B4-BE49-F238E27FC236}">
                  <a16:creationId xmlns:a16="http://schemas.microsoft.com/office/drawing/2014/main" id="{A95428B1-3D36-AAAC-AA16-F6924B537398}"/>
                </a:ext>
              </a:extLst>
            </p:cNvPr>
            <p:cNvSpPr txBox="1"/>
            <p:nvPr/>
          </p:nvSpPr>
          <p:spPr>
            <a:xfrm>
              <a:off x="4015300" y="2891113"/>
              <a:ext cx="911225" cy="523220"/>
            </a:xfrm>
            <a:prstGeom prst="rect">
              <a:avLst/>
            </a:prstGeom>
            <a:noFill/>
          </p:spPr>
          <p:txBody>
            <a:bodyPr wrap="square" rtlCol="0">
              <a:spAutoFit/>
            </a:bodyPr>
            <a:lstStyle/>
            <a:p>
              <a:r>
                <a:rPr kumimoji="1" lang="en-US" altLang="ja-JP" sz="2800" dirty="0">
                  <a:noFill/>
                </a:rPr>
                <a:t>35</a:t>
              </a:r>
              <a:endParaRPr kumimoji="1" lang="ja-JP" altLang="en-US" sz="2800" dirty="0">
                <a:noFill/>
              </a:endParaRPr>
            </a:p>
          </p:txBody>
        </p:sp>
      </p:grpSp>
      <p:sp>
        <p:nvSpPr>
          <p:cNvPr id="260" name="テキスト ボックス 259">
            <a:extLst>
              <a:ext uri="{FF2B5EF4-FFF2-40B4-BE49-F238E27FC236}">
                <a16:creationId xmlns:a16="http://schemas.microsoft.com/office/drawing/2014/main" id="{5FC6D198-BD6C-9B17-23E5-F0C9E1E0465B}"/>
              </a:ext>
            </a:extLst>
          </p:cNvPr>
          <p:cNvSpPr txBox="1"/>
          <p:nvPr/>
        </p:nvSpPr>
        <p:spPr>
          <a:xfrm>
            <a:off x="4286249" y="3059668"/>
            <a:ext cx="9270093" cy="461665"/>
          </a:xfrm>
          <a:prstGeom prst="rect">
            <a:avLst/>
          </a:prstGeom>
          <a:noFill/>
        </p:spPr>
        <p:txBody>
          <a:bodyPr wrap="square" rtlCol="0">
            <a:spAutoFit/>
          </a:bodyPr>
          <a:lstStyle/>
          <a:p>
            <a:r>
              <a:rPr lang="ja-JP" altLang="en-US" sz="2400" dirty="0">
                <a:noFill/>
              </a:rPr>
              <a:t>距離センサー値が</a:t>
            </a:r>
            <a:r>
              <a:rPr lang="en-US" altLang="ja-JP" sz="2400" dirty="0">
                <a:noFill/>
              </a:rPr>
              <a:t>｢50｣</a:t>
            </a:r>
            <a:r>
              <a:rPr lang="ja-JP" altLang="en-US" sz="2400" dirty="0">
                <a:noFill/>
              </a:rPr>
              <a:t>以下で障害物と判定</a:t>
            </a:r>
            <a:endParaRPr kumimoji="1" lang="ja-JP" altLang="en-US" sz="2400" dirty="0">
              <a:noFill/>
            </a:endParaRPr>
          </a:p>
        </p:txBody>
      </p:sp>
      <p:sp>
        <p:nvSpPr>
          <p:cNvPr id="261" name="テキスト ボックス 260">
            <a:extLst>
              <a:ext uri="{FF2B5EF4-FFF2-40B4-BE49-F238E27FC236}">
                <a16:creationId xmlns:a16="http://schemas.microsoft.com/office/drawing/2014/main" id="{2519F4D5-6047-F533-2C2D-185AF93F4E0A}"/>
              </a:ext>
            </a:extLst>
          </p:cNvPr>
          <p:cNvSpPr txBox="1"/>
          <p:nvPr/>
        </p:nvSpPr>
        <p:spPr>
          <a:xfrm>
            <a:off x="3821904" y="2476116"/>
            <a:ext cx="2275276" cy="584775"/>
          </a:xfrm>
          <a:prstGeom prst="rect">
            <a:avLst/>
          </a:prstGeom>
          <a:noFill/>
        </p:spPr>
        <p:txBody>
          <a:bodyPr wrap="square" rtlCol="0">
            <a:spAutoFit/>
          </a:bodyPr>
          <a:lstStyle/>
          <a:p>
            <a:r>
              <a:rPr kumimoji="1" lang="ja-JP" altLang="en-US" sz="3200" dirty="0">
                <a:noFill/>
              </a:rPr>
              <a:t>障害物検知</a:t>
            </a:r>
          </a:p>
        </p:txBody>
      </p:sp>
    </p:spTree>
    <p:extLst>
      <p:ext uri="{BB962C8B-B14F-4D97-AF65-F5344CB8AC3E}">
        <p14:creationId xmlns:p14="http://schemas.microsoft.com/office/powerpoint/2010/main" val="233995856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2" fill="hold" nodeType="clickEffect">
                                  <p:stCondLst>
                                    <p:cond delay="0"/>
                                  </p:stCondLst>
                                  <p:childTnLst>
                                    <p:animEffect transition="out" filter="wipe(right)">
                                      <p:cBhvr>
                                        <p:cTn id="6" dur="100"/>
                                        <p:tgtEl>
                                          <p:spTgt spid="16"/>
                                        </p:tgtEl>
                                      </p:cBhvr>
                                    </p:animEffect>
                                    <p:set>
                                      <p:cBhvr>
                                        <p:cTn id="7" dur="1" fill="hold">
                                          <p:stCondLst>
                                            <p:cond delay="99"/>
                                          </p:stCondLst>
                                        </p:cTn>
                                        <p:tgtEl>
                                          <p:spTgt spid="16"/>
                                        </p:tgtEl>
                                        <p:attrNameLst>
                                          <p:attrName>style.visibility</p:attrName>
                                        </p:attrNameLst>
                                      </p:cBhvr>
                                      <p:to>
                                        <p:strVal val="hidden"/>
                                      </p:to>
                                    </p:set>
                                  </p:childTnLst>
                                </p:cTn>
                              </p:par>
                              <p:par>
                                <p:cTn id="8" presetID="22" presetClass="exit" presetSubtype="2" fill="hold" nodeType="withEffect">
                                  <p:stCondLst>
                                    <p:cond delay="0"/>
                                  </p:stCondLst>
                                  <p:childTnLst>
                                    <p:animEffect transition="out" filter="wipe(right)">
                                      <p:cBhvr>
                                        <p:cTn id="9" dur="100"/>
                                        <p:tgtEl>
                                          <p:spTgt spid="6"/>
                                        </p:tgtEl>
                                      </p:cBhvr>
                                    </p:animEffect>
                                    <p:set>
                                      <p:cBhvr>
                                        <p:cTn id="10" dur="1" fill="hold">
                                          <p:stCondLst>
                                            <p:cond delay="99"/>
                                          </p:stCondLst>
                                        </p:cTn>
                                        <p:tgtEl>
                                          <p:spTgt spid="6"/>
                                        </p:tgtEl>
                                        <p:attrNameLst>
                                          <p:attrName>style.visibility</p:attrName>
                                        </p:attrNameLst>
                                      </p:cBhvr>
                                      <p:to>
                                        <p:strVal val="hidden"/>
                                      </p:to>
                                    </p:set>
                                  </p:childTnLst>
                                </p:cTn>
                              </p:par>
                              <p:par>
                                <p:cTn id="11" presetID="22" presetClass="exit" presetSubtype="2" fill="hold" nodeType="withEffect">
                                  <p:stCondLst>
                                    <p:cond delay="0"/>
                                  </p:stCondLst>
                                  <p:childTnLst>
                                    <p:animEffect transition="out" filter="wipe(right)">
                                      <p:cBhvr>
                                        <p:cTn id="12" dur="100"/>
                                        <p:tgtEl>
                                          <p:spTgt spid="8"/>
                                        </p:tgtEl>
                                      </p:cBhvr>
                                    </p:animEffect>
                                    <p:set>
                                      <p:cBhvr>
                                        <p:cTn id="13" dur="1" fill="hold">
                                          <p:stCondLst>
                                            <p:cond delay="99"/>
                                          </p:stCondLst>
                                        </p:cTn>
                                        <p:tgtEl>
                                          <p:spTgt spid="8"/>
                                        </p:tgtEl>
                                        <p:attrNameLst>
                                          <p:attrName>style.visibility</p:attrName>
                                        </p:attrNameLst>
                                      </p:cBhvr>
                                      <p:to>
                                        <p:strVal val="hidden"/>
                                      </p:to>
                                    </p:set>
                                  </p:childTnLst>
                                </p:cTn>
                              </p:par>
                              <p:par>
                                <p:cTn id="14" presetID="22" presetClass="exit" presetSubtype="2" fill="hold" nodeType="withEffect">
                                  <p:stCondLst>
                                    <p:cond delay="0"/>
                                  </p:stCondLst>
                                  <p:childTnLst>
                                    <p:animEffect transition="out" filter="wipe(right)">
                                      <p:cBhvr>
                                        <p:cTn id="15" dur="100"/>
                                        <p:tgtEl>
                                          <p:spTgt spid="5"/>
                                        </p:tgtEl>
                                      </p:cBhvr>
                                    </p:animEffect>
                                    <p:set>
                                      <p:cBhvr>
                                        <p:cTn id="16" dur="1" fill="hold">
                                          <p:stCondLst>
                                            <p:cond delay="99"/>
                                          </p:stCondLst>
                                        </p:cTn>
                                        <p:tgtEl>
                                          <p:spTgt spid="5"/>
                                        </p:tgtEl>
                                        <p:attrNameLst>
                                          <p:attrName>style.visibility</p:attrName>
                                        </p:attrNameLst>
                                      </p:cBhvr>
                                      <p:to>
                                        <p:strVal val="hidden"/>
                                      </p:to>
                                    </p:set>
                                  </p:childTnLst>
                                </p:cTn>
                              </p:par>
                              <p:par>
                                <p:cTn id="17" presetID="22" presetClass="exit" presetSubtype="2" fill="hold" nodeType="withEffect">
                                  <p:stCondLst>
                                    <p:cond delay="0"/>
                                  </p:stCondLst>
                                  <p:childTnLst>
                                    <p:animEffect transition="out" filter="wipe(right)">
                                      <p:cBhvr>
                                        <p:cTn id="18" dur="100"/>
                                        <p:tgtEl>
                                          <p:spTgt spid="3"/>
                                        </p:tgtEl>
                                      </p:cBhvr>
                                    </p:animEffect>
                                    <p:set>
                                      <p:cBhvr>
                                        <p:cTn id="19" dur="1" fill="hold">
                                          <p:stCondLst>
                                            <p:cond delay="99"/>
                                          </p:stCondLst>
                                        </p:cTn>
                                        <p:tgtEl>
                                          <p:spTgt spid="3"/>
                                        </p:tgtEl>
                                        <p:attrNameLst>
                                          <p:attrName>style.visibility</p:attrName>
                                        </p:attrNameLst>
                                      </p:cBhvr>
                                      <p:to>
                                        <p:strVal val="hidden"/>
                                      </p:to>
                                    </p:set>
                                  </p:childTnLst>
                                </p:cTn>
                              </p:par>
                              <p:par>
                                <p:cTn id="20" presetID="22" presetClass="exit" presetSubtype="2" fill="hold" nodeType="withEffect">
                                  <p:stCondLst>
                                    <p:cond delay="0"/>
                                  </p:stCondLst>
                                  <p:childTnLst>
                                    <p:animEffect transition="out" filter="wipe(right)">
                                      <p:cBhvr>
                                        <p:cTn id="21" dur="100"/>
                                        <p:tgtEl>
                                          <p:spTgt spid="20"/>
                                        </p:tgtEl>
                                      </p:cBhvr>
                                    </p:animEffect>
                                    <p:set>
                                      <p:cBhvr>
                                        <p:cTn id="22" dur="1" fill="hold">
                                          <p:stCondLst>
                                            <p:cond delay="99"/>
                                          </p:stCondLst>
                                        </p:cTn>
                                        <p:tgtEl>
                                          <p:spTgt spid="20"/>
                                        </p:tgtEl>
                                        <p:attrNameLst>
                                          <p:attrName>style.visibility</p:attrName>
                                        </p:attrNameLst>
                                      </p:cBhvr>
                                      <p:to>
                                        <p:strVal val="hidden"/>
                                      </p:to>
                                    </p:set>
                                  </p:childTnLst>
                                </p:cTn>
                              </p:par>
                              <p:par>
                                <p:cTn id="23" presetID="22" presetClass="exit" presetSubtype="2" fill="hold" nodeType="withEffect">
                                  <p:stCondLst>
                                    <p:cond delay="0"/>
                                  </p:stCondLst>
                                  <p:childTnLst>
                                    <p:animEffect transition="out" filter="wipe(right)">
                                      <p:cBhvr>
                                        <p:cTn id="24" dur="100"/>
                                        <p:tgtEl>
                                          <p:spTgt spid="19"/>
                                        </p:tgtEl>
                                      </p:cBhvr>
                                    </p:animEffect>
                                    <p:set>
                                      <p:cBhvr>
                                        <p:cTn id="25" dur="1" fill="hold">
                                          <p:stCondLst>
                                            <p:cond delay="99"/>
                                          </p:stCondLst>
                                        </p:cTn>
                                        <p:tgtEl>
                                          <p:spTgt spid="19"/>
                                        </p:tgtEl>
                                        <p:attrNameLst>
                                          <p:attrName>style.visibility</p:attrName>
                                        </p:attrNameLst>
                                      </p:cBhvr>
                                      <p:to>
                                        <p:strVal val="hidden"/>
                                      </p:to>
                                    </p:set>
                                  </p:childTnLst>
                                </p:cTn>
                              </p:par>
                              <p:par>
                                <p:cTn id="26" presetID="22" presetClass="exit" presetSubtype="2" fill="hold" nodeType="withEffect">
                                  <p:stCondLst>
                                    <p:cond delay="0"/>
                                  </p:stCondLst>
                                  <p:childTnLst>
                                    <p:animEffect transition="out" filter="wipe(right)">
                                      <p:cBhvr>
                                        <p:cTn id="27" dur="100"/>
                                        <p:tgtEl>
                                          <p:spTgt spid="18"/>
                                        </p:tgtEl>
                                      </p:cBhvr>
                                    </p:animEffect>
                                    <p:set>
                                      <p:cBhvr>
                                        <p:cTn id="28" dur="1" fill="hold">
                                          <p:stCondLst>
                                            <p:cond delay="99"/>
                                          </p:stCondLst>
                                        </p:cTn>
                                        <p:tgtEl>
                                          <p:spTgt spid="18"/>
                                        </p:tgtEl>
                                        <p:attrNameLst>
                                          <p:attrName>style.visibility</p:attrName>
                                        </p:attrNameLst>
                                      </p:cBhvr>
                                      <p:to>
                                        <p:strVal val="hidden"/>
                                      </p:to>
                                    </p:set>
                                  </p:childTnLst>
                                </p:cTn>
                              </p:par>
                              <p:par>
                                <p:cTn id="29" presetID="22" presetClass="exit" presetSubtype="2" fill="hold" nodeType="withEffect">
                                  <p:stCondLst>
                                    <p:cond delay="0"/>
                                  </p:stCondLst>
                                  <p:childTnLst>
                                    <p:animEffect transition="out" filter="wipe(right)">
                                      <p:cBhvr>
                                        <p:cTn id="30" dur="100"/>
                                        <p:tgtEl>
                                          <p:spTgt spid="17"/>
                                        </p:tgtEl>
                                      </p:cBhvr>
                                    </p:animEffect>
                                    <p:set>
                                      <p:cBhvr>
                                        <p:cTn id="31" dur="1" fill="hold">
                                          <p:stCondLst>
                                            <p:cond delay="99"/>
                                          </p:stCondLst>
                                        </p:cTn>
                                        <p:tgtEl>
                                          <p:spTgt spid="17"/>
                                        </p:tgtEl>
                                        <p:attrNameLst>
                                          <p:attrName>style.visibility</p:attrName>
                                        </p:attrNameLst>
                                      </p:cBhvr>
                                      <p:to>
                                        <p:strVal val="hidden"/>
                                      </p:to>
                                    </p:set>
                                  </p:childTnLst>
                                </p:cTn>
                              </p:par>
                              <p:par>
                                <p:cTn id="32" presetID="22" presetClass="exit" presetSubtype="1" fill="hold" nodeType="withEffect">
                                  <p:stCondLst>
                                    <p:cond delay="0"/>
                                  </p:stCondLst>
                                  <p:childTnLst>
                                    <p:animEffect transition="out" filter="wipe(up)">
                                      <p:cBhvr>
                                        <p:cTn id="33" dur="100"/>
                                        <p:tgtEl>
                                          <p:spTgt spid="34"/>
                                        </p:tgtEl>
                                      </p:cBhvr>
                                    </p:animEffect>
                                    <p:set>
                                      <p:cBhvr>
                                        <p:cTn id="34" dur="1" fill="hold">
                                          <p:stCondLst>
                                            <p:cond delay="99"/>
                                          </p:stCondLst>
                                        </p:cTn>
                                        <p:tgtEl>
                                          <p:spTgt spid="34"/>
                                        </p:tgtEl>
                                        <p:attrNameLst>
                                          <p:attrName>style.visibility</p:attrName>
                                        </p:attrNameLst>
                                      </p:cBhvr>
                                      <p:to>
                                        <p:strVal val="hidden"/>
                                      </p:to>
                                    </p:set>
                                  </p:childTnLst>
                                </p:cTn>
                              </p:par>
                              <p:par>
                                <p:cTn id="35" presetID="22" presetClass="exit" presetSubtype="1" fill="hold" nodeType="withEffect">
                                  <p:stCondLst>
                                    <p:cond delay="0"/>
                                  </p:stCondLst>
                                  <p:childTnLst>
                                    <p:animEffect transition="out" filter="wipe(up)">
                                      <p:cBhvr>
                                        <p:cTn id="36" dur="100"/>
                                        <p:tgtEl>
                                          <p:spTgt spid="33"/>
                                        </p:tgtEl>
                                      </p:cBhvr>
                                    </p:animEffect>
                                    <p:set>
                                      <p:cBhvr>
                                        <p:cTn id="37" dur="1" fill="hold">
                                          <p:stCondLst>
                                            <p:cond delay="99"/>
                                          </p:stCondLst>
                                        </p:cTn>
                                        <p:tgtEl>
                                          <p:spTgt spid="33"/>
                                        </p:tgtEl>
                                        <p:attrNameLst>
                                          <p:attrName>style.visibility</p:attrName>
                                        </p:attrNameLst>
                                      </p:cBhvr>
                                      <p:to>
                                        <p:strVal val="hidden"/>
                                      </p:to>
                                    </p:set>
                                  </p:childTnLst>
                                </p:cTn>
                              </p:par>
                              <p:par>
                                <p:cTn id="38" presetID="22" presetClass="exit" presetSubtype="1" fill="hold" nodeType="withEffect">
                                  <p:stCondLst>
                                    <p:cond delay="0"/>
                                  </p:stCondLst>
                                  <p:childTnLst>
                                    <p:animEffect transition="out" filter="wipe(up)">
                                      <p:cBhvr>
                                        <p:cTn id="39" dur="100"/>
                                        <p:tgtEl>
                                          <p:spTgt spid="30"/>
                                        </p:tgtEl>
                                      </p:cBhvr>
                                    </p:animEffect>
                                    <p:set>
                                      <p:cBhvr>
                                        <p:cTn id="40" dur="1" fill="hold">
                                          <p:stCondLst>
                                            <p:cond delay="99"/>
                                          </p:stCondLst>
                                        </p:cTn>
                                        <p:tgtEl>
                                          <p:spTgt spid="30"/>
                                        </p:tgtEl>
                                        <p:attrNameLst>
                                          <p:attrName>style.visibility</p:attrName>
                                        </p:attrNameLst>
                                      </p:cBhvr>
                                      <p:to>
                                        <p:strVal val="hidden"/>
                                      </p:to>
                                    </p:set>
                                  </p:childTnLst>
                                </p:cTn>
                              </p:par>
                              <p:par>
                                <p:cTn id="41" presetID="22" presetClass="exit" presetSubtype="1" fill="hold" nodeType="withEffect">
                                  <p:stCondLst>
                                    <p:cond delay="0"/>
                                  </p:stCondLst>
                                  <p:childTnLst>
                                    <p:animEffect transition="out" filter="wipe(up)">
                                      <p:cBhvr>
                                        <p:cTn id="42" dur="100"/>
                                        <p:tgtEl>
                                          <p:spTgt spid="29"/>
                                        </p:tgtEl>
                                      </p:cBhvr>
                                    </p:animEffect>
                                    <p:set>
                                      <p:cBhvr>
                                        <p:cTn id="43" dur="1" fill="hold">
                                          <p:stCondLst>
                                            <p:cond delay="99"/>
                                          </p:stCondLst>
                                        </p:cTn>
                                        <p:tgtEl>
                                          <p:spTgt spid="29"/>
                                        </p:tgtEl>
                                        <p:attrNameLst>
                                          <p:attrName>style.visibility</p:attrName>
                                        </p:attrNameLst>
                                      </p:cBhvr>
                                      <p:to>
                                        <p:strVal val="hidden"/>
                                      </p:to>
                                    </p:set>
                                  </p:childTnLst>
                                </p:cTn>
                              </p:par>
                              <p:par>
                                <p:cTn id="44" presetID="22" presetClass="exit" presetSubtype="1" fill="hold" nodeType="withEffect">
                                  <p:stCondLst>
                                    <p:cond delay="0"/>
                                  </p:stCondLst>
                                  <p:childTnLst>
                                    <p:animEffect transition="out" filter="wipe(up)">
                                      <p:cBhvr>
                                        <p:cTn id="45" dur="100"/>
                                        <p:tgtEl>
                                          <p:spTgt spid="4"/>
                                        </p:tgtEl>
                                      </p:cBhvr>
                                    </p:animEffect>
                                    <p:set>
                                      <p:cBhvr>
                                        <p:cTn id="46" dur="1" fill="hold">
                                          <p:stCondLst>
                                            <p:cond delay="99"/>
                                          </p:stCondLst>
                                        </p:cTn>
                                        <p:tgtEl>
                                          <p:spTgt spid="4"/>
                                        </p:tgtEl>
                                        <p:attrNameLst>
                                          <p:attrName>style.visibility</p:attrName>
                                        </p:attrNameLst>
                                      </p:cBhvr>
                                      <p:to>
                                        <p:strVal val="hidden"/>
                                      </p:to>
                                    </p:set>
                                  </p:childTnLst>
                                </p:cTn>
                              </p:par>
                              <p:par>
                                <p:cTn id="47" presetID="22" presetClass="exit" presetSubtype="1" fill="hold" nodeType="withEffect">
                                  <p:stCondLst>
                                    <p:cond delay="0"/>
                                  </p:stCondLst>
                                  <p:childTnLst>
                                    <p:animEffect transition="out" filter="wipe(up)">
                                      <p:cBhvr>
                                        <p:cTn id="48" dur="100"/>
                                        <p:tgtEl>
                                          <p:spTgt spid="38"/>
                                        </p:tgtEl>
                                      </p:cBhvr>
                                    </p:animEffect>
                                    <p:set>
                                      <p:cBhvr>
                                        <p:cTn id="49" dur="1" fill="hold">
                                          <p:stCondLst>
                                            <p:cond delay="99"/>
                                          </p:stCondLst>
                                        </p:cTn>
                                        <p:tgtEl>
                                          <p:spTgt spid="38"/>
                                        </p:tgtEl>
                                        <p:attrNameLst>
                                          <p:attrName>style.visibility</p:attrName>
                                        </p:attrNameLst>
                                      </p:cBhvr>
                                      <p:to>
                                        <p:strVal val="hidden"/>
                                      </p:to>
                                    </p:set>
                                  </p:childTnLst>
                                </p:cTn>
                              </p:par>
                              <p:par>
                                <p:cTn id="50" presetID="22" presetClass="exit" presetSubtype="1" fill="hold" nodeType="withEffect">
                                  <p:stCondLst>
                                    <p:cond delay="0"/>
                                  </p:stCondLst>
                                  <p:childTnLst>
                                    <p:animEffect transition="out" filter="wipe(up)">
                                      <p:cBhvr>
                                        <p:cTn id="51" dur="100"/>
                                        <p:tgtEl>
                                          <p:spTgt spid="37"/>
                                        </p:tgtEl>
                                      </p:cBhvr>
                                    </p:animEffect>
                                    <p:set>
                                      <p:cBhvr>
                                        <p:cTn id="52" dur="1" fill="hold">
                                          <p:stCondLst>
                                            <p:cond delay="99"/>
                                          </p:stCondLst>
                                        </p:cTn>
                                        <p:tgtEl>
                                          <p:spTgt spid="37"/>
                                        </p:tgtEl>
                                        <p:attrNameLst>
                                          <p:attrName>style.visibility</p:attrName>
                                        </p:attrNameLst>
                                      </p:cBhvr>
                                      <p:to>
                                        <p:strVal val="hidden"/>
                                      </p:to>
                                    </p:set>
                                  </p:childTnLst>
                                </p:cTn>
                              </p:par>
                              <p:par>
                                <p:cTn id="53" presetID="22" presetClass="exit" presetSubtype="1" fill="hold" nodeType="withEffect">
                                  <p:stCondLst>
                                    <p:cond delay="0"/>
                                  </p:stCondLst>
                                  <p:childTnLst>
                                    <p:animEffect transition="out" filter="wipe(up)">
                                      <p:cBhvr>
                                        <p:cTn id="54" dur="100"/>
                                        <p:tgtEl>
                                          <p:spTgt spid="36"/>
                                        </p:tgtEl>
                                      </p:cBhvr>
                                    </p:animEffect>
                                    <p:set>
                                      <p:cBhvr>
                                        <p:cTn id="55" dur="1" fill="hold">
                                          <p:stCondLst>
                                            <p:cond delay="99"/>
                                          </p:stCondLst>
                                        </p:cTn>
                                        <p:tgtEl>
                                          <p:spTgt spid="36"/>
                                        </p:tgtEl>
                                        <p:attrNameLst>
                                          <p:attrName>style.visibility</p:attrName>
                                        </p:attrNameLst>
                                      </p:cBhvr>
                                      <p:to>
                                        <p:strVal val="hidden"/>
                                      </p:to>
                                    </p:set>
                                  </p:childTnLst>
                                </p:cTn>
                              </p:par>
                              <p:par>
                                <p:cTn id="56" presetID="22" presetClass="exit" presetSubtype="1" fill="hold" nodeType="withEffect">
                                  <p:stCondLst>
                                    <p:cond delay="0"/>
                                  </p:stCondLst>
                                  <p:childTnLst>
                                    <p:animEffect transition="out" filter="wipe(up)">
                                      <p:cBhvr>
                                        <p:cTn id="57" dur="100"/>
                                        <p:tgtEl>
                                          <p:spTgt spid="35"/>
                                        </p:tgtEl>
                                      </p:cBhvr>
                                    </p:animEffect>
                                    <p:set>
                                      <p:cBhvr>
                                        <p:cTn id="58" dur="1" fill="hold">
                                          <p:stCondLst>
                                            <p:cond delay="99"/>
                                          </p:stCondLst>
                                        </p:cTn>
                                        <p:tgtEl>
                                          <p:spTgt spid="35"/>
                                        </p:tgtEl>
                                        <p:attrNameLst>
                                          <p:attrName>style.visibility</p:attrName>
                                        </p:attrNameLst>
                                      </p:cBhvr>
                                      <p:to>
                                        <p:strVal val="hidden"/>
                                      </p:to>
                                    </p:set>
                                  </p:childTnLst>
                                </p:cTn>
                              </p:par>
                              <p:par>
                                <p:cTn id="59" presetID="22" presetClass="exit" presetSubtype="1" fill="hold" grpId="0" nodeType="withEffect">
                                  <p:stCondLst>
                                    <p:cond delay="0"/>
                                  </p:stCondLst>
                                  <p:childTnLst>
                                    <p:animEffect transition="out" filter="wipe(up)">
                                      <p:cBhvr>
                                        <p:cTn id="60" dur="100"/>
                                        <p:tgtEl>
                                          <p:spTgt spid="41"/>
                                        </p:tgtEl>
                                      </p:cBhvr>
                                    </p:animEffect>
                                    <p:set>
                                      <p:cBhvr>
                                        <p:cTn id="61" dur="1" fill="hold">
                                          <p:stCondLst>
                                            <p:cond delay="99"/>
                                          </p:stCondLst>
                                        </p:cTn>
                                        <p:tgtEl>
                                          <p:spTgt spid="41"/>
                                        </p:tgtEl>
                                        <p:attrNameLst>
                                          <p:attrName>style.visibility</p:attrName>
                                        </p:attrNameLst>
                                      </p:cBhvr>
                                      <p:to>
                                        <p:strVal val="hidden"/>
                                      </p:to>
                                    </p:set>
                                  </p:childTnLst>
                                </p:cTn>
                              </p:par>
                              <p:par>
                                <p:cTn id="62" presetID="22" presetClass="exit" presetSubtype="1" fill="hold" grpId="0" nodeType="withEffect">
                                  <p:stCondLst>
                                    <p:cond delay="0"/>
                                  </p:stCondLst>
                                  <p:childTnLst>
                                    <p:animEffect transition="out" filter="wipe(up)">
                                      <p:cBhvr>
                                        <p:cTn id="63" dur="100"/>
                                        <p:tgtEl>
                                          <p:spTgt spid="40"/>
                                        </p:tgtEl>
                                      </p:cBhvr>
                                    </p:animEffect>
                                    <p:set>
                                      <p:cBhvr>
                                        <p:cTn id="64" dur="1" fill="hold">
                                          <p:stCondLst>
                                            <p:cond delay="99"/>
                                          </p:stCondLst>
                                        </p:cTn>
                                        <p:tgtEl>
                                          <p:spTgt spid="40"/>
                                        </p:tgtEl>
                                        <p:attrNameLst>
                                          <p:attrName>style.visibility</p:attrName>
                                        </p:attrNameLst>
                                      </p:cBhvr>
                                      <p:to>
                                        <p:strVal val="hidden"/>
                                      </p:to>
                                    </p:set>
                                  </p:childTnLst>
                                </p:cTn>
                              </p:par>
                              <p:par>
                                <p:cTn id="65" presetID="22" presetClass="exit" presetSubtype="1" fill="hold" grpId="0" nodeType="withEffect">
                                  <p:stCondLst>
                                    <p:cond delay="0"/>
                                  </p:stCondLst>
                                  <p:childTnLst>
                                    <p:animEffect transition="out" filter="wipe(up)">
                                      <p:cBhvr>
                                        <p:cTn id="66" dur="100"/>
                                        <p:tgtEl>
                                          <p:spTgt spid="44"/>
                                        </p:tgtEl>
                                      </p:cBhvr>
                                    </p:animEffect>
                                    <p:set>
                                      <p:cBhvr>
                                        <p:cTn id="67" dur="1" fill="hold">
                                          <p:stCondLst>
                                            <p:cond delay="99"/>
                                          </p:stCondLst>
                                        </p:cTn>
                                        <p:tgtEl>
                                          <p:spTgt spid="44"/>
                                        </p:tgtEl>
                                        <p:attrNameLst>
                                          <p:attrName>style.visibility</p:attrName>
                                        </p:attrNameLst>
                                      </p:cBhvr>
                                      <p:to>
                                        <p:strVal val="hidden"/>
                                      </p:to>
                                    </p:set>
                                  </p:childTnLst>
                                </p:cTn>
                              </p:par>
                              <p:par>
                                <p:cTn id="68" presetID="22" presetClass="exit" presetSubtype="2" fill="hold" grpId="0" nodeType="withEffect">
                                  <p:stCondLst>
                                    <p:cond delay="0"/>
                                  </p:stCondLst>
                                  <p:childTnLst>
                                    <p:animEffect transition="out" filter="wipe(right)">
                                      <p:cBhvr>
                                        <p:cTn id="69" dur="100"/>
                                        <p:tgtEl>
                                          <p:spTgt spid="61"/>
                                        </p:tgtEl>
                                      </p:cBhvr>
                                    </p:animEffect>
                                    <p:set>
                                      <p:cBhvr>
                                        <p:cTn id="70" dur="1" fill="hold">
                                          <p:stCondLst>
                                            <p:cond delay="99"/>
                                          </p:stCondLst>
                                        </p:cTn>
                                        <p:tgtEl>
                                          <p:spTgt spid="61"/>
                                        </p:tgtEl>
                                        <p:attrNameLst>
                                          <p:attrName>style.visibility</p:attrName>
                                        </p:attrNameLst>
                                      </p:cBhvr>
                                      <p:to>
                                        <p:strVal val="hidden"/>
                                      </p:to>
                                    </p:set>
                                  </p:childTnLst>
                                </p:cTn>
                              </p:par>
                              <p:par>
                                <p:cTn id="71" presetID="22" presetClass="exit" presetSubtype="2" fill="hold" grpId="0" nodeType="withEffect">
                                  <p:stCondLst>
                                    <p:cond delay="0"/>
                                  </p:stCondLst>
                                  <p:childTnLst>
                                    <p:animEffect transition="out" filter="wipe(right)">
                                      <p:cBhvr>
                                        <p:cTn id="72" dur="100"/>
                                        <p:tgtEl>
                                          <p:spTgt spid="42"/>
                                        </p:tgtEl>
                                      </p:cBhvr>
                                    </p:animEffect>
                                    <p:set>
                                      <p:cBhvr>
                                        <p:cTn id="73" dur="1" fill="hold">
                                          <p:stCondLst>
                                            <p:cond delay="99"/>
                                          </p:stCondLst>
                                        </p:cTn>
                                        <p:tgtEl>
                                          <p:spTgt spid="42"/>
                                        </p:tgtEl>
                                        <p:attrNameLst>
                                          <p:attrName>style.visibility</p:attrName>
                                        </p:attrNameLst>
                                      </p:cBhvr>
                                      <p:to>
                                        <p:strVal val="hidden"/>
                                      </p:to>
                                    </p:set>
                                  </p:childTnLst>
                                </p:cTn>
                              </p:par>
                              <p:par>
                                <p:cTn id="74" presetID="22" presetClass="exit" presetSubtype="2" fill="hold" grpId="0" nodeType="withEffect">
                                  <p:stCondLst>
                                    <p:cond delay="0"/>
                                  </p:stCondLst>
                                  <p:childTnLst>
                                    <p:animEffect transition="out" filter="wipe(right)">
                                      <p:cBhvr>
                                        <p:cTn id="75" dur="100"/>
                                        <p:tgtEl>
                                          <p:spTgt spid="39"/>
                                        </p:tgtEl>
                                      </p:cBhvr>
                                    </p:animEffect>
                                    <p:set>
                                      <p:cBhvr>
                                        <p:cTn id="76" dur="1" fill="hold">
                                          <p:stCondLst>
                                            <p:cond delay="99"/>
                                          </p:stCondLst>
                                        </p:cTn>
                                        <p:tgtEl>
                                          <p:spTgt spid="39"/>
                                        </p:tgtEl>
                                        <p:attrNameLst>
                                          <p:attrName>style.visibility</p:attrName>
                                        </p:attrNameLst>
                                      </p:cBhvr>
                                      <p:to>
                                        <p:strVal val="hidden"/>
                                      </p:to>
                                    </p:set>
                                  </p:childTnLst>
                                </p:cTn>
                              </p:par>
                              <p:par>
                                <p:cTn id="77" presetID="22" presetClass="exit" presetSubtype="2" fill="hold" grpId="0" nodeType="withEffect">
                                  <p:stCondLst>
                                    <p:cond delay="0"/>
                                  </p:stCondLst>
                                  <p:childTnLst>
                                    <p:animEffect transition="out" filter="wipe(right)">
                                      <p:cBhvr>
                                        <p:cTn id="78" dur="100"/>
                                        <p:tgtEl>
                                          <p:spTgt spid="43"/>
                                        </p:tgtEl>
                                      </p:cBhvr>
                                    </p:animEffect>
                                    <p:set>
                                      <p:cBhvr>
                                        <p:cTn id="79" dur="1" fill="hold">
                                          <p:stCondLst>
                                            <p:cond delay="99"/>
                                          </p:stCondLst>
                                        </p:cTn>
                                        <p:tgtEl>
                                          <p:spTgt spid="43"/>
                                        </p:tgtEl>
                                        <p:attrNameLst>
                                          <p:attrName>style.visibility</p:attrName>
                                        </p:attrNameLst>
                                      </p:cBhvr>
                                      <p:to>
                                        <p:strVal val="hidden"/>
                                      </p:to>
                                    </p:set>
                                  </p:childTnLst>
                                </p:cTn>
                              </p:par>
                              <p:par>
                                <p:cTn id="80" presetID="22" presetClass="exit" presetSubtype="2" fill="hold" grpId="0" nodeType="withEffect">
                                  <p:stCondLst>
                                    <p:cond delay="0"/>
                                  </p:stCondLst>
                                  <p:childTnLst>
                                    <p:animEffect transition="out" filter="wipe(right)">
                                      <p:cBhvr>
                                        <p:cTn id="81" dur="100"/>
                                        <p:tgtEl>
                                          <p:spTgt spid="65"/>
                                        </p:tgtEl>
                                      </p:cBhvr>
                                    </p:animEffect>
                                    <p:set>
                                      <p:cBhvr>
                                        <p:cTn id="82" dur="1" fill="hold">
                                          <p:stCondLst>
                                            <p:cond delay="99"/>
                                          </p:stCondLst>
                                        </p:cTn>
                                        <p:tgtEl>
                                          <p:spTgt spid="65"/>
                                        </p:tgtEl>
                                        <p:attrNameLst>
                                          <p:attrName>style.visibility</p:attrName>
                                        </p:attrNameLst>
                                      </p:cBhvr>
                                      <p:to>
                                        <p:strVal val="hidden"/>
                                      </p:to>
                                    </p:set>
                                  </p:childTnLst>
                                </p:cTn>
                              </p:par>
                              <p:par>
                                <p:cTn id="83" presetID="22" presetClass="exit" presetSubtype="2" fill="hold" grpId="0" nodeType="withEffect">
                                  <p:stCondLst>
                                    <p:cond delay="0"/>
                                  </p:stCondLst>
                                  <p:childTnLst>
                                    <p:animEffect transition="out" filter="wipe(right)">
                                      <p:cBhvr>
                                        <p:cTn id="84" dur="100"/>
                                        <p:tgtEl>
                                          <p:spTgt spid="69"/>
                                        </p:tgtEl>
                                      </p:cBhvr>
                                    </p:animEffect>
                                    <p:set>
                                      <p:cBhvr>
                                        <p:cTn id="85" dur="1" fill="hold">
                                          <p:stCondLst>
                                            <p:cond delay="99"/>
                                          </p:stCondLst>
                                        </p:cTn>
                                        <p:tgtEl>
                                          <p:spTgt spid="69"/>
                                        </p:tgtEl>
                                        <p:attrNameLst>
                                          <p:attrName>style.visibility</p:attrName>
                                        </p:attrNameLst>
                                      </p:cBhvr>
                                      <p:to>
                                        <p:strVal val="hidden"/>
                                      </p:to>
                                    </p:set>
                                  </p:childTnLst>
                                </p:cTn>
                              </p:par>
                              <p:par>
                                <p:cTn id="86" presetID="22" presetClass="exit" presetSubtype="2" fill="hold" grpId="0" nodeType="withEffect">
                                  <p:stCondLst>
                                    <p:cond delay="0"/>
                                  </p:stCondLst>
                                  <p:childTnLst>
                                    <p:animEffect transition="out" filter="wipe(right)">
                                      <p:cBhvr>
                                        <p:cTn id="87" dur="100"/>
                                        <p:tgtEl>
                                          <p:spTgt spid="68"/>
                                        </p:tgtEl>
                                      </p:cBhvr>
                                    </p:animEffect>
                                    <p:set>
                                      <p:cBhvr>
                                        <p:cTn id="88" dur="1" fill="hold">
                                          <p:stCondLst>
                                            <p:cond delay="99"/>
                                          </p:stCondLst>
                                        </p:cTn>
                                        <p:tgtEl>
                                          <p:spTgt spid="68"/>
                                        </p:tgtEl>
                                        <p:attrNameLst>
                                          <p:attrName>style.visibility</p:attrName>
                                        </p:attrNameLst>
                                      </p:cBhvr>
                                      <p:to>
                                        <p:strVal val="hidden"/>
                                      </p:to>
                                    </p:set>
                                  </p:childTnLst>
                                </p:cTn>
                              </p:par>
                              <p:par>
                                <p:cTn id="89" presetID="22" presetClass="exit" presetSubtype="2" fill="hold" grpId="0" nodeType="withEffect">
                                  <p:stCondLst>
                                    <p:cond delay="0"/>
                                  </p:stCondLst>
                                  <p:childTnLst>
                                    <p:animEffect transition="out" filter="wipe(right)">
                                      <p:cBhvr>
                                        <p:cTn id="90" dur="100"/>
                                        <p:tgtEl>
                                          <p:spTgt spid="67"/>
                                        </p:tgtEl>
                                      </p:cBhvr>
                                    </p:animEffect>
                                    <p:set>
                                      <p:cBhvr>
                                        <p:cTn id="91" dur="1" fill="hold">
                                          <p:stCondLst>
                                            <p:cond delay="99"/>
                                          </p:stCondLst>
                                        </p:cTn>
                                        <p:tgtEl>
                                          <p:spTgt spid="67"/>
                                        </p:tgtEl>
                                        <p:attrNameLst>
                                          <p:attrName>style.visibility</p:attrName>
                                        </p:attrNameLst>
                                      </p:cBhvr>
                                      <p:to>
                                        <p:strVal val="hidden"/>
                                      </p:to>
                                    </p:set>
                                  </p:childTnLst>
                                </p:cTn>
                              </p:par>
                              <p:par>
                                <p:cTn id="92" presetID="22" presetClass="exit" presetSubtype="2" fill="hold" grpId="0" nodeType="withEffect">
                                  <p:stCondLst>
                                    <p:cond delay="0"/>
                                  </p:stCondLst>
                                  <p:childTnLst>
                                    <p:animEffect transition="out" filter="wipe(right)">
                                      <p:cBhvr>
                                        <p:cTn id="93" dur="100"/>
                                        <p:tgtEl>
                                          <p:spTgt spid="26"/>
                                        </p:tgtEl>
                                      </p:cBhvr>
                                    </p:animEffect>
                                    <p:set>
                                      <p:cBhvr>
                                        <p:cTn id="94" dur="1" fill="hold">
                                          <p:stCondLst>
                                            <p:cond delay="99"/>
                                          </p:stCondLst>
                                        </p:cTn>
                                        <p:tgtEl>
                                          <p:spTgt spid="26"/>
                                        </p:tgtEl>
                                        <p:attrNameLst>
                                          <p:attrName>style.visibility</p:attrName>
                                        </p:attrNameLst>
                                      </p:cBhvr>
                                      <p:to>
                                        <p:strVal val="hidden"/>
                                      </p:to>
                                    </p:set>
                                  </p:childTnLst>
                                </p:cTn>
                              </p:par>
                              <p:par>
                                <p:cTn id="95" presetID="22" presetClass="exit" presetSubtype="2" fill="hold" grpId="0" nodeType="withEffect">
                                  <p:stCondLst>
                                    <p:cond delay="100"/>
                                  </p:stCondLst>
                                  <p:childTnLst>
                                    <p:animEffect transition="out" filter="wipe(right)">
                                      <p:cBhvr>
                                        <p:cTn id="96" dur="100"/>
                                        <p:tgtEl>
                                          <p:spTgt spid="48"/>
                                        </p:tgtEl>
                                      </p:cBhvr>
                                    </p:animEffect>
                                    <p:set>
                                      <p:cBhvr>
                                        <p:cTn id="97" dur="1" fill="hold">
                                          <p:stCondLst>
                                            <p:cond delay="99"/>
                                          </p:stCondLst>
                                        </p:cTn>
                                        <p:tgtEl>
                                          <p:spTgt spid="48"/>
                                        </p:tgtEl>
                                        <p:attrNameLst>
                                          <p:attrName>style.visibility</p:attrName>
                                        </p:attrNameLst>
                                      </p:cBhvr>
                                      <p:to>
                                        <p:strVal val="hidden"/>
                                      </p:to>
                                    </p:set>
                                  </p:childTnLst>
                                </p:cTn>
                              </p:par>
                              <p:par>
                                <p:cTn id="98" presetID="22" presetClass="exit" presetSubtype="2" fill="hold" grpId="0" nodeType="withEffect">
                                  <p:stCondLst>
                                    <p:cond delay="100"/>
                                  </p:stCondLst>
                                  <p:childTnLst>
                                    <p:animEffect transition="out" filter="wipe(right)">
                                      <p:cBhvr>
                                        <p:cTn id="99" dur="100"/>
                                        <p:tgtEl>
                                          <p:spTgt spid="52"/>
                                        </p:tgtEl>
                                      </p:cBhvr>
                                    </p:animEffect>
                                    <p:set>
                                      <p:cBhvr>
                                        <p:cTn id="100" dur="1" fill="hold">
                                          <p:stCondLst>
                                            <p:cond delay="99"/>
                                          </p:stCondLst>
                                        </p:cTn>
                                        <p:tgtEl>
                                          <p:spTgt spid="52"/>
                                        </p:tgtEl>
                                        <p:attrNameLst>
                                          <p:attrName>style.visibility</p:attrName>
                                        </p:attrNameLst>
                                      </p:cBhvr>
                                      <p:to>
                                        <p:strVal val="hidden"/>
                                      </p:to>
                                    </p:set>
                                  </p:childTnLst>
                                </p:cTn>
                              </p:par>
                              <p:par>
                                <p:cTn id="101" presetID="22" presetClass="exit" presetSubtype="2" fill="hold" grpId="0" nodeType="withEffect">
                                  <p:stCondLst>
                                    <p:cond delay="100"/>
                                  </p:stCondLst>
                                  <p:childTnLst>
                                    <p:animEffect transition="out" filter="wipe(right)">
                                      <p:cBhvr>
                                        <p:cTn id="102" dur="100"/>
                                        <p:tgtEl>
                                          <p:spTgt spid="56"/>
                                        </p:tgtEl>
                                      </p:cBhvr>
                                    </p:animEffect>
                                    <p:set>
                                      <p:cBhvr>
                                        <p:cTn id="103" dur="1" fill="hold">
                                          <p:stCondLst>
                                            <p:cond delay="99"/>
                                          </p:stCondLst>
                                        </p:cTn>
                                        <p:tgtEl>
                                          <p:spTgt spid="56"/>
                                        </p:tgtEl>
                                        <p:attrNameLst>
                                          <p:attrName>style.visibility</p:attrName>
                                        </p:attrNameLst>
                                      </p:cBhvr>
                                      <p:to>
                                        <p:strVal val="hidden"/>
                                      </p:to>
                                    </p:set>
                                  </p:childTnLst>
                                </p:cTn>
                              </p:par>
                              <p:par>
                                <p:cTn id="104" presetID="22" presetClass="exit" presetSubtype="2" fill="hold" nodeType="withEffect">
                                  <p:stCondLst>
                                    <p:cond delay="100"/>
                                  </p:stCondLst>
                                  <p:childTnLst>
                                    <p:animEffect transition="out" filter="wipe(right)">
                                      <p:cBhvr>
                                        <p:cTn id="105" dur="100"/>
                                        <p:tgtEl>
                                          <p:spTgt spid="66"/>
                                        </p:tgtEl>
                                      </p:cBhvr>
                                    </p:animEffect>
                                    <p:set>
                                      <p:cBhvr>
                                        <p:cTn id="106" dur="1" fill="hold">
                                          <p:stCondLst>
                                            <p:cond delay="99"/>
                                          </p:stCondLst>
                                        </p:cTn>
                                        <p:tgtEl>
                                          <p:spTgt spid="66"/>
                                        </p:tgtEl>
                                        <p:attrNameLst>
                                          <p:attrName>style.visibility</p:attrName>
                                        </p:attrNameLst>
                                      </p:cBhvr>
                                      <p:to>
                                        <p:strVal val="hidden"/>
                                      </p:to>
                                    </p:set>
                                  </p:childTnLst>
                                </p:cTn>
                              </p:par>
                              <p:par>
                                <p:cTn id="107" presetID="22" presetClass="exit" presetSubtype="2" fill="hold" grpId="0" nodeType="withEffect">
                                  <p:stCondLst>
                                    <p:cond delay="200"/>
                                  </p:stCondLst>
                                  <p:childTnLst>
                                    <p:animEffect transition="out" filter="wipe(right)">
                                      <p:cBhvr>
                                        <p:cTn id="108" dur="100"/>
                                        <p:tgtEl>
                                          <p:spTgt spid="62"/>
                                        </p:tgtEl>
                                      </p:cBhvr>
                                    </p:animEffect>
                                    <p:set>
                                      <p:cBhvr>
                                        <p:cTn id="109" dur="1" fill="hold">
                                          <p:stCondLst>
                                            <p:cond delay="99"/>
                                          </p:stCondLst>
                                        </p:cTn>
                                        <p:tgtEl>
                                          <p:spTgt spid="62"/>
                                        </p:tgtEl>
                                        <p:attrNameLst>
                                          <p:attrName>style.visibility</p:attrName>
                                        </p:attrNameLst>
                                      </p:cBhvr>
                                      <p:to>
                                        <p:strVal val="hidden"/>
                                      </p:to>
                                    </p:set>
                                  </p:childTnLst>
                                </p:cTn>
                              </p:par>
                              <p:par>
                                <p:cTn id="110" presetID="22" presetClass="exit" presetSubtype="2" fill="hold" grpId="0" nodeType="withEffect">
                                  <p:stCondLst>
                                    <p:cond delay="200"/>
                                  </p:stCondLst>
                                  <p:childTnLst>
                                    <p:animEffect transition="out" filter="wipe(right)">
                                      <p:cBhvr>
                                        <p:cTn id="111" dur="100"/>
                                        <p:tgtEl>
                                          <p:spTgt spid="24"/>
                                        </p:tgtEl>
                                      </p:cBhvr>
                                    </p:animEffect>
                                    <p:set>
                                      <p:cBhvr>
                                        <p:cTn id="112" dur="1" fill="hold">
                                          <p:stCondLst>
                                            <p:cond delay="99"/>
                                          </p:stCondLst>
                                        </p:cTn>
                                        <p:tgtEl>
                                          <p:spTgt spid="24"/>
                                        </p:tgtEl>
                                        <p:attrNameLst>
                                          <p:attrName>style.visibility</p:attrName>
                                        </p:attrNameLst>
                                      </p:cBhvr>
                                      <p:to>
                                        <p:strVal val="hidden"/>
                                      </p:to>
                                    </p:set>
                                  </p:childTnLst>
                                </p:cTn>
                              </p:par>
                              <p:par>
                                <p:cTn id="113" presetID="22" presetClass="exit" presetSubtype="2" fill="hold" grpId="0" nodeType="withEffect">
                                  <p:stCondLst>
                                    <p:cond delay="200"/>
                                  </p:stCondLst>
                                  <p:childTnLst>
                                    <p:animEffect transition="out" filter="wipe(right)">
                                      <p:cBhvr>
                                        <p:cTn id="114" dur="100"/>
                                        <p:tgtEl>
                                          <p:spTgt spid="27"/>
                                        </p:tgtEl>
                                      </p:cBhvr>
                                    </p:animEffect>
                                    <p:set>
                                      <p:cBhvr>
                                        <p:cTn id="115" dur="1" fill="hold">
                                          <p:stCondLst>
                                            <p:cond delay="99"/>
                                          </p:stCondLst>
                                        </p:cTn>
                                        <p:tgtEl>
                                          <p:spTgt spid="27"/>
                                        </p:tgtEl>
                                        <p:attrNameLst>
                                          <p:attrName>style.visibility</p:attrName>
                                        </p:attrNameLst>
                                      </p:cBhvr>
                                      <p:to>
                                        <p:strVal val="hidden"/>
                                      </p:to>
                                    </p:set>
                                  </p:childTnLst>
                                </p:cTn>
                              </p:par>
                              <p:par>
                                <p:cTn id="116" presetID="22" presetClass="exit" presetSubtype="2" fill="hold" grpId="0" nodeType="withEffect">
                                  <p:stCondLst>
                                    <p:cond delay="200"/>
                                  </p:stCondLst>
                                  <p:childTnLst>
                                    <p:animEffect transition="out" filter="wipe(right)">
                                      <p:cBhvr>
                                        <p:cTn id="117" dur="100"/>
                                        <p:tgtEl>
                                          <p:spTgt spid="32"/>
                                        </p:tgtEl>
                                      </p:cBhvr>
                                    </p:animEffect>
                                    <p:set>
                                      <p:cBhvr>
                                        <p:cTn id="118" dur="1" fill="hold">
                                          <p:stCondLst>
                                            <p:cond delay="99"/>
                                          </p:stCondLst>
                                        </p:cTn>
                                        <p:tgtEl>
                                          <p:spTgt spid="32"/>
                                        </p:tgtEl>
                                        <p:attrNameLst>
                                          <p:attrName>style.visibility</p:attrName>
                                        </p:attrNameLst>
                                      </p:cBhvr>
                                      <p:to>
                                        <p:strVal val="hidden"/>
                                      </p:to>
                                    </p:set>
                                  </p:childTnLst>
                                </p:cTn>
                              </p:par>
                              <p:par>
                                <p:cTn id="119" presetID="22" presetClass="exit" presetSubtype="2" fill="hold" grpId="0" nodeType="withEffect">
                                  <p:stCondLst>
                                    <p:cond delay="200"/>
                                  </p:stCondLst>
                                  <p:childTnLst>
                                    <p:animEffect transition="out" filter="wipe(right)">
                                      <p:cBhvr>
                                        <p:cTn id="120" dur="100"/>
                                        <p:tgtEl>
                                          <p:spTgt spid="51"/>
                                        </p:tgtEl>
                                      </p:cBhvr>
                                    </p:animEffect>
                                    <p:set>
                                      <p:cBhvr>
                                        <p:cTn id="121" dur="1" fill="hold">
                                          <p:stCondLst>
                                            <p:cond delay="99"/>
                                          </p:stCondLst>
                                        </p:cTn>
                                        <p:tgtEl>
                                          <p:spTgt spid="51"/>
                                        </p:tgtEl>
                                        <p:attrNameLst>
                                          <p:attrName>style.visibility</p:attrName>
                                        </p:attrNameLst>
                                      </p:cBhvr>
                                      <p:to>
                                        <p:strVal val="hidden"/>
                                      </p:to>
                                    </p:set>
                                  </p:childTnLst>
                                </p:cTn>
                              </p:par>
                              <p:par>
                                <p:cTn id="122" presetID="22" presetClass="exit" presetSubtype="2" fill="hold" nodeType="withEffect">
                                  <p:stCondLst>
                                    <p:cond delay="200"/>
                                  </p:stCondLst>
                                  <p:childTnLst>
                                    <p:animEffect transition="out" filter="wipe(right)">
                                      <p:cBhvr>
                                        <p:cTn id="123" dur="100"/>
                                        <p:tgtEl>
                                          <p:spTgt spid="75"/>
                                        </p:tgtEl>
                                      </p:cBhvr>
                                    </p:animEffect>
                                    <p:set>
                                      <p:cBhvr>
                                        <p:cTn id="124" dur="1" fill="hold">
                                          <p:stCondLst>
                                            <p:cond delay="99"/>
                                          </p:stCondLst>
                                        </p:cTn>
                                        <p:tgtEl>
                                          <p:spTgt spid="75"/>
                                        </p:tgtEl>
                                        <p:attrNameLst>
                                          <p:attrName>style.visibility</p:attrName>
                                        </p:attrNameLst>
                                      </p:cBhvr>
                                      <p:to>
                                        <p:strVal val="hidden"/>
                                      </p:to>
                                    </p:set>
                                  </p:childTnLst>
                                </p:cTn>
                              </p:par>
                              <p:par>
                                <p:cTn id="125" presetID="22" presetClass="exit" presetSubtype="2" fill="hold" nodeType="withEffect">
                                  <p:stCondLst>
                                    <p:cond delay="200"/>
                                  </p:stCondLst>
                                  <p:childTnLst>
                                    <p:animEffect transition="out" filter="wipe(right)">
                                      <p:cBhvr>
                                        <p:cTn id="126" dur="100"/>
                                        <p:tgtEl>
                                          <p:spTgt spid="76"/>
                                        </p:tgtEl>
                                      </p:cBhvr>
                                    </p:animEffect>
                                    <p:set>
                                      <p:cBhvr>
                                        <p:cTn id="127" dur="1" fill="hold">
                                          <p:stCondLst>
                                            <p:cond delay="99"/>
                                          </p:stCondLst>
                                        </p:cTn>
                                        <p:tgtEl>
                                          <p:spTgt spid="7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p:bldP spid="41" grpId="0"/>
      <p:bldP spid="42" grpId="0"/>
      <p:bldP spid="43" grpId="0"/>
      <p:bldP spid="44" grpId="0"/>
      <p:bldP spid="48" grpId="0"/>
      <p:bldP spid="52" grpId="0"/>
      <p:bldP spid="56" grpId="0"/>
      <p:bldP spid="61" grpId="0"/>
      <p:bldP spid="65" grpId="0" animBg="1"/>
      <p:bldP spid="26" grpId="0" animBg="1"/>
      <p:bldP spid="67" grpId="0" animBg="1"/>
      <p:bldP spid="68" grpId="0" animBg="1"/>
      <p:bldP spid="69" grpId="0" animBg="1"/>
      <p:bldP spid="62" grpId="0"/>
      <p:bldP spid="24" grpId="0"/>
      <p:bldP spid="27" grpId="0"/>
      <p:bldP spid="32" grpId="0"/>
      <p:bldP spid="5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3F102-C105-3500-1A4E-D660F37A5DC7}"/>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166DFD8C-491F-DA97-E130-CB4AC722F1C8}"/>
              </a:ext>
            </a:extLst>
          </p:cNvPr>
          <p:cNvSpPr/>
          <p:nvPr/>
        </p:nvSpPr>
        <p:spPr>
          <a:xfrm>
            <a:off x="3046801"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87E7F13A-2274-88D2-328D-413AE6E6118A}"/>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CFDEEE1F-3545-82C8-D989-6B582344D005}"/>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bg1"/>
                </a:solidFill>
              </a:rPr>
              <a:t>システム要件</a:t>
            </a:r>
          </a:p>
        </p:txBody>
      </p:sp>
      <p:sp>
        <p:nvSpPr>
          <p:cNvPr id="11" name="四角形: 角を丸くする 10">
            <a:extLst>
              <a:ext uri="{FF2B5EF4-FFF2-40B4-BE49-F238E27FC236}">
                <a16:creationId xmlns:a16="http://schemas.microsoft.com/office/drawing/2014/main" id="{D5AD815F-D133-6169-E5F6-0729000A7D8B}"/>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E87663FD-572D-9D0D-9B24-9E2E2C90E4BE}"/>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t>プログラム説明</a:t>
            </a:r>
            <a:endParaRPr kumimoji="1" lang="ja-JP" altLang="en-US" sz="2400" dirty="0"/>
          </a:p>
        </p:txBody>
      </p:sp>
      <p:sp>
        <p:nvSpPr>
          <p:cNvPr id="7" name="テキスト ボックス 6">
            <a:extLst>
              <a:ext uri="{FF2B5EF4-FFF2-40B4-BE49-F238E27FC236}">
                <a16:creationId xmlns:a16="http://schemas.microsoft.com/office/drawing/2014/main" id="{5E8E37A1-2FEE-F280-D4DD-1872632497AF}"/>
              </a:ext>
            </a:extLst>
          </p:cNvPr>
          <p:cNvSpPr txBox="1"/>
          <p:nvPr/>
        </p:nvSpPr>
        <p:spPr>
          <a:xfrm>
            <a:off x="771525" y="1171575"/>
            <a:ext cx="2275276" cy="584775"/>
          </a:xfrm>
          <a:prstGeom prst="rect">
            <a:avLst/>
          </a:prstGeom>
          <a:noFill/>
        </p:spPr>
        <p:txBody>
          <a:bodyPr wrap="square" rtlCol="0">
            <a:spAutoFit/>
          </a:bodyPr>
          <a:lstStyle/>
          <a:p>
            <a:r>
              <a:rPr lang="ja-JP" altLang="en-US" sz="3200" dirty="0"/>
              <a:t>移動制御</a:t>
            </a:r>
            <a:endParaRPr kumimoji="1" lang="ja-JP" altLang="en-US" sz="3200" dirty="0"/>
          </a:p>
        </p:txBody>
      </p:sp>
      <p:sp>
        <p:nvSpPr>
          <p:cNvPr id="10" name="テキスト ボックス 9">
            <a:extLst>
              <a:ext uri="{FF2B5EF4-FFF2-40B4-BE49-F238E27FC236}">
                <a16:creationId xmlns:a16="http://schemas.microsoft.com/office/drawing/2014/main" id="{15FBCD6F-4220-F469-A56B-529E40061421}"/>
              </a:ext>
            </a:extLst>
          </p:cNvPr>
          <p:cNvSpPr txBox="1"/>
          <p:nvPr/>
        </p:nvSpPr>
        <p:spPr>
          <a:xfrm>
            <a:off x="1238250" y="1755127"/>
            <a:ext cx="10952552" cy="461665"/>
          </a:xfrm>
          <a:prstGeom prst="rect">
            <a:avLst/>
          </a:prstGeom>
          <a:noFill/>
        </p:spPr>
        <p:txBody>
          <a:bodyPr wrap="square" rtlCol="0">
            <a:spAutoFit/>
          </a:bodyPr>
          <a:lstStyle/>
          <a:p>
            <a:r>
              <a:rPr lang="en-US" altLang="ja-JP" sz="2400" dirty="0"/>
              <a:t>“</a:t>
            </a:r>
            <a:r>
              <a:rPr lang="ja-JP" altLang="en-US" sz="2400" dirty="0"/>
              <a:t>向き</a:t>
            </a:r>
            <a:r>
              <a:rPr lang="en-US" altLang="ja-JP" sz="2400" dirty="0"/>
              <a:t>”</a:t>
            </a:r>
            <a:r>
              <a:rPr lang="ja-JP" altLang="en-US" sz="2400" dirty="0"/>
              <a:t>と</a:t>
            </a:r>
            <a:r>
              <a:rPr lang="en-US" altLang="ja-JP" sz="2400" dirty="0"/>
              <a:t>”</a:t>
            </a:r>
            <a:r>
              <a:rPr lang="ja-JP" altLang="en-US" sz="2400" dirty="0"/>
              <a:t>歩数</a:t>
            </a:r>
            <a:r>
              <a:rPr lang="en-US" altLang="ja-JP" sz="2400" dirty="0"/>
              <a:t>”</a:t>
            </a:r>
            <a:r>
              <a:rPr lang="ja-JP" altLang="en-US" sz="2400" dirty="0"/>
              <a:t>による自己位置推定と、目標座標への移動量計算</a:t>
            </a:r>
            <a:endParaRPr lang="en-US" altLang="ja-JP" sz="2400" dirty="0"/>
          </a:p>
        </p:txBody>
      </p:sp>
      <p:sp>
        <p:nvSpPr>
          <p:cNvPr id="14" name="テキスト ボックス 13">
            <a:extLst>
              <a:ext uri="{FF2B5EF4-FFF2-40B4-BE49-F238E27FC236}">
                <a16:creationId xmlns:a16="http://schemas.microsoft.com/office/drawing/2014/main" id="{6CA66123-63A1-4197-E87E-4B5A09738FF9}"/>
              </a:ext>
            </a:extLst>
          </p:cNvPr>
          <p:cNvSpPr txBox="1"/>
          <p:nvPr/>
        </p:nvSpPr>
        <p:spPr>
          <a:xfrm>
            <a:off x="771525" y="2476116"/>
            <a:ext cx="2275276" cy="584775"/>
          </a:xfrm>
          <a:prstGeom prst="rect">
            <a:avLst/>
          </a:prstGeom>
          <a:noFill/>
        </p:spPr>
        <p:txBody>
          <a:bodyPr wrap="square" rtlCol="0">
            <a:spAutoFit/>
          </a:bodyPr>
          <a:lstStyle/>
          <a:p>
            <a:r>
              <a:rPr kumimoji="1" lang="ja-JP" altLang="en-US" sz="3200" dirty="0"/>
              <a:t>障害物検知</a:t>
            </a:r>
          </a:p>
        </p:txBody>
      </p:sp>
      <p:sp>
        <p:nvSpPr>
          <p:cNvPr id="15" name="テキスト ボックス 14">
            <a:extLst>
              <a:ext uri="{FF2B5EF4-FFF2-40B4-BE49-F238E27FC236}">
                <a16:creationId xmlns:a16="http://schemas.microsoft.com/office/drawing/2014/main" id="{33AF8B32-63F5-2C62-301E-BFCF2EF7C269}"/>
              </a:ext>
            </a:extLst>
          </p:cNvPr>
          <p:cNvSpPr txBox="1"/>
          <p:nvPr/>
        </p:nvSpPr>
        <p:spPr>
          <a:xfrm>
            <a:off x="1238249" y="3059668"/>
            <a:ext cx="10952551" cy="461665"/>
          </a:xfrm>
          <a:prstGeom prst="rect">
            <a:avLst/>
          </a:prstGeom>
          <a:noFill/>
        </p:spPr>
        <p:txBody>
          <a:bodyPr wrap="square" rtlCol="0">
            <a:spAutoFit/>
          </a:bodyPr>
          <a:lstStyle/>
          <a:p>
            <a:r>
              <a:rPr lang="ja-JP" altLang="en-US" sz="2400" dirty="0"/>
              <a:t>距離センサー値が</a:t>
            </a:r>
            <a:r>
              <a:rPr lang="en-US" altLang="ja-JP" sz="2400" dirty="0"/>
              <a:t>｢50｣</a:t>
            </a:r>
            <a:r>
              <a:rPr lang="ja-JP" altLang="en-US" sz="2400" dirty="0"/>
              <a:t>以下で障害物と判定</a:t>
            </a:r>
            <a:endParaRPr kumimoji="1" lang="ja-JP" altLang="en-US" sz="2400" dirty="0"/>
          </a:p>
        </p:txBody>
      </p:sp>
      <p:sp>
        <p:nvSpPr>
          <p:cNvPr id="3" name="テキスト ボックス 2">
            <a:extLst>
              <a:ext uri="{FF2B5EF4-FFF2-40B4-BE49-F238E27FC236}">
                <a16:creationId xmlns:a16="http://schemas.microsoft.com/office/drawing/2014/main" id="{E1EA2A97-5F7C-0916-B54B-F951C75F3568}"/>
              </a:ext>
            </a:extLst>
          </p:cNvPr>
          <p:cNvSpPr txBox="1"/>
          <p:nvPr/>
        </p:nvSpPr>
        <p:spPr>
          <a:xfrm>
            <a:off x="3821908" y="3779434"/>
            <a:ext cx="2275276" cy="584775"/>
          </a:xfrm>
          <a:prstGeom prst="rect">
            <a:avLst/>
          </a:prstGeom>
          <a:noFill/>
        </p:spPr>
        <p:txBody>
          <a:bodyPr wrap="square" rtlCol="0">
            <a:spAutoFit/>
          </a:bodyPr>
          <a:lstStyle/>
          <a:p>
            <a:r>
              <a:rPr kumimoji="1" lang="ja-JP" altLang="en-US" sz="3200" dirty="0">
                <a:noFill/>
              </a:rPr>
              <a:t>回避方法</a:t>
            </a:r>
          </a:p>
        </p:txBody>
      </p:sp>
      <p:sp>
        <p:nvSpPr>
          <p:cNvPr id="4" name="テキスト ボックス 3">
            <a:extLst>
              <a:ext uri="{FF2B5EF4-FFF2-40B4-BE49-F238E27FC236}">
                <a16:creationId xmlns:a16="http://schemas.microsoft.com/office/drawing/2014/main" id="{71FB2007-9788-5C4D-A980-9E06BB0C9A0F}"/>
              </a:ext>
            </a:extLst>
          </p:cNvPr>
          <p:cNvSpPr txBox="1"/>
          <p:nvPr/>
        </p:nvSpPr>
        <p:spPr>
          <a:xfrm>
            <a:off x="4288633" y="4362986"/>
            <a:ext cx="10953750" cy="461665"/>
          </a:xfrm>
          <a:prstGeom prst="rect">
            <a:avLst/>
          </a:prstGeom>
          <a:noFill/>
        </p:spPr>
        <p:txBody>
          <a:bodyPr wrap="square" rtlCol="0">
            <a:spAutoFit/>
          </a:bodyPr>
          <a:lstStyle/>
          <a:p>
            <a:r>
              <a:rPr kumimoji="1" lang="ja-JP" altLang="en-US" sz="2400" dirty="0">
                <a:noFill/>
              </a:rPr>
              <a:t>「左旋回　➡　再検知」の繰り返し</a:t>
            </a:r>
          </a:p>
        </p:txBody>
      </p:sp>
    </p:spTree>
    <p:extLst>
      <p:ext uri="{BB962C8B-B14F-4D97-AF65-F5344CB8AC3E}">
        <p14:creationId xmlns:p14="http://schemas.microsoft.com/office/powerpoint/2010/main" val="143845839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AD8EE-F480-806C-4594-0DEC55000287}"/>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783C7544-D05E-2B53-C458-F1A577CB67F9}"/>
              </a:ext>
            </a:extLst>
          </p:cNvPr>
          <p:cNvSpPr/>
          <p:nvPr/>
        </p:nvSpPr>
        <p:spPr>
          <a:xfrm>
            <a:off x="3046801"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9F04B023-16EC-6474-582E-142A07634962}"/>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889F291E-E13D-8A5C-CD42-08725524BE09}"/>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bg1"/>
                </a:solidFill>
              </a:rPr>
              <a:t>システム要件</a:t>
            </a:r>
          </a:p>
        </p:txBody>
      </p:sp>
      <p:sp>
        <p:nvSpPr>
          <p:cNvPr id="11" name="四角形: 角を丸くする 10">
            <a:extLst>
              <a:ext uri="{FF2B5EF4-FFF2-40B4-BE49-F238E27FC236}">
                <a16:creationId xmlns:a16="http://schemas.microsoft.com/office/drawing/2014/main" id="{E5EF0D0A-D972-78C3-1A45-F032A0C444E9}"/>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C9CB2C5F-5355-2AE7-BBD0-248928CE315B}"/>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t>プログラム説明</a:t>
            </a:r>
            <a:endParaRPr kumimoji="1" lang="ja-JP" altLang="en-US" sz="2400" dirty="0"/>
          </a:p>
        </p:txBody>
      </p:sp>
      <p:sp>
        <p:nvSpPr>
          <p:cNvPr id="7" name="テキスト ボックス 6">
            <a:extLst>
              <a:ext uri="{FF2B5EF4-FFF2-40B4-BE49-F238E27FC236}">
                <a16:creationId xmlns:a16="http://schemas.microsoft.com/office/drawing/2014/main" id="{424CA86E-F445-C89D-A3B8-8A90AA39100C}"/>
              </a:ext>
            </a:extLst>
          </p:cNvPr>
          <p:cNvSpPr txBox="1"/>
          <p:nvPr/>
        </p:nvSpPr>
        <p:spPr>
          <a:xfrm>
            <a:off x="771525" y="1171575"/>
            <a:ext cx="2275276" cy="584775"/>
          </a:xfrm>
          <a:prstGeom prst="rect">
            <a:avLst/>
          </a:prstGeom>
          <a:noFill/>
        </p:spPr>
        <p:txBody>
          <a:bodyPr wrap="square" rtlCol="0">
            <a:spAutoFit/>
          </a:bodyPr>
          <a:lstStyle/>
          <a:p>
            <a:r>
              <a:rPr lang="ja-JP" altLang="en-US" sz="3200" dirty="0"/>
              <a:t>移動制御</a:t>
            </a:r>
            <a:endParaRPr kumimoji="1" lang="ja-JP" altLang="en-US" sz="3200" dirty="0"/>
          </a:p>
        </p:txBody>
      </p:sp>
      <p:sp>
        <p:nvSpPr>
          <p:cNvPr id="10" name="テキスト ボックス 9">
            <a:extLst>
              <a:ext uri="{FF2B5EF4-FFF2-40B4-BE49-F238E27FC236}">
                <a16:creationId xmlns:a16="http://schemas.microsoft.com/office/drawing/2014/main" id="{EF1327CB-C541-A491-93BD-89A21E45B32E}"/>
              </a:ext>
            </a:extLst>
          </p:cNvPr>
          <p:cNvSpPr txBox="1"/>
          <p:nvPr/>
        </p:nvSpPr>
        <p:spPr>
          <a:xfrm>
            <a:off x="1238250" y="1755127"/>
            <a:ext cx="10952552" cy="461665"/>
          </a:xfrm>
          <a:prstGeom prst="rect">
            <a:avLst/>
          </a:prstGeom>
          <a:noFill/>
        </p:spPr>
        <p:txBody>
          <a:bodyPr wrap="square" rtlCol="0">
            <a:spAutoFit/>
          </a:bodyPr>
          <a:lstStyle/>
          <a:p>
            <a:r>
              <a:rPr lang="en-US" altLang="ja-JP" sz="2400" dirty="0"/>
              <a:t>“</a:t>
            </a:r>
            <a:r>
              <a:rPr lang="ja-JP" altLang="en-US" sz="2400" dirty="0"/>
              <a:t>向き</a:t>
            </a:r>
            <a:r>
              <a:rPr lang="en-US" altLang="ja-JP" sz="2400" dirty="0"/>
              <a:t>”</a:t>
            </a:r>
            <a:r>
              <a:rPr lang="ja-JP" altLang="en-US" sz="2400" dirty="0"/>
              <a:t>と</a:t>
            </a:r>
            <a:r>
              <a:rPr lang="en-US" altLang="ja-JP" sz="2400" dirty="0"/>
              <a:t>”</a:t>
            </a:r>
            <a:r>
              <a:rPr lang="ja-JP" altLang="en-US" sz="2400" dirty="0"/>
              <a:t>歩数</a:t>
            </a:r>
            <a:r>
              <a:rPr lang="en-US" altLang="ja-JP" sz="2400" dirty="0"/>
              <a:t>”</a:t>
            </a:r>
            <a:r>
              <a:rPr lang="ja-JP" altLang="en-US" sz="2400" dirty="0"/>
              <a:t>による自己位置推定と、目標座標への移動量計算</a:t>
            </a:r>
            <a:endParaRPr lang="en-US" altLang="ja-JP" sz="2400" dirty="0"/>
          </a:p>
        </p:txBody>
      </p:sp>
      <p:sp>
        <p:nvSpPr>
          <p:cNvPr id="14" name="テキスト ボックス 13">
            <a:extLst>
              <a:ext uri="{FF2B5EF4-FFF2-40B4-BE49-F238E27FC236}">
                <a16:creationId xmlns:a16="http://schemas.microsoft.com/office/drawing/2014/main" id="{D616FEE3-2A1A-6FDE-2631-4B9618AA76D6}"/>
              </a:ext>
            </a:extLst>
          </p:cNvPr>
          <p:cNvSpPr txBox="1"/>
          <p:nvPr/>
        </p:nvSpPr>
        <p:spPr>
          <a:xfrm>
            <a:off x="771525" y="2476116"/>
            <a:ext cx="2275276" cy="584775"/>
          </a:xfrm>
          <a:prstGeom prst="rect">
            <a:avLst/>
          </a:prstGeom>
          <a:noFill/>
        </p:spPr>
        <p:txBody>
          <a:bodyPr wrap="square" rtlCol="0">
            <a:spAutoFit/>
          </a:bodyPr>
          <a:lstStyle/>
          <a:p>
            <a:r>
              <a:rPr kumimoji="1" lang="ja-JP" altLang="en-US" sz="3200" dirty="0"/>
              <a:t>障害物検知</a:t>
            </a:r>
          </a:p>
        </p:txBody>
      </p:sp>
      <p:sp>
        <p:nvSpPr>
          <p:cNvPr id="15" name="テキスト ボックス 14">
            <a:extLst>
              <a:ext uri="{FF2B5EF4-FFF2-40B4-BE49-F238E27FC236}">
                <a16:creationId xmlns:a16="http://schemas.microsoft.com/office/drawing/2014/main" id="{21CB1BFA-C2DD-3C05-F83A-C35570E616C9}"/>
              </a:ext>
            </a:extLst>
          </p:cNvPr>
          <p:cNvSpPr txBox="1"/>
          <p:nvPr/>
        </p:nvSpPr>
        <p:spPr>
          <a:xfrm>
            <a:off x="1238249" y="3059668"/>
            <a:ext cx="10952551" cy="461665"/>
          </a:xfrm>
          <a:prstGeom prst="rect">
            <a:avLst/>
          </a:prstGeom>
          <a:noFill/>
        </p:spPr>
        <p:txBody>
          <a:bodyPr wrap="square" rtlCol="0">
            <a:spAutoFit/>
          </a:bodyPr>
          <a:lstStyle/>
          <a:p>
            <a:r>
              <a:rPr lang="ja-JP" altLang="en-US" sz="2400" dirty="0"/>
              <a:t>距離センサー値が</a:t>
            </a:r>
            <a:r>
              <a:rPr lang="en-US" altLang="ja-JP" sz="2400" dirty="0"/>
              <a:t>｢50｣</a:t>
            </a:r>
            <a:r>
              <a:rPr lang="ja-JP" altLang="en-US" sz="2400" dirty="0"/>
              <a:t>以下で障害物と判定</a:t>
            </a:r>
            <a:endParaRPr kumimoji="1" lang="ja-JP" altLang="en-US" sz="2400" dirty="0"/>
          </a:p>
        </p:txBody>
      </p:sp>
      <p:sp>
        <p:nvSpPr>
          <p:cNvPr id="16" name="テキスト ボックス 15">
            <a:extLst>
              <a:ext uri="{FF2B5EF4-FFF2-40B4-BE49-F238E27FC236}">
                <a16:creationId xmlns:a16="http://schemas.microsoft.com/office/drawing/2014/main" id="{9B0ABBEF-346E-C59D-E678-9CFC365D9D35}"/>
              </a:ext>
            </a:extLst>
          </p:cNvPr>
          <p:cNvSpPr txBox="1"/>
          <p:nvPr/>
        </p:nvSpPr>
        <p:spPr>
          <a:xfrm>
            <a:off x="771525" y="3779434"/>
            <a:ext cx="2275276" cy="584775"/>
          </a:xfrm>
          <a:prstGeom prst="rect">
            <a:avLst/>
          </a:prstGeom>
          <a:noFill/>
        </p:spPr>
        <p:txBody>
          <a:bodyPr wrap="square" rtlCol="0">
            <a:spAutoFit/>
          </a:bodyPr>
          <a:lstStyle/>
          <a:p>
            <a:r>
              <a:rPr kumimoji="1" lang="ja-JP" altLang="en-US" sz="3200" dirty="0"/>
              <a:t>回避方法</a:t>
            </a:r>
          </a:p>
        </p:txBody>
      </p:sp>
      <p:sp>
        <p:nvSpPr>
          <p:cNvPr id="17" name="テキスト ボックス 16">
            <a:extLst>
              <a:ext uri="{FF2B5EF4-FFF2-40B4-BE49-F238E27FC236}">
                <a16:creationId xmlns:a16="http://schemas.microsoft.com/office/drawing/2014/main" id="{FC41CBC1-FF00-F963-A5E6-C4CF5DE8FD36}"/>
              </a:ext>
            </a:extLst>
          </p:cNvPr>
          <p:cNvSpPr txBox="1"/>
          <p:nvPr/>
        </p:nvSpPr>
        <p:spPr>
          <a:xfrm>
            <a:off x="1238250" y="4362986"/>
            <a:ext cx="10953750" cy="461665"/>
          </a:xfrm>
          <a:prstGeom prst="rect">
            <a:avLst/>
          </a:prstGeom>
          <a:noFill/>
        </p:spPr>
        <p:txBody>
          <a:bodyPr wrap="square" rtlCol="0">
            <a:spAutoFit/>
          </a:bodyPr>
          <a:lstStyle/>
          <a:p>
            <a:r>
              <a:rPr kumimoji="1" lang="ja-JP" altLang="en-US" sz="2400" dirty="0"/>
              <a:t>「左旋回　➡　再検知」の繰り返し</a:t>
            </a:r>
          </a:p>
        </p:txBody>
      </p:sp>
      <p:sp>
        <p:nvSpPr>
          <p:cNvPr id="18" name="テキスト ボックス 17">
            <a:extLst>
              <a:ext uri="{FF2B5EF4-FFF2-40B4-BE49-F238E27FC236}">
                <a16:creationId xmlns:a16="http://schemas.microsoft.com/office/drawing/2014/main" id="{034BC0C4-AEF9-2EB9-C0AC-2F25182B9AA5}"/>
              </a:ext>
            </a:extLst>
          </p:cNvPr>
          <p:cNvSpPr txBox="1"/>
          <p:nvPr/>
        </p:nvSpPr>
        <p:spPr>
          <a:xfrm>
            <a:off x="3819525" y="5083975"/>
            <a:ext cx="2275276" cy="584775"/>
          </a:xfrm>
          <a:prstGeom prst="rect">
            <a:avLst/>
          </a:prstGeom>
          <a:noFill/>
        </p:spPr>
        <p:txBody>
          <a:bodyPr wrap="square" rtlCol="0">
            <a:spAutoFit/>
          </a:bodyPr>
          <a:lstStyle/>
          <a:p>
            <a:r>
              <a:rPr kumimoji="1" lang="ja-JP" altLang="en-US" sz="3200" dirty="0">
                <a:noFill/>
              </a:rPr>
              <a:t>音響</a:t>
            </a:r>
          </a:p>
        </p:txBody>
      </p:sp>
      <p:sp>
        <p:nvSpPr>
          <p:cNvPr id="19" name="テキスト ボックス 18">
            <a:extLst>
              <a:ext uri="{FF2B5EF4-FFF2-40B4-BE49-F238E27FC236}">
                <a16:creationId xmlns:a16="http://schemas.microsoft.com/office/drawing/2014/main" id="{C6017CB7-E70B-F6B8-B78E-1540716D9331}"/>
              </a:ext>
            </a:extLst>
          </p:cNvPr>
          <p:cNvSpPr txBox="1"/>
          <p:nvPr/>
        </p:nvSpPr>
        <p:spPr>
          <a:xfrm>
            <a:off x="4286250" y="5667527"/>
            <a:ext cx="7904552" cy="461665"/>
          </a:xfrm>
          <a:prstGeom prst="rect">
            <a:avLst/>
          </a:prstGeom>
          <a:noFill/>
        </p:spPr>
        <p:txBody>
          <a:bodyPr wrap="square" rtlCol="0">
            <a:spAutoFit/>
          </a:bodyPr>
          <a:lstStyle/>
          <a:p>
            <a:r>
              <a:rPr lang="ja-JP" altLang="en-US" sz="2400" dirty="0">
                <a:noFill/>
              </a:rPr>
              <a:t>校歌の再生</a:t>
            </a:r>
            <a:endParaRPr kumimoji="1" lang="ja-JP" altLang="en-US" sz="2400" dirty="0">
              <a:noFill/>
            </a:endParaRPr>
          </a:p>
        </p:txBody>
      </p:sp>
    </p:spTree>
    <p:extLst>
      <p:ext uri="{BB962C8B-B14F-4D97-AF65-F5344CB8AC3E}">
        <p14:creationId xmlns:p14="http://schemas.microsoft.com/office/powerpoint/2010/main" val="198479241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F8228-39E3-0A44-3671-42BF1A37D947}"/>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0F3BAD9D-840A-97D4-9E9F-555D42E03256}"/>
              </a:ext>
            </a:extLst>
          </p:cNvPr>
          <p:cNvSpPr/>
          <p:nvPr/>
        </p:nvSpPr>
        <p:spPr>
          <a:xfrm>
            <a:off x="3046801"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D8FA8936-928E-D5A6-007A-D4F31FDE1B1E}"/>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ABC81ED1-EE0C-B490-7E24-3B475CE3EC06}"/>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bg1"/>
                </a:solidFill>
              </a:rPr>
              <a:t>システム要件</a:t>
            </a:r>
          </a:p>
        </p:txBody>
      </p:sp>
      <p:sp>
        <p:nvSpPr>
          <p:cNvPr id="11" name="四角形: 角を丸くする 10">
            <a:extLst>
              <a:ext uri="{FF2B5EF4-FFF2-40B4-BE49-F238E27FC236}">
                <a16:creationId xmlns:a16="http://schemas.microsoft.com/office/drawing/2014/main" id="{571074DC-6F1F-4767-8C8C-BB30F4221387}"/>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33FF64B5-B507-9EAA-A971-7B6DDFBE276A}"/>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t>プログラム説明</a:t>
            </a:r>
            <a:endParaRPr kumimoji="1" lang="ja-JP" altLang="en-US" sz="2400" dirty="0"/>
          </a:p>
        </p:txBody>
      </p:sp>
      <p:sp>
        <p:nvSpPr>
          <p:cNvPr id="7" name="テキスト ボックス 6">
            <a:extLst>
              <a:ext uri="{FF2B5EF4-FFF2-40B4-BE49-F238E27FC236}">
                <a16:creationId xmlns:a16="http://schemas.microsoft.com/office/drawing/2014/main" id="{0DC33A2B-7368-C363-EDD8-F14967ED3498}"/>
              </a:ext>
            </a:extLst>
          </p:cNvPr>
          <p:cNvSpPr txBox="1"/>
          <p:nvPr/>
        </p:nvSpPr>
        <p:spPr>
          <a:xfrm>
            <a:off x="771525" y="1171575"/>
            <a:ext cx="2275276" cy="584775"/>
          </a:xfrm>
          <a:prstGeom prst="rect">
            <a:avLst/>
          </a:prstGeom>
          <a:noFill/>
        </p:spPr>
        <p:txBody>
          <a:bodyPr wrap="square" rtlCol="0">
            <a:spAutoFit/>
          </a:bodyPr>
          <a:lstStyle/>
          <a:p>
            <a:r>
              <a:rPr lang="ja-JP" altLang="en-US" sz="3200" dirty="0"/>
              <a:t>移動制御</a:t>
            </a:r>
            <a:endParaRPr kumimoji="1" lang="ja-JP" altLang="en-US" sz="3200" dirty="0"/>
          </a:p>
        </p:txBody>
      </p:sp>
      <p:sp>
        <p:nvSpPr>
          <p:cNvPr id="10" name="テキスト ボックス 9">
            <a:extLst>
              <a:ext uri="{FF2B5EF4-FFF2-40B4-BE49-F238E27FC236}">
                <a16:creationId xmlns:a16="http://schemas.microsoft.com/office/drawing/2014/main" id="{7DF25A85-F3B5-BFDE-5101-7D714F5E5AEE}"/>
              </a:ext>
            </a:extLst>
          </p:cNvPr>
          <p:cNvSpPr txBox="1"/>
          <p:nvPr/>
        </p:nvSpPr>
        <p:spPr>
          <a:xfrm>
            <a:off x="1238250" y="1755127"/>
            <a:ext cx="10953750" cy="461665"/>
          </a:xfrm>
          <a:prstGeom prst="rect">
            <a:avLst/>
          </a:prstGeom>
          <a:noFill/>
        </p:spPr>
        <p:txBody>
          <a:bodyPr wrap="square" rtlCol="0">
            <a:spAutoFit/>
          </a:bodyPr>
          <a:lstStyle/>
          <a:p>
            <a:r>
              <a:rPr lang="en-US" altLang="ja-JP" sz="2400" dirty="0"/>
              <a:t>“</a:t>
            </a:r>
            <a:r>
              <a:rPr lang="ja-JP" altLang="en-US" sz="2400" dirty="0"/>
              <a:t>向き</a:t>
            </a:r>
            <a:r>
              <a:rPr lang="en-US" altLang="ja-JP" sz="2400" dirty="0"/>
              <a:t>”</a:t>
            </a:r>
            <a:r>
              <a:rPr lang="ja-JP" altLang="en-US" sz="2400" dirty="0"/>
              <a:t>と</a:t>
            </a:r>
            <a:r>
              <a:rPr lang="en-US" altLang="ja-JP" sz="2400" dirty="0"/>
              <a:t>”</a:t>
            </a:r>
            <a:r>
              <a:rPr lang="ja-JP" altLang="en-US" sz="2400" dirty="0"/>
              <a:t>歩数</a:t>
            </a:r>
            <a:r>
              <a:rPr lang="en-US" altLang="ja-JP" sz="2400" dirty="0"/>
              <a:t>”</a:t>
            </a:r>
            <a:r>
              <a:rPr lang="ja-JP" altLang="en-US" sz="2400" dirty="0"/>
              <a:t>による自己位置推定と、目標座標への移動量計算</a:t>
            </a:r>
            <a:endParaRPr lang="en-US" altLang="ja-JP" sz="2400" dirty="0"/>
          </a:p>
        </p:txBody>
      </p:sp>
      <p:sp>
        <p:nvSpPr>
          <p:cNvPr id="14" name="テキスト ボックス 13">
            <a:extLst>
              <a:ext uri="{FF2B5EF4-FFF2-40B4-BE49-F238E27FC236}">
                <a16:creationId xmlns:a16="http://schemas.microsoft.com/office/drawing/2014/main" id="{DE26F2B6-7C8C-6DBA-3456-F901CCABD4A6}"/>
              </a:ext>
            </a:extLst>
          </p:cNvPr>
          <p:cNvSpPr txBox="1"/>
          <p:nvPr/>
        </p:nvSpPr>
        <p:spPr>
          <a:xfrm>
            <a:off x="771525" y="2476116"/>
            <a:ext cx="2275276" cy="584775"/>
          </a:xfrm>
          <a:prstGeom prst="rect">
            <a:avLst/>
          </a:prstGeom>
          <a:noFill/>
        </p:spPr>
        <p:txBody>
          <a:bodyPr wrap="square" rtlCol="0">
            <a:spAutoFit/>
          </a:bodyPr>
          <a:lstStyle/>
          <a:p>
            <a:r>
              <a:rPr kumimoji="1" lang="ja-JP" altLang="en-US" sz="3200" dirty="0"/>
              <a:t>障害物検知</a:t>
            </a:r>
          </a:p>
        </p:txBody>
      </p:sp>
      <p:sp>
        <p:nvSpPr>
          <p:cNvPr id="15" name="テキスト ボックス 14">
            <a:extLst>
              <a:ext uri="{FF2B5EF4-FFF2-40B4-BE49-F238E27FC236}">
                <a16:creationId xmlns:a16="http://schemas.microsoft.com/office/drawing/2014/main" id="{3651BC05-D886-1805-4A0F-2CC2132AD16E}"/>
              </a:ext>
            </a:extLst>
          </p:cNvPr>
          <p:cNvSpPr txBox="1"/>
          <p:nvPr/>
        </p:nvSpPr>
        <p:spPr>
          <a:xfrm>
            <a:off x="1238250" y="3059668"/>
            <a:ext cx="10953750" cy="461665"/>
          </a:xfrm>
          <a:prstGeom prst="rect">
            <a:avLst/>
          </a:prstGeom>
          <a:noFill/>
        </p:spPr>
        <p:txBody>
          <a:bodyPr wrap="square" rtlCol="0">
            <a:spAutoFit/>
          </a:bodyPr>
          <a:lstStyle/>
          <a:p>
            <a:r>
              <a:rPr lang="ja-JP" altLang="en-US" sz="2400" dirty="0"/>
              <a:t>距離センサー値が</a:t>
            </a:r>
            <a:r>
              <a:rPr lang="en-US" altLang="ja-JP" sz="2400" dirty="0"/>
              <a:t>｢50｣</a:t>
            </a:r>
            <a:r>
              <a:rPr lang="ja-JP" altLang="en-US" sz="2400" dirty="0"/>
              <a:t>以下で障害物と判定</a:t>
            </a:r>
            <a:endParaRPr kumimoji="1" lang="ja-JP" altLang="en-US" sz="2400" dirty="0"/>
          </a:p>
        </p:txBody>
      </p:sp>
      <p:sp>
        <p:nvSpPr>
          <p:cNvPr id="16" name="テキスト ボックス 15">
            <a:extLst>
              <a:ext uri="{FF2B5EF4-FFF2-40B4-BE49-F238E27FC236}">
                <a16:creationId xmlns:a16="http://schemas.microsoft.com/office/drawing/2014/main" id="{2B27B0A6-E12F-0872-5356-8DFCACF92841}"/>
              </a:ext>
            </a:extLst>
          </p:cNvPr>
          <p:cNvSpPr txBox="1"/>
          <p:nvPr/>
        </p:nvSpPr>
        <p:spPr>
          <a:xfrm>
            <a:off x="771525" y="3779434"/>
            <a:ext cx="2275276" cy="584775"/>
          </a:xfrm>
          <a:prstGeom prst="rect">
            <a:avLst/>
          </a:prstGeom>
          <a:noFill/>
        </p:spPr>
        <p:txBody>
          <a:bodyPr wrap="square" rtlCol="0">
            <a:spAutoFit/>
          </a:bodyPr>
          <a:lstStyle/>
          <a:p>
            <a:r>
              <a:rPr kumimoji="1" lang="ja-JP" altLang="en-US" sz="3200" dirty="0"/>
              <a:t>回避方法</a:t>
            </a:r>
          </a:p>
        </p:txBody>
      </p:sp>
      <p:sp>
        <p:nvSpPr>
          <p:cNvPr id="17" name="テキスト ボックス 16">
            <a:extLst>
              <a:ext uri="{FF2B5EF4-FFF2-40B4-BE49-F238E27FC236}">
                <a16:creationId xmlns:a16="http://schemas.microsoft.com/office/drawing/2014/main" id="{D0612AB4-0FF6-37D4-6AD4-85FF2C909884}"/>
              </a:ext>
            </a:extLst>
          </p:cNvPr>
          <p:cNvSpPr txBox="1"/>
          <p:nvPr/>
        </p:nvSpPr>
        <p:spPr>
          <a:xfrm>
            <a:off x="1238250" y="4362986"/>
            <a:ext cx="10953750" cy="461665"/>
          </a:xfrm>
          <a:prstGeom prst="rect">
            <a:avLst/>
          </a:prstGeom>
          <a:noFill/>
        </p:spPr>
        <p:txBody>
          <a:bodyPr wrap="square" rtlCol="0">
            <a:spAutoFit/>
          </a:bodyPr>
          <a:lstStyle/>
          <a:p>
            <a:r>
              <a:rPr kumimoji="1" lang="ja-JP" altLang="en-US" sz="2400" dirty="0"/>
              <a:t>「左旋回　➡　再検知」の繰り返し</a:t>
            </a:r>
          </a:p>
        </p:txBody>
      </p:sp>
      <p:sp>
        <p:nvSpPr>
          <p:cNvPr id="18" name="テキスト ボックス 17">
            <a:extLst>
              <a:ext uri="{FF2B5EF4-FFF2-40B4-BE49-F238E27FC236}">
                <a16:creationId xmlns:a16="http://schemas.microsoft.com/office/drawing/2014/main" id="{20CFB701-6E92-FB96-3C8D-EA576930B576}"/>
              </a:ext>
            </a:extLst>
          </p:cNvPr>
          <p:cNvSpPr txBox="1"/>
          <p:nvPr/>
        </p:nvSpPr>
        <p:spPr>
          <a:xfrm>
            <a:off x="771525" y="5083975"/>
            <a:ext cx="2275276" cy="584775"/>
          </a:xfrm>
          <a:prstGeom prst="rect">
            <a:avLst/>
          </a:prstGeom>
          <a:noFill/>
        </p:spPr>
        <p:txBody>
          <a:bodyPr wrap="square" rtlCol="0">
            <a:spAutoFit/>
          </a:bodyPr>
          <a:lstStyle/>
          <a:p>
            <a:r>
              <a:rPr kumimoji="1" lang="ja-JP" altLang="en-US" sz="3200" dirty="0"/>
              <a:t>音響</a:t>
            </a:r>
          </a:p>
        </p:txBody>
      </p:sp>
      <p:sp>
        <p:nvSpPr>
          <p:cNvPr id="19" name="テキスト ボックス 18">
            <a:extLst>
              <a:ext uri="{FF2B5EF4-FFF2-40B4-BE49-F238E27FC236}">
                <a16:creationId xmlns:a16="http://schemas.microsoft.com/office/drawing/2014/main" id="{E39B57C1-802A-DC41-FCC9-A1320BB26DDB}"/>
              </a:ext>
            </a:extLst>
          </p:cNvPr>
          <p:cNvSpPr txBox="1"/>
          <p:nvPr/>
        </p:nvSpPr>
        <p:spPr>
          <a:xfrm>
            <a:off x="1238250" y="5667527"/>
            <a:ext cx="10953750" cy="461665"/>
          </a:xfrm>
          <a:prstGeom prst="rect">
            <a:avLst/>
          </a:prstGeom>
          <a:noFill/>
        </p:spPr>
        <p:txBody>
          <a:bodyPr wrap="square" rtlCol="0">
            <a:spAutoFit/>
          </a:bodyPr>
          <a:lstStyle/>
          <a:p>
            <a:r>
              <a:rPr lang="ja-JP" altLang="en-US" sz="2400" dirty="0"/>
              <a:t>校歌の再生</a:t>
            </a:r>
            <a:endParaRPr kumimoji="1" lang="ja-JP" altLang="en-US" sz="2400" dirty="0"/>
          </a:p>
        </p:txBody>
      </p:sp>
    </p:spTree>
    <p:extLst>
      <p:ext uri="{BB962C8B-B14F-4D97-AF65-F5344CB8AC3E}">
        <p14:creationId xmlns:p14="http://schemas.microsoft.com/office/powerpoint/2010/main" val="140494263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890B3-1445-ADBE-595D-E0C295BF19FE}"/>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720E27D0-2416-7447-15B3-0675BFA65935}"/>
              </a:ext>
            </a:extLst>
          </p:cNvPr>
          <p:cNvSpPr/>
          <p:nvPr/>
        </p:nvSpPr>
        <p:spPr>
          <a:xfrm>
            <a:off x="6093602" y="-2979"/>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A9387D0D-DEBF-D680-AF79-0DAF7B1782A8}"/>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9258C5CA-C9BC-966D-1F86-9A19BF0EA322}"/>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tx1"/>
                </a:solidFill>
              </a:rPr>
              <a:t>システム要件</a:t>
            </a:r>
          </a:p>
        </p:txBody>
      </p:sp>
      <p:sp>
        <p:nvSpPr>
          <p:cNvPr id="11" name="四角形: 角を丸くする 10">
            <a:extLst>
              <a:ext uri="{FF2B5EF4-FFF2-40B4-BE49-F238E27FC236}">
                <a16:creationId xmlns:a16="http://schemas.microsoft.com/office/drawing/2014/main" id="{AA050C36-735E-2989-5A43-C8FC415F164B}"/>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bg1"/>
                </a:solidFill>
              </a:rPr>
              <a:t>操作手順</a:t>
            </a:r>
          </a:p>
        </p:txBody>
      </p:sp>
      <p:sp>
        <p:nvSpPr>
          <p:cNvPr id="12" name="四角形: 角を丸くする 11">
            <a:extLst>
              <a:ext uri="{FF2B5EF4-FFF2-40B4-BE49-F238E27FC236}">
                <a16:creationId xmlns:a16="http://schemas.microsoft.com/office/drawing/2014/main" id="{7852DB4E-A8B7-5526-B55D-1B8E9F2CA649}"/>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t>プログラム説明</a:t>
            </a:r>
            <a:endParaRPr kumimoji="1" lang="ja-JP" altLang="en-US" sz="2400" dirty="0"/>
          </a:p>
        </p:txBody>
      </p:sp>
      <p:sp>
        <p:nvSpPr>
          <p:cNvPr id="3" name="テキスト ボックス 2">
            <a:extLst>
              <a:ext uri="{FF2B5EF4-FFF2-40B4-BE49-F238E27FC236}">
                <a16:creationId xmlns:a16="http://schemas.microsoft.com/office/drawing/2014/main" id="{9566EBD8-2A9C-FC53-F754-FC03D1592519}"/>
              </a:ext>
            </a:extLst>
          </p:cNvPr>
          <p:cNvSpPr txBox="1"/>
          <p:nvPr/>
        </p:nvSpPr>
        <p:spPr>
          <a:xfrm>
            <a:off x="-9615715" y="1171575"/>
            <a:ext cx="2275276" cy="584775"/>
          </a:xfrm>
          <a:prstGeom prst="rect">
            <a:avLst/>
          </a:prstGeom>
          <a:noFill/>
        </p:spPr>
        <p:txBody>
          <a:bodyPr wrap="square" rtlCol="0">
            <a:spAutoFit/>
          </a:bodyPr>
          <a:lstStyle/>
          <a:p>
            <a:r>
              <a:rPr lang="ja-JP" altLang="en-US" sz="3200" dirty="0"/>
              <a:t>移動制御</a:t>
            </a:r>
            <a:endParaRPr kumimoji="1" lang="ja-JP" altLang="en-US" sz="3200" dirty="0"/>
          </a:p>
        </p:txBody>
      </p:sp>
      <p:sp>
        <p:nvSpPr>
          <p:cNvPr id="4" name="テキスト ボックス 3">
            <a:extLst>
              <a:ext uri="{FF2B5EF4-FFF2-40B4-BE49-F238E27FC236}">
                <a16:creationId xmlns:a16="http://schemas.microsoft.com/office/drawing/2014/main" id="{43954272-5984-952D-8820-64FC7EA62829}"/>
              </a:ext>
            </a:extLst>
          </p:cNvPr>
          <p:cNvSpPr txBox="1"/>
          <p:nvPr/>
        </p:nvSpPr>
        <p:spPr>
          <a:xfrm>
            <a:off x="-9148991" y="1755127"/>
            <a:ext cx="9134475" cy="461665"/>
          </a:xfrm>
          <a:prstGeom prst="rect">
            <a:avLst/>
          </a:prstGeom>
          <a:noFill/>
        </p:spPr>
        <p:txBody>
          <a:bodyPr wrap="square" rtlCol="0">
            <a:spAutoFit/>
          </a:bodyPr>
          <a:lstStyle/>
          <a:p>
            <a:r>
              <a:rPr lang="en-US" altLang="ja-JP" sz="2400" dirty="0"/>
              <a:t>“</a:t>
            </a:r>
            <a:r>
              <a:rPr lang="ja-JP" altLang="en-US" sz="2400" dirty="0"/>
              <a:t>向き</a:t>
            </a:r>
            <a:r>
              <a:rPr lang="en-US" altLang="ja-JP" sz="2400" dirty="0"/>
              <a:t>”</a:t>
            </a:r>
            <a:r>
              <a:rPr lang="ja-JP" altLang="en-US" sz="2400" dirty="0"/>
              <a:t>と</a:t>
            </a:r>
            <a:r>
              <a:rPr lang="en-US" altLang="ja-JP" sz="2400" dirty="0"/>
              <a:t>”</a:t>
            </a:r>
            <a:r>
              <a:rPr lang="ja-JP" altLang="en-US" sz="2400" dirty="0"/>
              <a:t>歩数</a:t>
            </a:r>
            <a:r>
              <a:rPr lang="en-US" altLang="ja-JP" sz="2400" dirty="0"/>
              <a:t>”</a:t>
            </a:r>
            <a:r>
              <a:rPr lang="ja-JP" altLang="en-US" sz="2400" dirty="0"/>
              <a:t>による自己位置推定と、目標座標への移動量計算</a:t>
            </a:r>
            <a:endParaRPr lang="en-US" altLang="ja-JP" sz="2400" dirty="0"/>
          </a:p>
        </p:txBody>
      </p:sp>
      <p:sp>
        <p:nvSpPr>
          <p:cNvPr id="5" name="テキスト ボックス 4">
            <a:extLst>
              <a:ext uri="{FF2B5EF4-FFF2-40B4-BE49-F238E27FC236}">
                <a16:creationId xmlns:a16="http://schemas.microsoft.com/office/drawing/2014/main" id="{2AAAEF09-F780-B6C6-6216-96F126551392}"/>
              </a:ext>
            </a:extLst>
          </p:cNvPr>
          <p:cNvSpPr txBox="1"/>
          <p:nvPr/>
        </p:nvSpPr>
        <p:spPr>
          <a:xfrm>
            <a:off x="-9615715" y="2476116"/>
            <a:ext cx="2275276" cy="584775"/>
          </a:xfrm>
          <a:prstGeom prst="rect">
            <a:avLst/>
          </a:prstGeom>
          <a:noFill/>
        </p:spPr>
        <p:txBody>
          <a:bodyPr wrap="square" rtlCol="0">
            <a:spAutoFit/>
          </a:bodyPr>
          <a:lstStyle/>
          <a:p>
            <a:r>
              <a:rPr kumimoji="1" lang="ja-JP" altLang="en-US" sz="3200" dirty="0"/>
              <a:t>障害物検知</a:t>
            </a:r>
          </a:p>
        </p:txBody>
      </p:sp>
      <p:sp>
        <p:nvSpPr>
          <p:cNvPr id="6" name="テキスト ボックス 5">
            <a:extLst>
              <a:ext uri="{FF2B5EF4-FFF2-40B4-BE49-F238E27FC236}">
                <a16:creationId xmlns:a16="http://schemas.microsoft.com/office/drawing/2014/main" id="{C42B1C5F-E971-24DB-A5D4-29BC4D65D1AC}"/>
              </a:ext>
            </a:extLst>
          </p:cNvPr>
          <p:cNvSpPr txBox="1"/>
          <p:nvPr/>
        </p:nvSpPr>
        <p:spPr>
          <a:xfrm>
            <a:off x="-9148991" y="3059668"/>
            <a:ext cx="9134475" cy="461665"/>
          </a:xfrm>
          <a:prstGeom prst="rect">
            <a:avLst/>
          </a:prstGeom>
          <a:noFill/>
        </p:spPr>
        <p:txBody>
          <a:bodyPr wrap="square" rtlCol="0">
            <a:spAutoFit/>
          </a:bodyPr>
          <a:lstStyle/>
          <a:p>
            <a:r>
              <a:rPr lang="ja-JP" altLang="en-US" sz="2400" dirty="0"/>
              <a:t>距離センサー値が</a:t>
            </a:r>
            <a:r>
              <a:rPr lang="en-US" altLang="ja-JP" sz="2400" dirty="0"/>
              <a:t>｢50｣</a:t>
            </a:r>
            <a:r>
              <a:rPr lang="ja-JP" altLang="en-US" sz="2400" dirty="0"/>
              <a:t>以下で障害物と判定</a:t>
            </a:r>
            <a:endParaRPr kumimoji="1" lang="ja-JP" altLang="en-US" sz="2400" dirty="0"/>
          </a:p>
        </p:txBody>
      </p:sp>
      <p:sp>
        <p:nvSpPr>
          <p:cNvPr id="7" name="テキスト ボックス 6">
            <a:extLst>
              <a:ext uri="{FF2B5EF4-FFF2-40B4-BE49-F238E27FC236}">
                <a16:creationId xmlns:a16="http://schemas.microsoft.com/office/drawing/2014/main" id="{B21EB4B2-2CF0-BEFD-632F-144A8919B0E5}"/>
              </a:ext>
            </a:extLst>
          </p:cNvPr>
          <p:cNvSpPr txBox="1"/>
          <p:nvPr/>
        </p:nvSpPr>
        <p:spPr>
          <a:xfrm>
            <a:off x="-9615715" y="3779434"/>
            <a:ext cx="2275276" cy="584775"/>
          </a:xfrm>
          <a:prstGeom prst="rect">
            <a:avLst/>
          </a:prstGeom>
          <a:noFill/>
        </p:spPr>
        <p:txBody>
          <a:bodyPr wrap="square" rtlCol="0">
            <a:spAutoFit/>
          </a:bodyPr>
          <a:lstStyle/>
          <a:p>
            <a:r>
              <a:rPr kumimoji="1" lang="ja-JP" altLang="en-US" sz="3200" dirty="0"/>
              <a:t>回避方法</a:t>
            </a:r>
          </a:p>
        </p:txBody>
      </p:sp>
      <p:sp>
        <p:nvSpPr>
          <p:cNvPr id="8" name="テキスト ボックス 7">
            <a:extLst>
              <a:ext uri="{FF2B5EF4-FFF2-40B4-BE49-F238E27FC236}">
                <a16:creationId xmlns:a16="http://schemas.microsoft.com/office/drawing/2014/main" id="{BC0BE3A8-CCBB-7B2B-2E1F-4EF8C837C6C5}"/>
              </a:ext>
            </a:extLst>
          </p:cNvPr>
          <p:cNvSpPr txBox="1"/>
          <p:nvPr/>
        </p:nvSpPr>
        <p:spPr>
          <a:xfrm>
            <a:off x="-9148991" y="4362986"/>
            <a:ext cx="9134475" cy="461665"/>
          </a:xfrm>
          <a:prstGeom prst="rect">
            <a:avLst/>
          </a:prstGeom>
          <a:noFill/>
        </p:spPr>
        <p:txBody>
          <a:bodyPr wrap="square" rtlCol="0">
            <a:spAutoFit/>
          </a:bodyPr>
          <a:lstStyle/>
          <a:p>
            <a:r>
              <a:rPr kumimoji="1" lang="ja-JP" altLang="en-US" sz="2400" dirty="0"/>
              <a:t>「左旋回　➡　再検知」の繰り返し</a:t>
            </a:r>
          </a:p>
        </p:txBody>
      </p:sp>
      <p:sp>
        <p:nvSpPr>
          <p:cNvPr id="10" name="テキスト ボックス 9">
            <a:extLst>
              <a:ext uri="{FF2B5EF4-FFF2-40B4-BE49-F238E27FC236}">
                <a16:creationId xmlns:a16="http://schemas.microsoft.com/office/drawing/2014/main" id="{E82345B1-3380-1770-75C9-1A89C5ED1771}"/>
              </a:ext>
            </a:extLst>
          </p:cNvPr>
          <p:cNvSpPr txBox="1"/>
          <p:nvPr/>
        </p:nvSpPr>
        <p:spPr>
          <a:xfrm>
            <a:off x="-9615715" y="5083975"/>
            <a:ext cx="2275276" cy="584775"/>
          </a:xfrm>
          <a:prstGeom prst="rect">
            <a:avLst/>
          </a:prstGeom>
          <a:noFill/>
        </p:spPr>
        <p:txBody>
          <a:bodyPr wrap="square" rtlCol="0">
            <a:spAutoFit/>
          </a:bodyPr>
          <a:lstStyle/>
          <a:p>
            <a:r>
              <a:rPr kumimoji="1" lang="ja-JP" altLang="en-US" sz="3200" dirty="0"/>
              <a:t>音響</a:t>
            </a:r>
          </a:p>
        </p:txBody>
      </p:sp>
      <p:sp>
        <p:nvSpPr>
          <p:cNvPr id="14" name="テキスト ボックス 13">
            <a:extLst>
              <a:ext uri="{FF2B5EF4-FFF2-40B4-BE49-F238E27FC236}">
                <a16:creationId xmlns:a16="http://schemas.microsoft.com/office/drawing/2014/main" id="{860A14AE-8C8C-5061-19AB-3611A6741254}"/>
              </a:ext>
            </a:extLst>
          </p:cNvPr>
          <p:cNvSpPr txBox="1"/>
          <p:nvPr/>
        </p:nvSpPr>
        <p:spPr>
          <a:xfrm>
            <a:off x="-9148991" y="5667527"/>
            <a:ext cx="9134475" cy="461665"/>
          </a:xfrm>
          <a:prstGeom prst="rect">
            <a:avLst/>
          </a:prstGeom>
          <a:noFill/>
        </p:spPr>
        <p:txBody>
          <a:bodyPr wrap="square" rtlCol="0">
            <a:spAutoFit/>
          </a:bodyPr>
          <a:lstStyle/>
          <a:p>
            <a:r>
              <a:rPr lang="ja-JP" altLang="en-US" sz="2400" dirty="0"/>
              <a:t>校歌の再生</a:t>
            </a:r>
            <a:endParaRPr kumimoji="1" lang="ja-JP" altLang="en-US" sz="2400" dirty="0"/>
          </a:p>
        </p:txBody>
      </p:sp>
      <p:grpSp>
        <p:nvGrpSpPr>
          <p:cNvPr id="38" name="グループ化 37">
            <a:extLst>
              <a:ext uri="{FF2B5EF4-FFF2-40B4-BE49-F238E27FC236}">
                <a16:creationId xmlns:a16="http://schemas.microsoft.com/office/drawing/2014/main" id="{ADB7563E-77FB-73C9-38FF-F45A5A48B71F}"/>
              </a:ext>
            </a:extLst>
          </p:cNvPr>
          <p:cNvGrpSpPr/>
          <p:nvPr/>
        </p:nvGrpSpPr>
        <p:grpSpPr>
          <a:xfrm>
            <a:off x="12797905" y="1769414"/>
            <a:ext cx="3600450" cy="3324225"/>
            <a:chOff x="12797905" y="1769414"/>
            <a:chExt cx="3600450" cy="3324225"/>
          </a:xfrm>
        </p:grpSpPr>
        <p:sp>
          <p:nvSpPr>
            <p:cNvPr id="15" name="四角形: 角を丸くする 14">
              <a:extLst>
                <a:ext uri="{FF2B5EF4-FFF2-40B4-BE49-F238E27FC236}">
                  <a16:creationId xmlns:a16="http://schemas.microsoft.com/office/drawing/2014/main" id="{573F00EE-6C98-3E59-D92A-959668210259}"/>
                </a:ext>
              </a:extLst>
            </p:cNvPr>
            <p:cNvSpPr/>
            <p:nvPr/>
          </p:nvSpPr>
          <p:spPr>
            <a:xfrm>
              <a:off x="12797905" y="1769414"/>
              <a:ext cx="3600450" cy="3324225"/>
            </a:xfrm>
            <a:prstGeom prst="roundRect">
              <a:avLst>
                <a:gd name="adj" fmla="val 18674"/>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t>STEP</a:t>
              </a:r>
              <a:r>
                <a:rPr lang="ja-JP" altLang="en-US" sz="3200" dirty="0"/>
                <a:t> </a:t>
              </a:r>
              <a:r>
                <a:rPr lang="en-US" altLang="ja-JP" sz="3200" dirty="0"/>
                <a:t>01</a:t>
              </a:r>
            </a:p>
            <a:p>
              <a:pPr algn="ctr"/>
              <a:endParaRPr lang="en-US" altLang="ja-JP" sz="3200" dirty="0"/>
            </a:p>
            <a:p>
              <a:pPr algn="ctr"/>
              <a:endParaRPr kumimoji="1" lang="en-US" altLang="ja-JP" sz="2400" dirty="0"/>
            </a:p>
            <a:p>
              <a:pPr algn="ctr"/>
              <a:r>
                <a:rPr kumimoji="1" lang="en-US" altLang="ja-JP" sz="2400" dirty="0"/>
                <a:t>【</a:t>
              </a:r>
              <a:r>
                <a:rPr kumimoji="1" lang="ja-JP" altLang="en-US" sz="2400" dirty="0"/>
                <a:t>起動・スタート</a:t>
              </a:r>
              <a:r>
                <a:rPr kumimoji="1" lang="en-US" altLang="ja-JP" sz="2400" dirty="0"/>
                <a:t>】</a:t>
              </a:r>
            </a:p>
            <a:p>
              <a:pPr algn="ctr"/>
              <a:endParaRPr kumimoji="1" lang="en-US" altLang="ja-JP" sz="2400" dirty="0"/>
            </a:p>
            <a:p>
              <a:pPr algn="ctr"/>
              <a:r>
                <a:rPr lang="ja-JP" altLang="en-US" sz="2400" dirty="0"/>
                <a:t>ロボットの電源を入れプログラムを起動</a:t>
              </a:r>
              <a:endParaRPr lang="en-US" altLang="ja-JP" sz="2400" dirty="0"/>
            </a:p>
            <a:p>
              <a:pPr algn="ctr"/>
              <a:endParaRPr kumimoji="1" lang="ja-JP" altLang="en-US" sz="2400" dirty="0"/>
            </a:p>
          </p:txBody>
        </p:sp>
        <p:cxnSp>
          <p:nvCxnSpPr>
            <p:cNvPr id="19" name="直線コネクタ 18">
              <a:extLst>
                <a:ext uri="{FF2B5EF4-FFF2-40B4-BE49-F238E27FC236}">
                  <a16:creationId xmlns:a16="http://schemas.microsoft.com/office/drawing/2014/main" id="{4F421235-6832-7092-C96A-DC0F00CF415A}"/>
                </a:ext>
              </a:extLst>
            </p:cNvPr>
            <p:cNvCxnSpPr/>
            <p:nvPr/>
          </p:nvCxnSpPr>
          <p:spPr>
            <a:xfrm>
              <a:off x="12797905" y="2476116"/>
              <a:ext cx="3600450" cy="0"/>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39" name="グループ化 38">
            <a:extLst>
              <a:ext uri="{FF2B5EF4-FFF2-40B4-BE49-F238E27FC236}">
                <a16:creationId xmlns:a16="http://schemas.microsoft.com/office/drawing/2014/main" id="{B389724C-EFCF-053A-6616-8F2841A43F4A}"/>
              </a:ext>
            </a:extLst>
          </p:cNvPr>
          <p:cNvGrpSpPr/>
          <p:nvPr/>
        </p:nvGrpSpPr>
        <p:grpSpPr>
          <a:xfrm>
            <a:off x="16752077" y="1766887"/>
            <a:ext cx="3600450" cy="3324225"/>
            <a:chOff x="16752077" y="1766887"/>
            <a:chExt cx="3600450" cy="3324225"/>
          </a:xfrm>
        </p:grpSpPr>
        <p:sp>
          <p:nvSpPr>
            <p:cNvPr id="16" name="四角形: 角を丸くする 15">
              <a:extLst>
                <a:ext uri="{FF2B5EF4-FFF2-40B4-BE49-F238E27FC236}">
                  <a16:creationId xmlns:a16="http://schemas.microsoft.com/office/drawing/2014/main" id="{B2E5A77F-3838-0656-58D2-7A34174B6FFF}"/>
                </a:ext>
              </a:extLst>
            </p:cNvPr>
            <p:cNvSpPr/>
            <p:nvPr/>
          </p:nvSpPr>
          <p:spPr>
            <a:xfrm>
              <a:off x="16752077" y="1766887"/>
              <a:ext cx="3600450" cy="3324225"/>
            </a:xfrm>
            <a:prstGeom prst="roundRect">
              <a:avLst>
                <a:gd name="adj" fmla="val 17183"/>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t>STEP</a:t>
              </a:r>
              <a:r>
                <a:rPr lang="ja-JP" altLang="en-US" sz="3200" dirty="0"/>
                <a:t> </a:t>
              </a:r>
              <a:r>
                <a:rPr lang="en-US" altLang="ja-JP" sz="3200" dirty="0"/>
                <a:t>02</a:t>
              </a:r>
            </a:p>
            <a:p>
              <a:pPr algn="ctr"/>
              <a:endParaRPr lang="en-US" altLang="ja-JP" sz="3200" dirty="0"/>
            </a:p>
            <a:p>
              <a:pPr algn="ctr"/>
              <a:endParaRPr kumimoji="1" lang="en-US" altLang="ja-JP" sz="2400" dirty="0"/>
            </a:p>
            <a:p>
              <a:pPr algn="ctr"/>
              <a:r>
                <a:rPr kumimoji="1" lang="en-US" altLang="ja-JP" sz="2400" dirty="0"/>
                <a:t>【</a:t>
              </a:r>
              <a:r>
                <a:rPr kumimoji="1" lang="ja-JP" altLang="en-US" sz="2400" dirty="0"/>
                <a:t>座標指定</a:t>
              </a:r>
              <a:r>
                <a:rPr kumimoji="1" lang="en-US" altLang="ja-JP" sz="2400" dirty="0"/>
                <a:t>】</a:t>
              </a:r>
            </a:p>
            <a:p>
              <a:pPr algn="ctr"/>
              <a:endParaRPr kumimoji="1" lang="en-US" altLang="ja-JP" sz="2400" dirty="0"/>
            </a:p>
            <a:p>
              <a:pPr algn="ctr"/>
              <a:r>
                <a:rPr kumimoji="1" lang="en-US" altLang="ja-JP" sz="2400" dirty="0"/>
                <a:t>Scratch</a:t>
              </a:r>
              <a:r>
                <a:rPr kumimoji="1" lang="ja-JP" altLang="en-US" sz="2400" dirty="0"/>
                <a:t>の入力欄に</a:t>
              </a:r>
              <a:endParaRPr kumimoji="1" lang="en-US" altLang="ja-JP" sz="2400" dirty="0"/>
            </a:p>
            <a:p>
              <a:pPr algn="ctr"/>
              <a:r>
                <a:rPr kumimoji="1" lang="ja-JP" altLang="en-US" sz="2400" dirty="0"/>
                <a:t>ゴールの座標を入力</a:t>
              </a:r>
              <a:endParaRPr kumimoji="1" lang="en-US" altLang="ja-JP" sz="2400" dirty="0"/>
            </a:p>
            <a:p>
              <a:pPr algn="ctr"/>
              <a:endParaRPr kumimoji="1" lang="en-US" altLang="ja-JP" sz="2400" dirty="0"/>
            </a:p>
          </p:txBody>
        </p:sp>
        <p:cxnSp>
          <p:nvCxnSpPr>
            <p:cNvPr id="20" name="直線コネクタ 19">
              <a:extLst>
                <a:ext uri="{FF2B5EF4-FFF2-40B4-BE49-F238E27FC236}">
                  <a16:creationId xmlns:a16="http://schemas.microsoft.com/office/drawing/2014/main" id="{8D3D5753-83A3-EC42-DFE7-86D5130291A8}"/>
                </a:ext>
              </a:extLst>
            </p:cNvPr>
            <p:cNvCxnSpPr/>
            <p:nvPr/>
          </p:nvCxnSpPr>
          <p:spPr>
            <a:xfrm>
              <a:off x="16752077" y="2469382"/>
              <a:ext cx="3600450" cy="0"/>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40" name="グループ化 39">
            <a:extLst>
              <a:ext uri="{FF2B5EF4-FFF2-40B4-BE49-F238E27FC236}">
                <a16:creationId xmlns:a16="http://schemas.microsoft.com/office/drawing/2014/main" id="{33C8089C-7B89-8CAC-3A23-26F3918AD829}"/>
              </a:ext>
            </a:extLst>
          </p:cNvPr>
          <p:cNvGrpSpPr/>
          <p:nvPr/>
        </p:nvGrpSpPr>
        <p:grpSpPr>
          <a:xfrm>
            <a:off x="20711045" y="1766887"/>
            <a:ext cx="3600450" cy="3324225"/>
            <a:chOff x="20711045" y="1766887"/>
            <a:chExt cx="3600450" cy="3324225"/>
          </a:xfrm>
        </p:grpSpPr>
        <p:sp>
          <p:nvSpPr>
            <p:cNvPr id="17" name="四角形: 角を丸くする 16">
              <a:extLst>
                <a:ext uri="{FF2B5EF4-FFF2-40B4-BE49-F238E27FC236}">
                  <a16:creationId xmlns:a16="http://schemas.microsoft.com/office/drawing/2014/main" id="{AFAC1169-71EB-4BC4-0E03-83B432B8A949}"/>
                </a:ext>
              </a:extLst>
            </p:cNvPr>
            <p:cNvSpPr/>
            <p:nvPr/>
          </p:nvSpPr>
          <p:spPr>
            <a:xfrm>
              <a:off x="20711045" y="1766887"/>
              <a:ext cx="3600450" cy="3324225"/>
            </a:xfrm>
            <a:prstGeom prst="roundRect">
              <a:avLst>
                <a:gd name="adj" fmla="val 181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t>STEP</a:t>
              </a:r>
              <a:r>
                <a:rPr lang="ja-JP" altLang="en-US" sz="3200" dirty="0"/>
                <a:t> </a:t>
              </a:r>
              <a:r>
                <a:rPr lang="en-US" altLang="ja-JP" sz="3200" dirty="0"/>
                <a:t>03</a:t>
              </a:r>
            </a:p>
            <a:p>
              <a:pPr algn="ctr"/>
              <a:endParaRPr lang="en-US" altLang="ja-JP" sz="3200" dirty="0"/>
            </a:p>
            <a:p>
              <a:pPr algn="ctr"/>
              <a:endParaRPr kumimoji="1" lang="en-US" altLang="ja-JP" sz="2400" dirty="0"/>
            </a:p>
            <a:p>
              <a:pPr algn="ctr"/>
              <a:r>
                <a:rPr kumimoji="1" lang="en-US" altLang="ja-JP" sz="2400" dirty="0"/>
                <a:t>【</a:t>
              </a:r>
              <a:r>
                <a:rPr lang="ja-JP" altLang="en-US" sz="2400" dirty="0"/>
                <a:t>自動走行</a:t>
              </a:r>
              <a:r>
                <a:rPr kumimoji="1" lang="en-US" altLang="ja-JP" sz="2400" dirty="0"/>
                <a:t>】</a:t>
              </a:r>
            </a:p>
            <a:p>
              <a:pPr algn="ctr"/>
              <a:endParaRPr kumimoji="1" lang="en-US" altLang="ja-JP" sz="2400" dirty="0"/>
            </a:p>
            <a:p>
              <a:pPr algn="ctr"/>
              <a:r>
                <a:rPr lang="ja-JP" altLang="en-US" sz="2400" dirty="0"/>
                <a:t>障害物検知による</a:t>
              </a:r>
              <a:endParaRPr lang="en-US" altLang="ja-JP" sz="2400" dirty="0"/>
            </a:p>
            <a:p>
              <a:pPr algn="ctr"/>
              <a:r>
                <a:rPr kumimoji="1" lang="ja-JP" altLang="en-US" sz="2400" dirty="0"/>
                <a:t>安全なルートを走行</a:t>
              </a:r>
              <a:endParaRPr kumimoji="1" lang="en-US" altLang="ja-JP" sz="2400" dirty="0"/>
            </a:p>
            <a:p>
              <a:pPr algn="ctr"/>
              <a:endParaRPr kumimoji="1" lang="en-US" altLang="ja-JP" sz="2400" dirty="0"/>
            </a:p>
          </p:txBody>
        </p:sp>
        <p:cxnSp>
          <p:nvCxnSpPr>
            <p:cNvPr id="21" name="直線コネクタ 20">
              <a:extLst>
                <a:ext uri="{FF2B5EF4-FFF2-40B4-BE49-F238E27FC236}">
                  <a16:creationId xmlns:a16="http://schemas.microsoft.com/office/drawing/2014/main" id="{9AF0F1F0-9AAC-4C64-0F9E-71BD4FD8B67F}"/>
                </a:ext>
              </a:extLst>
            </p:cNvPr>
            <p:cNvCxnSpPr/>
            <p:nvPr/>
          </p:nvCxnSpPr>
          <p:spPr>
            <a:xfrm>
              <a:off x="20711045" y="2494782"/>
              <a:ext cx="3600450" cy="0"/>
            </a:xfrm>
            <a:prstGeom prst="line">
              <a:avLst/>
            </a:prstGeom>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736852489"/>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decel="100000" fill="hold" nodeType="clickEffect">
                                  <p:stCondLst>
                                    <p:cond delay="0"/>
                                  </p:stCondLst>
                                  <p:childTnLst>
                                    <p:animMotion origin="layout" path="M 4.16667E-6 -2.96296E-6 L -1.02162 -0.00046 " pathEditMode="relative" rAng="0" ptsTypes="AA">
                                      <p:cBhvr>
                                        <p:cTn id="6" dur="1000" fill="hold"/>
                                        <p:tgtEl>
                                          <p:spTgt spid="38"/>
                                        </p:tgtEl>
                                        <p:attrNameLst>
                                          <p:attrName>ppt_x</p:attrName>
                                          <p:attrName>ppt_y</p:attrName>
                                        </p:attrNameLst>
                                      </p:cBhvr>
                                      <p:rCtr x="-51081" y="-23"/>
                                    </p:animMotion>
                                  </p:childTnLst>
                                </p:cTn>
                              </p:par>
                              <p:par>
                                <p:cTn id="7" presetID="35" presetClass="path" presetSubtype="0" decel="100000" fill="hold" nodeType="withEffect">
                                  <p:stCondLst>
                                    <p:cond delay="0"/>
                                  </p:stCondLst>
                                  <p:childTnLst>
                                    <p:animMotion origin="layout" path="M -4.58333E-6 0 L -1.02161 0 " pathEditMode="relative" rAng="0" ptsTypes="AA">
                                      <p:cBhvr>
                                        <p:cTn id="8" dur="1000" fill="hold"/>
                                        <p:tgtEl>
                                          <p:spTgt spid="39"/>
                                        </p:tgtEl>
                                        <p:attrNameLst>
                                          <p:attrName>ppt_x</p:attrName>
                                          <p:attrName>ppt_y</p:attrName>
                                        </p:attrNameLst>
                                      </p:cBhvr>
                                      <p:rCtr x="-51081" y="0"/>
                                    </p:animMotion>
                                  </p:childTnLst>
                                </p:cTn>
                              </p:par>
                              <p:par>
                                <p:cTn id="9" presetID="35" presetClass="path" presetSubtype="0" decel="100000" fill="hold" nodeType="withEffect">
                                  <p:stCondLst>
                                    <p:cond delay="0"/>
                                  </p:stCondLst>
                                  <p:childTnLst>
                                    <p:animMotion origin="layout" path="M -4.16667E-6 0 L -1.02161 0 " pathEditMode="relative" rAng="0" ptsTypes="AA">
                                      <p:cBhvr>
                                        <p:cTn id="10" dur="1000" fill="hold"/>
                                        <p:tgtEl>
                                          <p:spTgt spid="40"/>
                                        </p:tgtEl>
                                        <p:attrNameLst>
                                          <p:attrName>ppt_x</p:attrName>
                                          <p:attrName>ppt_y</p:attrName>
                                        </p:attrNameLst>
                                      </p:cBhvr>
                                      <p:rCtr x="-5108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D6383-CD4F-0554-DB69-8E6936C38FCB}"/>
            </a:ext>
          </a:extLst>
        </p:cNvPr>
        <p:cNvGrpSpPr/>
        <p:nvPr/>
      </p:nvGrpSpPr>
      <p:grpSpPr>
        <a:xfrm>
          <a:off x="0" y="0"/>
          <a:ext cx="0" cy="0"/>
          <a:chOff x="0" y="0"/>
          <a:chExt cx="0" cy="0"/>
        </a:xfrm>
      </p:grpSpPr>
      <p:sp>
        <p:nvSpPr>
          <p:cNvPr id="22" name="四角形: 角を丸くする 21">
            <a:extLst>
              <a:ext uri="{FF2B5EF4-FFF2-40B4-BE49-F238E27FC236}">
                <a16:creationId xmlns:a16="http://schemas.microsoft.com/office/drawing/2014/main" id="{3E002006-32F4-D4F2-FB31-DDD3FFF83ADB}"/>
              </a:ext>
            </a:extLst>
          </p:cNvPr>
          <p:cNvSpPr/>
          <p:nvPr/>
        </p:nvSpPr>
        <p:spPr>
          <a:xfrm>
            <a:off x="339171" y="1769274"/>
            <a:ext cx="3600450" cy="3321836"/>
          </a:xfrm>
          <a:prstGeom prst="roundRect">
            <a:avLst>
              <a:gd name="adj" fmla="val 18983"/>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noFill/>
              </a:rPr>
              <a:t>.</a:t>
            </a:r>
            <a:endParaRPr kumimoji="1" lang="ja-JP" altLang="en-US" dirty="0">
              <a:noFill/>
            </a:endParaRPr>
          </a:p>
        </p:txBody>
      </p:sp>
      <p:sp>
        <p:nvSpPr>
          <p:cNvPr id="23" name="四角形: 角を丸くする 22">
            <a:extLst>
              <a:ext uri="{FF2B5EF4-FFF2-40B4-BE49-F238E27FC236}">
                <a16:creationId xmlns:a16="http://schemas.microsoft.com/office/drawing/2014/main" id="{7A2BEC68-0A9F-884B-C7E3-46490274C7B2}"/>
              </a:ext>
            </a:extLst>
          </p:cNvPr>
          <p:cNvSpPr/>
          <p:nvPr/>
        </p:nvSpPr>
        <p:spPr>
          <a:xfrm>
            <a:off x="339173" y="2494781"/>
            <a:ext cx="3600450" cy="2596329"/>
          </a:xfrm>
          <a:prstGeom prst="roundRect">
            <a:avLst>
              <a:gd name="adj" fmla="val 2397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noFill/>
              </a:rPr>
              <a:t>.</a:t>
            </a:r>
            <a:endParaRPr kumimoji="1" lang="ja-JP" altLang="en-US" dirty="0">
              <a:noFill/>
            </a:endParaRPr>
          </a:p>
        </p:txBody>
      </p:sp>
      <p:sp>
        <p:nvSpPr>
          <p:cNvPr id="13" name="四角形: 角を丸くする 12">
            <a:extLst>
              <a:ext uri="{FF2B5EF4-FFF2-40B4-BE49-F238E27FC236}">
                <a16:creationId xmlns:a16="http://schemas.microsoft.com/office/drawing/2014/main" id="{E1321ED2-DE62-4458-6753-81F07C2D3980}"/>
              </a:ext>
            </a:extLst>
          </p:cNvPr>
          <p:cNvSpPr/>
          <p:nvPr/>
        </p:nvSpPr>
        <p:spPr>
          <a:xfrm>
            <a:off x="6093602" y="-2979"/>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2DFADDCA-35FD-FA36-BD48-C6A3D56759DE}"/>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C4A6F7E3-7CC4-91F0-D260-ACA085EAB2EC}"/>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tx1"/>
                </a:solidFill>
              </a:rPr>
              <a:t>システム要件</a:t>
            </a:r>
          </a:p>
        </p:txBody>
      </p:sp>
      <p:sp>
        <p:nvSpPr>
          <p:cNvPr id="11" name="四角形: 角を丸くする 10">
            <a:extLst>
              <a:ext uri="{FF2B5EF4-FFF2-40B4-BE49-F238E27FC236}">
                <a16:creationId xmlns:a16="http://schemas.microsoft.com/office/drawing/2014/main" id="{0E770756-38F2-53A3-2259-5233D3A00E45}"/>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bg1"/>
                </a:solidFill>
              </a:rPr>
              <a:t>操作手順</a:t>
            </a:r>
          </a:p>
        </p:txBody>
      </p:sp>
      <p:sp>
        <p:nvSpPr>
          <p:cNvPr id="12" name="四角形: 角を丸くする 11">
            <a:extLst>
              <a:ext uri="{FF2B5EF4-FFF2-40B4-BE49-F238E27FC236}">
                <a16:creationId xmlns:a16="http://schemas.microsoft.com/office/drawing/2014/main" id="{C033CF35-20A4-6443-C1F0-32997BD11FD4}"/>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t>プログラム説明</a:t>
            </a:r>
            <a:endParaRPr kumimoji="1" lang="ja-JP" altLang="en-US" sz="2400" dirty="0"/>
          </a:p>
        </p:txBody>
      </p:sp>
      <p:sp>
        <p:nvSpPr>
          <p:cNvPr id="15" name="四角形: 角を丸くする 14">
            <a:extLst>
              <a:ext uri="{FF2B5EF4-FFF2-40B4-BE49-F238E27FC236}">
                <a16:creationId xmlns:a16="http://schemas.microsoft.com/office/drawing/2014/main" id="{B5C303CA-6989-8D93-6757-BA4FAEBBC5AC}"/>
              </a:ext>
            </a:extLst>
          </p:cNvPr>
          <p:cNvSpPr/>
          <p:nvPr/>
        </p:nvSpPr>
        <p:spPr>
          <a:xfrm>
            <a:off x="339205" y="1769414"/>
            <a:ext cx="3600450" cy="3324225"/>
          </a:xfrm>
          <a:prstGeom prst="roundRect">
            <a:avLst>
              <a:gd name="adj" fmla="val 18674"/>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t>STEP</a:t>
            </a:r>
            <a:r>
              <a:rPr lang="ja-JP" altLang="en-US" sz="3200" dirty="0"/>
              <a:t> </a:t>
            </a:r>
            <a:r>
              <a:rPr lang="en-US" altLang="ja-JP" sz="3200" dirty="0"/>
              <a:t>01</a:t>
            </a:r>
          </a:p>
          <a:p>
            <a:pPr algn="ctr"/>
            <a:endParaRPr lang="en-US" altLang="ja-JP" sz="3200" dirty="0"/>
          </a:p>
          <a:p>
            <a:pPr algn="ctr"/>
            <a:endParaRPr kumimoji="1" lang="en-US" altLang="ja-JP" sz="2400" dirty="0"/>
          </a:p>
          <a:p>
            <a:pPr algn="ctr"/>
            <a:r>
              <a:rPr kumimoji="1" lang="en-US" altLang="ja-JP" sz="2400" dirty="0"/>
              <a:t>【</a:t>
            </a:r>
            <a:r>
              <a:rPr kumimoji="1" lang="ja-JP" altLang="en-US" sz="2400" dirty="0"/>
              <a:t>起動・スタート</a:t>
            </a:r>
            <a:r>
              <a:rPr kumimoji="1" lang="en-US" altLang="ja-JP" sz="2400" dirty="0"/>
              <a:t>】</a:t>
            </a:r>
          </a:p>
          <a:p>
            <a:pPr algn="ctr"/>
            <a:endParaRPr kumimoji="1" lang="en-US" altLang="ja-JP" sz="2400" dirty="0"/>
          </a:p>
          <a:p>
            <a:pPr algn="ctr"/>
            <a:r>
              <a:rPr lang="ja-JP" altLang="en-US" sz="2400" dirty="0"/>
              <a:t>ロボットの電源を入れプログラムを起動</a:t>
            </a:r>
            <a:endParaRPr lang="en-US" altLang="ja-JP" sz="2400" dirty="0"/>
          </a:p>
          <a:p>
            <a:pPr algn="ctr"/>
            <a:endParaRPr kumimoji="1" lang="ja-JP" altLang="en-US" sz="2400" dirty="0"/>
          </a:p>
        </p:txBody>
      </p:sp>
      <p:sp>
        <p:nvSpPr>
          <p:cNvPr id="16" name="四角形: 角を丸くする 15">
            <a:extLst>
              <a:ext uri="{FF2B5EF4-FFF2-40B4-BE49-F238E27FC236}">
                <a16:creationId xmlns:a16="http://schemas.microsoft.com/office/drawing/2014/main" id="{B75BB625-78EA-60FF-F668-3A555F3A26FD}"/>
              </a:ext>
            </a:extLst>
          </p:cNvPr>
          <p:cNvSpPr/>
          <p:nvPr/>
        </p:nvSpPr>
        <p:spPr>
          <a:xfrm>
            <a:off x="4293377" y="1766887"/>
            <a:ext cx="3600450" cy="3324225"/>
          </a:xfrm>
          <a:prstGeom prst="roundRect">
            <a:avLst>
              <a:gd name="adj" fmla="val 17183"/>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t>STEP</a:t>
            </a:r>
            <a:r>
              <a:rPr lang="ja-JP" altLang="en-US" sz="3200" dirty="0"/>
              <a:t> </a:t>
            </a:r>
            <a:r>
              <a:rPr lang="en-US" altLang="ja-JP" sz="3200" dirty="0"/>
              <a:t>02</a:t>
            </a:r>
          </a:p>
          <a:p>
            <a:pPr algn="ctr"/>
            <a:endParaRPr lang="en-US" altLang="ja-JP" sz="3200" dirty="0"/>
          </a:p>
          <a:p>
            <a:pPr algn="ctr"/>
            <a:endParaRPr kumimoji="1" lang="en-US" altLang="ja-JP" sz="2400" dirty="0"/>
          </a:p>
          <a:p>
            <a:pPr algn="ctr"/>
            <a:r>
              <a:rPr kumimoji="1" lang="en-US" altLang="ja-JP" sz="2400" dirty="0"/>
              <a:t>【</a:t>
            </a:r>
            <a:r>
              <a:rPr kumimoji="1" lang="ja-JP" altLang="en-US" sz="2400" dirty="0"/>
              <a:t>座標指定</a:t>
            </a:r>
            <a:r>
              <a:rPr kumimoji="1" lang="en-US" altLang="ja-JP" sz="2400" dirty="0"/>
              <a:t>】</a:t>
            </a:r>
          </a:p>
          <a:p>
            <a:pPr algn="ctr"/>
            <a:endParaRPr kumimoji="1" lang="en-US" altLang="ja-JP" sz="2400" dirty="0"/>
          </a:p>
          <a:p>
            <a:pPr algn="ctr"/>
            <a:r>
              <a:rPr kumimoji="1" lang="en-US" altLang="ja-JP" sz="2400" dirty="0"/>
              <a:t>Scratch</a:t>
            </a:r>
            <a:r>
              <a:rPr kumimoji="1" lang="ja-JP" altLang="en-US" sz="2400" dirty="0"/>
              <a:t>の入力欄に</a:t>
            </a:r>
            <a:endParaRPr kumimoji="1" lang="en-US" altLang="ja-JP" sz="2400" dirty="0"/>
          </a:p>
          <a:p>
            <a:pPr algn="ctr"/>
            <a:r>
              <a:rPr kumimoji="1" lang="ja-JP" altLang="en-US" sz="2400" dirty="0"/>
              <a:t>ゴールの座標を入力</a:t>
            </a:r>
            <a:endParaRPr kumimoji="1" lang="en-US" altLang="ja-JP" sz="2400" dirty="0"/>
          </a:p>
          <a:p>
            <a:pPr algn="ctr"/>
            <a:endParaRPr kumimoji="1" lang="en-US" altLang="ja-JP" sz="2400" dirty="0"/>
          </a:p>
        </p:txBody>
      </p:sp>
      <p:sp>
        <p:nvSpPr>
          <p:cNvPr id="17" name="四角形: 角を丸くする 16">
            <a:extLst>
              <a:ext uri="{FF2B5EF4-FFF2-40B4-BE49-F238E27FC236}">
                <a16:creationId xmlns:a16="http://schemas.microsoft.com/office/drawing/2014/main" id="{6A72A7CF-5B8D-0E95-D9AB-65EBE1085CCF}"/>
              </a:ext>
            </a:extLst>
          </p:cNvPr>
          <p:cNvSpPr/>
          <p:nvPr/>
        </p:nvSpPr>
        <p:spPr>
          <a:xfrm>
            <a:off x="8252345" y="1766887"/>
            <a:ext cx="3600450" cy="3324225"/>
          </a:xfrm>
          <a:prstGeom prst="roundRect">
            <a:avLst>
              <a:gd name="adj" fmla="val 181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t>STEP</a:t>
            </a:r>
            <a:r>
              <a:rPr lang="ja-JP" altLang="en-US" sz="3200" dirty="0"/>
              <a:t> </a:t>
            </a:r>
            <a:r>
              <a:rPr lang="en-US" altLang="ja-JP" sz="3200" dirty="0"/>
              <a:t>03</a:t>
            </a:r>
          </a:p>
          <a:p>
            <a:pPr algn="ctr"/>
            <a:endParaRPr lang="en-US" altLang="ja-JP" sz="3200" dirty="0"/>
          </a:p>
          <a:p>
            <a:pPr algn="ctr"/>
            <a:endParaRPr kumimoji="1" lang="en-US" altLang="ja-JP" sz="2400" dirty="0"/>
          </a:p>
          <a:p>
            <a:pPr algn="ctr"/>
            <a:r>
              <a:rPr kumimoji="1" lang="en-US" altLang="ja-JP" sz="2400" dirty="0"/>
              <a:t>【</a:t>
            </a:r>
            <a:r>
              <a:rPr lang="ja-JP" altLang="en-US" sz="2400" dirty="0"/>
              <a:t>自動走行</a:t>
            </a:r>
            <a:r>
              <a:rPr kumimoji="1" lang="en-US" altLang="ja-JP" sz="2400" dirty="0"/>
              <a:t>】</a:t>
            </a:r>
          </a:p>
          <a:p>
            <a:pPr algn="ctr"/>
            <a:endParaRPr kumimoji="1" lang="en-US" altLang="ja-JP" sz="2400" dirty="0"/>
          </a:p>
          <a:p>
            <a:pPr algn="ctr"/>
            <a:r>
              <a:rPr lang="ja-JP" altLang="en-US" sz="2400" dirty="0"/>
              <a:t>障害物検知による</a:t>
            </a:r>
            <a:endParaRPr lang="en-US" altLang="ja-JP" sz="2400" dirty="0"/>
          </a:p>
          <a:p>
            <a:pPr algn="ctr"/>
            <a:r>
              <a:rPr kumimoji="1" lang="ja-JP" altLang="en-US" sz="2400" dirty="0"/>
              <a:t>安全なルートを走行</a:t>
            </a:r>
            <a:endParaRPr kumimoji="1" lang="en-US" altLang="ja-JP" sz="2400" dirty="0"/>
          </a:p>
          <a:p>
            <a:pPr algn="ctr"/>
            <a:endParaRPr kumimoji="1" lang="en-US" altLang="ja-JP" sz="2400" dirty="0"/>
          </a:p>
        </p:txBody>
      </p:sp>
      <p:cxnSp>
        <p:nvCxnSpPr>
          <p:cNvPr id="19" name="直線コネクタ 18">
            <a:extLst>
              <a:ext uri="{FF2B5EF4-FFF2-40B4-BE49-F238E27FC236}">
                <a16:creationId xmlns:a16="http://schemas.microsoft.com/office/drawing/2014/main" id="{0A798069-9238-F273-5153-462F1666B9C8}"/>
              </a:ext>
            </a:extLst>
          </p:cNvPr>
          <p:cNvCxnSpPr/>
          <p:nvPr/>
        </p:nvCxnSpPr>
        <p:spPr>
          <a:xfrm>
            <a:off x="339205" y="2476116"/>
            <a:ext cx="360045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直線コネクタ 19">
            <a:extLst>
              <a:ext uri="{FF2B5EF4-FFF2-40B4-BE49-F238E27FC236}">
                <a16:creationId xmlns:a16="http://schemas.microsoft.com/office/drawing/2014/main" id="{EFAF4487-1F68-793E-2CC5-9342E07C3EED}"/>
              </a:ext>
            </a:extLst>
          </p:cNvPr>
          <p:cNvCxnSpPr/>
          <p:nvPr/>
        </p:nvCxnSpPr>
        <p:spPr>
          <a:xfrm>
            <a:off x="4293377" y="2469382"/>
            <a:ext cx="360045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直線コネクタ 20">
            <a:extLst>
              <a:ext uri="{FF2B5EF4-FFF2-40B4-BE49-F238E27FC236}">
                <a16:creationId xmlns:a16="http://schemas.microsoft.com/office/drawing/2014/main" id="{12D1BD41-F35B-6D70-0D24-8EE8E08CF7CA}"/>
              </a:ext>
            </a:extLst>
          </p:cNvPr>
          <p:cNvCxnSpPr/>
          <p:nvPr/>
        </p:nvCxnSpPr>
        <p:spPr>
          <a:xfrm>
            <a:off x="8252345" y="2494782"/>
            <a:ext cx="360045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444278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84F56-F1AB-2468-3E59-9A0A77732F54}"/>
            </a:ext>
          </a:extLst>
        </p:cNvPr>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378B7677-F105-325B-B5EE-544BF08E3DF1}"/>
              </a:ext>
            </a:extLst>
          </p:cNvPr>
          <p:cNvSpPr/>
          <p:nvPr/>
        </p:nvSpPr>
        <p:spPr>
          <a:xfrm>
            <a:off x="4295353" y="1769274"/>
            <a:ext cx="3600450" cy="3321836"/>
          </a:xfrm>
          <a:prstGeom prst="roundRect">
            <a:avLst>
              <a:gd name="adj" fmla="val 16594"/>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noFill/>
              </a:rPr>
              <a:t>,</a:t>
            </a:r>
            <a:endParaRPr kumimoji="1" lang="ja-JP" altLang="en-US" dirty="0">
              <a:noFill/>
            </a:endParaRPr>
          </a:p>
        </p:txBody>
      </p:sp>
      <p:sp>
        <p:nvSpPr>
          <p:cNvPr id="6" name="四角形: 角を丸くする 5">
            <a:extLst>
              <a:ext uri="{FF2B5EF4-FFF2-40B4-BE49-F238E27FC236}">
                <a16:creationId xmlns:a16="http://schemas.microsoft.com/office/drawing/2014/main" id="{0FFA5ED5-F04F-9E8F-8770-867E6A7269AA}"/>
              </a:ext>
            </a:extLst>
          </p:cNvPr>
          <p:cNvSpPr/>
          <p:nvPr/>
        </p:nvSpPr>
        <p:spPr>
          <a:xfrm>
            <a:off x="4295355" y="2494781"/>
            <a:ext cx="3600450" cy="2596329"/>
          </a:xfrm>
          <a:prstGeom prst="roundRect">
            <a:avLst>
              <a:gd name="adj" fmla="val 2177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noFill/>
              </a:rPr>
              <a:t>,</a:t>
            </a:r>
            <a:endParaRPr kumimoji="1" lang="ja-JP" altLang="en-US" dirty="0">
              <a:noFill/>
            </a:endParaRPr>
          </a:p>
        </p:txBody>
      </p:sp>
      <p:sp>
        <p:nvSpPr>
          <p:cNvPr id="3" name="四角形: 角を丸くする 2">
            <a:extLst>
              <a:ext uri="{FF2B5EF4-FFF2-40B4-BE49-F238E27FC236}">
                <a16:creationId xmlns:a16="http://schemas.microsoft.com/office/drawing/2014/main" id="{6C9322E9-3BBF-DF46-EE81-0FD3B8ABE182}"/>
              </a:ext>
            </a:extLst>
          </p:cNvPr>
          <p:cNvSpPr/>
          <p:nvPr/>
        </p:nvSpPr>
        <p:spPr>
          <a:xfrm>
            <a:off x="339171" y="1769274"/>
            <a:ext cx="3600450" cy="3321836"/>
          </a:xfrm>
          <a:prstGeom prst="roundRect">
            <a:avLst>
              <a:gd name="adj" fmla="val 4264"/>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noFill/>
              </a:rPr>
              <a:t>.</a:t>
            </a:r>
            <a:endParaRPr kumimoji="1" lang="ja-JP" altLang="en-US" dirty="0">
              <a:noFill/>
            </a:endParaRPr>
          </a:p>
        </p:txBody>
      </p:sp>
      <p:sp>
        <p:nvSpPr>
          <p:cNvPr id="4" name="四角形: 角を丸くする 3">
            <a:extLst>
              <a:ext uri="{FF2B5EF4-FFF2-40B4-BE49-F238E27FC236}">
                <a16:creationId xmlns:a16="http://schemas.microsoft.com/office/drawing/2014/main" id="{23D3A179-4745-4A9E-F1EE-A1246C874BE1}"/>
              </a:ext>
            </a:extLst>
          </p:cNvPr>
          <p:cNvSpPr/>
          <p:nvPr/>
        </p:nvSpPr>
        <p:spPr>
          <a:xfrm>
            <a:off x="339173" y="2494781"/>
            <a:ext cx="3600450" cy="2596329"/>
          </a:xfrm>
          <a:prstGeom prst="roundRect">
            <a:avLst>
              <a:gd name="adj" fmla="val 490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noFill/>
              </a:rPr>
              <a:t>.</a:t>
            </a:r>
            <a:endParaRPr kumimoji="1" lang="ja-JP" altLang="en-US" dirty="0">
              <a:noFill/>
            </a:endParaRPr>
          </a:p>
        </p:txBody>
      </p:sp>
      <p:sp>
        <p:nvSpPr>
          <p:cNvPr id="13" name="四角形: 角を丸くする 12">
            <a:extLst>
              <a:ext uri="{FF2B5EF4-FFF2-40B4-BE49-F238E27FC236}">
                <a16:creationId xmlns:a16="http://schemas.microsoft.com/office/drawing/2014/main" id="{5B4235A2-3B7A-D0C3-F4CF-23B9523F7A2F}"/>
              </a:ext>
            </a:extLst>
          </p:cNvPr>
          <p:cNvSpPr/>
          <p:nvPr/>
        </p:nvSpPr>
        <p:spPr>
          <a:xfrm>
            <a:off x="6093602" y="-2979"/>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A801CBA7-776A-29C9-4999-430E21495DF8}"/>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7740F046-2690-9D4C-5906-21EA379D3968}"/>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tx1"/>
                </a:solidFill>
              </a:rPr>
              <a:t>システム要件</a:t>
            </a:r>
          </a:p>
        </p:txBody>
      </p:sp>
      <p:sp>
        <p:nvSpPr>
          <p:cNvPr id="11" name="四角形: 角を丸くする 10">
            <a:extLst>
              <a:ext uri="{FF2B5EF4-FFF2-40B4-BE49-F238E27FC236}">
                <a16:creationId xmlns:a16="http://schemas.microsoft.com/office/drawing/2014/main" id="{40B22D96-3F95-0E18-1D7B-87316F6B3A57}"/>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bg1"/>
                </a:solidFill>
              </a:rPr>
              <a:t>操作手順</a:t>
            </a:r>
          </a:p>
        </p:txBody>
      </p:sp>
      <p:sp>
        <p:nvSpPr>
          <p:cNvPr id="12" name="四角形: 角を丸くする 11">
            <a:extLst>
              <a:ext uri="{FF2B5EF4-FFF2-40B4-BE49-F238E27FC236}">
                <a16:creationId xmlns:a16="http://schemas.microsoft.com/office/drawing/2014/main" id="{40329284-2EBA-A02F-DD89-FD98E31173DC}"/>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t>プログラム説明</a:t>
            </a:r>
            <a:endParaRPr kumimoji="1" lang="ja-JP" altLang="en-US" sz="2400" dirty="0"/>
          </a:p>
        </p:txBody>
      </p:sp>
      <p:sp>
        <p:nvSpPr>
          <p:cNvPr id="15" name="四角形: 角を丸くする 14">
            <a:extLst>
              <a:ext uri="{FF2B5EF4-FFF2-40B4-BE49-F238E27FC236}">
                <a16:creationId xmlns:a16="http://schemas.microsoft.com/office/drawing/2014/main" id="{AD3435F5-1632-1681-2B56-7F0149C862AC}"/>
              </a:ext>
            </a:extLst>
          </p:cNvPr>
          <p:cNvSpPr/>
          <p:nvPr/>
        </p:nvSpPr>
        <p:spPr>
          <a:xfrm>
            <a:off x="339205" y="1769414"/>
            <a:ext cx="3600450" cy="3324225"/>
          </a:xfrm>
          <a:prstGeom prst="roundRect">
            <a:avLst>
              <a:gd name="adj" fmla="val 4462"/>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solidFill>
                  <a:schemeClr val="bg1"/>
                </a:solidFill>
              </a:rPr>
              <a:t>STEP</a:t>
            </a:r>
            <a:r>
              <a:rPr lang="ja-JP" altLang="en-US" sz="3200" dirty="0">
                <a:solidFill>
                  <a:schemeClr val="bg1"/>
                </a:solidFill>
              </a:rPr>
              <a:t> </a:t>
            </a:r>
            <a:r>
              <a:rPr lang="en-US" altLang="ja-JP" sz="3200" dirty="0">
                <a:solidFill>
                  <a:schemeClr val="bg1"/>
                </a:solidFill>
              </a:rPr>
              <a:t>01</a:t>
            </a:r>
          </a:p>
          <a:p>
            <a:pPr algn="ctr"/>
            <a:endParaRPr lang="en-US" altLang="ja-JP" sz="3200" dirty="0"/>
          </a:p>
          <a:p>
            <a:pPr algn="ctr"/>
            <a:endParaRPr kumimoji="1" lang="en-US" altLang="ja-JP" sz="2400" dirty="0"/>
          </a:p>
          <a:p>
            <a:pPr algn="ctr"/>
            <a:r>
              <a:rPr kumimoji="1" lang="en-US" altLang="ja-JP" sz="2400" dirty="0"/>
              <a:t>【</a:t>
            </a:r>
            <a:r>
              <a:rPr kumimoji="1" lang="ja-JP" altLang="en-US" sz="2400" dirty="0"/>
              <a:t>起動・スタート</a:t>
            </a:r>
            <a:r>
              <a:rPr kumimoji="1" lang="en-US" altLang="ja-JP" sz="2400" dirty="0"/>
              <a:t>】</a:t>
            </a:r>
          </a:p>
          <a:p>
            <a:pPr algn="ctr"/>
            <a:endParaRPr kumimoji="1" lang="en-US" altLang="ja-JP" sz="2400" dirty="0"/>
          </a:p>
          <a:p>
            <a:pPr algn="ctr"/>
            <a:r>
              <a:rPr lang="ja-JP" altLang="en-US" sz="2400" dirty="0"/>
              <a:t>ロボットの電源を入れプログラムを起動</a:t>
            </a:r>
            <a:endParaRPr lang="en-US" altLang="ja-JP" sz="2400" dirty="0"/>
          </a:p>
          <a:p>
            <a:pPr algn="ctr"/>
            <a:endParaRPr kumimoji="1" lang="ja-JP" altLang="en-US" sz="2400" dirty="0"/>
          </a:p>
        </p:txBody>
      </p:sp>
      <p:sp>
        <p:nvSpPr>
          <p:cNvPr id="16" name="四角形: 角を丸くする 15">
            <a:extLst>
              <a:ext uri="{FF2B5EF4-FFF2-40B4-BE49-F238E27FC236}">
                <a16:creationId xmlns:a16="http://schemas.microsoft.com/office/drawing/2014/main" id="{2B2540E4-9B46-0842-46C9-4D1382D8B3D0}"/>
              </a:ext>
            </a:extLst>
          </p:cNvPr>
          <p:cNvSpPr/>
          <p:nvPr/>
        </p:nvSpPr>
        <p:spPr>
          <a:xfrm>
            <a:off x="4293377" y="1766887"/>
            <a:ext cx="3600450" cy="3324225"/>
          </a:xfrm>
          <a:prstGeom prst="roundRect">
            <a:avLst>
              <a:gd name="adj" fmla="val 17183"/>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t>STEP</a:t>
            </a:r>
            <a:r>
              <a:rPr lang="ja-JP" altLang="en-US" sz="3200" dirty="0"/>
              <a:t> </a:t>
            </a:r>
            <a:r>
              <a:rPr lang="en-US" altLang="ja-JP" sz="3200" dirty="0"/>
              <a:t>02</a:t>
            </a:r>
          </a:p>
          <a:p>
            <a:pPr algn="ctr"/>
            <a:endParaRPr lang="en-US" altLang="ja-JP" sz="3200" dirty="0"/>
          </a:p>
          <a:p>
            <a:pPr algn="ctr"/>
            <a:endParaRPr kumimoji="1" lang="en-US" altLang="ja-JP" sz="2400" dirty="0"/>
          </a:p>
          <a:p>
            <a:pPr algn="ctr"/>
            <a:r>
              <a:rPr kumimoji="1" lang="en-US" altLang="ja-JP" sz="2400" dirty="0"/>
              <a:t>【</a:t>
            </a:r>
            <a:r>
              <a:rPr kumimoji="1" lang="ja-JP" altLang="en-US" sz="2400" dirty="0"/>
              <a:t>座標指定</a:t>
            </a:r>
            <a:r>
              <a:rPr kumimoji="1" lang="en-US" altLang="ja-JP" sz="2400" dirty="0"/>
              <a:t>】</a:t>
            </a:r>
          </a:p>
          <a:p>
            <a:pPr algn="ctr"/>
            <a:endParaRPr kumimoji="1" lang="en-US" altLang="ja-JP" sz="2400" dirty="0"/>
          </a:p>
          <a:p>
            <a:pPr algn="ctr"/>
            <a:r>
              <a:rPr kumimoji="1" lang="en-US" altLang="ja-JP" sz="2400" dirty="0"/>
              <a:t>Scratch</a:t>
            </a:r>
            <a:r>
              <a:rPr kumimoji="1" lang="ja-JP" altLang="en-US" sz="2400" dirty="0"/>
              <a:t>の入力欄に</a:t>
            </a:r>
            <a:endParaRPr kumimoji="1" lang="en-US" altLang="ja-JP" sz="2400" dirty="0"/>
          </a:p>
          <a:p>
            <a:pPr algn="ctr"/>
            <a:r>
              <a:rPr kumimoji="1" lang="ja-JP" altLang="en-US" sz="2400" dirty="0"/>
              <a:t>ゴールの座標を入力</a:t>
            </a:r>
            <a:endParaRPr kumimoji="1" lang="en-US" altLang="ja-JP" sz="2400" dirty="0"/>
          </a:p>
          <a:p>
            <a:pPr algn="ctr"/>
            <a:endParaRPr kumimoji="1" lang="en-US" altLang="ja-JP" sz="2400" dirty="0"/>
          </a:p>
        </p:txBody>
      </p:sp>
      <p:sp>
        <p:nvSpPr>
          <p:cNvPr id="17" name="四角形: 角を丸くする 16">
            <a:extLst>
              <a:ext uri="{FF2B5EF4-FFF2-40B4-BE49-F238E27FC236}">
                <a16:creationId xmlns:a16="http://schemas.microsoft.com/office/drawing/2014/main" id="{C9F68C13-449F-3D06-75E9-1AF102DC0F6D}"/>
              </a:ext>
            </a:extLst>
          </p:cNvPr>
          <p:cNvSpPr/>
          <p:nvPr/>
        </p:nvSpPr>
        <p:spPr>
          <a:xfrm>
            <a:off x="8252345" y="1766887"/>
            <a:ext cx="3600450" cy="3324225"/>
          </a:xfrm>
          <a:prstGeom prst="roundRect">
            <a:avLst>
              <a:gd name="adj" fmla="val 181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t>STEP</a:t>
            </a:r>
            <a:r>
              <a:rPr lang="ja-JP" altLang="en-US" sz="3200" dirty="0"/>
              <a:t> </a:t>
            </a:r>
            <a:r>
              <a:rPr lang="en-US" altLang="ja-JP" sz="3200" dirty="0"/>
              <a:t>03</a:t>
            </a:r>
          </a:p>
          <a:p>
            <a:pPr algn="ctr"/>
            <a:endParaRPr lang="en-US" altLang="ja-JP" sz="3200" dirty="0"/>
          </a:p>
          <a:p>
            <a:pPr algn="ctr"/>
            <a:endParaRPr kumimoji="1" lang="en-US" altLang="ja-JP" sz="2400" dirty="0"/>
          </a:p>
          <a:p>
            <a:pPr algn="ctr"/>
            <a:r>
              <a:rPr kumimoji="1" lang="en-US" altLang="ja-JP" sz="2400" dirty="0"/>
              <a:t>【</a:t>
            </a:r>
            <a:r>
              <a:rPr lang="ja-JP" altLang="en-US" sz="2400" dirty="0"/>
              <a:t>自動走行</a:t>
            </a:r>
            <a:r>
              <a:rPr kumimoji="1" lang="en-US" altLang="ja-JP" sz="2400" dirty="0"/>
              <a:t>】</a:t>
            </a:r>
          </a:p>
          <a:p>
            <a:pPr algn="ctr"/>
            <a:endParaRPr kumimoji="1" lang="en-US" altLang="ja-JP" sz="2400" dirty="0"/>
          </a:p>
          <a:p>
            <a:pPr algn="ctr"/>
            <a:r>
              <a:rPr lang="ja-JP" altLang="en-US" sz="2400" dirty="0"/>
              <a:t>障害物検知による</a:t>
            </a:r>
            <a:endParaRPr lang="en-US" altLang="ja-JP" sz="2400" dirty="0"/>
          </a:p>
          <a:p>
            <a:pPr algn="ctr"/>
            <a:r>
              <a:rPr kumimoji="1" lang="ja-JP" altLang="en-US" sz="2400" dirty="0"/>
              <a:t>安全なルートを走行</a:t>
            </a:r>
            <a:endParaRPr kumimoji="1" lang="en-US" altLang="ja-JP" sz="2400" dirty="0"/>
          </a:p>
          <a:p>
            <a:pPr algn="ctr"/>
            <a:endParaRPr kumimoji="1" lang="en-US" altLang="ja-JP" sz="2400" dirty="0"/>
          </a:p>
        </p:txBody>
      </p:sp>
      <p:cxnSp>
        <p:nvCxnSpPr>
          <p:cNvPr id="19" name="直線コネクタ 18">
            <a:extLst>
              <a:ext uri="{FF2B5EF4-FFF2-40B4-BE49-F238E27FC236}">
                <a16:creationId xmlns:a16="http://schemas.microsoft.com/office/drawing/2014/main" id="{EE668D24-2060-A8DA-1A40-810C021DB6D5}"/>
              </a:ext>
            </a:extLst>
          </p:cNvPr>
          <p:cNvCxnSpPr/>
          <p:nvPr/>
        </p:nvCxnSpPr>
        <p:spPr>
          <a:xfrm>
            <a:off x="339205" y="2476116"/>
            <a:ext cx="360045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 name="直線コネクタ 19">
            <a:extLst>
              <a:ext uri="{FF2B5EF4-FFF2-40B4-BE49-F238E27FC236}">
                <a16:creationId xmlns:a16="http://schemas.microsoft.com/office/drawing/2014/main" id="{5F0F367B-52AB-5205-719D-D01C96E9DC38}"/>
              </a:ext>
            </a:extLst>
          </p:cNvPr>
          <p:cNvCxnSpPr/>
          <p:nvPr/>
        </p:nvCxnSpPr>
        <p:spPr>
          <a:xfrm>
            <a:off x="4293377" y="2469382"/>
            <a:ext cx="360045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直線コネクタ 20">
            <a:extLst>
              <a:ext uri="{FF2B5EF4-FFF2-40B4-BE49-F238E27FC236}">
                <a16:creationId xmlns:a16="http://schemas.microsoft.com/office/drawing/2014/main" id="{7D397A2F-7238-3F49-87B3-C95650800060}"/>
              </a:ext>
            </a:extLst>
          </p:cNvPr>
          <p:cNvCxnSpPr/>
          <p:nvPr/>
        </p:nvCxnSpPr>
        <p:spPr>
          <a:xfrm>
            <a:off x="8252345" y="2494782"/>
            <a:ext cx="360045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3044973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EEA85-2E78-6728-75C1-30121817927B}"/>
            </a:ext>
          </a:extLst>
        </p:cNvPr>
        <p:cNvGrpSpPr/>
        <p:nvPr/>
      </p:nvGrpSpPr>
      <p:grpSpPr>
        <a:xfrm>
          <a:off x="0" y="0"/>
          <a:ext cx="0" cy="0"/>
          <a:chOff x="0" y="0"/>
          <a:chExt cx="0" cy="0"/>
        </a:xfrm>
      </p:grpSpPr>
      <p:sp>
        <p:nvSpPr>
          <p:cNvPr id="6" name="四角形: 角を丸くする 5">
            <a:extLst>
              <a:ext uri="{FF2B5EF4-FFF2-40B4-BE49-F238E27FC236}">
                <a16:creationId xmlns:a16="http://schemas.microsoft.com/office/drawing/2014/main" id="{9195D71F-BAED-EC6E-E0F8-26A6905BF311}"/>
              </a:ext>
            </a:extLst>
          </p:cNvPr>
          <p:cNvSpPr/>
          <p:nvPr/>
        </p:nvSpPr>
        <p:spPr>
          <a:xfrm>
            <a:off x="8251524" y="1769274"/>
            <a:ext cx="3600450" cy="3321836"/>
          </a:xfrm>
          <a:prstGeom prst="roundRect">
            <a:avLst>
              <a:gd name="adj" fmla="val 17597"/>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noFill/>
              </a:rPr>
              <a:t>/</a:t>
            </a:r>
            <a:endParaRPr kumimoji="1" lang="ja-JP" altLang="en-US" dirty="0">
              <a:noFill/>
            </a:endParaRPr>
          </a:p>
        </p:txBody>
      </p:sp>
      <p:sp>
        <p:nvSpPr>
          <p:cNvPr id="7" name="四角形: 角を丸くする 6">
            <a:extLst>
              <a:ext uri="{FF2B5EF4-FFF2-40B4-BE49-F238E27FC236}">
                <a16:creationId xmlns:a16="http://schemas.microsoft.com/office/drawing/2014/main" id="{379AF0D0-2133-A8DB-9D65-4F0A50708022}"/>
              </a:ext>
            </a:extLst>
          </p:cNvPr>
          <p:cNvSpPr/>
          <p:nvPr/>
        </p:nvSpPr>
        <p:spPr>
          <a:xfrm>
            <a:off x="8251526" y="2494781"/>
            <a:ext cx="3600450" cy="2596329"/>
          </a:xfrm>
          <a:prstGeom prst="roundRect">
            <a:avLst>
              <a:gd name="adj" fmla="val 2287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noFill/>
              </a:rPr>
              <a:t>/</a:t>
            </a:r>
            <a:endParaRPr kumimoji="1" lang="ja-JP" altLang="en-US" dirty="0">
              <a:noFill/>
            </a:endParaRPr>
          </a:p>
        </p:txBody>
      </p:sp>
      <p:sp>
        <p:nvSpPr>
          <p:cNvPr id="4" name="四角形: 角を丸くする 3">
            <a:extLst>
              <a:ext uri="{FF2B5EF4-FFF2-40B4-BE49-F238E27FC236}">
                <a16:creationId xmlns:a16="http://schemas.microsoft.com/office/drawing/2014/main" id="{857B634A-48C2-D588-0A15-A7D671D61C23}"/>
              </a:ext>
            </a:extLst>
          </p:cNvPr>
          <p:cNvSpPr/>
          <p:nvPr/>
        </p:nvSpPr>
        <p:spPr>
          <a:xfrm>
            <a:off x="4295353" y="1769274"/>
            <a:ext cx="3600450" cy="3321836"/>
          </a:xfrm>
          <a:prstGeom prst="roundRect">
            <a:avLst>
              <a:gd name="adj" fmla="val 4264"/>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noFill/>
              </a:rPr>
              <a:t>,</a:t>
            </a:r>
            <a:endParaRPr kumimoji="1" lang="ja-JP" altLang="en-US" dirty="0">
              <a:noFill/>
            </a:endParaRPr>
          </a:p>
        </p:txBody>
      </p:sp>
      <p:sp>
        <p:nvSpPr>
          <p:cNvPr id="5" name="四角形: 角を丸くする 4">
            <a:extLst>
              <a:ext uri="{FF2B5EF4-FFF2-40B4-BE49-F238E27FC236}">
                <a16:creationId xmlns:a16="http://schemas.microsoft.com/office/drawing/2014/main" id="{DC21845B-5B5F-BC58-204C-CDCB48319EDB}"/>
              </a:ext>
            </a:extLst>
          </p:cNvPr>
          <p:cNvSpPr/>
          <p:nvPr/>
        </p:nvSpPr>
        <p:spPr>
          <a:xfrm>
            <a:off x="4295355" y="2494781"/>
            <a:ext cx="3600450" cy="2596329"/>
          </a:xfrm>
          <a:prstGeom prst="roundRect">
            <a:avLst>
              <a:gd name="adj" fmla="val 490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noFill/>
              </a:rPr>
              <a:t>,</a:t>
            </a:r>
            <a:endParaRPr kumimoji="1" lang="ja-JP" altLang="en-US" dirty="0">
              <a:noFill/>
            </a:endParaRPr>
          </a:p>
        </p:txBody>
      </p:sp>
      <p:sp>
        <p:nvSpPr>
          <p:cNvPr id="8" name="四角形: 角を丸くする 7">
            <a:extLst>
              <a:ext uri="{FF2B5EF4-FFF2-40B4-BE49-F238E27FC236}">
                <a16:creationId xmlns:a16="http://schemas.microsoft.com/office/drawing/2014/main" id="{00CBF4CF-8A9D-2C7C-7D8B-5DE109B0E068}"/>
              </a:ext>
            </a:extLst>
          </p:cNvPr>
          <p:cNvSpPr/>
          <p:nvPr/>
        </p:nvSpPr>
        <p:spPr>
          <a:xfrm>
            <a:off x="339171" y="1769274"/>
            <a:ext cx="3600450" cy="3321836"/>
          </a:xfrm>
          <a:prstGeom prst="roundRect">
            <a:avLst>
              <a:gd name="adj" fmla="val 19174"/>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noFill/>
              </a:rPr>
              <a:t>.</a:t>
            </a:r>
            <a:endParaRPr kumimoji="1" lang="ja-JP" altLang="en-US" dirty="0">
              <a:noFill/>
            </a:endParaRPr>
          </a:p>
        </p:txBody>
      </p:sp>
      <p:sp>
        <p:nvSpPr>
          <p:cNvPr id="10" name="四角形: 角を丸くする 9">
            <a:extLst>
              <a:ext uri="{FF2B5EF4-FFF2-40B4-BE49-F238E27FC236}">
                <a16:creationId xmlns:a16="http://schemas.microsoft.com/office/drawing/2014/main" id="{2004EBCE-73C7-5228-AD68-17D6AC403D80}"/>
              </a:ext>
            </a:extLst>
          </p:cNvPr>
          <p:cNvSpPr/>
          <p:nvPr/>
        </p:nvSpPr>
        <p:spPr>
          <a:xfrm>
            <a:off x="339173" y="2494781"/>
            <a:ext cx="3600450" cy="2596329"/>
          </a:xfrm>
          <a:prstGeom prst="roundRect">
            <a:avLst>
              <a:gd name="adj" fmla="val 2361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noFill/>
              </a:rPr>
              <a:t>.</a:t>
            </a:r>
            <a:endParaRPr kumimoji="1" lang="ja-JP" altLang="en-US" dirty="0">
              <a:noFill/>
            </a:endParaRPr>
          </a:p>
        </p:txBody>
      </p:sp>
      <p:sp>
        <p:nvSpPr>
          <p:cNvPr id="13" name="四角形: 角を丸くする 12">
            <a:extLst>
              <a:ext uri="{FF2B5EF4-FFF2-40B4-BE49-F238E27FC236}">
                <a16:creationId xmlns:a16="http://schemas.microsoft.com/office/drawing/2014/main" id="{1E9F7F4A-8D4E-1ED9-5405-EB5A22EB88A2}"/>
              </a:ext>
            </a:extLst>
          </p:cNvPr>
          <p:cNvSpPr/>
          <p:nvPr/>
        </p:nvSpPr>
        <p:spPr>
          <a:xfrm>
            <a:off x="6093602" y="-2979"/>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CBD97DEA-9454-5D0E-EC3C-8FCEE9DC83D1}"/>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76804C84-F917-9AE3-7E71-C8D11347A5A8}"/>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tx1"/>
                </a:solidFill>
              </a:rPr>
              <a:t>システム要件</a:t>
            </a:r>
          </a:p>
        </p:txBody>
      </p:sp>
      <p:sp>
        <p:nvSpPr>
          <p:cNvPr id="11" name="四角形: 角を丸くする 10">
            <a:extLst>
              <a:ext uri="{FF2B5EF4-FFF2-40B4-BE49-F238E27FC236}">
                <a16:creationId xmlns:a16="http://schemas.microsoft.com/office/drawing/2014/main" id="{2FBE8E2B-A54B-2493-73B7-C5C00EF74021}"/>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bg1"/>
                </a:solidFill>
              </a:rPr>
              <a:t>操作手順</a:t>
            </a:r>
          </a:p>
        </p:txBody>
      </p:sp>
      <p:sp>
        <p:nvSpPr>
          <p:cNvPr id="12" name="四角形: 角を丸くする 11">
            <a:extLst>
              <a:ext uri="{FF2B5EF4-FFF2-40B4-BE49-F238E27FC236}">
                <a16:creationId xmlns:a16="http://schemas.microsoft.com/office/drawing/2014/main" id="{863BECC8-CD40-BBD1-EABF-6AAE4CD7D381}"/>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t>プログラム説明</a:t>
            </a:r>
            <a:endParaRPr kumimoji="1" lang="ja-JP" altLang="en-US" sz="2400" dirty="0"/>
          </a:p>
        </p:txBody>
      </p:sp>
      <p:sp>
        <p:nvSpPr>
          <p:cNvPr id="15" name="四角形: 角を丸くする 14">
            <a:extLst>
              <a:ext uri="{FF2B5EF4-FFF2-40B4-BE49-F238E27FC236}">
                <a16:creationId xmlns:a16="http://schemas.microsoft.com/office/drawing/2014/main" id="{EA61B70E-1560-BCB8-1F23-2F57CCD8DAEB}"/>
              </a:ext>
            </a:extLst>
          </p:cNvPr>
          <p:cNvSpPr/>
          <p:nvPr/>
        </p:nvSpPr>
        <p:spPr>
          <a:xfrm>
            <a:off x="339205" y="1769414"/>
            <a:ext cx="3600450" cy="3324225"/>
          </a:xfrm>
          <a:prstGeom prst="roundRect">
            <a:avLst>
              <a:gd name="adj" fmla="val 18674"/>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t>STEP</a:t>
            </a:r>
            <a:r>
              <a:rPr lang="ja-JP" altLang="en-US" sz="3200" dirty="0"/>
              <a:t> </a:t>
            </a:r>
            <a:r>
              <a:rPr lang="en-US" altLang="ja-JP" sz="3200" dirty="0"/>
              <a:t>01</a:t>
            </a:r>
          </a:p>
          <a:p>
            <a:pPr algn="ctr"/>
            <a:endParaRPr lang="en-US" altLang="ja-JP" sz="3200" dirty="0"/>
          </a:p>
          <a:p>
            <a:pPr algn="ctr"/>
            <a:endParaRPr kumimoji="1" lang="en-US" altLang="ja-JP" sz="2400" dirty="0"/>
          </a:p>
          <a:p>
            <a:pPr algn="ctr"/>
            <a:r>
              <a:rPr kumimoji="1" lang="en-US" altLang="ja-JP" sz="2400" dirty="0"/>
              <a:t>【</a:t>
            </a:r>
            <a:r>
              <a:rPr kumimoji="1" lang="ja-JP" altLang="en-US" sz="2400" dirty="0"/>
              <a:t>起動・スタート</a:t>
            </a:r>
            <a:r>
              <a:rPr kumimoji="1" lang="en-US" altLang="ja-JP" sz="2400" dirty="0"/>
              <a:t>】</a:t>
            </a:r>
          </a:p>
          <a:p>
            <a:pPr algn="ctr"/>
            <a:endParaRPr kumimoji="1" lang="en-US" altLang="ja-JP" sz="2400" dirty="0"/>
          </a:p>
          <a:p>
            <a:pPr algn="ctr"/>
            <a:r>
              <a:rPr lang="ja-JP" altLang="en-US" sz="2400" dirty="0"/>
              <a:t>ロボットの電源を入れプログラムを起動</a:t>
            </a:r>
            <a:endParaRPr lang="en-US" altLang="ja-JP" sz="2400" dirty="0"/>
          </a:p>
          <a:p>
            <a:pPr algn="ctr"/>
            <a:endParaRPr kumimoji="1" lang="ja-JP" altLang="en-US" sz="2400" dirty="0"/>
          </a:p>
        </p:txBody>
      </p:sp>
      <p:sp>
        <p:nvSpPr>
          <p:cNvPr id="16" name="四角形: 角を丸くする 15">
            <a:extLst>
              <a:ext uri="{FF2B5EF4-FFF2-40B4-BE49-F238E27FC236}">
                <a16:creationId xmlns:a16="http://schemas.microsoft.com/office/drawing/2014/main" id="{645AA127-CEE5-1FE8-18C9-CC51552478F0}"/>
              </a:ext>
            </a:extLst>
          </p:cNvPr>
          <p:cNvSpPr/>
          <p:nvPr/>
        </p:nvSpPr>
        <p:spPr>
          <a:xfrm>
            <a:off x="4293377" y="1766887"/>
            <a:ext cx="3600450" cy="3324225"/>
          </a:xfrm>
          <a:prstGeom prst="roundRect">
            <a:avLst>
              <a:gd name="adj" fmla="val 4461"/>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solidFill>
                  <a:schemeClr val="bg1"/>
                </a:solidFill>
              </a:rPr>
              <a:t>STEP</a:t>
            </a:r>
            <a:r>
              <a:rPr lang="ja-JP" altLang="en-US" sz="3200" dirty="0">
                <a:solidFill>
                  <a:schemeClr val="bg1"/>
                </a:solidFill>
              </a:rPr>
              <a:t> </a:t>
            </a:r>
            <a:r>
              <a:rPr lang="en-US" altLang="ja-JP" sz="3200" dirty="0">
                <a:solidFill>
                  <a:schemeClr val="bg1"/>
                </a:solidFill>
              </a:rPr>
              <a:t>02</a:t>
            </a:r>
          </a:p>
          <a:p>
            <a:pPr algn="ctr"/>
            <a:endParaRPr lang="en-US" altLang="ja-JP" sz="3200" dirty="0"/>
          </a:p>
          <a:p>
            <a:pPr algn="ctr"/>
            <a:endParaRPr kumimoji="1" lang="en-US" altLang="ja-JP" sz="2400" dirty="0"/>
          </a:p>
          <a:p>
            <a:pPr algn="ctr"/>
            <a:r>
              <a:rPr kumimoji="1" lang="en-US" altLang="ja-JP" sz="2400" dirty="0"/>
              <a:t>【</a:t>
            </a:r>
            <a:r>
              <a:rPr kumimoji="1" lang="ja-JP" altLang="en-US" sz="2400" dirty="0"/>
              <a:t>座標指定</a:t>
            </a:r>
            <a:r>
              <a:rPr kumimoji="1" lang="en-US" altLang="ja-JP" sz="2400" dirty="0"/>
              <a:t>】</a:t>
            </a:r>
          </a:p>
          <a:p>
            <a:pPr algn="ctr"/>
            <a:endParaRPr kumimoji="1" lang="en-US" altLang="ja-JP" sz="2400" dirty="0"/>
          </a:p>
          <a:p>
            <a:pPr algn="ctr"/>
            <a:r>
              <a:rPr kumimoji="1" lang="en-US" altLang="ja-JP" sz="2400" dirty="0"/>
              <a:t>Scratch</a:t>
            </a:r>
            <a:r>
              <a:rPr kumimoji="1" lang="ja-JP" altLang="en-US" sz="2400" dirty="0"/>
              <a:t>の入力欄に</a:t>
            </a:r>
            <a:endParaRPr kumimoji="1" lang="en-US" altLang="ja-JP" sz="2400" dirty="0"/>
          </a:p>
          <a:p>
            <a:pPr algn="ctr"/>
            <a:r>
              <a:rPr kumimoji="1" lang="ja-JP" altLang="en-US" sz="2400" dirty="0"/>
              <a:t>ゴールの座標を入力</a:t>
            </a:r>
            <a:endParaRPr kumimoji="1" lang="en-US" altLang="ja-JP" sz="2400" dirty="0"/>
          </a:p>
          <a:p>
            <a:pPr algn="ctr"/>
            <a:endParaRPr kumimoji="1" lang="en-US" altLang="ja-JP" sz="2400" dirty="0"/>
          </a:p>
        </p:txBody>
      </p:sp>
      <p:sp>
        <p:nvSpPr>
          <p:cNvPr id="17" name="四角形: 角を丸くする 16">
            <a:extLst>
              <a:ext uri="{FF2B5EF4-FFF2-40B4-BE49-F238E27FC236}">
                <a16:creationId xmlns:a16="http://schemas.microsoft.com/office/drawing/2014/main" id="{479DCC35-F84F-F411-55D6-5C4089960520}"/>
              </a:ext>
            </a:extLst>
          </p:cNvPr>
          <p:cNvSpPr/>
          <p:nvPr/>
        </p:nvSpPr>
        <p:spPr>
          <a:xfrm>
            <a:off x="8252345" y="1766887"/>
            <a:ext cx="3600450" cy="3324225"/>
          </a:xfrm>
          <a:prstGeom prst="roundRect">
            <a:avLst>
              <a:gd name="adj" fmla="val 181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t>STEP</a:t>
            </a:r>
            <a:r>
              <a:rPr lang="ja-JP" altLang="en-US" sz="3200" dirty="0"/>
              <a:t> </a:t>
            </a:r>
            <a:r>
              <a:rPr lang="en-US" altLang="ja-JP" sz="3200" dirty="0"/>
              <a:t>03</a:t>
            </a:r>
          </a:p>
          <a:p>
            <a:pPr algn="ctr"/>
            <a:endParaRPr lang="en-US" altLang="ja-JP" sz="3200" dirty="0"/>
          </a:p>
          <a:p>
            <a:pPr algn="ctr"/>
            <a:endParaRPr kumimoji="1" lang="en-US" altLang="ja-JP" sz="2400" dirty="0"/>
          </a:p>
          <a:p>
            <a:pPr algn="ctr"/>
            <a:r>
              <a:rPr kumimoji="1" lang="en-US" altLang="ja-JP" sz="2400" dirty="0"/>
              <a:t>【</a:t>
            </a:r>
            <a:r>
              <a:rPr lang="ja-JP" altLang="en-US" sz="2400" dirty="0"/>
              <a:t>自動走行</a:t>
            </a:r>
            <a:r>
              <a:rPr kumimoji="1" lang="en-US" altLang="ja-JP" sz="2400" dirty="0"/>
              <a:t>】</a:t>
            </a:r>
          </a:p>
          <a:p>
            <a:pPr algn="ctr"/>
            <a:endParaRPr kumimoji="1" lang="en-US" altLang="ja-JP" sz="2400" dirty="0"/>
          </a:p>
          <a:p>
            <a:pPr algn="ctr"/>
            <a:r>
              <a:rPr lang="ja-JP" altLang="en-US" sz="2400" dirty="0"/>
              <a:t>障害物検知による</a:t>
            </a:r>
            <a:endParaRPr lang="en-US" altLang="ja-JP" sz="2400" dirty="0"/>
          </a:p>
          <a:p>
            <a:pPr algn="ctr"/>
            <a:r>
              <a:rPr kumimoji="1" lang="ja-JP" altLang="en-US" sz="2400" dirty="0"/>
              <a:t>安全なルートを走行</a:t>
            </a:r>
            <a:endParaRPr kumimoji="1" lang="en-US" altLang="ja-JP" sz="2400" dirty="0"/>
          </a:p>
          <a:p>
            <a:pPr algn="ctr"/>
            <a:endParaRPr kumimoji="1" lang="en-US" altLang="ja-JP" sz="2400" dirty="0"/>
          </a:p>
        </p:txBody>
      </p:sp>
      <p:cxnSp>
        <p:nvCxnSpPr>
          <p:cNvPr id="19" name="直線コネクタ 18">
            <a:extLst>
              <a:ext uri="{FF2B5EF4-FFF2-40B4-BE49-F238E27FC236}">
                <a16:creationId xmlns:a16="http://schemas.microsoft.com/office/drawing/2014/main" id="{FF7CC6AC-4AB5-1B0F-B9E0-A036CA081238}"/>
              </a:ext>
            </a:extLst>
          </p:cNvPr>
          <p:cNvCxnSpPr/>
          <p:nvPr/>
        </p:nvCxnSpPr>
        <p:spPr>
          <a:xfrm>
            <a:off x="339205" y="2476116"/>
            <a:ext cx="360045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 name="直線コネクタ 19">
            <a:extLst>
              <a:ext uri="{FF2B5EF4-FFF2-40B4-BE49-F238E27FC236}">
                <a16:creationId xmlns:a16="http://schemas.microsoft.com/office/drawing/2014/main" id="{072B4557-2AFC-E192-4297-20FDC371C38C}"/>
              </a:ext>
            </a:extLst>
          </p:cNvPr>
          <p:cNvCxnSpPr/>
          <p:nvPr/>
        </p:nvCxnSpPr>
        <p:spPr>
          <a:xfrm>
            <a:off x="4293377" y="2469382"/>
            <a:ext cx="360045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直線コネクタ 20">
            <a:extLst>
              <a:ext uri="{FF2B5EF4-FFF2-40B4-BE49-F238E27FC236}">
                <a16:creationId xmlns:a16="http://schemas.microsoft.com/office/drawing/2014/main" id="{5AC522E4-0BE0-93CF-2CCD-4643BAA3FD54}"/>
              </a:ext>
            </a:extLst>
          </p:cNvPr>
          <p:cNvCxnSpPr/>
          <p:nvPr/>
        </p:nvCxnSpPr>
        <p:spPr>
          <a:xfrm>
            <a:off x="8252345" y="2494782"/>
            <a:ext cx="360045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067095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0B6E8-3B22-329E-937E-F37E2CF82830}"/>
            </a:ext>
          </a:extLst>
        </p:cNvPr>
        <p:cNvGrpSpPr/>
        <p:nvPr/>
      </p:nvGrpSpPr>
      <p:grpSpPr>
        <a:xfrm>
          <a:off x="0" y="0"/>
          <a:ext cx="0" cy="0"/>
          <a:chOff x="0" y="0"/>
          <a:chExt cx="0" cy="0"/>
        </a:xfrm>
      </p:grpSpPr>
      <p:sp>
        <p:nvSpPr>
          <p:cNvPr id="6" name="四角形: 角を丸くする 5">
            <a:extLst>
              <a:ext uri="{FF2B5EF4-FFF2-40B4-BE49-F238E27FC236}">
                <a16:creationId xmlns:a16="http://schemas.microsoft.com/office/drawing/2014/main" id="{7AA3FC4E-73B4-9B7C-7154-94494AAB4841}"/>
              </a:ext>
            </a:extLst>
          </p:cNvPr>
          <p:cNvSpPr/>
          <p:nvPr/>
        </p:nvSpPr>
        <p:spPr>
          <a:xfrm>
            <a:off x="4295353" y="1769274"/>
            <a:ext cx="3600450" cy="3321836"/>
          </a:xfrm>
          <a:prstGeom prst="roundRect">
            <a:avLst>
              <a:gd name="adj" fmla="val 16594"/>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noFill/>
              </a:rPr>
              <a:t>,</a:t>
            </a:r>
            <a:endParaRPr kumimoji="1" lang="ja-JP" altLang="en-US" dirty="0">
              <a:noFill/>
            </a:endParaRPr>
          </a:p>
        </p:txBody>
      </p:sp>
      <p:sp>
        <p:nvSpPr>
          <p:cNvPr id="7" name="四角形: 角を丸くする 6">
            <a:extLst>
              <a:ext uri="{FF2B5EF4-FFF2-40B4-BE49-F238E27FC236}">
                <a16:creationId xmlns:a16="http://schemas.microsoft.com/office/drawing/2014/main" id="{9059D43C-1E9B-1A11-BD0C-0A64D1B309E7}"/>
              </a:ext>
            </a:extLst>
          </p:cNvPr>
          <p:cNvSpPr/>
          <p:nvPr/>
        </p:nvSpPr>
        <p:spPr>
          <a:xfrm>
            <a:off x="4295355" y="2494781"/>
            <a:ext cx="3600450" cy="2596329"/>
          </a:xfrm>
          <a:prstGeom prst="roundRect">
            <a:avLst>
              <a:gd name="adj" fmla="val 2122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noFill/>
              </a:rPr>
              <a:t>,</a:t>
            </a:r>
            <a:endParaRPr kumimoji="1" lang="ja-JP" altLang="en-US" dirty="0">
              <a:noFill/>
            </a:endParaRPr>
          </a:p>
        </p:txBody>
      </p:sp>
      <p:sp>
        <p:nvSpPr>
          <p:cNvPr id="4" name="四角形: 角を丸くする 3">
            <a:extLst>
              <a:ext uri="{FF2B5EF4-FFF2-40B4-BE49-F238E27FC236}">
                <a16:creationId xmlns:a16="http://schemas.microsoft.com/office/drawing/2014/main" id="{2605395E-5CA7-5117-0DB3-DC8D3614F8B5}"/>
              </a:ext>
            </a:extLst>
          </p:cNvPr>
          <p:cNvSpPr/>
          <p:nvPr/>
        </p:nvSpPr>
        <p:spPr>
          <a:xfrm>
            <a:off x="8251524" y="1769274"/>
            <a:ext cx="3600450" cy="3321836"/>
          </a:xfrm>
          <a:prstGeom prst="roundRect">
            <a:avLst>
              <a:gd name="adj" fmla="val 4264"/>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noFill/>
              </a:rPr>
              <a:t>/</a:t>
            </a:r>
            <a:endParaRPr kumimoji="1" lang="ja-JP" altLang="en-US" dirty="0">
              <a:noFill/>
            </a:endParaRPr>
          </a:p>
        </p:txBody>
      </p:sp>
      <p:sp>
        <p:nvSpPr>
          <p:cNvPr id="5" name="四角形: 角を丸くする 4">
            <a:extLst>
              <a:ext uri="{FF2B5EF4-FFF2-40B4-BE49-F238E27FC236}">
                <a16:creationId xmlns:a16="http://schemas.microsoft.com/office/drawing/2014/main" id="{51557F5B-6E0F-D081-D226-F791FEA098A4}"/>
              </a:ext>
            </a:extLst>
          </p:cNvPr>
          <p:cNvSpPr/>
          <p:nvPr/>
        </p:nvSpPr>
        <p:spPr>
          <a:xfrm>
            <a:off x="8251526" y="2494781"/>
            <a:ext cx="3600450" cy="2596329"/>
          </a:xfrm>
          <a:prstGeom prst="roundRect">
            <a:avLst>
              <a:gd name="adj" fmla="val 490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noFill/>
              </a:rPr>
              <a:t>/</a:t>
            </a:r>
            <a:endParaRPr kumimoji="1" lang="ja-JP" altLang="en-US" dirty="0">
              <a:noFill/>
            </a:endParaRPr>
          </a:p>
        </p:txBody>
      </p:sp>
      <p:sp>
        <p:nvSpPr>
          <p:cNvPr id="13" name="四角形: 角を丸くする 12">
            <a:extLst>
              <a:ext uri="{FF2B5EF4-FFF2-40B4-BE49-F238E27FC236}">
                <a16:creationId xmlns:a16="http://schemas.microsoft.com/office/drawing/2014/main" id="{8E22CC37-C137-833F-CD02-245E21318A99}"/>
              </a:ext>
            </a:extLst>
          </p:cNvPr>
          <p:cNvSpPr/>
          <p:nvPr/>
        </p:nvSpPr>
        <p:spPr>
          <a:xfrm>
            <a:off x="6093602" y="-2979"/>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38CDC0C7-39E4-004E-6BED-1090212D0FF5}"/>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5DA30AC1-A721-90AE-EDA3-621D6F7208E9}"/>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tx1"/>
                </a:solidFill>
              </a:rPr>
              <a:t>システム要件</a:t>
            </a:r>
          </a:p>
        </p:txBody>
      </p:sp>
      <p:sp>
        <p:nvSpPr>
          <p:cNvPr id="11" name="四角形: 角を丸くする 10">
            <a:extLst>
              <a:ext uri="{FF2B5EF4-FFF2-40B4-BE49-F238E27FC236}">
                <a16:creationId xmlns:a16="http://schemas.microsoft.com/office/drawing/2014/main" id="{6F18100B-7B08-AFBF-C570-7F718CADCB2C}"/>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bg1"/>
                </a:solidFill>
              </a:rPr>
              <a:t>操作手順</a:t>
            </a:r>
          </a:p>
        </p:txBody>
      </p:sp>
      <p:sp>
        <p:nvSpPr>
          <p:cNvPr id="12" name="四角形: 角を丸くする 11">
            <a:extLst>
              <a:ext uri="{FF2B5EF4-FFF2-40B4-BE49-F238E27FC236}">
                <a16:creationId xmlns:a16="http://schemas.microsoft.com/office/drawing/2014/main" id="{846295DF-A21A-1353-3AC7-141CDDD0D8E8}"/>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t>プログラム説明</a:t>
            </a:r>
            <a:endParaRPr kumimoji="1" lang="ja-JP" altLang="en-US" sz="2400" dirty="0"/>
          </a:p>
        </p:txBody>
      </p:sp>
      <p:sp>
        <p:nvSpPr>
          <p:cNvPr id="15" name="四角形: 角を丸くする 14">
            <a:extLst>
              <a:ext uri="{FF2B5EF4-FFF2-40B4-BE49-F238E27FC236}">
                <a16:creationId xmlns:a16="http://schemas.microsoft.com/office/drawing/2014/main" id="{BD515472-AFEB-5685-A772-1C8FDE29E3FA}"/>
              </a:ext>
            </a:extLst>
          </p:cNvPr>
          <p:cNvSpPr/>
          <p:nvPr/>
        </p:nvSpPr>
        <p:spPr>
          <a:xfrm>
            <a:off x="339205" y="1769414"/>
            <a:ext cx="3600450" cy="3324225"/>
          </a:xfrm>
          <a:prstGeom prst="roundRect">
            <a:avLst>
              <a:gd name="adj" fmla="val 18674"/>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t>STEP</a:t>
            </a:r>
            <a:r>
              <a:rPr lang="ja-JP" altLang="en-US" sz="3200" dirty="0"/>
              <a:t> </a:t>
            </a:r>
            <a:r>
              <a:rPr lang="en-US" altLang="ja-JP" sz="3200" dirty="0"/>
              <a:t>01</a:t>
            </a:r>
          </a:p>
          <a:p>
            <a:pPr algn="ctr"/>
            <a:endParaRPr lang="en-US" altLang="ja-JP" sz="3200" dirty="0"/>
          </a:p>
          <a:p>
            <a:pPr algn="ctr"/>
            <a:endParaRPr kumimoji="1" lang="en-US" altLang="ja-JP" sz="2400" dirty="0"/>
          </a:p>
          <a:p>
            <a:pPr algn="ctr"/>
            <a:r>
              <a:rPr kumimoji="1" lang="en-US" altLang="ja-JP" sz="2400" dirty="0"/>
              <a:t>【</a:t>
            </a:r>
            <a:r>
              <a:rPr kumimoji="1" lang="ja-JP" altLang="en-US" sz="2400" dirty="0"/>
              <a:t>起動・スタート</a:t>
            </a:r>
            <a:r>
              <a:rPr kumimoji="1" lang="en-US" altLang="ja-JP" sz="2400" dirty="0"/>
              <a:t>】</a:t>
            </a:r>
          </a:p>
          <a:p>
            <a:pPr algn="ctr"/>
            <a:endParaRPr kumimoji="1" lang="en-US" altLang="ja-JP" sz="2400" dirty="0"/>
          </a:p>
          <a:p>
            <a:pPr algn="ctr"/>
            <a:r>
              <a:rPr lang="ja-JP" altLang="en-US" sz="2400" dirty="0"/>
              <a:t>ロボットの電源を入れプログラムを起動</a:t>
            </a:r>
            <a:endParaRPr lang="en-US" altLang="ja-JP" sz="2400" dirty="0"/>
          </a:p>
          <a:p>
            <a:pPr algn="ctr"/>
            <a:endParaRPr kumimoji="1" lang="ja-JP" altLang="en-US" sz="2400" dirty="0"/>
          </a:p>
        </p:txBody>
      </p:sp>
      <p:sp>
        <p:nvSpPr>
          <p:cNvPr id="16" name="四角形: 角を丸くする 15">
            <a:extLst>
              <a:ext uri="{FF2B5EF4-FFF2-40B4-BE49-F238E27FC236}">
                <a16:creationId xmlns:a16="http://schemas.microsoft.com/office/drawing/2014/main" id="{93624F9C-1D79-9EBE-5E5F-F24161E045E7}"/>
              </a:ext>
            </a:extLst>
          </p:cNvPr>
          <p:cNvSpPr/>
          <p:nvPr/>
        </p:nvSpPr>
        <p:spPr>
          <a:xfrm>
            <a:off x="4293377" y="1766887"/>
            <a:ext cx="3600450" cy="3324225"/>
          </a:xfrm>
          <a:prstGeom prst="roundRect">
            <a:avLst>
              <a:gd name="adj" fmla="val 17183"/>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t>STEP</a:t>
            </a:r>
            <a:r>
              <a:rPr lang="ja-JP" altLang="en-US" sz="3200" dirty="0"/>
              <a:t> </a:t>
            </a:r>
            <a:r>
              <a:rPr lang="en-US" altLang="ja-JP" sz="3200" dirty="0"/>
              <a:t>02</a:t>
            </a:r>
          </a:p>
          <a:p>
            <a:pPr algn="ctr"/>
            <a:endParaRPr lang="en-US" altLang="ja-JP" sz="3200" dirty="0"/>
          </a:p>
          <a:p>
            <a:pPr algn="ctr"/>
            <a:endParaRPr kumimoji="1" lang="en-US" altLang="ja-JP" sz="2400" dirty="0"/>
          </a:p>
          <a:p>
            <a:pPr algn="ctr"/>
            <a:r>
              <a:rPr kumimoji="1" lang="en-US" altLang="ja-JP" sz="2400" dirty="0"/>
              <a:t>【</a:t>
            </a:r>
            <a:r>
              <a:rPr kumimoji="1" lang="ja-JP" altLang="en-US" sz="2400" dirty="0"/>
              <a:t>座標指定</a:t>
            </a:r>
            <a:r>
              <a:rPr kumimoji="1" lang="en-US" altLang="ja-JP" sz="2400" dirty="0"/>
              <a:t>】</a:t>
            </a:r>
          </a:p>
          <a:p>
            <a:pPr algn="ctr"/>
            <a:endParaRPr kumimoji="1" lang="en-US" altLang="ja-JP" sz="2400" dirty="0"/>
          </a:p>
          <a:p>
            <a:pPr algn="ctr"/>
            <a:r>
              <a:rPr kumimoji="1" lang="en-US" altLang="ja-JP" sz="2400" dirty="0"/>
              <a:t>Scratch</a:t>
            </a:r>
            <a:r>
              <a:rPr kumimoji="1" lang="ja-JP" altLang="en-US" sz="2400" dirty="0"/>
              <a:t>の入力欄に</a:t>
            </a:r>
            <a:endParaRPr kumimoji="1" lang="en-US" altLang="ja-JP" sz="2400" dirty="0"/>
          </a:p>
          <a:p>
            <a:pPr algn="ctr"/>
            <a:r>
              <a:rPr kumimoji="1" lang="ja-JP" altLang="en-US" sz="2400" dirty="0"/>
              <a:t>ゴールの座標を入力</a:t>
            </a:r>
            <a:endParaRPr kumimoji="1" lang="en-US" altLang="ja-JP" sz="2400" dirty="0"/>
          </a:p>
          <a:p>
            <a:pPr algn="ctr"/>
            <a:endParaRPr kumimoji="1" lang="en-US" altLang="ja-JP" sz="2400" dirty="0"/>
          </a:p>
        </p:txBody>
      </p:sp>
      <p:sp>
        <p:nvSpPr>
          <p:cNvPr id="17" name="四角形: 角を丸くする 16">
            <a:extLst>
              <a:ext uri="{FF2B5EF4-FFF2-40B4-BE49-F238E27FC236}">
                <a16:creationId xmlns:a16="http://schemas.microsoft.com/office/drawing/2014/main" id="{C676C00E-C3F7-0ECD-B810-BB6B716F752F}"/>
              </a:ext>
            </a:extLst>
          </p:cNvPr>
          <p:cNvSpPr/>
          <p:nvPr/>
        </p:nvSpPr>
        <p:spPr>
          <a:xfrm>
            <a:off x="8252345" y="1766887"/>
            <a:ext cx="3600450" cy="3324225"/>
          </a:xfrm>
          <a:prstGeom prst="roundRect">
            <a:avLst>
              <a:gd name="adj" fmla="val 4475"/>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solidFill>
                  <a:schemeClr val="bg1"/>
                </a:solidFill>
              </a:rPr>
              <a:t>STEP</a:t>
            </a:r>
            <a:r>
              <a:rPr lang="ja-JP" altLang="en-US" sz="3200" dirty="0">
                <a:solidFill>
                  <a:schemeClr val="bg1"/>
                </a:solidFill>
              </a:rPr>
              <a:t> </a:t>
            </a:r>
            <a:r>
              <a:rPr lang="en-US" altLang="ja-JP" sz="3200" dirty="0">
                <a:solidFill>
                  <a:schemeClr val="bg1"/>
                </a:solidFill>
              </a:rPr>
              <a:t>03</a:t>
            </a:r>
          </a:p>
          <a:p>
            <a:pPr algn="ctr"/>
            <a:endParaRPr lang="en-US" altLang="ja-JP" sz="3200" dirty="0"/>
          </a:p>
          <a:p>
            <a:pPr algn="ctr"/>
            <a:endParaRPr kumimoji="1" lang="en-US" altLang="ja-JP" sz="2400" dirty="0"/>
          </a:p>
          <a:p>
            <a:pPr algn="ctr"/>
            <a:r>
              <a:rPr kumimoji="1" lang="en-US" altLang="ja-JP" sz="2400" dirty="0"/>
              <a:t>【</a:t>
            </a:r>
            <a:r>
              <a:rPr lang="ja-JP" altLang="en-US" sz="2400" dirty="0"/>
              <a:t>自動走行</a:t>
            </a:r>
            <a:r>
              <a:rPr kumimoji="1" lang="en-US" altLang="ja-JP" sz="2400" dirty="0"/>
              <a:t>】</a:t>
            </a:r>
          </a:p>
          <a:p>
            <a:pPr algn="ctr"/>
            <a:endParaRPr kumimoji="1" lang="en-US" altLang="ja-JP" sz="2400" dirty="0"/>
          </a:p>
          <a:p>
            <a:pPr algn="ctr"/>
            <a:r>
              <a:rPr lang="ja-JP" altLang="en-US" sz="2400" dirty="0"/>
              <a:t>障害物検知による</a:t>
            </a:r>
            <a:endParaRPr lang="en-US" altLang="ja-JP" sz="2400" dirty="0"/>
          </a:p>
          <a:p>
            <a:pPr algn="ctr"/>
            <a:r>
              <a:rPr kumimoji="1" lang="ja-JP" altLang="en-US" sz="2400" dirty="0"/>
              <a:t>安全なルートを走行</a:t>
            </a:r>
            <a:endParaRPr kumimoji="1" lang="en-US" altLang="ja-JP" sz="2400" dirty="0"/>
          </a:p>
          <a:p>
            <a:pPr algn="ctr"/>
            <a:endParaRPr kumimoji="1" lang="en-US" altLang="ja-JP" sz="2400" dirty="0"/>
          </a:p>
        </p:txBody>
      </p:sp>
      <p:cxnSp>
        <p:nvCxnSpPr>
          <p:cNvPr id="19" name="直線コネクタ 18">
            <a:extLst>
              <a:ext uri="{FF2B5EF4-FFF2-40B4-BE49-F238E27FC236}">
                <a16:creationId xmlns:a16="http://schemas.microsoft.com/office/drawing/2014/main" id="{97068D2F-2C94-334B-4237-13C3E74D0EC3}"/>
              </a:ext>
            </a:extLst>
          </p:cNvPr>
          <p:cNvCxnSpPr/>
          <p:nvPr/>
        </p:nvCxnSpPr>
        <p:spPr>
          <a:xfrm>
            <a:off x="339205" y="2476116"/>
            <a:ext cx="360045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 name="直線コネクタ 19">
            <a:extLst>
              <a:ext uri="{FF2B5EF4-FFF2-40B4-BE49-F238E27FC236}">
                <a16:creationId xmlns:a16="http://schemas.microsoft.com/office/drawing/2014/main" id="{B195B185-70D2-CA15-13BE-E233C08258B5}"/>
              </a:ext>
            </a:extLst>
          </p:cNvPr>
          <p:cNvCxnSpPr/>
          <p:nvPr/>
        </p:nvCxnSpPr>
        <p:spPr>
          <a:xfrm>
            <a:off x="4293377" y="2469382"/>
            <a:ext cx="360045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直線コネクタ 20">
            <a:extLst>
              <a:ext uri="{FF2B5EF4-FFF2-40B4-BE49-F238E27FC236}">
                <a16:creationId xmlns:a16="http://schemas.microsoft.com/office/drawing/2014/main" id="{82AE1D8B-F5E7-26E8-FD86-055679672F0A}"/>
              </a:ext>
            </a:extLst>
          </p:cNvPr>
          <p:cNvCxnSpPr/>
          <p:nvPr/>
        </p:nvCxnSpPr>
        <p:spPr>
          <a:xfrm>
            <a:off x="8252345" y="2494782"/>
            <a:ext cx="360045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0789147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50727-B03F-3C99-6A8C-BE08A8517968}"/>
            </a:ext>
          </a:extLst>
        </p:cNvPr>
        <p:cNvGrpSpPr/>
        <p:nvPr/>
      </p:nvGrpSpPr>
      <p:grpSpPr>
        <a:xfrm>
          <a:off x="0" y="0"/>
          <a:ext cx="0" cy="0"/>
          <a:chOff x="0" y="0"/>
          <a:chExt cx="0" cy="0"/>
        </a:xfrm>
      </p:grpSpPr>
      <p:sp>
        <p:nvSpPr>
          <p:cNvPr id="3" name="四角形: 角を丸くする 2">
            <a:extLst>
              <a:ext uri="{FF2B5EF4-FFF2-40B4-BE49-F238E27FC236}">
                <a16:creationId xmlns:a16="http://schemas.microsoft.com/office/drawing/2014/main" id="{8F16A217-F7B1-8FC5-5849-7DE196B73302}"/>
              </a:ext>
            </a:extLst>
          </p:cNvPr>
          <p:cNvSpPr/>
          <p:nvPr/>
        </p:nvSpPr>
        <p:spPr>
          <a:xfrm>
            <a:off x="8251524" y="1769274"/>
            <a:ext cx="3600450" cy="3321836"/>
          </a:xfrm>
          <a:prstGeom prst="roundRect">
            <a:avLst>
              <a:gd name="adj" fmla="val 18171"/>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noFill/>
              </a:rPr>
              <a:t>/</a:t>
            </a:r>
            <a:endParaRPr kumimoji="1" lang="ja-JP" altLang="en-US" dirty="0">
              <a:noFill/>
            </a:endParaRPr>
          </a:p>
        </p:txBody>
      </p:sp>
      <p:sp>
        <p:nvSpPr>
          <p:cNvPr id="4" name="四角形: 角を丸くする 3">
            <a:extLst>
              <a:ext uri="{FF2B5EF4-FFF2-40B4-BE49-F238E27FC236}">
                <a16:creationId xmlns:a16="http://schemas.microsoft.com/office/drawing/2014/main" id="{D4DE787A-4801-2878-7FE4-D5F9092A05BB}"/>
              </a:ext>
            </a:extLst>
          </p:cNvPr>
          <p:cNvSpPr/>
          <p:nvPr/>
        </p:nvSpPr>
        <p:spPr>
          <a:xfrm>
            <a:off x="8251526" y="2494781"/>
            <a:ext cx="3600450" cy="2596329"/>
          </a:xfrm>
          <a:prstGeom prst="roundRect">
            <a:avLst>
              <a:gd name="adj" fmla="val 2269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noFill/>
              </a:rPr>
              <a:t>/</a:t>
            </a:r>
            <a:endParaRPr kumimoji="1" lang="ja-JP" altLang="en-US" dirty="0">
              <a:noFill/>
            </a:endParaRPr>
          </a:p>
        </p:txBody>
      </p:sp>
      <p:sp>
        <p:nvSpPr>
          <p:cNvPr id="13" name="四角形: 角を丸くする 12">
            <a:extLst>
              <a:ext uri="{FF2B5EF4-FFF2-40B4-BE49-F238E27FC236}">
                <a16:creationId xmlns:a16="http://schemas.microsoft.com/office/drawing/2014/main" id="{21AEA69D-C0AB-7CC1-BD18-D93D6EC9A7D3}"/>
              </a:ext>
            </a:extLst>
          </p:cNvPr>
          <p:cNvSpPr/>
          <p:nvPr/>
        </p:nvSpPr>
        <p:spPr>
          <a:xfrm>
            <a:off x="6093602" y="-2979"/>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3F03AACB-3CD0-0A79-5CCA-D071B12D5023}"/>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BA476E7C-58F1-159F-C3B7-2A53F3AA47C6}"/>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tx1"/>
                </a:solidFill>
              </a:rPr>
              <a:t>システム要件</a:t>
            </a:r>
          </a:p>
        </p:txBody>
      </p:sp>
      <p:sp>
        <p:nvSpPr>
          <p:cNvPr id="11" name="四角形: 角を丸くする 10">
            <a:extLst>
              <a:ext uri="{FF2B5EF4-FFF2-40B4-BE49-F238E27FC236}">
                <a16:creationId xmlns:a16="http://schemas.microsoft.com/office/drawing/2014/main" id="{72FD1D1E-1024-0855-FBF0-142FAED13918}"/>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bg1"/>
                </a:solidFill>
              </a:rPr>
              <a:t>操作手順</a:t>
            </a:r>
          </a:p>
        </p:txBody>
      </p:sp>
      <p:sp>
        <p:nvSpPr>
          <p:cNvPr id="12" name="四角形: 角を丸くする 11">
            <a:extLst>
              <a:ext uri="{FF2B5EF4-FFF2-40B4-BE49-F238E27FC236}">
                <a16:creationId xmlns:a16="http://schemas.microsoft.com/office/drawing/2014/main" id="{3B684797-C329-473B-CEE6-1EBB443260F6}"/>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t>プログラム説明</a:t>
            </a:r>
            <a:endParaRPr kumimoji="1" lang="ja-JP" altLang="en-US" sz="2400" dirty="0"/>
          </a:p>
        </p:txBody>
      </p:sp>
      <p:sp>
        <p:nvSpPr>
          <p:cNvPr id="15" name="四角形: 角を丸くする 14">
            <a:extLst>
              <a:ext uri="{FF2B5EF4-FFF2-40B4-BE49-F238E27FC236}">
                <a16:creationId xmlns:a16="http://schemas.microsoft.com/office/drawing/2014/main" id="{97336758-879B-FDD1-F2E2-39141C76C52C}"/>
              </a:ext>
            </a:extLst>
          </p:cNvPr>
          <p:cNvSpPr/>
          <p:nvPr/>
        </p:nvSpPr>
        <p:spPr>
          <a:xfrm>
            <a:off x="339205" y="1769414"/>
            <a:ext cx="3600450" cy="3324225"/>
          </a:xfrm>
          <a:prstGeom prst="roundRect">
            <a:avLst>
              <a:gd name="adj" fmla="val 18674"/>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t>STEP</a:t>
            </a:r>
            <a:r>
              <a:rPr lang="ja-JP" altLang="en-US" sz="3200" dirty="0"/>
              <a:t> </a:t>
            </a:r>
            <a:r>
              <a:rPr lang="en-US" altLang="ja-JP" sz="3200" dirty="0"/>
              <a:t>01</a:t>
            </a:r>
          </a:p>
          <a:p>
            <a:pPr algn="ctr"/>
            <a:endParaRPr lang="en-US" altLang="ja-JP" sz="3200" dirty="0"/>
          </a:p>
          <a:p>
            <a:pPr algn="ctr"/>
            <a:endParaRPr kumimoji="1" lang="en-US" altLang="ja-JP" sz="2400" dirty="0"/>
          </a:p>
          <a:p>
            <a:pPr algn="ctr"/>
            <a:r>
              <a:rPr kumimoji="1" lang="en-US" altLang="ja-JP" sz="2400" dirty="0"/>
              <a:t>【</a:t>
            </a:r>
            <a:r>
              <a:rPr kumimoji="1" lang="ja-JP" altLang="en-US" sz="2400" dirty="0"/>
              <a:t>起動・スタート</a:t>
            </a:r>
            <a:r>
              <a:rPr kumimoji="1" lang="en-US" altLang="ja-JP" sz="2400" dirty="0"/>
              <a:t>】</a:t>
            </a:r>
          </a:p>
          <a:p>
            <a:pPr algn="ctr"/>
            <a:endParaRPr kumimoji="1" lang="en-US" altLang="ja-JP" sz="2400" dirty="0"/>
          </a:p>
          <a:p>
            <a:pPr algn="ctr"/>
            <a:r>
              <a:rPr lang="ja-JP" altLang="en-US" sz="2400" dirty="0"/>
              <a:t>ロボットの電源を入れプログラムを起動</a:t>
            </a:r>
            <a:endParaRPr lang="en-US" altLang="ja-JP" sz="2400" dirty="0"/>
          </a:p>
          <a:p>
            <a:pPr algn="ctr"/>
            <a:endParaRPr kumimoji="1" lang="ja-JP" altLang="en-US" sz="2400" dirty="0"/>
          </a:p>
        </p:txBody>
      </p:sp>
      <p:sp>
        <p:nvSpPr>
          <p:cNvPr id="16" name="四角形: 角を丸くする 15">
            <a:extLst>
              <a:ext uri="{FF2B5EF4-FFF2-40B4-BE49-F238E27FC236}">
                <a16:creationId xmlns:a16="http://schemas.microsoft.com/office/drawing/2014/main" id="{0EEBB220-9BF7-2796-16FB-1E1A1206CEA6}"/>
              </a:ext>
            </a:extLst>
          </p:cNvPr>
          <p:cNvSpPr/>
          <p:nvPr/>
        </p:nvSpPr>
        <p:spPr>
          <a:xfrm>
            <a:off x="4293377" y="1766887"/>
            <a:ext cx="3600450" cy="3324225"/>
          </a:xfrm>
          <a:prstGeom prst="roundRect">
            <a:avLst>
              <a:gd name="adj" fmla="val 17183"/>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t>STEP</a:t>
            </a:r>
            <a:r>
              <a:rPr lang="ja-JP" altLang="en-US" sz="3200" dirty="0"/>
              <a:t> </a:t>
            </a:r>
            <a:r>
              <a:rPr lang="en-US" altLang="ja-JP" sz="3200" dirty="0"/>
              <a:t>02</a:t>
            </a:r>
          </a:p>
          <a:p>
            <a:pPr algn="ctr"/>
            <a:endParaRPr lang="en-US" altLang="ja-JP" sz="3200" dirty="0"/>
          </a:p>
          <a:p>
            <a:pPr algn="ctr"/>
            <a:endParaRPr kumimoji="1" lang="en-US" altLang="ja-JP" sz="2400" dirty="0"/>
          </a:p>
          <a:p>
            <a:pPr algn="ctr"/>
            <a:r>
              <a:rPr kumimoji="1" lang="en-US" altLang="ja-JP" sz="2400" dirty="0"/>
              <a:t>【</a:t>
            </a:r>
            <a:r>
              <a:rPr kumimoji="1" lang="ja-JP" altLang="en-US" sz="2400" dirty="0"/>
              <a:t>座標指定</a:t>
            </a:r>
            <a:r>
              <a:rPr kumimoji="1" lang="en-US" altLang="ja-JP" sz="2400" dirty="0"/>
              <a:t>】</a:t>
            </a:r>
          </a:p>
          <a:p>
            <a:pPr algn="ctr"/>
            <a:endParaRPr kumimoji="1" lang="en-US" altLang="ja-JP" sz="2400" dirty="0"/>
          </a:p>
          <a:p>
            <a:pPr algn="ctr"/>
            <a:r>
              <a:rPr kumimoji="1" lang="en-US" altLang="ja-JP" sz="2400" dirty="0"/>
              <a:t>Scratch</a:t>
            </a:r>
            <a:r>
              <a:rPr kumimoji="1" lang="ja-JP" altLang="en-US" sz="2400" dirty="0"/>
              <a:t>の入力欄に</a:t>
            </a:r>
            <a:endParaRPr kumimoji="1" lang="en-US" altLang="ja-JP" sz="2400" dirty="0"/>
          </a:p>
          <a:p>
            <a:pPr algn="ctr"/>
            <a:r>
              <a:rPr kumimoji="1" lang="ja-JP" altLang="en-US" sz="2400" dirty="0"/>
              <a:t>ゴールの座標を入力</a:t>
            </a:r>
            <a:endParaRPr kumimoji="1" lang="en-US" altLang="ja-JP" sz="2400" dirty="0"/>
          </a:p>
          <a:p>
            <a:pPr algn="ctr"/>
            <a:endParaRPr kumimoji="1" lang="en-US" altLang="ja-JP" sz="2400" dirty="0"/>
          </a:p>
        </p:txBody>
      </p:sp>
      <p:sp>
        <p:nvSpPr>
          <p:cNvPr id="17" name="四角形: 角を丸くする 16">
            <a:extLst>
              <a:ext uri="{FF2B5EF4-FFF2-40B4-BE49-F238E27FC236}">
                <a16:creationId xmlns:a16="http://schemas.microsoft.com/office/drawing/2014/main" id="{DD0E5A04-872F-A19C-8B71-B9BD3C3081B8}"/>
              </a:ext>
            </a:extLst>
          </p:cNvPr>
          <p:cNvSpPr/>
          <p:nvPr/>
        </p:nvSpPr>
        <p:spPr>
          <a:xfrm>
            <a:off x="8252345" y="1766887"/>
            <a:ext cx="3600450" cy="3324225"/>
          </a:xfrm>
          <a:prstGeom prst="roundRect">
            <a:avLst>
              <a:gd name="adj" fmla="val 181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t>STEP</a:t>
            </a:r>
            <a:r>
              <a:rPr lang="ja-JP" altLang="en-US" sz="3200" dirty="0"/>
              <a:t> </a:t>
            </a:r>
            <a:r>
              <a:rPr lang="en-US" altLang="ja-JP" sz="3200" dirty="0"/>
              <a:t>03</a:t>
            </a:r>
          </a:p>
          <a:p>
            <a:pPr algn="ctr"/>
            <a:endParaRPr lang="en-US" altLang="ja-JP" sz="3200" dirty="0"/>
          </a:p>
          <a:p>
            <a:pPr algn="ctr"/>
            <a:endParaRPr kumimoji="1" lang="en-US" altLang="ja-JP" sz="2400" dirty="0"/>
          </a:p>
          <a:p>
            <a:pPr algn="ctr"/>
            <a:r>
              <a:rPr kumimoji="1" lang="en-US" altLang="ja-JP" sz="2400" dirty="0"/>
              <a:t>【</a:t>
            </a:r>
            <a:r>
              <a:rPr lang="ja-JP" altLang="en-US" sz="2400" dirty="0"/>
              <a:t>自動走行</a:t>
            </a:r>
            <a:r>
              <a:rPr kumimoji="1" lang="en-US" altLang="ja-JP" sz="2400" dirty="0"/>
              <a:t>】</a:t>
            </a:r>
          </a:p>
          <a:p>
            <a:pPr algn="ctr"/>
            <a:endParaRPr kumimoji="1" lang="en-US" altLang="ja-JP" sz="2400" dirty="0"/>
          </a:p>
          <a:p>
            <a:pPr algn="ctr"/>
            <a:r>
              <a:rPr lang="ja-JP" altLang="en-US" sz="2400" dirty="0"/>
              <a:t>障害物検知による</a:t>
            </a:r>
            <a:endParaRPr lang="en-US" altLang="ja-JP" sz="2400" dirty="0"/>
          </a:p>
          <a:p>
            <a:pPr algn="ctr"/>
            <a:r>
              <a:rPr kumimoji="1" lang="ja-JP" altLang="en-US" sz="2400" dirty="0"/>
              <a:t>安全なルートを走行</a:t>
            </a:r>
            <a:endParaRPr kumimoji="1" lang="en-US" altLang="ja-JP" sz="2400" dirty="0"/>
          </a:p>
          <a:p>
            <a:pPr algn="ctr"/>
            <a:endParaRPr kumimoji="1" lang="en-US" altLang="ja-JP" sz="2400" dirty="0"/>
          </a:p>
        </p:txBody>
      </p:sp>
      <p:cxnSp>
        <p:nvCxnSpPr>
          <p:cNvPr id="19" name="直線コネクタ 18">
            <a:extLst>
              <a:ext uri="{FF2B5EF4-FFF2-40B4-BE49-F238E27FC236}">
                <a16:creationId xmlns:a16="http://schemas.microsoft.com/office/drawing/2014/main" id="{F9DEED0A-05D4-7DDF-BFA4-E623928F4E03}"/>
              </a:ext>
            </a:extLst>
          </p:cNvPr>
          <p:cNvCxnSpPr/>
          <p:nvPr/>
        </p:nvCxnSpPr>
        <p:spPr>
          <a:xfrm>
            <a:off x="339205" y="2476116"/>
            <a:ext cx="360045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直線コネクタ 19">
            <a:extLst>
              <a:ext uri="{FF2B5EF4-FFF2-40B4-BE49-F238E27FC236}">
                <a16:creationId xmlns:a16="http://schemas.microsoft.com/office/drawing/2014/main" id="{AB5A24A5-B957-FB61-849E-F16BADD053CE}"/>
              </a:ext>
            </a:extLst>
          </p:cNvPr>
          <p:cNvCxnSpPr/>
          <p:nvPr/>
        </p:nvCxnSpPr>
        <p:spPr>
          <a:xfrm>
            <a:off x="4293377" y="2469382"/>
            <a:ext cx="360045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直線コネクタ 20">
            <a:extLst>
              <a:ext uri="{FF2B5EF4-FFF2-40B4-BE49-F238E27FC236}">
                <a16:creationId xmlns:a16="http://schemas.microsoft.com/office/drawing/2014/main" id="{1E195C2D-4248-D778-5E1D-FE0657A9173D}"/>
              </a:ext>
            </a:extLst>
          </p:cNvPr>
          <p:cNvCxnSpPr/>
          <p:nvPr/>
        </p:nvCxnSpPr>
        <p:spPr>
          <a:xfrm>
            <a:off x="8252345" y="2494782"/>
            <a:ext cx="360045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316795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26B1-98F0-62AC-F914-6FE4B43E52AC}"/>
            </a:ext>
          </a:extLst>
        </p:cNvPr>
        <p:cNvGrpSpPr/>
        <p:nvPr/>
      </p:nvGrpSpPr>
      <p:grpSpPr>
        <a:xfrm>
          <a:off x="0" y="0"/>
          <a:ext cx="0" cy="0"/>
          <a:chOff x="0" y="0"/>
          <a:chExt cx="0" cy="0"/>
        </a:xfrm>
      </p:grpSpPr>
      <p:sp>
        <p:nvSpPr>
          <p:cNvPr id="10" name="四角形: 角を丸くする 9">
            <a:extLst>
              <a:ext uri="{FF2B5EF4-FFF2-40B4-BE49-F238E27FC236}">
                <a16:creationId xmlns:a16="http://schemas.microsoft.com/office/drawing/2014/main" id="{D1A500D3-8878-7A9C-4277-3EA02A29AFD3}"/>
              </a:ext>
            </a:extLst>
          </p:cNvPr>
          <p:cNvSpPr/>
          <p:nvPr/>
        </p:nvSpPr>
        <p:spPr>
          <a:xfrm>
            <a:off x="-11801995" y="1769414"/>
            <a:ext cx="3600450" cy="3324225"/>
          </a:xfrm>
          <a:prstGeom prst="roundRect">
            <a:avLst>
              <a:gd name="adj" fmla="val 18674"/>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t>STEP</a:t>
            </a:r>
            <a:r>
              <a:rPr lang="ja-JP" altLang="en-US" sz="3200" dirty="0"/>
              <a:t> </a:t>
            </a:r>
            <a:r>
              <a:rPr lang="en-US" altLang="ja-JP" sz="3200" dirty="0"/>
              <a:t>01</a:t>
            </a:r>
          </a:p>
          <a:p>
            <a:pPr algn="ctr"/>
            <a:endParaRPr lang="en-US" altLang="ja-JP" sz="3200" dirty="0"/>
          </a:p>
          <a:p>
            <a:pPr algn="ctr"/>
            <a:endParaRPr kumimoji="1" lang="en-US" altLang="ja-JP" sz="2400" dirty="0"/>
          </a:p>
          <a:p>
            <a:pPr algn="ctr"/>
            <a:r>
              <a:rPr kumimoji="1" lang="en-US" altLang="ja-JP" sz="2400" dirty="0"/>
              <a:t>【</a:t>
            </a:r>
            <a:r>
              <a:rPr kumimoji="1" lang="ja-JP" altLang="en-US" sz="2400" dirty="0"/>
              <a:t>起動・スタート</a:t>
            </a:r>
            <a:r>
              <a:rPr kumimoji="1" lang="en-US" altLang="ja-JP" sz="2400" dirty="0"/>
              <a:t>】</a:t>
            </a:r>
          </a:p>
          <a:p>
            <a:pPr algn="ctr"/>
            <a:endParaRPr kumimoji="1" lang="en-US" altLang="ja-JP" sz="2400" dirty="0"/>
          </a:p>
          <a:p>
            <a:pPr algn="ctr"/>
            <a:r>
              <a:rPr lang="ja-JP" altLang="en-US" sz="2400" dirty="0"/>
              <a:t>ロボットの電源を入れプログラムを起動</a:t>
            </a:r>
            <a:endParaRPr lang="en-US" altLang="ja-JP" sz="2400" dirty="0"/>
          </a:p>
          <a:p>
            <a:pPr algn="ctr"/>
            <a:endParaRPr kumimoji="1" lang="ja-JP" altLang="en-US" sz="2400" dirty="0"/>
          </a:p>
        </p:txBody>
      </p:sp>
      <p:sp>
        <p:nvSpPr>
          <p:cNvPr id="14" name="四角形: 角を丸くする 13">
            <a:extLst>
              <a:ext uri="{FF2B5EF4-FFF2-40B4-BE49-F238E27FC236}">
                <a16:creationId xmlns:a16="http://schemas.microsoft.com/office/drawing/2014/main" id="{63EFC11A-E00A-7451-5268-A7D559B880EA}"/>
              </a:ext>
            </a:extLst>
          </p:cNvPr>
          <p:cNvSpPr/>
          <p:nvPr/>
        </p:nvSpPr>
        <p:spPr>
          <a:xfrm>
            <a:off x="-7847823" y="1766887"/>
            <a:ext cx="3600450" cy="3324225"/>
          </a:xfrm>
          <a:prstGeom prst="roundRect">
            <a:avLst>
              <a:gd name="adj" fmla="val 17183"/>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t>STEP</a:t>
            </a:r>
            <a:r>
              <a:rPr lang="ja-JP" altLang="en-US" sz="3200" dirty="0"/>
              <a:t> </a:t>
            </a:r>
            <a:r>
              <a:rPr lang="en-US" altLang="ja-JP" sz="3200" dirty="0"/>
              <a:t>02</a:t>
            </a:r>
          </a:p>
          <a:p>
            <a:pPr algn="ctr"/>
            <a:endParaRPr lang="en-US" altLang="ja-JP" sz="3200" dirty="0"/>
          </a:p>
          <a:p>
            <a:pPr algn="ctr"/>
            <a:endParaRPr kumimoji="1" lang="en-US" altLang="ja-JP" sz="2400" dirty="0"/>
          </a:p>
          <a:p>
            <a:pPr algn="ctr"/>
            <a:r>
              <a:rPr kumimoji="1" lang="en-US" altLang="ja-JP" sz="2400" dirty="0"/>
              <a:t>【</a:t>
            </a:r>
            <a:r>
              <a:rPr kumimoji="1" lang="ja-JP" altLang="en-US" sz="2400" dirty="0"/>
              <a:t>座標指定</a:t>
            </a:r>
            <a:r>
              <a:rPr kumimoji="1" lang="en-US" altLang="ja-JP" sz="2400" dirty="0"/>
              <a:t>】</a:t>
            </a:r>
          </a:p>
          <a:p>
            <a:pPr algn="ctr"/>
            <a:endParaRPr kumimoji="1" lang="en-US" altLang="ja-JP" sz="2400" dirty="0"/>
          </a:p>
          <a:p>
            <a:pPr algn="ctr"/>
            <a:r>
              <a:rPr kumimoji="1" lang="en-US" altLang="ja-JP" sz="2400" dirty="0"/>
              <a:t>Scratch</a:t>
            </a:r>
            <a:r>
              <a:rPr kumimoji="1" lang="ja-JP" altLang="en-US" sz="2400" dirty="0"/>
              <a:t>の入力欄に</a:t>
            </a:r>
            <a:endParaRPr kumimoji="1" lang="en-US" altLang="ja-JP" sz="2400" dirty="0"/>
          </a:p>
          <a:p>
            <a:pPr algn="ctr"/>
            <a:r>
              <a:rPr kumimoji="1" lang="ja-JP" altLang="en-US" sz="2400" dirty="0"/>
              <a:t>ゴールの座標を入力</a:t>
            </a:r>
            <a:endParaRPr kumimoji="1" lang="en-US" altLang="ja-JP" sz="2400" dirty="0"/>
          </a:p>
          <a:p>
            <a:pPr algn="ctr"/>
            <a:endParaRPr kumimoji="1" lang="en-US" altLang="ja-JP" sz="2400" dirty="0"/>
          </a:p>
        </p:txBody>
      </p:sp>
      <p:sp>
        <p:nvSpPr>
          <p:cNvPr id="15" name="四角形: 角を丸くする 14">
            <a:extLst>
              <a:ext uri="{FF2B5EF4-FFF2-40B4-BE49-F238E27FC236}">
                <a16:creationId xmlns:a16="http://schemas.microsoft.com/office/drawing/2014/main" id="{883CB86D-F665-E92F-3AA3-B04CF908183A}"/>
              </a:ext>
            </a:extLst>
          </p:cNvPr>
          <p:cNvSpPr/>
          <p:nvPr/>
        </p:nvSpPr>
        <p:spPr>
          <a:xfrm>
            <a:off x="-3888855" y="1766887"/>
            <a:ext cx="3600450" cy="3324225"/>
          </a:xfrm>
          <a:prstGeom prst="roundRect">
            <a:avLst>
              <a:gd name="adj" fmla="val 181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t>STEP</a:t>
            </a:r>
            <a:r>
              <a:rPr lang="ja-JP" altLang="en-US" sz="3200" dirty="0"/>
              <a:t> </a:t>
            </a:r>
            <a:r>
              <a:rPr lang="en-US" altLang="ja-JP" sz="3200" dirty="0"/>
              <a:t>03</a:t>
            </a:r>
          </a:p>
          <a:p>
            <a:pPr algn="ctr"/>
            <a:endParaRPr lang="en-US" altLang="ja-JP" sz="3200" dirty="0"/>
          </a:p>
          <a:p>
            <a:pPr algn="ctr"/>
            <a:endParaRPr kumimoji="1" lang="en-US" altLang="ja-JP" sz="2400" dirty="0"/>
          </a:p>
          <a:p>
            <a:pPr algn="ctr"/>
            <a:r>
              <a:rPr kumimoji="1" lang="en-US" altLang="ja-JP" sz="2400" dirty="0"/>
              <a:t>【</a:t>
            </a:r>
            <a:r>
              <a:rPr lang="ja-JP" altLang="en-US" sz="2400" dirty="0"/>
              <a:t>自動走行</a:t>
            </a:r>
            <a:r>
              <a:rPr kumimoji="1" lang="en-US" altLang="ja-JP" sz="2400" dirty="0"/>
              <a:t>】</a:t>
            </a:r>
          </a:p>
          <a:p>
            <a:pPr algn="ctr"/>
            <a:endParaRPr kumimoji="1" lang="en-US" altLang="ja-JP" sz="2400" dirty="0"/>
          </a:p>
          <a:p>
            <a:pPr algn="ctr"/>
            <a:r>
              <a:rPr lang="ja-JP" altLang="en-US" sz="2400" dirty="0"/>
              <a:t>障害物検知による</a:t>
            </a:r>
            <a:endParaRPr lang="en-US" altLang="ja-JP" sz="2400" dirty="0"/>
          </a:p>
          <a:p>
            <a:pPr algn="ctr"/>
            <a:r>
              <a:rPr kumimoji="1" lang="ja-JP" altLang="en-US" sz="2400" dirty="0"/>
              <a:t>安全なルートを走行</a:t>
            </a:r>
            <a:endParaRPr kumimoji="1" lang="en-US" altLang="ja-JP" sz="2400" dirty="0"/>
          </a:p>
          <a:p>
            <a:pPr algn="ctr"/>
            <a:endParaRPr kumimoji="1" lang="en-US" altLang="ja-JP" sz="2400" dirty="0"/>
          </a:p>
        </p:txBody>
      </p:sp>
      <p:cxnSp>
        <p:nvCxnSpPr>
          <p:cNvPr id="16" name="直線コネクタ 15">
            <a:extLst>
              <a:ext uri="{FF2B5EF4-FFF2-40B4-BE49-F238E27FC236}">
                <a16:creationId xmlns:a16="http://schemas.microsoft.com/office/drawing/2014/main" id="{EC8AECCA-7FBE-613E-405E-6AF766F53E26}"/>
              </a:ext>
            </a:extLst>
          </p:cNvPr>
          <p:cNvCxnSpPr/>
          <p:nvPr/>
        </p:nvCxnSpPr>
        <p:spPr>
          <a:xfrm>
            <a:off x="-11801995" y="2476116"/>
            <a:ext cx="360045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直線コネクタ 16">
            <a:extLst>
              <a:ext uri="{FF2B5EF4-FFF2-40B4-BE49-F238E27FC236}">
                <a16:creationId xmlns:a16="http://schemas.microsoft.com/office/drawing/2014/main" id="{789AEDD4-5A4D-3FE3-9A94-E45CA14FD12D}"/>
              </a:ext>
            </a:extLst>
          </p:cNvPr>
          <p:cNvCxnSpPr/>
          <p:nvPr/>
        </p:nvCxnSpPr>
        <p:spPr>
          <a:xfrm>
            <a:off x="-7847823" y="2469382"/>
            <a:ext cx="360045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666B3871-BBDE-712E-525B-87713135C708}"/>
              </a:ext>
            </a:extLst>
          </p:cNvPr>
          <p:cNvCxnSpPr/>
          <p:nvPr/>
        </p:nvCxnSpPr>
        <p:spPr>
          <a:xfrm>
            <a:off x="-3888855" y="2494782"/>
            <a:ext cx="3600450" cy="0"/>
          </a:xfrm>
          <a:prstGeom prst="line">
            <a:avLst/>
          </a:prstGeom>
        </p:spPr>
        <p:style>
          <a:lnRef idx="2">
            <a:schemeClr val="accent1"/>
          </a:lnRef>
          <a:fillRef idx="0">
            <a:schemeClr val="accent1"/>
          </a:fillRef>
          <a:effectRef idx="1">
            <a:schemeClr val="accent1"/>
          </a:effectRef>
          <a:fontRef idx="minor">
            <a:schemeClr val="tx1"/>
          </a:fontRef>
        </p:style>
      </p:cxnSp>
      <p:sp>
        <p:nvSpPr>
          <p:cNvPr id="13" name="四角形: 角を丸くする 12">
            <a:extLst>
              <a:ext uri="{FF2B5EF4-FFF2-40B4-BE49-F238E27FC236}">
                <a16:creationId xmlns:a16="http://schemas.microsoft.com/office/drawing/2014/main" id="{7500F260-4BDB-6948-6608-7D802AF0474B}"/>
              </a:ext>
            </a:extLst>
          </p:cNvPr>
          <p:cNvSpPr/>
          <p:nvPr/>
        </p:nvSpPr>
        <p:spPr>
          <a:xfrm>
            <a:off x="9142802"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A9BD832B-BDB5-9AF0-88D9-69679C0362A4}"/>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3B5A759D-4D65-EC16-046A-A7282A389F3D}"/>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tx1"/>
                </a:solidFill>
              </a:rPr>
              <a:t>システム要件</a:t>
            </a:r>
          </a:p>
        </p:txBody>
      </p:sp>
      <p:sp>
        <p:nvSpPr>
          <p:cNvPr id="11" name="四角形: 角を丸くする 10">
            <a:extLst>
              <a:ext uri="{FF2B5EF4-FFF2-40B4-BE49-F238E27FC236}">
                <a16:creationId xmlns:a16="http://schemas.microsoft.com/office/drawing/2014/main" id="{EAC24ACD-E432-DA3F-57FB-4E354B2CA45E}"/>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9CFDB569-2C3E-5B06-5CF7-6DC2B531DE8F}"/>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bg1"/>
                </a:solidFill>
              </a:rPr>
              <a:t>プログラム説明</a:t>
            </a:r>
            <a:endParaRPr kumimoji="1" lang="ja-JP" altLang="en-US" sz="2400" dirty="0">
              <a:solidFill>
                <a:schemeClr val="bg1"/>
              </a:solidFill>
            </a:endParaRPr>
          </a:p>
        </p:txBody>
      </p:sp>
    </p:spTree>
    <p:extLst>
      <p:ext uri="{BB962C8B-B14F-4D97-AF65-F5344CB8AC3E}">
        <p14:creationId xmlns:p14="http://schemas.microsoft.com/office/powerpoint/2010/main" val="224386084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1D2E2-5E5A-E6F6-6965-E7CC7A3DF085}"/>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5A072D70-3E91-1B5D-9318-C16AE99EB39E}"/>
              </a:ext>
            </a:extLst>
          </p:cNvPr>
          <p:cNvSpPr/>
          <p:nvPr/>
        </p:nvSpPr>
        <p:spPr>
          <a:xfrm>
            <a:off x="9142802"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60AE0740-3415-9F6A-21BE-AA615C449DF9}"/>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492828C0-04EF-04A5-7E88-C637664D846D}"/>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tx1"/>
                </a:solidFill>
              </a:rPr>
              <a:t>システム要件</a:t>
            </a:r>
          </a:p>
        </p:txBody>
      </p:sp>
      <p:sp>
        <p:nvSpPr>
          <p:cNvPr id="11" name="四角形: 角を丸くする 10">
            <a:extLst>
              <a:ext uri="{FF2B5EF4-FFF2-40B4-BE49-F238E27FC236}">
                <a16:creationId xmlns:a16="http://schemas.microsoft.com/office/drawing/2014/main" id="{B6239AB5-A2F9-4FB3-8A0F-D66B76A7DC43}"/>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FEDF6AC8-1E9B-B5AA-306D-30D16B1158C9}"/>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bg1"/>
                </a:solidFill>
              </a:rPr>
              <a:t>プログラム説明</a:t>
            </a:r>
            <a:endParaRPr kumimoji="1" lang="ja-JP" altLang="en-US" sz="2400" dirty="0">
              <a:solidFill>
                <a:schemeClr val="bg1"/>
              </a:solidFill>
            </a:endParaRPr>
          </a:p>
        </p:txBody>
      </p:sp>
      <p:pic>
        <p:nvPicPr>
          <p:cNvPr id="4" name="図 3">
            <a:extLst>
              <a:ext uri="{FF2B5EF4-FFF2-40B4-BE49-F238E27FC236}">
                <a16:creationId xmlns:a16="http://schemas.microsoft.com/office/drawing/2014/main" id="{A0038179-C32C-12E7-8978-1A4A67F0D099}"/>
              </a:ext>
            </a:extLst>
          </p:cNvPr>
          <p:cNvPicPr>
            <a:picLocks noChangeAspect="1"/>
          </p:cNvPicPr>
          <p:nvPr/>
        </p:nvPicPr>
        <p:blipFill>
          <a:blip r:embed="rId3"/>
          <a:stretch>
            <a:fillRect/>
          </a:stretch>
        </p:blipFill>
        <p:spPr>
          <a:xfrm>
            <a:off x="656000" y="612000"/>
            <a:ext cx="10880000" cy="6120000"/>
          </a:xfrm>
          <a:prstGeom prst="rect">
            <a:avLst/>
          </a:prstGeom>
        </p:spPr>
      </p:pic>
    </p:spTree>
    <p:extLst>
      <p:ext uri="{BB962C8B-B14F-4D97-AF65-F5344CB8AC3E}">
        <p14:creationId xmlns:p14="http://schemas.microsoft.com/office/powerpoint/2010/main" val="265179286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CB2F4-B641-DD46-7E9A-0AA2FDF4FF4C}"/>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0148EAD7-30C9-A277-29B9-D2A22B7EF309}"/>
              </a:ext>
            </a:extLst>
          </p:cNvPr>
          <p:cNvSpPr/>
          <p:nvPr/>
        </p:nvSpPr>
        <p:spPr>
          <a:xfrm>
            <a:off x="9142802"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E55F3B48-1858-28C5-99BD-86CA80D0E2C7}"/>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B22B80D3-8536-6ADF-7580-E4BAB20750A8}"/>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tx1"/>
                </a:solidFill>
              </a:rPr>
              <a:t>システム要件</a:t>
            </a:r>
          </a:p>
        </p:txBody>
      </p:sp>
      <p:sp>
        <p:nvSpPr>
          <p:cNvPr id="11" name="四角形: 角を丸くする 10">
            <a:extLst>
              <a:ext uri="{FF2B5EF4-FFF2-40B4-BE49-F238E27FC236}">
                <a16:creationId xmlns:a16="http://schemas.microsoft.com/office/drawing/2014/main" id="{F5FCA7E6-A413-4AEC-098A-D56EE69BF84F}"/>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CA7BB533-BC9C-1F4A-25F8-3A1395379193}"/>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bg1"/>
                </a:solidFill>
              </a:rPr>
              <a:t>プログラム説明</a:t>
            </a:r>
            <a:endParaRPr kumimoji="1" lang="ja-JP" altLang="en-US" sz="2400" dirty="0">
              <a:solidFill>
                <a:schemeClr val="bg1"/>
              </a:solidFill>
            </a:endParaRPr>
          </a:p>
        </p:txBody>
      </p:sp>
      <p:pic>
        <p:nvPicPr>
          <p:cNvPr id="4" name="図 3">
            <a:extLst>
              <a:ext uri="{FF2B5EF4-FFF2-40B4-BE49-F238E27FC236}">
                <a16:creationId xmlns:a16="http://schemas.microsoft.com/office/drawing/2014/main" id="{AC97D533-F0E0-D686-C458-572D495A1A19}"/>
              </a:ext>
            </a:extLst>
          </p:cNvPr>
          <p:cNvPicPr>
            <a:picLocks noChangeAspect="1"/>
          </p:cNvPicPr>
          <p:nvPr/>
        </p:nvPicPr>
        <p:blipFill>
          <a:blip r:embed="rId3"/>
          <a:srcRect l="4343" t="4669" r="79913" b="47814"/>
          <a:stretch>
            <a:fillRect/>
          </a:stretch>
        </p:blipFill>
        <p:spPr>
          <a:xfrm>
            <a:off x="4293711" y="611999"/>
            <a:ext cx="3604578" cy="6120000"/>
          </a:xfrm>
          <a:prstGeom prst="rect">
            <a:avLst/>
          </a:prstGeom>
        </p:spPr>
      </p:pic>
    </p:spTree>
    <p:extLst>
      <p:ext uri="{BB962C8B-B14F-4D97-AF65-F5344CB8AC3E}">
        <p14:creationId xmlns:p14="http://schemas.microsoft.com/office/powerpoint/2010/main" val="112145562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A9D7F-7F84-76F9-6D52-8E7FCFBE32BA}"/>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B07F82FA-3490-6E45-60BE-41585D40B752}"/>
              </a:ext>
            </a:extLst>
          </p:cNvPr>
          <p:cNvSpPr/>
          <p:nvPr/>
        </p:nvSpPr>
        <p:spPr>
          <a:xfrm>
            <a:off x="9142802"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19725C7A-4764-CFF4-3650-B523B7B8EA6A}"/>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84462621-A46D-8FDB-8CD5-063C5C052811}"/>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tx1"/>
                </a:solidFill>
              </a:rPr>
              <a:t>システム要件</a:t>
            </a:r>
          </a:p>
        </p:txBody>
      </p:sp>
      <p:sp>
        <p:nvSpPr>
          <p:cNvPr id="11" name="四角形: 角を丸くする 10">
            <a:extLst>
              <a:ext uri="{FF2B5EF4-FFF2-40B4-BE49-F238E27FC236}">
                <a16:creationId xmlns:a16="http://schemas.microsoft.com/office/drawing/2014/main" id="{C3AA982D-85EE-1D29-3EE2-69EA23A27B58}"/>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26AB3D2D-1044-2B2B-04A7-F5A5CFB2A444}"/>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bg1"/>
                </a:solidFill>
              </a:rPr>
              <a:t>プログラム説明</a:t>
            </a:r>
            <a:endParaRPr kumimoji="1" lang="ja-JP" altLang="en-US" sz="2400" dirty="0">
              <a:solidFill>
                <a:schemeClr val="bg1"/>
              </a:solidFill>
            </a:endParaRPr>
          </a:p>
        </p:txBody>
      </p:sp>
      <p:pic>
        <p:nvPicPr>
          <p:cNvPr id="4" name="図 3">
            <a:extLst>
              <a:ext uri="{FF2B5EF4-FFF2-40B4-BE49-F238E27FC236}">
                <a16:creationId xmlns:a16="http://schemas.microsoft.com/office/drawing/2014/main" id="{2D9D486D-85AC-83ED-6E1B-F21AF40D674F}"/>
              </a:ext>
            </a:extLst>
          </p:cNvPr>
          <p:cNvPicPr>
            <a:picLocks noChangeAspect="1"/>
          </p:cNvPicPr>
          <p:nvPr/>
        </p:nvPicPr>
        <p:blipFill>
          <a:blip r:embed="rId3"/>
          <a:srcRect l="4457" t="4715" r="82291" b="81284"/>
          <a:stretch>
            <a:fillRect/>
          </a:stretch>
        </p:blipFill>
        <p:spPr>
          <a:xfrm>
            <a:off x="946426" y="612000"/>
            <a:ext cx="10299149" cy="6120000"/>
          </a:xfrm>
          <a:prstGeom prst="rect">
            <a:avLst/>
          </a:prstGeom>
        </p:spPr>
      </p:pic>
    </p:spTree>
    <p:extLst>
      <p:ext uri="{BB962C8B-B14F-4D97-AF65-F5344CB8AC3E}">
        <p14:creationId xmlns:p14="http://schemas.microsoft.com/office/powerpoint/2010/main" val="137184206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32678-C346-3478-6F17-FCFDEAB70F31}"/>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59E07774-A290-62E5-711B-087E8F3907D4}"/>
              </a:ext>
            </a:extLst>
          </p:cNvPr>
          <p:cNvSpPr/>
          <p:nvPr/>
        </p:nvSpPr>
        <p:spPr>
          <a:xfrm>
            <a:off x="9142802"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E232175F-B513-B1D0-BCE0-AA66E64B879A}"/>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4C4AE25F-11DB-B820-FCEE-4F93DD667484}"/>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tx1"/>
                </a:solidFill>
              </a:rPr>
              <a:t>システム要件</a:t>
            </a:r>
          </a:p>
        </p:txBody>
      </p:sp>
      <p:sp>
        <p:nvSpPr>
          <p:cNvPr id="11" name="四角形: 角を丸くする 10">
            <a:extLst>
              <a:ext uri="{FF2B5EF4-FFF2-40B4-BE49-F238E27FC236}">
                <a16:creationId xmlns:a16="http://schemas.microsoft.com/office/drawing/2014/main" id="{BB8B8FA9-2E97-2F8C-382D-3A7AEE3130F7}"/>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2F478853-89CE-FB56-7A0D-E2C07B99FCB0}"/>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bg1"/>
                </a:solidFill>
              </a:rPr>
              <a:t>プログラム説明</a:t>
            </a:r>
            <a:endParaRPr kumimoji="1" lang="ja-JP" altLang="en-US" sz="2400" dirty="0">
              <a:solidFill>
                <a:schemeClr val="bg1"/>
              </a:solidFill>
            </a:endParaRPr>
          </a:p>
        </p:txBody>
      </p:sp>
      <p:pic>
        <p:nvPicPr>
          <p:cNvPr id="4" name="図 3">
            <a:extLst>
              <a:ext uri="{FF2B5EF4-FFF2-40B4-BE49-F238E27FC236}">
                <a16:creationId xmlns:a16="http://schemas.microsoft.com/office/drawing/2014/main" id="{C80A0D27-37C5-7EA9-5A9A-DB21EDEFC81C}"/>
              </a:ext>
            </a:extLst>
          </p:cNvPr>
          <p:cNvPicPr>
            <a:picLocks noChangeAspect="1"/>
          </p:cNvPicPr>
          <p:nvPr/>
        </p:nvPicPr>
        <p:blipFill>
          <a:blip r:embed="rId3"/>
          <a:srcRect l="76573" t="4331" r="6491" b="51964"/>
          <a:stretch>
            <a:fillRect/>
          </a:stretch>
        </p:blipFill>
        <p:spPr>
          <a:xfrm>
            <a:off x="3988000" y="612000"/>
            <a:ext cx="4216000" cy="6120000"/>
          </a:xfrm>
          <a:prstGeom prst="rect">
            <a:avLst/>
          </a:prstGeom>
        </p:spPr>
      </p:pic>
    </p:spTree>
    <p:extLst>
      <p:ext uri="{BB962C8B-B14F-4D97-AF65-F5344CB8AC3E}">
        <p14:creationId xmlns:p14="http://schemas.microsoft.com/office/powerpoint/2010/main" val="384442636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79855-0420-5BB7-F8EA-49F2F09A411B}"/>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54C41182-7879-4418-84F9-71788B760700}"/>
              </a:ext>
            </a:extLst>
          </p:cNvPr>
          <p:cNvSpPr/>
          <p:nvPr/>
        </p:nvSpPr>
        <p:spPr>
          <a:xfrm>
            <a:off x="9142802"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C9B01901-199A-C254-40AA-7C7E3EC7D22B}"/>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A15BAE79-D040-007F-B22F-36A1C1CF4A83}"/>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tx1"/>
                </a:solidFill>
              </a:rPr>
              <a:t>システム要件</a:t>
            </a:r>
          </a:p>
        </p:txBody>
      </p:sp>
      <p:sp>
        <p:nvSpPr>
          <p:cNvPr id="11" name="四角形: 角を丸くする 10">
            <a:extLst>
              <a:ext uri="{FF2B5EF4-FFF2-40B4-BE49-F238E27FC236}">
                <a16:creationId xmlns:a16="http://schemas.microsoft.com/office/drawing/2014/main" id="{6A5987F6-2684-FD15-EEF9-2A11143B02C0}"/>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61118415-C485-2A73-C6B1-4108BC296218}"/>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bg1"/>
                </a:solidFill>
              </a:rPr>
              <a:t>プログラム説明</a:t>
            </a:r>
            <a:endParaRPr kumimoji="1" lang="ja-JP" altLang="en-US" sz="2400" dirty="0">
              <a:solidFill>
                <a:schemeClr val="bg1"/>
              </a:solidFill>
            </a:endParaRPr>
          </a:p>
        </p:txBody>
      </p:sp>
      <p:pic>
        <p:nvPicPr>
          <p:cNvPr id="4" name="図 3">
            <a:extLst>
              <a:ext uri="{FF2B5EF4-FFF2-40B4-BE49-F238E27FC236}">
                <a16:creationId xmlns:a16="http://schemas.microsoft.com/office/drawing/2014/main" id="{0463B8E3-059A-82A0-B3A4-B5FF323E554D}"/>
              </a:ext>
            </a:extLst>
          </p:cNvPr>
          <p:cNvPicPr>
            <a:picLocks noChangeAspect="1"/>
          </p:cNvPicPr>
          <p:nvPr/>
        </p:nvPicPr>
        <p:blipFill>
          <a:blip r:embed="rId3"/>
          <a:srcRect l="76777" t="7810" r="14718" b="62822"/>
          <a:stretch>
            <a:fillRect/>
          </a:stretch>
        </p:blipFill>
        <p:spPr>
          <a:xfrm>
            <a:off x="4520493" y="612000"/>
            <a:ext cx="3151015" cy="6120000"/>
          </a:xfrm>
          <a:prstGeom prst="rect">
            <a:avLst/>
          </a:prstGeom>
        </p:spPr>
      </p:pic>
    </p:spTree>
    <p:extLst>
      <p:ext uri="{BB962C8B-B14F-4D97-AF65-F5344CB8AC3E}">
        <p14:creationId xmlns:p14="http://schemas.microsoft.com/office/powerpoint/2010/main" val="340474077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C0411-DA95-155D-F059-39106B273C29}"/>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930769CF-0867-43B0-DAAD-9C4FD28A639C}"/>
              </a:ext>
            </a:extLst>
          </p:cNvPr>
          <p:cNvSpPr/>
          <p:nvPr/>
        </p:nvSpPr>
        <p:spPr>
          <a:xfrm>
            <a:off x="9142802"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4D429FD6-31DF-B49D-E375-3C3119FDF58B}"/>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38883CC6-7D04-A0CB-B5E3-3189DF96514C}"/>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tx1"/>
                </a:solidFill>
              </a:rPr>
              <a:t>システム要件</a:t>
            </a:r>
          </a:p>
        </p:txBody>
      </p:sp>
      <p:sp>
        <p:nvSpPr>
          <p:cNvPr id="11" name="四角形: 角を丸くする 10">
            <a:extLst>
              <a:ext uri="{FF2B5EF4-FFF2-40B4-BE49-F238E27FC236}">
                <a16:creationId xmlns:a16="http://schemas.microsoft.com/office/drawing/2014/main" id="{D121A268-AF38-B7BA-51CA-69D2751E9761}"/>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6375BB57-74F8-8814-890B-BF3A14A979BF}"/>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bg1"/>
                </a:solidFill>
              </a:rPr>
              <a:t>プログラム説明</a:t>
            </a:r>
            <a:endParaRPr kumimoji="1" lang="ja-JP" altLang="en-US" sz="2400" dirty="0">
              <a:solidFill>
                <a:schemeClr val="bg1"/>
              </a:solidFill>
            </a:endParaRPr>
          </a:p>
        </p:txBody>
      </p:sp>
      <p:pic>
        <p:nvPicPr>
          <p:cNvPr id="15" name="図 14">
            <a:extLst>
              <a:ext uri="{FF2B5EF4-FFF2-40B4-BE49-F238E27FC236}">
                <a16:creationId xmlns:a16="http://schemas.microsoft.com/office/drawing/2014/main" id="{1182620E-8C5F-5B49-7701-E7F120260AE4}"/>
              </a:ext>
            </a:extLst>
          </p:cNvPr>
          <p:cNvPicPr>
            <a:picLocks noChangeAspect="1"/>
          </p:cNvPicPr>
          <p:nvPr/>
        </p:nvPicPr>
        <p:blipFill>
          <a:blip r:embed="rId3"/>
          <a:srcRect l="4457" t="4715" r="82291" b="81284"/>
          <a:stretch>
            <a:fillRect/>
          </a:stretch>
        </p:blipFill>
        <p:spPr>
          <a:xfrm>
            <a:off x="946426" y="612000"/>
            <a:ext cx="10299149" cy="6120000"/>
          </a:xfrm>
          <a:prstGeom prst="rect">
            <a:avLst/>
          </a:prstGeom>
        </p:spPr>
      </p:pic>
    </p:spTree>
    <p:extLst>
      <p:ext uri="{BB962C8B-B14F-4D97-AF65-F5344CB8AC3E}">
        <p14:creationId xmlns:p14="http://schemas.microsoft.com/office/powerpoint/2010/main" val="337397968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081C3-5B0C-ADCF-5FC8-984E92DCCB08}"/>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CEAFBCF5-D53A-4F7B-F21D-00440846545E}"/>
              </a:ext>
            </a:extLst>
          </p:cNvPr>
          <p:cNvSpPr/>
          <p:nvPr/>
        </p:nvSpPr>
        <p:spPr>
          <a:xfrm>
            <a:off x="9142802"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CA91B67A-230A-9B19-F481-4AEA3DB209E7}"/>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6F71C98F-32C9-C2E4-1670-C0B2CC3636A5}"/>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tx1"/>
                </a:solidFill>
              </a:rPr>
              <a:t>システム要件</a:t>
            </a:r>
          </a:p>
        </p:txBody>
      </p:sp>
      <p:sp>
        <p:nvSpPr>
          <p:cNvPr id="11" name="四角形: 角を丸くする 10">
            <a:extLst>
              <a:ext uri="{FF2B5EF4-FFF2-40B4-BE49-F238E27FC236}">
                <a16:creationId xmlns:a16="http://schemas.microsoft.com/office/drawing/2014/main" id="{9F0CAFBA-1B13-A9FC-066E-5C1EA1D1200D}"/>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FA1B8BE2-44CA-1F13-F1F5-B4852CEFA363}"/>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bg1"/>
                </a:solidFill>
              </a:rPr>
              <a:t>プログラム説明</a:t>
            </a:r>
            <a:endParaRPr kumimoji="1" lang="ja-JP" altLang="en-US" sz="2400" dirty="0">
              <a:solidFill>
                <a:schemeClr val="bg1"/>
              </a:solidFill>
            </a:endParaRPr>
          </a:p>
        </p:txBody>
      </p:sp>
      <p:pic>
        <p:nvPicPr>
          <p:cNvPr id="4" name="図 3">
            <a:extLst>
              <a:ext uri="{FF2B5EF4-FFF2-40B4-BE49-F238E27FC236}">
                <a16:creationId xmlns:a16="http://schemas.microsoft.com/office/drawing/2014/main" id="{A8569A0C-BF7B-44CE-F7F1-A5D87C9FB9F7}"/>
              </a:ext>
            </a:extLst>
          </p:cNvPr>
          <p:cNvPicPr>
            <a:picLocks noChangeAspect="1"/>
          </p:cNvPicPr>
          <p:nvPr/>
        </p:nvPicPr>
        <p:blipFill>
          <a:blip r:embed="rId3"/>
          <a:srcRect l="4365" t="17867" r="79884" b="51707"/>
          <a:stretch>
            <a:fillRect/>
          </a:stretch>
        </p:blipFill>
        <p:spPr>
          <a:xfrm>
            <a:off x="3279837" y="612000"/>
            <a:ext cx="5632326" cy="6120000"/>
          </a:xfrm>
          <a:prstGeom prst="rect">
            <a:avLst/>
          </a:prstGeom>
        </p:spPr>
      </p:pic>
    </p:spTree>
    <p:extLst>
      <p:ext uri="{BB962C8B-B14F-4D97-AF65-F5344CB8AC3E}">
        <p14:creationId xmlns:p14="http://schemas.microsoft.com/office/powerpoint/2010/main" val="45884186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2D308-A3D4-3ADA-4BC9-87FA14EB856A}"/>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7A2D012C-BD17-1308-673E-26BB4488EAC5}"/>
              </a:ext>
            </a:extLst>
          </p:cNvPr>
          <p:cNvSpPr/>
          <p:nvPr/>
        </p:nvSpPr>
        <p:spPr>
          <a:xfrm>
            <a:off x="9142802"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10D72A20-F50E-C56B-BE78-8B2D06228E77}"/>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AC93E353-AED2-2A46-EA15-2FEDCBA7A8CE}"/>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tx1"/>
                </a:solidFill>
              </a:rPr>
              <a:t>システム要件</a:t>
            </a:r>
          </a:p>
        </p:txBody>
      </p:sp>
      <p:sp>
        <p:nvSpPr>
          <p:cNvPr id="11" name="四角形: 角を丸くする 10">
            <a:extLst>
              <a:ext uri="{FF2B5EF4-FFF2-40B4-BE49-F238E27FC236}">
                <a16:creationId xmlns:a16="http://schemas.microsoft.com/office/drawing/2014/main" id="{FF542B05-5200-832A-F53B-B0D760B0B57B}"/>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F5BE21C2-1702-5040-F642-243A6132B188}"/>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bg1"/>
                </a:solidFill>
              </a:rPr>
              <a:t>プログラム説明</a:t>
            </a:r>
            <a:endParaRPr kumimoji="1" lang="ja-JP" altLang="en-US" sz="2400" dirty="0">
              <a:solidFill>
                <a:schemeClr val="bg1"/>
              </a:solidFill>
            </a:endParaRPr>
          </a:p>
        </p:txBody>
      </p:sp>
      <p:pic>
        <p:nvPicPr>
          <p:cNvPr id="4" name="図 3">
            <a:extLst>
              <a:ext uri="{FF2B5EF4-FFF2-40B4-BE49-F238E27FC236}">
                <a16:creationId xmlns:a16="http://schemas.microsoft.com/office/drawing/2014/main" id="{71BA0757-75B3-1251-CFD5-2B6D8B2AAE7B}"/>
              </a:ext>
            </a:extLst>
          </p:cNvPr>
          <p:cNvPicPr>
            <a:picLocks noChangeAspect="1"/>
          </p:cNvPicPr>
          <p:nvPr/>
        </p:nvPicPr>
        <p:blipFill>
          <a:blip r:embed="rId3"/>
          <a:srcRect l="4682" t="47660" r="90004" b="48075"/>
          <a:stretch>
            <a:fillRect/>
          </a:stretch>
        </p:blipFill>
        <p:spPr>
          <a:xfrm>
            <a:off x="336000" y="1081024"/>
            <a:ext cx="11520000" cy="5200777"/>
          </a:xfrm>
          <a:prstGeom prst="rect">
            <a:avLst/>
          </a:prstGeom>
        </p:spPr>
      </p:pic>
    </p:spTree>
    <p:extLst>
      <p:ext uri="{BB962C8B-B14F-4D97-AF65-F5344CB8AC3E}">
        <p14:creationId xmlns:p14="http://schemas.microsoft.com/office/powerpoint/2010/main" val="185217890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4DEEB-39FE-6DF4-A7C8-DBE41255E434}"/>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7EC380C3-4B16-1E27-50A6-AB7E7E7A01D8}"/>
              </a:ext>
            </a:extLst>
          </p:cNvPr>
          <p:cNvSpPr/>
          <p:nvPr/>
        </p:nvSpPr>
        <p:spPr>
          <a:xfrm>
            <a:off x="9142802"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179E2328-329D-1AF0-45F4-08A402A283CE}"/>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845319B1-E5DE-724F-BE72-D52F86994A0C}"/>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tx1"/>
                </a:solidFill>
              </a:rPr>
              <a:t>システム要件</a:t>
            </a:r>
          </a:p>
        </p:txBody>
      </p:sp>
      <p:sp>
        <p:nvSpPr>
          <p:cNvPr id="11" name="四角形: 角を丸くする 10">
            <a:extLst>
              <a:ext uri="{FF2B5EF4-FFF2-40B4-BE49-F238E27FC236}">
                <a16:creationId xmlns:a16="http://schemas.microsoft.com/office/drawing/2014/main" id="{24C9BC02-76FA-C17C-05D7-66E3C929D12F}"/>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AC0EBF33-8BA2-EF74-E333-07DC9025E3CA}"/>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bg1"/>
                </a:solidFill>
              </a:rPr>
              <a:t>プログラム説明</a:t>
            </a:r>
            <a:endParaRPr kumimoji="1" lang="ja-JP" altLang="en-US" sz="2400" dirty="0">
              <a:solidFill>
                <a:schemeClr val="bg1"/>
              </a:solidFill>
            </a:endParaRPr>
          </a:p>
        </p:txBody>
      </p:sp>
      <p:pic>
        <p:nvPicPr>
          <p:cNvPr id="7" name="図 6">
            <a:extLst>
              <a:ext uri="{FF2B5EF4-FFF2-40B4-BE49-F238E27FC236}">
                <a16:creationId xmlns:a16="http://schemas.microsoft.com/office/drawing/2014/main" id="{8B74D20C-7187-6A21-FFD6-3D3ED17902D4}"/>
              </a:ext>
            </a:extLst>
          </p:cNvPr>
          <p:cNvPicPr>
            <a:picLocks noChangeAspect="1"/>
          </p:cNvPicPr>
          <p:nvPr/>
        </p:nvPicPr>
        <p:blipFill>
          <a:blip r:embed="rId3"/>
          <a:srcRect l="76753" t="4408" r="6541" b="52018"/>
          <a:stretch>
            <a:fillRect/>
          </a:stretch>
        </p:blipFill>
        <p:spPr>
          <a:xfrm>
            <a:off x="4010271" y="612000"/>
            <a:ext cx="4171458" cy="6120000"/>
          </a:xfrm>
          <a:prstGeom prst="rect">
            <a:avLst/>
          </a:prstGeom>
        </p:spPr>
      </p:pic>
    </p:spTree>
    <p:extLst>
      <p:ext uri="{BB962C8B-B14F-4D97-AF65-F5344CB8AC3E}">
        <p14:creationId xmlns:p14="http://schemas.microsoft.com/office/powerpoint/2010/main" val="174760081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70121-AB6C-C88F-FD66-E1FD1937DE09}"/>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A37AAF34-3840-67D9-4A56-19149323B051}"/>
              </a:ext>
            </a:extLst>
          </p:cNvPr>
          <p:cNvSpPr/>
          <p:nvPr/>
        </p:nvSpPr>
        <p:spPr>
          <a:xfrm>
            <a:off x="9142802"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820ABE2B-1278-69D6-681C-1ECC01E101D8}"/>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5C7D04C2-9271-F111-E836-77C3D6F7555F}"/>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tx1"/>
                </a:solidFill>
              </a:rPr>
              <a:t>システム要件</a:t>
            </a:r>
          </a:p>
        </p:txBody>
      </p:sp>
      <p:sp>
        <p:nvSpPr>
          <p:cNvPr id="11" name="四角形: 角を丸くする 10">
            <a:extLst>
              <a:ext uri="{FF2B5EF4-FFF2-40B4-BE49-F238E27FC236}">
                <a16:creationId xmlns:a16="http://schemas.microsoft.com/office/drawing/2014/main" id="{8B9EBB7B-8EB4-D5DE-A2D1-40F0EA9AC1C3}"/>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894C86CA-8FB1-31AB-6088-35FBAB28F8D0}"/>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bg1"/>
                </a:solidFill>
              </a:rPr>
              <a:t>プログラム説明</a:t>
            </a:r>
            <a:endParaRPr kumimoji="1" lang="ja-JP" altLang="en-US" sz="2400" dirty="0">
              <a:solidFill>
                <a:schemeClr val="bg1"/>
              </a:solidFill>
            </a:endParaRPr>
          </a:p>
        </p:txBody>
      </p:sp>
      <p:pic>
        <p:nvPicPr>
          <p:cNvPr id="4" name="図 3">
            <a:extLst>
              <a:ext uri="{FF2B5EF4-FFF2-40B4-BE49-F238E27FC236}">
                <a16:creationId xmlns:a16="http://schemas.microsoft.com/office/drawing/2014/main" id="{E646E7A9-AD42-E167-1329-920EF0701B1A}"/>
              </a:ext>
            </a:extLst>
          </p:cNvPr>
          <p:cNvPicPr>
            <a:picLocks noChangeAspect="1"/>
          </p:cNvPicPr>
          <p:nvPr/>
        </p:nvPicPr>
        <p:blipFill>
          <a:blip r:embed="rId3"/>
          <a:srcRect l="76931" t="36458" r="6688" b="52398"/>
          <a:stretch>
            <a:fillRect/>
          </a:stretch>
        </p:blipFill>
        <p:spPr>
          <a:xfrm>
            <a:off x="336000" y="1477547"/>
            <a:ext cx="11520000" cy="4407732"/>
          </a:xfrm>
          <a:prstGeom prst="rect">
            <a:avLst/>
          </a:prstGeom>
        </p:spPr>
      </p:pic>
    </p:spTree>
    <p:extLst>
      <p:ext uri="{BB962C8B-B14F-4D97-AF65-F5344CB8AC3E}">
        <p14:creationId xmlns:p14="http://schemas.microsoft.com/office/powerpoint/2010/main" val="11293175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FD6F9-D0C4-E74F-3F16-6FBBADA72BD8}"/>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09AA8FFC-8452-8E4F-7433-CE6007624955}"/>
              </a:ext>
            </a:extLst>
          </p:cNvPr>
          <p:cNvSpPr/>
          <p:nvPr/>
        </p:nvSpPr>
        <p:spPr>
          <a:xfrm>
            <a:off x="9142802"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A9A0325E-9615-73DB-76E3-16268812514F}"/>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1795E708-0819-7666-C859-B1073C6CBC24}"/>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tx1"/>
                </a:solidFill>
              </a:rPr>
              <a:t>システム要件</a:t>
            </a:r>
          </a:p>
        </p:txBody>
      </p:sp>
      <p:sp>
        <p:nvSpPr>
          <p:cNvPr id="11" name="四角形: 角を丸くする 10">
            <a:extLst>
              <a:ext uri="{FF2B5EF4-FFF2-40B4-BE49-F238E27FC236}">
                <a16:creationId xmlns:a16="http://schemas.microsoft.com/office/drawing/2014/main" id="{365EAC88-7985-DD49-0564-AD72503B0FEB}"/>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539FB30B-BF31-497A-FB07-D0B86C25B843}"/>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bg1"/>
                </a:solidFill>
              </a:rPr>
              <a:t>プログラム説明</a:t>
            </a:r>
            <a:endParaRPr kumimoji="1" lang="ja-JP" altLang="en-US" sz="2400" dirty="0">
              <a:solidFill>
                <a:schemeClr val="bg1"/>
              </a:solidFill>
            </a:endParaRPr>
          </a:p>
        </p:txBody>
      </p:sp>
      <p:pic>
        <p:nvPicPr>
          <p:cNvPr id="7" name="図 6">
            <a:extLst>
              <a:ext uri="{FF2B5EF4-FFF2-40B4-BE49-F238E27FC236}">
                <a16:creationId xmlns:a16="http://schemas.microsoft.com/office/drawing/2014/main" id="{0A462083-1282-36EE-9FDE-EA9462AB81E2}"/>
              </a:ext>
            </a:extLst>
          </p:cNvPr>
          <p:cNvPicPr>
            <a:picLocks noChangeAspect="1"/>
          </p:cNvPicPr>
          <p:nvPr/>
        </p:nvPicPr>
        <p:blipFill>
          <a:blip r:embed="rId3"/>
          <a:srcRect l="4682" t="47660" r="90004" b="48075"/>
          <a:stretch>
            <a:fillRect/>
          </a:stretch>
        </p:blipFill>
        <p:spPr>
          <a:xfrm>
            <a:off x="336000" y="1081024"/>
            <a:ext cx="11520000" cy="5200777"/>
          </a:xfrm>
          <a:prstGeom prst="rect">
            <a:avLst/>
          </a:prstGeom>
        </p:spPr>
      </p:pic>
    </p:spTree>
    <p:extLst>
      <p:ext uri="{BB962C8B-B14F-4D97-AF65-F5344CB8AC3E}">
        <p14:creationId xmlns:p14="http://schemas.microsoft.com/office/powerpoint/2010/main" val="348766217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24919-0468-B281-E33C-63144A4EE536}"/>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27BF2C43-1606-B479-FBF7-1D81944F711C}"/>
              </a:ext>
            </a:extLst>
          </p:cNvPr>
          <p:cNvSpPr/>
          <p:nvPr/>
        </p:nvSpPr>
        <p:spPr>
          <a:xfrm>
            <a:off x="9142802"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E20E9E66-ABCE-B84D-51BE-81890BDAD061}"/>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31304F0A-0E3B-915F-A24F-233BC9F7247D}"/>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tx1"/>
                </a:solidFill>
              </a:rPr>
              <a:t>システム要件</a:t>
            </a:r>
          </a:p>
        </p:txBody>
      </p:sp>
      <p:sp>
        <p:nvSpPr>
          <p:cNvPr id="11" name="四角形: 角を丸くする 10">
            <a:extLst>
              <a:ext uri="{FF2B5EF4-FFF2-40B4-BE49-F238E27FC236}">
                <a16:creationId xmlns:a16="http://schemas.microsoft.com/office/drawing/2014/main" id="{98ECB82E-C93D-CF3B-7CBB-0FF0D0CD9EFE}"/>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FEB70026-3A86-3868-BFF7-0AEE233DCD37}"/>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bg1"/>
                </a:solidFill>
              </a:rPr>
              <a:t>プログラム説明</a:t>
            </a:r>
            <a:endParaRPr kumimoji="1" lang="ja-JP" altLang="en-US" sz="2400" dirty="0">
              <a:solidFill>
                <a:schemeClr val="bg1"/>
              </a:solidFill>
            </a:endParaRPr>
          </a:p>
        </p:txBody>
      </p:sp>
      <p:pic>
        <p:nvPicPr>
          <p:cNvPr id="4" name="図 3">
            <a:extLst>
              <a:ext uri="{FF2B5EF4-FFF2-40B4-BE49-F238E27FC236}">
                <a16:creationId xmlns:a16="http://schemas.microsoft.com/office/drawing/2014/main" id="{7400D3F4-451C-A5D9-8397-6EC752EDEB02}"/>
              </a:ext>
            </a:extLst>
          </p:cNvPr>
          <p:cNvPicPr>
            <a:picLocks noChangeAspect="1"/>
          </p:cNvPicPr>
          <p:nvPr/>
        </p:nvPicPr>
        <p:blipFill>
          <a:blip r:embed="rId3"/>
          <a:srcRect l="20962" t="4453" r="58645" b="36358"/>
          <a:stretch>
            <a:fillRect/>
          </a:stretch>
        </p:blipFill>
        <p:spPr>
          <a:xfrm>
            <a:off x="4221672" y="612000"/>
            <a:ext cx="3748656" cy="6120000"/>
          </a:xfrm>
          <a:prstGeom prst="rect">
            <a:avLst/>
          </a:prstGeom>
        </p:spPr>
      </p:pic>
    </p:spTree>
    <p:extLst>
      <p:ext uri="{BB962C8B-B14F-4D97-AF65-F5344CB8AC3E}">
        <p14:creationId xmlns:p14="http://schemas.microsoft.com/office/powerpoint/2010/main" val="51741961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63D0F-74A8-E065-95DA-B1D96872AD60}"/>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192DE368-7520-79B3-AAC5-5EC9DD1D14BB}"/>
              </a:ext>
            </a:extLst>
          </p:cNvPr>
          <p:cNvSpPr/>
          <p:nvPr/>
        </p:nvSpPr>
        <p:spPr>
          <a:xfrm>
            <a:off x="9142802"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A142F15E-57A9-CF1E-1F9D-22A1FEE28222}"/>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5E1C277D-666F-21EC-5CC0-FE2597CE8A98}"/>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tx1"/>
                </a:solidFill>
              </a:rPr>
              <a:t>システム要件</a:t>
            </a:r>
          </a:p>
        </p:txBody>
      </p:sp>
      <p:sp>
        <p:nvSpPr>
          <p:cNvPr id="11" name="四角形: 角を丸くする 10">
            <a:extLst>
              <a:ext uri="{FF2B5EF4-FFF2-40B4-BE49-F238E27FC236}">
                <a16:creationId xmlns:a16="http://schemas.microsoft.com/office/drawing/2014/main" id="{D104E3A5-18A9-43AA-B106-3A11CA9A95C5}"/>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E34CEC85-6188-C683-56FE-48FF162FAE4B}"/>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bg1"/>
                </a:solidFill>
              </a:rPr>
              <a:t>プログラム説明</a:t>
            </a:r>
            <a:endParaRPr kumimoji="1" lang="ja-JP" altLang="en-US" sz="2400" dirty="0">
              <a:solidFill>
                <a:schemeClr val="bg1"/>
              </a:solidFill>
            </a:endParaRPr>
          </a:p>
        </p:txBody>
      </p:sp>
      <p:pic>
        <p:nvPicPr>
          <p:cNvPr id="6" name="図 5">
            <a:extLst>
              <a:ext uri="{FF2B5EF4-FFF2-40B4-BE49-F238E27FC236}">
                <a16:creationId xmlns:a16="http://schemas.microsoft.com/office/drawing/2014/main" id="{75A7E762-8001-C591-9395-1D1AC5E6416F}"/>
              </a:ext>
            </a:extLst>
          </p:cNvPr>
          <p:cNvPicPr>
            <a:picLocks noChangeAspect="1"/>
          </p:cNvPicPr>
          <p:nvPr/>
        </p:nvPicPr>
        <p:blipFill>
          <a:blip r:embed="rId3"/>
          <a:srcRect l="21179" t="6891" r="63510" b="67726"/>
          <a:stretch>
            <a:fillRect/>
          </a:stretch>
        </p:blipFill>
        <p:spPr>
          <a:xfrm>
            <a:off x="2814630" y="612000"/>
            <a:ext cx="6562740" cy="6120000"/>
          </a:xfrm>
          <a:prstGeom prst="rect">
            <a:avLst/>
          </a:prstGeom>
        </p:spPr>
      </p:pic>
    </p:spTree>
    <p:extLst>
      <p:ext uri="{BB962C8B-B14F-4D97-AF65-F5344CB8AC3E}">
        <p14:creationId xmlns:p14="http://schemas.microsoft.com/office/powerpoint/2010/main" val="163251094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A6BA6-D3BF-4C0C-5C0D-FD62AF03C8A1}"/>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914C7677-AA45-90C4-3276-5B653AE6F0C9}"/>
              </a:ext>
            </a:extLst>
          </p:cNvPr>
          <p:cNvSpPr/>
          <p:nvPr/>
        </p:nvSpPr>
        <p:spPr>
          <a:xfrm>
            <a:off x="9142802"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9BA3D837-519C-2A91-A915-7C85F973DA96}"/>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C1197BF2-2C98-0FBE-9589-12F2ABD064AA}"/>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tx1"/>
                </a:solidFill>
              </a:rPr>
              <a:t>システム要件</a:t>
            </a:r>
          </a:p>
        </p:txBody>
      </p:sp>
      <p:sp>
        <p:nvSpPr>
          <p:cNvPr id="11" name="四角形: 角を丸くする 10">
            <a:extLst>
              <a:ext uri="{FF2B5EF4-FFF2-40B4-BE49-F238E27FC236}">
                <a16:creationId xmlns:a16="http://schemas.microsoft.com/office/drawing/2014/main" id="{469E1DF4-1B4D-5544-1ACB-6290D92E0240}"/>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B26A8A2B-4F90-5922-6DD6-2EE2443012D1}"/>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bg1"/>
                </a:solidFill>
              </a:rPr>
              <a:t>プログラム説明</a:t>
            </a:r>
            <a:endParaRPr kumimoji="1" lang="ja-JP" altLang="en-US" sz="2400" dirty="0">
              <a:solidFill>
                <a:schemeClr val="bg1"/>
              </a:solidFill>
            </a:endParaRPr>
          </a:p>
        </p:txBody>
      </p:sp>
      <p:pic>
        <p:nvPicPr>
          <p:cNvPr id="4" name="図 3">
            <a:extLst>
              <a:ext uri="{FF2B5EF4-FFF2-40B4-BE49-F238E27FC236}">
                <a16:creationId xmlns:a16="http://schemas.microsoft.com/office/drawing/2014/main" id="{53270DEC-21E9-8AD0-B434-60B7E32B52DA}"/>
              </a:ext>
            </a:extLst>
          </p:cNvPr>
          <p:cNvPicPr>
            <a:picLocks noChangeAspect="1"/>
          </p:cNvPicPr>
          <p:nvPr/>
        </p:nvPicPr>
        <p:blipFill>
          <a:blip r:embed="rId3"/>
          <a:srcRect l="21290" t="31416" r="58912" b="50515"/>
          <a:stretch>
            <a:fillRect/>
          </a:stretch>
        </p:blipFill>
        <p:spPr>
          <a:xfrm>
            <a:off x="336000" y="724332"/>
            <a:ext cx="11520000" cy="5914161"/>
          </a:xfrm>
          <a:prstGeom prst="rect">
            <a:avLst/>
          </a:prstGeom>
        </p:spPr>
      </p:pic>
    </p:spTree>
    <p:extLst>
      <p:ext uri="{BB962C8B-B14F-4D97-AF65-F5344CB8AC3E}">
        <p14:creationId xmlns:p14="http://schemas.microsoft.com/office/powerpoint/2010/main" val="289562396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17820-BA03-2368-5BC2-B898E09A8EF6}"/>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1037BECE-F7D6-A701-A461-D1E3089374F1}"/>
              </a:ext>
            </a:extLst>
          </p:cNvPr>
          <p:cNvSpPr/>
          <p:nvPr/>
        </p:nvSpPr>
        <p:spPr>
          <a:xfrm>
            <a:off x="9142802"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547F76F5-D0B6-A2B3-9DA7-E1DF57A80799}"/>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73229DC1-0E44-7C7A-BE64-EBE659359996}"/>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tx1"/>
                </a:solidFill>
              </a:rPr>
              <a:t>システム要件</a:t>
            </a:r>
          </a:p>
        </p:txBody>
      </p:sp>
      <p:sp>
        <p:nvSpPr>
          <p:cNvPr id="11" name="四角形: 角を丸くする 10">
            <a:extLst>
              <a:ext uri="{FF2B5EF4-FFF2-40B4-BE49-F238E27FC236}">
                <a16:creationId xmlns:a16="http://schemas.microsoft.com/office/drawing/2014/main" id="{FCBC2346-C8A2-BFDD-3832-45E6B2DB640B}"/>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800260B4-CF9A-8259-633C-954979A459AB}"/>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bg1"/>
                </a:solidFill>
              </a:rPr>
              <a:t>プログラム説明</a:t>
            </a:r>
            <a:endParaRPr kumimoji="1" lang="ja-JP" altLang="en-US" sz="2400" dirty="0">
              <a:solidFill>
                <a:schemeClr val="bg1"/>
              </a:solidFill>
            </a:endParaRPr>
          </a:p>
        </p:txBody>
      </p:sp>
      <p:pic>
        <p:nvPicPr>
          <p:cNvPr id="4" name="図 3">
            <a:extLst>
              <a:ext uri="{FF2B5EF4-FFF2-40B4-BE49-F238E27FC236}">
                <a16:creationId xmlns:a16="http://schemas.microsoft.com/office/drawing/2014/main" id="{BF6B6CB0-6BC0-95D6-1F0B-9AD69083542F}"/>
              </a:ext>
            </a:extLst>
          </p:cNvPr>
          <p:cNvPicPr>
            <a:picLocks noChangeAspect="1"/>
          </p:cNvPicPr>
          <p:nvPr/>
        </p:nvPicPr>
        <p:blipFill>
          <a:blip r:embed="rId3"/>
          <a:srcRect l="55546" t="4632" r="27015" b="69599"/>
          <a:stretch>
            <a:fillRect/>
          </a:stretch>
        </p:blipFill>
        <p:spPr>
          <a:xfrm>
            <a:off x="2414656" y="612000"/>
            <a:ext cx="7362688" cy="6120000"/>
          </a:xfrm>
          <a:prstGeom prst="rect">
            <a:avLst/>
          </a:prstGeom>
        </p:spPr>
      </p:pic>
    </p:spTree>
    <p:extLst>
      <p:ext uri="{BB962C8B-B14F-4D97-AF65-F5344CB8AC3E}">
        <p14:creationId xmlns:p14="http://schemas.microsoft.com/office/powerpoint/2010/main" val="421103674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650A8-78B9-ECBA-41C0-82B8DD8C82A6}"/>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BA883BE6-DAA5-4387-98B6-278FE30BA6AD}"/>
              </a:ext>
            </a:extLst>
          </p:cNvPr>
          <p:cNvSpPr/>
          <p:nvPr/>
        </p:nvSpPr>
        <p:spPr>
          <a:xfrm>
            <a:off x="9142802"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66164DC1-CAB8-BED3-3B32-E09BC9323B31}"/>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46AE2A0D-A339-78F3-A910-13DD9D5DC6CD}"/>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tx1"/>
                </a:solidFill>
              </a:rPr>
              <a:t>システム要件</a:t>
            </a:r>
          </a:p>
        </p:txBody>
      </p:sp>
      <p:sp>
        <p:nvSpPr>
          <p:cNvPr id="11" name="四角形: 角を丸くする 10">
            <a:extLst>
              <a:ext uri="{FF2B5EF4-FFF2-40B4-BE49-F238E27FC236}">
                <a16:creationId xmlns:a16="http://schemas.microsoft.com/office/drawing/2014/main" id="{217FA5D9-415A-1D3A-98B8-C77C550C46DE}"/>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2F6B155C-043D-B69E-01B7-E9EB7E207F6E}"/>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bg1"/>
                </a:solidFill>
              </a:rPr>
              <a:t>プログラム説明</a:t>
            </a:r>
            <a:endParaRPr kumimoji="1" lang="ja-JP" altLang="en-US" sz="2400" dirty="0">
              <a:solidFill>
                <a:schemeClr val="bg1"/>
              </a:solidFill>
            </a:endParaRPr>
          </a:p>
        </p:txBody>
      </p:sp>
      <p:pic>
        <p:nvPicPr>
          <p:cNvPr id="4" name="図 3">
            <a:extLst>
              <a:ext uri="{FF2B5EF4-FFF2-40B4-BE49-F238E27FC236}">
                <a16:creationId xmlns:a16="http://schemas.microsoft.com/office/drawing/2014/main" id="{2844D4BA-5617-B4E7-ADF6-89C386333BE3}"/>
              </a:ext>
            </a:extLst>
          </p:cNvPr>
          <p:cNvPicPr>
            <a:picLocks noChangeAspect="1"/>
          </p:cNvPicPr>
          <p:nvPr/>
        </p:nvPicPr>
        <p:blipFill>
          <a:blip r:embed="rId3"/>
          <a:srcRect l="64524" t="31603" r="24807" b="55044"/>
          <a:stretch>
            <a:fillRect/>
          </a:stretch>
        </p:blipFill>
        <p:spPr>
          <a:xfrm>
            <a:off x="1749596" y="612000"/>
            <a:ext cx="8692809" cy="6120000"/>
          </a:xfrm>
          <a:prstGeom prst="rect">
            <a:avLst/>
          </a:prstGeom>
        </p:spPr>
      </p:pic>
    </p:spTree>
    <p:extLst>
      <p:ext uri="{BB962C8B-B14F-4D97-AF65-F5344CB8AC3E}">
        <p14:creationId xmlns:p14="http://schemas.microsoft.com/office/powerpoint/2010/main" val="360229397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193B5-24C1-F30B-2449-2BC50DCCDA98}"/>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F6828337-6715-1729-9B38-8024EA6CF608}"/>
              </a:ext>
            </a:extLst>
          </p:cNvPr>
          <p:cNvSpPr/>
          <p:nvPr/>
        </p:nvSpPr>
        <p:spPr>
          <a:xfrm>
            <a:off x="9142802"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3C98CB73-198A-82AF-ECE4-69A1A6189B31}"/>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55AE46B6-7F78-CCED-08F7-5A910EB17E82}"/>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tx1"/>
                </a:solidFill>
              </a:rPr>
              <a:t>システム要件</a:t>
            </a:r>
          </a:p>
        </p:txBody>
      </p:sp>
      <p:sp>
        <p:nvSpPr>
          <p:cNvPr id="11" name="四角形: 角を丸くする 10">
            <a:extLst>
              <a:ext uri="{FF2B5EF4-FFF2-40B4-BE49-F238E27FC236}">
                <a16:creationId xmlns:a16="http://schemas.microsoft.com/office/drawing/2014/main" id="{03CFC867-E2E9-31A0-C0E8-71A572F716FA}"/>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CF082A32-D993-86BF-FD2B-4F93904A00B9}"/>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bg1"/>
                </a:solidFill>
              </a:rPr>
              <a:t>プログラム説明</a:t>
            </a:r>
            <a:endParaRPr kumimoji="1" lang="ja-JP" altLang="en-US" sz="2400" dirty="0">
              <a:solidFill>
                <a:schemeClr val="bg1"/>
              </a:solidFill>
            </a:endParaRPr>
          </a:p>
        </p:txBody>
      </p:sp>
      <p:pic>
        <p:nvPicPr>
          <p:cNvPr id="4" name="図 3">
            <a:extLst>
              <a:ext uri="{FF2B5EF4-FFF2-40B4-BE49-F238E27FC236}">
                <a16:creationId xmlns:a16="http://schemas.microsoft.com/office/drawing/2014/main" id="{82C44447-5C0C-6BE3-BE7B-3B94DEA29769}"/>
              </a:ext>
            </a:extLst>
          </p:cNvPr>
          <p:cNvPicPr>
            <a:picLocks noChangeAspect="1"/>
          </p:cNvPicPr>
          <p:nvPr/>
        </p:nvPicPr>
        <p:blipFill>
          <a:blip r:embed="rId3"/>
          <a:srcRect l="55546" t="4632" r="27015" b="69599"/>
          <a:stretch>
            <a:fillRect/>
          </a:stretch>
        </p:blipFill>
        <p:spPr>
          <a:xfrm>
            <a:off x="2414656" y="612000"/>
            <a:ext cx="7362688" cy="6120000"/>
          </a:xfrm>
          <a:prstGeom prst="rect">
            <a:avLst/>
          </a:prstGeom>
        </p:spPr>
      </p:pic>
    </p:spTree>
    <p:extLst>
      <p:ext uri="{BB962C8B-B14F-4D97-AF65-F5344CB8AC3E}">
        <p14:creationId xmlns:p14="http://schemas.microsoft.com/office/powerpoint/2010/main" val="178873485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1A360-4968-24B9-8444-FE06883C3D48}"/>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02079C4F-2D00-9293-6B1B-F5C53BC88BCB}"/>
              </a:ext>
            </a:extLst>
          </p:cNvPr>
          <p:cNvSpPr/>
          <p:nvPr/>
        </p:nvSpPr>
        <p:spPr>
          <a:xfrm>
            <a:off x="9142802"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400C804A-38A7-467C-769F-C5DD9DD250AF}"/>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EA2E1DA3-EA67-B5A1-DC0C-AC63F49AFEB2}"/>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tx1"/>
                </a:solidFill>
              </a:rPr>
              <a:t>システム要件</a:t>
            </a:r>
          </a:p>
        </p:txBody>
      </p:sp>
      <p:sp>
        <p:nvSpPr>
          <p:cNvPr id="11" name="四角形: 角を丸くする 10">
            <a:extLst>
              <a:ext uri="{FF2B5EF4-FFF2-40B4-BE49-F238E27FC236}">
                <a16:creationId xmlns:a16="http://schemas.microsoft.com/office/drawing/2014/main" id="{D849FBE1-7A98-F19B-6055-E4A59BC838A1}"/>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CB3F38AE-DF68-97F0-0E89-C8BDCEE3A4D0}"/>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bg1"/>
                </a:solidFill>
              </a:rPr>
              <a:t>プログラム説明</a:t>
            </a:r>
            <a:endParaRPr kumimoji="1" lang="ja-JP" altLang="en-US" sz="2400" dirty="0">
              <a:solidFill>
                <a:schemeClr val="bg1"/>
              </a:solidFill>
            </a:endParaRPr>
          </a:p>
        </p:txBody>
      </p:sp>
      <p:pic>
        <p:nvPicPr>
          <p:cNvPr id="4" name="図 3">
            <a:extLst>
              <a:ext uri="{FF2B5EF4-FFF2-40B4-BE49-F238E27FC236}">
                <a16:creationId xmlns:a16="http://schemas.microsoft.com/office/drawing/2014/main" id="{9BC99540-9351-ABC7-E6B8-1DB9540CC391}"/>
              </a:ext>
            </a:extLst>
          </p:cNvPr>
          <p:cNvPicPr>
            <a:picLocks noChangeAspect="1"/>
          </p:cNvPicPr>
          <p:nvPr/>
        </p:nvPicPr>
        <p:blipFill>
          <a:blip r:embed="rId3"/>
          <a:srcRect l="21290" t="31416" r="58912" b="50515"/>
          <a:stretch>
            <a:fillRect/>
          </a:stretch>
        </p:blipFill>
        <p:spPr>
          <a:xfrm>
            <a:off x="336000" y="724332"/>
            <a:ext cx="11520000" cy="5914161"/>
          </a:xfrm>
          <a:prstGeom prst="rect">
            <a:avLst/>
          </a:prstGeom>
        </p:spPr>
      </p:pic>
    </p:spTree>
    <p:extLst>
      <p:ext uri="{BB962C8B-B14F-4D97-AF65-F5344CB8AC3E}">
        <p14:creationId xmlns:p14="http://schemas.microsoft.com/office/powerpoint/2010/main" val="134430508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88194-14CC-FABB-F291-E63C240BDDF0}"/>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A00E3E46-5EA8-69A8-BE2B-409FD2613C21}"/>
              </a:ext>
            </a:extLst>
          </p:cNvPr>
          <p:cNvSpPr/>
          <p:nvPr/>
        </p:nvSpPr>
        <p:spPr>
          <a:xfrm>
            <a:off x="9142802"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AABB8570-80BF-FB16-51A4-9AB8C5F75DAA}"/>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7C27501D-CCC2-DCD6-9339-3D332399E4C3}"/>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tx1"/>
                </a:solidFill>
              </a:rPr>
              <a:t>システム要件</a:t>
            </a:r>
          </a:p>
        </p:txBody>
      </p:sp>
      <p:sp>
        <p:nvSpPr>
          <p:cNvPr id="11" name="四角形: 角を丸くする 10">
            <a:extLst>
              <a:ext uri="{FF2B5EF4-FFF2-40B4-BE49-F238E27FC236}">
                <a16:creationId xmlns:a16="http://schemas.microsoft.com/office/drawing/2014/main" id="{1018CA69-1C53-E3F6-BF20-92586AA6767D}"/>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83E49B03-8E88-C0F2-82E7-30F8865B7016}"/>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bg1"/>
                </a:solidFill>
              </a:rPr>
              <a:t>プログラム説明</a:t>
            </a:r>
            <a:endParaRPr kumimoji="1" lang="ja-JP" altLang="en-US" sz="2400" dirty="0">
              <a:solidFill>
                <a:schemeClr val="bg1"/>
              </a:solidFill>
            </a:endParaRPr>
          </a:p>
        </p:txBody>
      </p:sp>
      <p:pic>
        <p:nvPicPr>
          <p:cNvPr id="4" name="図 3">
            <a:extLst>
              <a:ext uri="{FF2B5EF4-FFF2-40B4-BE49-F238E27FC236}">
                <a16:creationId xmlns:a16="http://schemas.microsoft.com/office/drawing/2014/main" id="{7F9FD837-A3FF-066F-B468-2C240C986FCB}"/>
              </a:ext>
            </a:extLst>
          </p:cNvPr>
          <p:cNvPicPr>
            <a:picLocks noChangeAspect="1"/>
          </p:cNvPicPr>
          <p:nvPr/>
        </p:nvPicPr>
        <p:blipFill>
          <a:blip r:embed="rId3"/>
          <a:srcRect l="20962" t="4453" r="58645" b="36358"/>
          <a:stretch>
            <a:fillRect/>
          </a:stretch>
        </p:blipFill>
        <p:spPr>
          <a:xfrm>
            <a:off x="4221672" y="612000"/>
            <a:ext cx="3748656" cy="6120000"/>
          </a:xfrm>
          <a:prstGeom prst="rect">
            <a:avLst/>
          </a:prstGeom>
        </p:spPr>
      </p:pic>
    </p:spTree>
    <p:extLst>
      <p:ext uri="{BB962C8B-B14F-4D97-AF65-F5344CB8AC3E}">
        <p14:creationId xmlns:p14="http://schemas.microsoft.com/office/powerpoint/2010/main" val="27392102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A31FA-39DE-3AD0-DFD9-0CD4728300CE}"/>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54FF90A2-B590-05A5-673D-C92D003581D8}"/>
              </a:ext>
            </a:extLst>
          </p:cNvPr>
          <p:cNvSpPr/>
          <p:nvPr/>
        </p:nvSpPr>
        <p:spPr>
          <a:xfrm>
            <a:off x="9142802"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AA1F1B38-AA3A-87FC-B385-B30531EFC201}"/>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E4D702A6-0DD6-2C9A-994B-08D851602153}"/>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tx1"/>
                </a:solidFill>
              </a:rPr>
              <a:t>システム要件</a:t>
            </a:r>
          </a:p>
        </p:txBody>
      </p:sp>
      <p:sp>
        <p:nvSpPr>
          <p:cNvPr id="11" name="四角形: 角を丸くする 10">
            <a:extLst>
              <a:ext uri="{FF2B5EF4-FFF2-40B4-BE49-F238E27FC236}">
                <a16:creationId xmlns:a16="http://schemas.microsoft.com/office/drawing/2014/main" id="{216CF536-4431-89AB-9D36-E8DA8EF66884}"/>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0CC9644C-F3DD-2075-4735-F583059C262B}"/>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bg1"/>
                </a:solidFill>
              </a:rPr>
              <a:t>プログラム説明</a:t>
            </a:r>
            <a:endParaRPr kumimoji="1" lang="ja-JP" altLang="en-US" sz="2400" dirty="0">
              <a:solidFill>
                <a:schemeClr val="bg1"/>
              </a:solidFill>
            </a:endParaRPr>
          </a:p>
        </p:txBody>
      </p:sp>
      <p:pic>
        <p:nvPicPr>
          <p:cNvPr id="4" name="図 3">
            <a:extLst>
              <a:ext uri="{FF2B5EF4-FFF2-40B4-BE49-F238E27FC236}">
                <a16:creationId xmlns:a16="http://schemas.microsoft.com/office/drawing/2014/main" id="{009716ED-E290-D0E0-2577-1F6352F7C12C}"/>
              </a:ext>
            </a:extLst>
          </p:cNvPr>
          <p:cNvPicPr>
            <a:picLocks noChangeAspect="1"/>
          </p:cNvPicPr>
          <p:nvPr/>
        </p:nvPicPr>
        <p:blipFill>
          <a:blip r:embed="rId3"/>
          <a:srcRect l="21336" t="48627" r="74908" b="45067"/>
          <a:stretch>
            <a:fillRect/>
          </a:stretch>
        </p:blipFill>
        <p:spPr>
          <a:xfrm>
            <a:off x="2856001" y="612000"/>
            <a:ext cx="6479999" cy="6120000"/>
          </a:xfrm>
          <a:prstGeom prst="rect">
            <a:avLst/>
          </a:prstGeom>
        </p:spPr>
      </p:pic>
    </p:spTree>
    <p:extLst>
      <p:ext uri="{BB962C8B-B14F-4D97-AF65-F5344CB8AC3E}">
        <p14:creationId xmlns:p14="http://schemas.microsoft.com/office/powerpoint/2010/main" val="318607915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3FD5A-ED40-FCF1-ACDB-877D7A677F95}"/>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6676FD9F-E67C-DC6D-7AEE-BCDBDABFA83E}"/>
              </a:ext>
            </a:extLst>
          </p:cNvPr>
          <p:cNvSpPr/>
          <p:nvPr/>
        </p:nvSpPr>
        <p:spPr>
          <a:xfrm>
            <a:off x="9142802"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741B4DFD-FEE2-20B5-D832-D4A2BA5DF6B8}"/>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3BDC61B2-E384-5BD9-5FC5-759CA710CFD7}"/>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tx1"/>
                </a:solidFill>
              </a:rPr>
              <a:t>システム要件</a:t>
            </a:r>
          </a:p>
        </p:txBody>
      </p:sp>
      <p:sp>
        <p:nvSpPr>
          <p:cNvPr id="11" name="四角形: 角を丸くする 10">
            <a:extLst>
              <a:ext uri="{FF2B5EF4-FFF2-40B4-BE49-F238E27FC236}">
                <a16:creationId xmlns:a16="http://schemas.microsoft.com/office/drawing/2014/main" id="{AD27352B-2C78-B6AF-D976-FF691843636C}"/>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B0312A06-9870-6A3A-90C5-FF0088D3475B}"/>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bg1"/>
                </a:solidFill>
              </a:rPr>
              <a:t>プログラム説明</a:t>
            </a:r>
            <a:endParaRPr kumimoji="1" lang="ja-JP" altLang="en-US" sz="2400" dirty="0">
              <a:solidFill>
                <a:schemeClr val="bg1"/>
              </a:solidFill>
            </a:endParaRPr>
          </a:p>
        </p:txBody>
      </p:sp>
      <p:pic>
        <p:nvPicPr>
          <p:cNvPr id="4" name="図 3">
            <a:extLst>
              <a:ext uri="{FF2B5EF4-FFF2-40B4-BE49-F238E27FC236}">
                <a16:creationId xmlns:a16="http://schemas.microsoft.com/office/drawing/2014/main" id="{7FAE2318-394C-9CDD-1C90-6C9120181BAF}"/>
              </a:ext>
            </a:extLst>
          </p:cNvPr>
          <p:cNvPicPr>
            <a:picLocks noChangeAspect="1"/>
          </p:cNvPicPr>
          <p:nvPr/>
        </p:nvPicPr>
        <p:blipFill>
          <a:blip r:embed="rId3"/>
          <a:srcRect l="55603" t="31711" r="37358" b="49426"/>
          <a:stretch>
            <a:fillRect/>
          </a:stretch>
        </p:blipFill>
        <p:spPr>
          <a:xfrm>
            <a:off x="4066099" y="612000"/>
            <a:ext cx="4059802" cy="6120000"/>
          </a:xfrm>
          <a:prstGeom prst="rect">
            <a:avLst/>
          </a:prstGeom>
        </p:spPr>
      </p:pic>
    </p:spTree>
    <p:extLst>
      <p:ext uri="{BB962C8B-B14F-4D97-AF65-F5344CB8AC3E}">
        <p14:creationId xmlns:p14="http://schemas.microsoft.com/office/powerpoint/2010/main" val="154117589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00EAB-31B6-4113-23E4-78728FB7DAC4}"/>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A41613A4-8808-78BA-5242-7018F9DFE06F}"/>
              </a:ext>
            </a:extLst>
          </p:cNvPr>
          <p:cNvSpPr/>
          <p:nvPr/>
        </p:nvSpPr>
        <p:spPr>
          <a:xfrm>
            <a:off x="9142802"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6E8DD27E-9C2C-E814-BA3D-EA2815E439A9}"/>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35C7DC47-126E-FC81-FD25-BCA7B6616D87}"/>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tx1"/>
                </a:solidFill>
              </a:rPr>
              <a:t>システム要件</a:t>
            </a:r>
          </a:p>
        </p:txBody>
      </p:sp>
      <p:sp>
        <p:nvSpPr>
          <p:cNvPr id="11" name="四角形: 角を丸くする 10">
            <a:extLst>
              <a:ext uri="{FF2B5EF4-FFF2-40B4-BE49-F238E27FC236}">
                <a16:creationId xmlns:a16="http://schemas.microsoft.com/office/drawing/2014/main" id="{FAEA41AA-B6A4-A5A7-99D5-4116FA9CB3D8}"/>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1A824FC6-CE13-2F14-7172-404BEBB1E056}"/>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bg1"/>
                </a:solidFill>
              </a:rPr>
              <a:t>プログラム説明</a:t>
            </a:r>
            <a:endParaRPr kumimoji="1" lang="ja-JP" altLang="en-US" sz="2400" dirty="0">
              <a:solidFill>
                <a:schemeClr val="bg1"/>
              </a:solidFill>
            </a:endParaRPr>
          </a:p>
        </p:txBody>
      </p:sp>
      <p:pic>
        <p:nvPicPr>
          <p:cNvPr id="4" name="図 3">
            <a:extLst>
              <a:ext uri="{FF2B5EF4-FFF2-40B4-BE49-F238E27FC236}">
                <a16:creationId xmlns:a16="http://schemas.microsoft.com/office/drawing/2014/main" id="{C0E9DB4A-28E6-0689-F726-87E1302E677E}"/>
              </a:ext>
            </a:extLst>
          </p:cNvPr>
          <p:cNvPicPr>
            <a:picLocks noChangeAspect="1"/>
          </p:cNvPicPr>
          <p:nvPr/>
        </p:nvPicPr>
        <p:blipFill>
          <a:blip r:embed="rId3"/>
          <a:srcRect l="43259" t="4474" r="46848" b="55995"/>
          <a:stretch>
            <a:fillRect/>
          </a:stretch>
        </p:blipFill>
        <p:spPr>
          <a:xfrm>
            <a:off x="4734660" y="612000"/>
            <a:ext cx="2722680" cy="6120000"/>
          </a:xfrm>
          <a:prstGeom prst="rect">
            <a:avLst/>
          </a:prstGeom>
        </p:spPr>
      </p:pic>
    </p:spTree>
    <p:extLst>
      <p:ext uri="{BB962C8B-B14F-4D97-AF65-F5344CB8AC3E}">
        <p14:creationId xmlns:p14="http://schemas.microsoft.com/office/powerpoint/2010/main" val="224034986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5995A-F864-A400-AB8C-3E304FDDE3A3}"/>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E7110063-DF47-A42F-8909-25E70B6683E0}"/>
              </a:ext>
            </a:extLst>
          </p:cNvPr>
          <p:cNvSpPr/>
          <p:nvPr/>
        </p:nvSpPr>
        <p:spPr>
          <a:xfrm>
            <a:off x="9142802"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8B2BC515-922A-8AF3-B28F-008020F46398}"/>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36EE2C1C-E8F3-137D-2273-1D9028A73D9B}"/>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tx1"/>
                </a:solidFill>
              </a:rPr>
              <a:t>システム要件</a:t>
            </a:r>
          </a:p>
        </p:txBody>
      </p:sp>
      <p:sp>
        <p:nvSpPr>
          <p:cNvPr id="11" name="四角形: 角を丸くする 10">
            <a:extLst>
              <a:ext uri="{FF2B5EF4-FFF2-40B4-BE49-F238E27FC236}">
                <a16:creationId xmlns:a16="http://schemas.microsoft.com/office/drawing/2014/main" id="{8D015EA3-A9DF-BC95-B2DC-99607D687639}"/>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733481D7-9810-0574-4EC0-4BE5D057BD43}"/>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bg1"/>
                </a:solidFill>
              </a:rPr>
              <a:t>プログラム説明</a:t>
            </a:r>
            <a:endParaRPr kumimoji="1" lang="ja-JP" altLang="en-US" sz="2400" dirty="0">
              <a:solidFill>
                <a:schemeClr val="bg1"/>
              </a:solidFill>
            </a:endParaRPr>
          </a:p>
        </p:txBody>
      </p:sp>
      <p:pic>
        <p:nvPicPr>
          <p:cNvPr id="4" name="図 3">
            <a:extLst>
              <a:ext uri="{FF2B5EF4-FFF2-40B4-BE49-F238E27FC236}">
                <a16:creationId xmlns:a16="http://schemas.microsoft.com/office/drawing/2014/main" id="{3A3C8D32-536A-19F6-5ABE-28E0240A701D}"/>
              </a:ext>
            </a:extLst>
          </p:cNvPr>
          <p:cNvPicPr>
            <a:picLocks noChangeAspect="1"/>
          </p:cNvPicPr>
          <p:nvPr/>
        </p:nvPicPr>
        <p:blipFill>
          <a:blip r:embed="rId3"/>
          <a:srcRect l="76753" t="4408" r="6541" b="52018"/>
          <a:stretch>
            <a:fillRect/>
          </a:stretch>
        </p:blipFill>
        <p:spPr>
          <a:xfrm>
            <a:off x="4010271" y="612000"/>
            <a:ext cx="4171458" cy="6120000"/>
          </a:xfrm>
          <a:prstGeom prst="rect">
            <a:avLst/>
          </a:prstGeom>
        </p:spPr>
      </p:pic>
    </p:spTree>
    <p:extLst>
      <p:ext uri="{BB962C8B-B14F-4D97-AF65-F5344CB8AC3E}">
        <p14:creationId xmlns:p14="http://schemas.microsoft.com/office/powerpoint/2010/main" val="414524785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40881-0425-D564-9C39-5DD65099CCBC}"/>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93961C66-2FB1-DE1B-1E3C-5B8A94079256}"/>
              </a:ext>
            </a:extLst>
          </p:cNvPr>
          <p:cNvSpPr/>
          <p:nvPr/>
        </p:nvSpPr>
        <p:spPr>
          <a:xfrm>
            <a:off x="9142802"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13E46B16-83FB-773F-B7B7-780ECA9D425E}"/>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67971CF6-F21D-11A5-B0E9-31A5552BAA99}"/>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tx1"/>
                </a:solidFill>
              </a:rPr>
              <a:t>システム要件</a:t>
            </a:r>
          </a:p>
        </p:txBody>
      </p:sp>
      <p:sp>
        <p:nvSpPr>
          <p:cNvPr id="11" name="四角形: 角を丸くする 10">
            <a:extLst>
              <a:ext uri="{FF2B5EF4-FFF2-40B4-BE49-F238E27FC236}">
                <a16:creationId xmlns:a16="http://schemas.microsoft.com/office/drawing/2014/main" id="{763F0DD5-5944-93AA-E27F-508C75829B81}"/>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7D8CBCEE-7DCC-33CE-AABF-34D6FB4A8A67}"/>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bg1"/>
                </a:solidFill>
              </a:rPr>
              <a:t>プログラム説明</a:t>
            </a:r>
            <a:endParaRPr kumimoji="1" lang="ja-JP" altLang="en-US" sz="2400" dirty="0">
              <a:solidFill>
                <a:schemeClr val="bg1"/>
              </a:solidFill>
            </a:endParaRPr>
          </a:p>
        </p:txBody>
      </p:sp>
      <p:pic>
        <p:nvPicPr>
          <p:cNvPr id="4" name="図 3">
            <a:extLst>
              <a:ext uri="{FF2B5EF4-FFF2-40B4-BE49-F238E27FC236}">
                <a16:creationId xmlns:a16="http://schemas.microsoft.com/office/drawing/2014/main" id="{C2D81984-9C0A-2933-7FC7-9BDE00FFDD75}"/>
              </a:ext>
            </a:extLst>
          </p:cNvPr>
          <p:cNvPicPr>
            <a:picLocks noChangeAspect="1"/>
          </p:cNvPicPr>
          <p:nvPr/>
        </p:nvPicPr>
        <p:blipFill>
          <a:blip r:embed="rId3"/>
          <a:srcRect l="76931" t="36458" r="6688" b="52398"/>
          <a:stretch>
            <a:fillRect/>
          </a:stretch>
        </p:blipFill>
        <p:spPr>
          <a:xfrm>
            <a:off x="336000" y="1477547"/>
            <a:ext cx="11520000" cy="4407732"/>
          </a:xfrm>
          <a:prstGeom prst="rect">
            <a:avLst/>
          </a:prstGeom>
        </p:spPr>
      </p:pic>
    </p:spTree>
    <p:extLst>
      <p:ext uri="{BB962C8B-B14F-4D97-AF65-F5344CB8AC3E}">
        <p14:creationId xmlns:p14="http://schemas.microsoft.com/office/powerpoint/2010/main" val="32185951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A7611-CD34-8FBE-F73B-A227AB99D168}"/>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38309AB3-3210-B4F7-0E26-0076342B918A}"/>
              </a:ext>
            </a:extLst>
          </p:cNvPr>
          <p:cNvSpPr/>
          <p:nvPr/>
        </p:nvSpPr>
        <p:spPr>
          <a:xfrm>
            <a:off x="9142802"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D253FC97-A08A-9012-22F8-5A46A9CC5984}"/>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75079E93-99F0-8389-CE3C-8326B7080BDB}"/>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tx1"/>
                </a:solidFill>
              </a:rPr>
              <a:t>システム要件</a:t>
            </a:r>
          </a:p>
        </p:txBody>
      </p:sp>
      <p:sp>
        <p:nvSpPr>
          <p:cNvPr id="11" name="四角形: 角を丸くする 10">
            <a:extLst>
              <a:ext uri="{FF2B5EF4-FFF2-40B4-BE49-F238E27FC236}">
                <a16:creationId xmlns:a16="http://schemas.microsoft.com/office/drawing/2014/main" id="{90D70959-853C-AA83-B2E7-BF11E3817218}"/>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8D2F919F-8797-532B-2D86-BE1409945A3B}"/>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bg1"/>
                </a:solidFill>
              </a:rPr>
              <a:t>プログラム説明</a:t>
            </a:r>
            <a:endParaRPr kumimoji="1" lang="ja-JP" altLang="en-US" sz="2400" dirty="0">
              <a:solidFill>
                <a:schemeClr val="bg1"/>
              </a:solidFill>
            </a:endParaRPr>
          </a:p>
        </p:txBody>
      </p:sp>
      <p:pic>
        <p:nvPicPr>
          <p:cNvPr id="4" name="図 3">
            <a:extLst>
              <a:ext uri="{FF2B5EF4-FFF2-40B4-BE49-F238E27FC236}">
                <a16:creationId xmlns:a16="http://schemas.microsoft.com/office/drawing/2014/main" id="{A9E3038E-6512-87D3-55AC-BA60507EA61D}"/>
              </a:ext>
            </a:extLst>
          </p:cNvPr>
          <p:cNvPicPr>
            <a:picLocks noChangeAspect="1"/>
          </p:cNvPicPr>
          <p:nvPr/>
        </p:nvPicPr>
        <p:blipFill>
          <a:blip r:embed="rId3"/>
          <a:srcRect l="21336" t="48627" r="74908" b="45067"/>
          <a:stretch>
            <a:fillRect/>
          </a:stretch>
        </p:blipFill>
        <p:spPr>
          <a:xfrm>
            <a:off x="2856001" y="612000"/>
            <a:ext cx="6479999" cy="6120000"/>
          </a:xfrm>
          <a:prstGeom prst="rect">
            <a:avLst/>
          </a:prstGeom>
        </p:spPr>
      </p:pic>
    </p:spTree>
    <p:extLst>
      <p:ext uri="{BB962C8B-B14F-4D97-AF65-F5344CB8AC3E}">
        <p14:creationId xmlns:p14="http://schemas.microsoft.com/office/powerpoint/2010/main" val="1504276173"/>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E1261-3B79-BC25-8587-287E9036E220}"/>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2EFBC7A4-199C-2B2B-CBCC-5AA9F2F5BBFC}"/>
              </a:ext>
            </a:extLst>
          </p:cNvPr>
          <p:cNvSpPr/>
          <p:nvPr/>
        </p:nvSpPr>
        <p:spPr>
          <a:xfrm>
            <a:off x="9142802"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E37FA96D-A2CA-7C0C-81D7-B41F70186C60}"/>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E5B48F0D-301A-84C4-F673-B9F049ED49C0}"/>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tx1"/>
                </a:solidFill>
              </a:rPr>
              <a:t>システム要件</a:t>
            </a:r>
          </a:p>
        </p:txBody>
      </p:sp>
      <p:sp>
        <p:nvSpPr>
          <p:cNvPr id="11" name="四角形: 角を丸くする 10">
            <a:extLst>
              <a:ext uri="{FF2B5EF4-FFF2-40B4-BE49-F238E27FC236}">
                <a16:creationId xmlns:a16="http://schemas.microsoft.com/office/drawing/2014/main" id="{5DD25BB0-A52B-BDEC-D269-420BCCC254E2}"/>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793753F1-C5C0-D260-D220-49081F27F046}"/>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bg1"/>
                </a:solidFill>
              </a:rPr>
              <a:t>プログラム説明</a:t>
            </a:r>
            <a:endParaRPr kumimoji="1" lang="ja-JP" altLang="en-US" sz="2400" dirty="0">
              <a:solidFill>
                <a:schemeClr val="bg1"/>
              </a:solidFill>
            </a:endParaRPr>
          </a:p>
        </p:txBody>
      </p:sp>
      <p:pic>
        <p:nvPicPr>
          <p:cNvPr id="4" name="図 3">
            <a:extLst>
              <a:ext uri="{FF2B5EF4-FFF2-40B4-BE49-F238E27FC236}">
                <a16:creationId xmlns:a16="http://schemas.microsoft.com/office/drawing/2014/main" id="{D4CA9ADE-F2DD-6C4F-F3E1-C5CDD68E2B5C}"/>
              </a:ext>
            </a:extLst>
          </p:cNvPr>
          <p:cNvPicPr>
            <a:picLocks noChangeAspect="1"/>
          </p:cNvPicPr>
          <p:nvPr/>
        </p:nvPicPr>
        <p:blipFill>
          <a:blip r:embed="rId3"/>
          <a:srcRect l="20962" t="4453" r="58645" b="36358"/>
          <a:stretch>
            <a:fillRect/>
          </a:stretch>
        </p:blipFill>
        <p:spPr>
          <a:xfrm>
            <a:off x="4221672" y="612000"/>
            <a:ext cx="3748656" cy="6120000"/>
          </a:xfrm>
          <a:prstGeom prst="rect">
            <a:avLst/>
          </a:prstGeom>
        </p:spPr>
      </p:pic>
    </p:spTree>
    <p:extLst>
      <p:ext uri="{BB962C8B-B14F-4D97-AF65-F5344CB8AC3E}">
        <p14:creationId xmlns:p14="http://schemas.microsoft.com/office/powerpoint/2010/main" val="354649045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A204F-DAE9-8484-915B-D4CF0BA031DA}"/>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6FEAB8B2-6965-8E09-8CBE-36FD916AFEBF}"/>
              </a:ext>
            </a:extLst>
          </p:cNvPr>
          <p:cNvSpPr/>
          <p:nvPr/>
        </p:nvSpPr>
        <p:spPr>
          <a:xfrm>
            <a:off x="9142802"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D855F3D2-C73B-01C2-F227-0710B7C3711C}"/>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9E991531-AEF9-483F-CED6-A50E81DABA5A}"/>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tx1"/>
                </a:solidFill>
              </a:rPr>
              <a:t>システム要件</a:t>
            </a:r>
          </a:p>
        </p:txBody>
      </p:sp>
      <p:sp>
        <p:nvSpPr>
          <p:cNvPr id="11" name="四角形: 角を丸くする 10">
            <a:extLst>
              <a:ext uri="{FF2B5EF4-FFF2-40B4-BE49-F238E27FC236}">
                <a16:creationId xmlns:a16="http://schemas.microsoft.com/office/drawing/2014/main" id="{05CD746B-BE2E-F59D-625B-8BF098CB50B6}"/>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94C25896-A782-FC43-CF57-3B3ABC36D9EB}"/>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bg1"/>
                </a:solidFill>
              </a:rPr>
              <a:t>プログラム説明</a:t>
            </a:r>
            <a:endParaRPr kumimoji="1" lang="ja-JP" altLang="en-US" sz="2400" dirty="0">
              <a:solidFill>
                <a:schemeClr val="bg1"/>
              </a:solidFill>
            </a:endParaRPr>
          </a:p>
        </p:txBody>
      </p:sp>
      <p:pic>
        <p:nvPicPr>
          <p:cNvPr id="4" name="図 3">
            <a:extLst>
              <a:ext uri="{FF2B5EF4-FFF2-40B4-BE49-F238E27FC236}">
                <a16:creationId xmlns:a16="http://schemas.microsoft.com/office/drawing/2014/main" id="{40E83F85-2812-2551-B54E-1BD3290AC713}"/>
              </a:ext>
            </a:extLst>
          </p:cNvPr>
          <p:cNvPicPr>
            <a:picLocks noChangeAspect="1"/>
          </p:cNvPicPr>
          <p:nvPr/>
        </p:nvPicPr>
        <p:blipFill>
          <a:blip r:embed="rId3"/>
          <a:srcRect l="21341" t="55313" r="70815" b="36766"/>
          <a:stretch>
            <a:fillRect/>
          </a:stretch>
        </p:blipFill>
        <p:spPr>
          <a:xfrm>
            <a:off x="708358" y="612000"/>
            <a:ext cx="10775285" cy="6120000"/>
          </a:xfrm>
          <a:prstGeom prst="rect">
            <a:avLst/>
          </a:prstGeom>
        </p:spPr>
      </p:pic>
    </p:spTree>
    <p:extLst>
      <p:ext uri="{BB962C8B-B14F-4D97-AF65-F5344CB8AC3E}">
        <p14:creationId xmlns:p14="http://schemas.microsoft.com/office/powerpoint/2010/main" val="106640615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9E0B2-676B-5024-79D6-F4FCB52A42A4}"/>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D0624A26-C4EF-5182-61EB-9EFED2F0978D}"/>
              </a:ext>
            </a:extLst>
          </p:cNvPr>
          <p:cNvSpPr/>
          <p:nvPr/>
        </p:nvSpPr>
        <p:spPr>
          <a:xfrm>
            <a:off x="9142802"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F5FA0ED0-2D7C-0A7A-A18D-2783715F1631}"/>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A7E89840-BC16-48CF-911B-DFF2043D586E}"/>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tx1"/>
                </a:solidFill>
              </a:rPr>
              <a:t>システム要件</a:t>
            </a:r>
          </a:p>
        </p:txBody>
      </p:sp>
      <p:sp>
        <p:nvSpPr>
          <p:cNvPr id="11" name="四角形: 角を丸くする 10">
            <a:extLst>
              <a:ext uri="{FF2B5EF4-FFF2-40B4-BE49-F238E27FC236}">
                <a16:creationId xmlns:a16="http://schemas.microsoft.com/office/drawing/2014/main" id="{A11FA238-5B95-A135-5E53-6B581780F29C}"/>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419F0FF3-5935-5CE5-6DAC-09EC63FE8552}"/>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bg1"/>
                </a:solidFill>
              </a:rPr>
              <a:t>プログラム説明</a:t>
            </a:r>
            <a:endParaRPr kumimoji="1" lang="ja-JP" altLang="en-US" sz="2400" dirty="0">
              <a:solidFill>
                <a:schemeClr val="bg1"/>
              </a:solidFill>
            </a:endParaRPr>
          </a:p>
        </p:txBody>
      </p:sp>
      <p:pic>
        <p:nvPicPr>
          <p:cNvPr id="4" name="図 3">
            <a:extLst>
              <a:ext uri="{FF2B5EF4-FFF2-40B4-BE49-F238E27FC236}">
                <a16:creationId xmlns:a16="http://schemas.microsoft.com/office/drawing/2014/main" id="{8EA7C25A-3CA1-1A46-783F-8333CFA69528}"/>
              </a:ext>
            </a:extLst>
          </p:cNvPr>
          <p:cNvPicPr>
            <a:picLocks noChangeAspect="1"/>
          </p:cNvPicPr>
          <p:nvPr/>
        </p:nvPicPr>
        <p:blipFill>
          <a:blip r:embed="rId3"/>
          <a:srcRect l="43259" t="52722" r="7803" b="1210"/>
          <a:stretch>
            <a:fillRect/>
          </a:stretch>
        </p:blipFill>
        <p:spPr>
          <a:xfrm>
            <a:off x="336000" y="631394"/>
            <a:ext cx="11520000" cy="6100037"/>
          </a:xfrm>
          <a:prstGeom prst="rect">
            <a:avLst/>
          </a:prstGeom>
        </p:spPr>
      </p:pic>
    </p:spTree>
    <p:extLst>
      <p:ext uri="{BB962C8B-B14F-4D97-AF65-F5344CB8AC3E}">
        <p14:creationId xmlns:p14="http://schemas.microsoft.com/office/powerpoint/2010/main" val="24784134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4AEA0-4720-C751-D394-04565BB48527}"/>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68B160C8-5106-5AA7-9531-69C1BB3EBEAF}"/>
              </a:ext>
            </a:extLst>
          </p:cNvPr>
          <p:cNvSpPr/>
          <p:nvPr/>
        </p:nvSpPr>
        <p:spPr>
          <a:xfrm>
            <a:off x="9142802"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B1A773BE-9420-8A33-5F32-20A6A9FBE415}"/>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17A76AAE-3547-1F75-8463-1AB431B3CD6B}"/>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tx1"/>
                </a:solidFill>
              </a:rPr>
              <a:t>システム要件</a:t>
            </a:r>
          </a:p>
        </p:txBody>
      </p:sp>
      <p:sp>
        <p:nvSpPr>
          <p:cNvPr id="11" name="四角形: 角を丸くする 10">
            <a:extLst>
              <a:ext uri="{FF2B5EF4-FFF2-40B4-BE49-F238E27FC236}">
                <a16:creationId xmlns:a16="http://schemas.microsoft.com/office/drawing/2014/main" id="{4D1A7FC4-3CB2-B92C-57EB-45E9B840BD59}"/>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9384442F-E140-3283-E331-CA6BE109EE34}"/>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bg1"/>
                </a:solidFill>
              </a:rPr>
              <a:t>プログラム説明</a:t>
            </a:r>
            <a:endParaRPr kumimoji="1" lang="ja-JP" altLang="en-US" sz="2400" dirty="0">
              <a:solidFill>
                <a:schemeClr val="bg1"/>
              </a:solidFill>
            </a:endParaRPr>
          </a:p>
        </p:txBody>
      </p:sp>
      <p:pic>
        <p:nvPicPr>
          <p:cNvPr id="4" name="図 3">
            <a:extLst>
              <a:ext uri="{FF2B5EF4-FFF2-40B4-BE49-F238E27FC236}">
                <a16:creationId xmlns:a16="http://schemas.microsoft.com/office/drawing/2014/main" id="{04BF7C5C-5CAF-EB9D-07D1-A8B2C48508CC}"/>
              </a:ext>
            </a:extLst>
          </p:cNvPr>
          <p:cNvPicPr>
            <a:picLocks noChangeAspect="1"/>
          </p:cNvPicPr>
          <p:nvPr/>
        </p:nvPicPr>
        <p:blipFill>
          <a:blip r:embed="rId3"/>
          <a:srcRect l="21341" t="55313" r="70815" b="36766"/>
          <a:stretch>
            <a:fillRect/>
          </a:stretch>
        </p:blipFill>
        <p:spPr>
          <a:xfrm>
            <a:off x="708358" y="612000"/>
            <a:ext cx="10775285" cy="6120000"/>
          </a:xfrm>
          <a:prstGeom prst="rect">
            <a:avLst/>
          </a:prstGeom>
        </p:spPr>
      </p:pic>
    </p:spTree>
    <p:extLst>
      <p:ext uri="{BB962C8B-B14F-4D97-AF65-F5344CB8AC3E}">
        <p14:creationId xmlns:p14="http://schemas.microsoft.com/office/powerpoint/2010/main" val="260275042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3D6D5-9B01-655C-AF45-139BD2358CDD}"/>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714798B0-C47B-2351-861A-29F6AB88C43F}"/>
              </a:ext>
            </a:extLst>
          </p:cNvPr>
          <p:cNvSpPr/>
          <p:nvPr/>
        </p:nvSpPr>
        <p:spPr>
          <a:xfrm>
            <a:off x="9142802"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2BEC8768-CE78-369D-816B-7F5CCC378BF9}"/>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61FD740D-67B4-B7E8-1130-5626044AE111}"/>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tx1"/>
                </a:solidFill>
              </a:rPr>
              <a:t>システム要件</a:t>
            </a:r>
          </a:p>
        </p:txBody>
      </p:sp>
      <p:sp>
        <p:nvSpPr>
          <p:cNvPr id="11" name="四角形: 角を丸くする 10">
            <a:extLst>
              <a:ext uri="{FF2B5EF4-FFF2-40B4-BE49-F238E27FC236}">
                <a16:creationId xmlns:a16="http://schemas.microsoft.com/office/drawing/2014/main" id="{E848C1BC-D11A-A6F5-42EB-AE9735DC5547}"/>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F21FC04C-F0A9-7C63-8DB2-3D782D56A52E}"/>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bg1"/>
                </a:solidFill>
              </a:rPr>
              <a:t>プログラム説明</a:t>
            </a:r>
            <a:endParaRPr kumimoji="1" lang="ja-JP" altLang="en-US" sz="2400" dirty="0">
              <a:solidFill>
                <a:schemeClr val="bg1"/>
              </a:solidFill>
            </a:endParaRPr>
          </a:p>
        </p:txBody>
      </p:sp>
      <p:pic>
        <p:nvPicPr>
          <p:cNvPr id="4" name="図 3">
            <a:extLst>
              <a:ext uri="{FF2B5EF4-FFF2-40B4-BE49-F238E27FC236}">
                <a16:creationId xmlns:a16="http://schemas.microsoft.com/office/drawing/2014/main" id="{374E4FEE-3909-36C0-8CA6-D23DB96F33FA}"/>
              </a:ext>
            </a:extLst>
          </p:cNvPr>
          <p:cNvPicPr>
            <a:picLocks noChangeAspect="1"/>
          </p:cNvPicPr>
          <p:nvPr/>
        </p:nvPicPr>
        <p:blipFill>
          <a:blip r:embed="rId3"/>
          <a:srcRect l="20962" t="4453" r="58645" b="36358"/>
          <a:stretch>
            <a:fillRect/>
          </a:stretch>
        </p:blipFill>
        <p:spPr>
          <a:xfrm>
            <a:off x="4221672" y="612000"/>
            <a:ext cx="3748656" cy="6120000"/>
          </a:xfrm>
          <a:prstGeom prst="rect">
            <a:avLst/>
          </a:prstGeom>
        </p:spPr>
      </p:pic>
    </p:spTree>
    <p:extLst>
      <p:ext uri="{BB962C8B-B14F-4D97-AF65-F5344CB8AC3E}">
        <p14:creationId xmlns:p14="http://schemas.microsoft.com/office/powerpoint/2010/main" val="112662525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87B31-0AF5-0E3B-40EC-B09AA3101188}"/>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998055CA-F77F-AA14-06D9-3B7D555B7BF1}"/>
              </a:ext>
            </a:extLst>
          </p:cNvPr>
          <p:cNvSpPr/>
          <p:nvPr/>
        </p:nvSpPr>
        <p:spPr>
          <a:xfrm>
            <a:off x="9142802" y="0"/>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2" name="四角形: 角を丸くする 1">
            <a:extLst>
              <a:ext uri="{FF2B5EF4-FFF2-40B4-BE49-F238E27FC236}">
                <a16:creationId xmlns:a16="http://schemas.microsoft.com/office/drawing/2014/main" id="{8E3339CB-6448-B744-0099-95D9699CE5F5}"/>
              </a:ext>
            </a:extLst>
          </p:cNvPr>
          <p:cNvSpPr/>
          <p:nvPr/>
        </p:nvSpPr>
        <p:spPr>
          <a:xfrm>
            <a:off x="0"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96C3DA36-2898-D372-F7E9-EC063015C0C2}"/>
              </a:ext>
            </a:extLst>
          </p:cNvPr>
          <p:cNvSpPr/>
          <p:nvPr/>
        </p:nvSpPr>
        <p:spPr>
          <a:xfrm>
            <a:off x="3049200" y="-745"/>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tx1"/>
                </a:solidFill>
              </a:rPr>
              <a:t>システム要件</a:t>
            </a:r>
          </a:p>
        </p:txBody>
      </p:sp>
      <p:sp>
        <p:nvSpPr>
          <p:cNvPr id="11" name="四角形: 角を丸くする 10">
            <a:extLst>
              <a:ext uri="{FF2B5EF4-FFF2-40B4-BE49-F238E27FC236}">
                <a16:creationId xmlns:a16="http://schemas.microsoft.com/office/drawing/2014/main" id="{039E93A7-E90E-6C82-E03C-84DFEFB4CCB5}"/>
              </a:ext>
            </a:extLst>
          </p:cNvPr>
          <p:cNvSpPr/>
          <p:nvPr/>
        </p:nvSpPr>
        <p:spPr>
          <a:xfrm>
            <a:off x="6096000" y="-1489"/>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12" name="四角形: 角を丸くする 11">
            <a:extLst>
              <a:ext uri="{FF2B5EF4-FFF2-40B4-BE49-F238E27FC236}">
                <a16:creationId xmlns:a16="http://schemas.microsoft.com/office/drawing/2014/main" id="{34E1DE87-75A7-78DF-63D9-C1A7115C643C}"/>
              </a:ext>
            </a:extLst>
          </p:cNvPr>
          <p:cNvSpPr/>
          <p:nvPr/>
        </p:nvSpPr>
        <p:spPr>
          <a:xfrm>
            <a:off x="9142802" y="1"/>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bg1"/>
                </a:solidFill>
              </a:rPr>
              <a:t>プログラム説明</a:t>
            </a:r>
            <a:endParaRPr kumimoji="1" lang="ja-JP" altLang="en-US" sz="2400" dirty="0">
              <a:solidFill>
                <a:schemeClr val="bg1"/>
              </a:solidFill>
            </a:endParaRPr>
          </a:p>
        </p:txBody>
      </p:sp>
      <p:sp>
        <p:nvSpPr>
          <p:cNvPr id="3" name="テキスト ボックス 2">
            <a:extLst>
              <a:ext uri="{FF2B5EF4-FFF2-40B4-BE49-F238E27FC236}">
                <a16:creationId xmlns:a16="http://schemas.microsoft.com/office/drawing/2014/main" id="{9F3FAFBD-C6D2-1CC5-A005-EF15BF936609}"/>
              </a:ext>
            </a:extLst>
          </p:cNvPr>
          <p:cNvSpPr txBox="1"/>
          <p:nvPr/>
        </p:nvSpPr>
        <p:spPr>
          <a:xfrm>
            <a:off x="2538412" y="6881619"/>
            <a:ext cx="7115175" cy="1015663"/>
          </a:xfrm>
          <a:prstGeom prst="rect">
            <a:avLst/>
          </a:prstGeom>
          <a:noFill/>
        </p:spPr>
        <p:txBody>
          <a:bodyPr wrap="square" rtlCol="0">
            <a:spAutoFit/>
          </a:bodyPr>
          <a:lstStyle/>
          <a:p>
            <a:pPr algn="ctr"/>
            <a:r>
              <a:rPr kumimoji="1" lang="ja-JP" altLang="en-US" sz="6000" b="1" dirty="0"/>
              <a:t>プログラム仕様書</a:t>
            </a:r>
          </a:p>
        </p:txBody>
      </p:sp>
      <p:sp>
        <p:nvSpPr>
          <p:cNvPr id="5" name="テキスト ボックス 4">
            <a:extLst>
              <a:ext uri="{FF2B5EF4-FFF2-40B4-BE49-F238E27FC236}">
                <a16:creationId xmlns:a16="http://schemas.microsoft.com/office/drawing/2014/main" id="{A0D3494F-104D-0E65-FE05-7507E0238088}"/>
              </a:ext>
            </a:extLst>
          </p:cNvPr>
          <p:cNvSpPr txBox="1"/>
          <p:nvPr/>
        </p:nvSpPr>
        <p:spPr>
          <a:xfrm>
            <a:off x="2538412" y="8334838"/>
            <a:ext cx="2805113" cy="1200329"/>
          </a:xfrm>
          <a:prstGeom prst="rect">
            <a:avLst/>
          </a:prstGeom>
          <a:noFill/>
        </p:spPr>
        <p:txBody>
          <a:bodyPr wrap="square" rtlCol="0">
            <a:spAutoFit/>
          </a:bodyPr>
          <a:lstStyle/>
          <a:p>
            <a:r>
              <a:rPr kumimoji="1" lang="en-US" altLang="ja-JP" sz="2400" dirty="0"/>
              <a:t>【</a:t>
            </a:r>
            <a:r>
              <a:rPr kumimoji="1" lang="ja-JP" altLang="en-US" sz="2400" dirty="0"/>
              <a:t>使用環境</a:t>
            </a:r>
            <a:r>
              <a:rPr kumimoji="1" lang="en-US" altLang="ja-JP" sz="2400" dirty="0"/>
              <a:t>】</a:t>
            </a:r>
          </a:p>
          <a:p>
            <a:r>
              <a:rPr lang="ja-JP" altLang="en-US" sz="2400" dirty="0"/>
              <a:t>開発：</a:t>
            </a:r>
            <a:r>
              <a:rPr lang="en-US" altLang="ja-JP" sz="2400" dirty="0"/>
              <a:t>Scratch</a:t>
            </a:r>
          </a:p>
          <a:p>
            <a:r>
              <a:rPr lang="ja-JP" altLang="en-US" sz="2400" dirty="0"/>
              <a:t>運用：</a:t>
            </a:r>
            <a:r>
              <a:rPr lang="en-US" altLang="ja-JP" sz="2400" dirty="0"/>
              <a:t>Qumcum</a:t>
            </a:r>
            <a:endParaRPr kumimoji="1" lang="ja-JP" altLang="en-US" sz="2400" dirty="0"/>
          </a:p>
        </p:txBody>
      </p:sp>
      <p:sp>
        <p:nvSpPr>
          <p:cNvPr id="6" name="テキスト ボックス 5">
            <a:extLst>
              <a:ext uri="{FF2B5EF4-FFF2-40B4-BE49-F238E27FC236}">
                <a16:creationId xmlns:a16="http://schemas.microsoft.com/office/drawing/2014/main" id="{DA1E42F0-334E-F580-9F71-0B8DA6EACA8B}"/>
              </a:ext>
            </a:extLst>
          </p:cNvPr>
          <p:cNvSpPr txBox="1"/>
          <p:nvPr/>
        </p:nvSpPr>
        <p:spPr>
          <a:xfrm>
            <a:off x="6096000" y="8334837"/>
            <a:ext cx="2395538" cy="1569660"/>
          </a:xfrm>
          <a:prstGeom prst="rect">
            <a:avLst/>
          </a:prstGeom>
          <a:noFill/>
        </p:spPr>
        <p:txBody>
          <a:bodyPr wrap="square" rtlCol="0">
            <a:spAutoFit/>
          </a:bodyPr>
          <a:lstStyle/>
          <a:p>
            <a:r>
              <a:rPr lang="en-US" altLang="ja-JP" sz="2400" dirty="0"/>
              <a:t>10</a:t>
            </a:r>
            <a:r>
              <a:rPr lang="ja-JP" altLang="en-US" sz="2400" dirty="0"/>
              <a:t>班</a:t>
            </a:r>
            <a:r>
              <a:rPr lang="en-US" altLang="ja-JP" sz="2400" dirty="0"/>
              <a:t>	</a:t>
            </a:r>
            <a:r>
              <a:rPr lang="ja-JP" altLang="en-US" sz="2400" dirty="0"/>
              <a:t>木村湊</a:t>
            </a:r>
            <a:endParaRPr lang="en-US" altLang="ja-JP" sz="2400" dirty="0"/>
          </a:p>
          <a:p>
            <a:r>
              <a:rPr lang="en-US" altLang="ja-JP" sz="2400" dirty="0"/>
              <a:t>	</a:t>
            </a:r>
            <a:r>
              <a:rPr lang="ja-JP" altLang="ja-JP" sz="2400" dirty="0"/>
              <a:t>外間實晃</a:t>
            </a:r>
            <a:endParaRPr lang="en-US" altLang="ja-JP" sz="2400" dirty="0"/>
          </a:p>
          <a:p>
            <a:r>
              <a:rPr lang="en-US" altLang="ja-JP" sz="2400" dirty="0"/>
              <a:t>	</a:t>
            </a:r>
            <a:r>
              <a:rPr lang="ja-JP" altLang="ja-JP" sz="2400" dirty="0"/>
              <a:t>正谷遥陽</a:t>
            </a:r>
            <a:endParaRPr lang="en-US" altLang="ja-JP" sz="2400" dirty="0"/>
          </a:p>
          <a:p>
            <a:r>
              <a:rPr lang="en-US" altLang="ja-JP" sz="2400" dirty="0"/>
              <a:t>	</a:t>
            </a:r>
            <a:r>
              <a:rPr lang="ja-JP" altLang="en-US" sz="2400" dirty="0"/>
              <a:t>吉井海斗</a:t>
            </a:r>
            <a:endParaRPr lang="ja-JP" altLang="en-US" sz="2400" dirty="0">
              <a:latin typeface="+mn-ea"/>
            </a:endParaRPr>
          </a:p>
        </p:txBody>
      </p:sp>
      <p:pic>
        <p:nvPicPr>
          <p:cNvPr id="7" name="図 6">
            <a:extLst>
              <a:ext uri="{FF2B5EF4-FFF2-40B4-BE49-F238E27FC236}">
                <a16:creationId xmlns:a16="http://schemas.microsoft.com/office/drawing/2014/main" id="{60809092-A5C4-424E-560D-F1DAD00F91A3}"/>
              </a:ext>
            </a:extLst>
          </p:cNvPr>
          <p:cNvPicPr>
            <a:picLocks noChangeAspect="1"/>
          </p:cNvPicPr>
          <p:nvPr/>
        </p:nvPicPr>
        <p:blipFill>
          <a:blip r:embed="rId3"/>
          <a:stretch>
            <a:fillRect/>
          </a:stretch>
        </p:blipFill>
        <p:spPr>
          <a:xfrm>
            <a:off x="656000" y="612000"/>
            <a:ext cx="10880000" cy="6120000"/>
          </a:xfrm>
          <a:prstGeom prst="rect">
            <a:avLst/>
          </a:prstGeom>
        </p:spPr>
      </p:pic>
    </p:spTree>
    <p:extLst>
      <p:ext uri="{BB962C8B-B14F-4D97-AF65-F5344CB8AC3E}">
        <p14:creationId xmlns:p14="http://schemas.microsoft.com/office/powerpoint/2010/main" val="166307410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7F6DB-CBF5-BBFA-768D-5E48897D9CE7}"/>
            </a:ext>
          </a:extLst>
        </p:cNvPr>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B8BFE0A4-EB09-8CFA-AF4B-8DBB38BF5A01}"/>
              </a:ext>
            </a:extLst>
          </p:cNvPr>
          <p:cNvSpPr txBox="1"/>
          <p:nvPr/>
        </p:nvSpPr>
        <p:spPr>
          <a:xfrm>
            <a:off x="2538412" y="1975782"/>
            <a:ext cx="7115175" cy="1015663"/>
          </a:xfrm>
          <a:prstGeom prst="rect">
            <a:avLst/>
          </a:prstGeom>
          <a:noFill/>
        </p:spPr>
        <p:txBody>
          <a:bodyPr wrap="square" rtlCol="0">
            <a:spAutoFit/>
          </a:bodyPr>
          <a:lstStyle/>
          <a:p>
            <a:pPr algn="ctr"/>
            <a:r>
              <a:rPr kumimoji="1" lang="ja-JP" altLang="en-US" sz="6000" b="1" dirty="0"/>
              <a:t>プログラム仕様書</a:t>
            </a:r>
          </a:p>
        </p:txBody>
      </p:sp>
      <p:sp>
        <p:nvSpPr>
          <p:cNvPr id="7" name="テキスト ボックス 6">
            <a:extLst>
              <a:ext uri="{FF2B5EF4-FFF2-40B4-BE49-F238E27FC236}">
                <a16:creationId xmlns:a16="http://schemas.microsoft.com/office/drawing/2014/main" id="{C27EFCC8-5BDE-67A7-786C-51C421D907D4}"/>
              </a:ext>
            </a:extLst>
          </p:cNvPr>
          <p:cNvSpPr txBox="1"/>
          <p:nvPr/>
        </p:nvSpPr>
        <p:spPr>
          <a:xfrm>
            <a:off x="2538412" y="3429001"/>
            <a:ext cx="2805113" cy="1200329"/>
          </a:xfrm>
          <a:prstGeom prst="rect">
            <a:avLst/>
          </a:prstGeom>
          <a:noFill/>
        </p:spPr>
        <p:txBody>
          <a:bodyPr wrap="square" rtlCol="0">
            <a:spAutoFit/>
          </a:bodyPr>
          <a:lstStyle/>
          <a:p>
            <a:r>
              <a:rPr kumimoji="1" lang="en-US" altLang="ja-JP" sz="2400" dirty="0"/>
              <a:t>【</a:t>
            </a:r>
            <a:r>
              <a:rPr kumimoji="1" lang="ja-JP" altLang="en-US" sz="2400" dirty="0"/>
              <a:t>使用環境</a:t>
            </a:r>
            <a:r>
              <a:rPr kumimoji="1" lang="en-US" altLang="ja-JP" sz="2400" dirty="0"/>
              <a:t>】</a:t>
            </a:r>
          </a:p>
          <a:p>
            <a:r>
              <a:rPr lang="ja-JP" altLang="en-US" sz="2400" dirty="0"/>
              <a:t>開発：</a:t>
            </a:r>
            <a:r>
              <a:rPr lang="en-US" altLang="ja-JP" sz="2400" dirty="0"/>
              <a:t>Scratch</a:t>
            </a:r>
          </a:p>
          <a:p>
            <a:r>
              <a:rPr lang="ja-JP" altLang="en-US" sz="2400" dirty="0"/>
              <a:t>運用：</a:t>
            </a:r>
            <a:r>
              <a:rPr lang="en-US" altLang="ja-JP" sz="2400" dirty="0"/>
              <a:t>Qumcum</a:t>
            </a:r>
            <a:endParaRPr kumimoji="1" lang="ja-JP" altLang="en-US" sz="2400" dirty="0"/>
          </a:p>
        </p:txBody>
      </p:sp>
      <p:sp>
        <p:nvSpPr>
          <p:cNvPr id="10" name="テキスト ボックス 9">
            <a:extLst>
              <a:ext uri="{FF2B5EF4-FFF2-40B4-BE49-F238E27FC236}">
                <a16:creationId xmlns:a16="http://schemas.microsoft.com/office/drawing/2014/main" id="{4AD26CC7-F390-1BFD-54C2-36BD26E00A14}"/>
              </a:ext>
            </a:extLst>
          </p:cNvPr>
          <p:cNvSpPr txBox="1"/>
          <p:nvPr/>
        </p:nvSpPr>
        <p:spPr>
          <a:xfrm>
            <a:off x="6096000" y="3429000"/>
            <a:ext cx="2395538" cy="1569660"/>
          </a:xfrm>
          <a:prstGeom prst="rect">
            <a:avLst/>
          </a:prstGeom>
          <a:noFill/>
        </p:spPr>
        <p:txBody>
          <a:bodyPr wrap="square" rtlCol="0">
            <a:spAutoFit/>
          </a:bodyPr>
          <a:lstStyle/>
          <a:p>
            <a:r>
              <a:rPr lang="en-US" altLang="ja-JP" sz="2400" dirty="0"/>
              <a:t>10</a:t>
            </a:r>
            <a:r>
              <a:rPr lang="ja-JP" altLang="en-US" sz="2400" dirty="0"/>
              <a:t>班</a:t>
            </a:r>
            <a:r>
              <a:rPr lang="en-US" altLang="ja-JP" sz="2400" dirty="0"/>
              <a:t>	</a:t>
            </a:r>
            <a:r>
              <a:rPr lang="ja-JP" altLang="en-US" sz="2400" dirty="0"/>
              <a:t>木村湊</a:t>
            </a:r>
            <a:endParaRPr lang="en-US" altLang="ja-JP" sz="2400" dirty="0"/>
          </a:p>
          <a:p>
            <a:r>
              <a:rPr lang="en-US" altLang="ja-JP" sz="2400" dirty="0"/>
              <a:t>	</a:t>
            </a:r>
            <a:r>
              <a:rPr lang="ja-JP" altLang="ja-JP" sz="2400" dirty="0"/>
              <a:t>外間實晃</a:t>
            </a:r>
            <a:endParaRPr lang="en-US" altLang="ja-JP" sz="2400" dirty="0"/>
          </a:p>
          <a:p>
            <a:r>
              <a:rPr lang="en-US" altLang="ja-JP" sz="2400" dirty="0"/>
              <a:t>	</a:t>
            </a:r>
            <a:r>
              <a:rPr lang="ja-JP" altLang="ja-JP" sz="2400" dirty="0"/>
              <a:t>正谷遥陽</a:t>
            </a:r>
            <a:endParaRPr lang="en-US" altLang="ja-JP" sz="2400" dirty="0"/>
          </a:p>
          <a:p>
            <a:r>
              <a:rPr lang="en-US" altLang="ja-JP" sz="2400" dirty="0"/>
              <a:t>	</a:t>
            </a:r>
            <a:r>
              <a:rPr lang="ja-JP" altLang="en-US" sz="2400" dirty="0"/>
              <a:t>吉井海斗</a:t>
            </a:r>
            <a:endParaRPr lang="ja-JP" altLang="en-US" sz="2400" dirty="0">
              <a:latin typeface="+mn-ea"/>
            </a:endParaRPr>
          </a:p>
        </p:txBody>
      </p:sp>
      <p:sp>
        <p:nvSpPr>
          <p:cNvPr id="2" name="四角形: 角を丸くする 1">
            <a:extLst>
              <a:ext uri="{FF2B5EF4-FFF2-40B4-BE49-F238E27FC236}">
                <a16:creationId xmlns:a16="http://schemas.microsoft.com/office/drawing/2014/main" id="{1C11F2B8-2780-D7F0-5E6C-83CB83892A68}"/>
              </a:ext>
            </a:extLst>
          </p:cNvPr>
          <p:cNvSpPr/>
          <p:nvPr/>
        </p:nvSpPr>
        <p:spPr>
          <a:xfrm>
            <a:off x="9142802" y="-476257"/>
            <a:ext cx="3049200" cy="457946"/>
          </a:xfrm>
          <a:prstGeom prst="roundRect">
            <a:avLst>
              <a:gd name="adj" fmla="val 728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2400" dirty="0"/>
          </a:p>
        </p:txBody>
      </p:sp>
      <p:sp>
        <p:nvSpPr>
          <p:cNvPr id="3" name="四角形: 角を丸くする 2">
            <a:extLst>
              <a:ext uri="{FF2B5EF4-FFF2-40B4-BE49-F238E27FC236}">
                <a16:creationId xmlns:a16="http://schemas.microsoft.com/office/drawing/2014/main" id="{9F52F159-6657-DAA4-9987-4C4F538DAED3}"/>
              </a:ext>
            </a:extLst>
          </p:cNvPr>
          <p:cNvSpPr/>
          <p:nvPr/>
        </p:nvSpPr>
        <p:spPr>
          <a:xfrm>
            <a:off x="0" y="-476256"/>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tx1"/>
                </a:solidFill>
              </a:rPr>
              <a:t>プロジェクト概要</a:t>
            </a:r>
            <a:endParaRPr kumimoji="1" lang="ja-JP" altLang="en-US" sz="2400" dirty="0">
              <a:solidFill>
                <a:schemeClr val="tx1"/>
              </a:solidFill>
            </a:endParaRPr>
          </a:p>
        </p:txBody>
      </p:sp>
      <p:sp>
        <p:nvSpPr>
          <p:cNvPr id="4" name="四角形: 角を丸くする 3">
            <a:extLst>
              <a:ext uri="{FF2B5EF4-FFF2-40B4-BE49-F238E27FC236}">
                <a16:creationId xmlns:a16="http://schemas.microsoft.com/office/drawing/2014/main" id="{C57CD313-E7CF-DAB4-8EEE-86F61F2F751A}"/>
              </a:ext>
            </a:extLst>
          </p:cNvPr>
          <p:cNvSpPr/>
          <p:nvPr/>
        </p:nvSpPr>
        <p:spPr>
          <a:xfrm>
            <a:off x="3049200" y="-477000"/>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solidFill>
                  <a:schemeClr val="tx1"/>
                </a:solidFill>
              </a:rPr>
              <a:t>システム要件</a:t>
            </a:r>
          </a:p>
        </p:txBody>
      </p:sp>
      <p:sp>
        <p:nvSpPr>
          <p:cNvPr id="5" name="四角形: 角を丸くする 4">
            <a:extLst>
              <a:ext uri="{FF2B5EF4-FFF2-40B4-BE49-F238E27FC236}">
                <a16:creationId xmlns:a16="http://schemas.microsoft.com/office/drawing/2014/main" id="{519D9073-D7C6-50FC-4D15-896004D536D8}"/>
              </a:ext>
            </a:extLst>
          </p:cNvPr>
          <p:cNvSpPr/>
          <p:nvPr/>
        </p:nvSpPr>
        <p:spPr>
          <a:xfrm>
            <a:off x="6096000" y="-477744"/>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2400" dirty="0"/>
              <a:t>操作手順</a:t>
            </a:r>
          </a:p>
        </p:txBody>
      </p:sp>
      <p:sp>
        <p:nvSpPr>
          <p:cNvPr id="8" name="四角形: 角を丸くする 7">
            <a:extLst>
              <a:ext uri="{FF2B5EF4-FFF2-40B4-BE49-F238E27FC236}">
                <a16:creationId xmlns:a16="http://schemas.microsoft.com/office/drawing/2014/main" id="{893C0FDF-195B-DFE7-67BC-443080008074}"/>
              </a:ext>
            </a:extLst>
          </p:cNvPr>
          <p:cNvSpPr/>
          <p:nvPr/>
        </p:nvSpPr>
        <p:spPr>
          <a:xfrm>
            <a:off x="9142802" y="-476254"/>
            <a:ext cx="3049200" cy="457946"/>
          </a:xfrm>
          <a:prstGeom prst="roundRect">
            <a:avLst>
              <a:gd name="adj" fmla="val 728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dirty="0">
                <a:solidFill>
                  <a:schemeClr val="bg1"/>
                </a:solidFill>
              </a:rPr>
              <a:t>プログラム説明</a:t>
            </a:r>
            <a:endParaRPr kumimoji="1" lang="ja-JP" altLang="en-US" sz="2400" dirty="0">
              <a:solidFill>
                <a:schemeClr val="bg1"/>
              </a:solidFill>
            </a:endParaRPr>
          </a:p>
        </p:txBody>
      </p:sp>
    </p:spTree>
    <p:extLst>
      <p:ext uri="{BB962C8B-B14F-4D97-AF65-F5344CB8AC3E}">
        <p14:creationId xmlns:p14="http://schemas.microsoft.com/office/powerpoint/2010/main" val="1557339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EEDC7-EC9B-0B65-E850-957A88FD671E}"/>
            </a:ext>
          </a:extLst>
        </p:cNvPr>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CAB26096-204F-16FD-DB60-BE91B7635A1B}"/>
              </a:ext>
            </a:extLst>
          </p:cNvPr>
          <p:cNvSpPr txBox="1"/>
          <p:nvPr/>
        </p:nvSpPr>
        <p:spPr>
          <a:xfrm>
            <a:off x="2538412" y="1975782"/>
            <a:ext cx="7115175" cy="1015663"/>
          </a:xfrm>
          <a:prstGeom prst="rect">
            <a:avLst/>
          </a:prstGeom>
          <a:noFill/>
        </p:spPr>
        <p:txBody>
          <a:bodyPr wrap="square" rtlCol="0">
            <a:spAutoFit/>
          </a:bodyPr>
          <a:lstStyle/>
          <a:p>
            <a:pPr algn="ctr"/>
            <a:r>
              <a:rPr kumimoji="1" lang="ja-JP" altLang="en-US" sz="6000" b="1" dirty="0"/>
              <a:t>プログラム仕様書</a:t>
            </a:r>
          </a:p>
        </p:txBody>
      </p:sp>
      <p:sp>
        <p:nvSpPr>
          <p:cNvPr id="7" name="テキスト ボックス 6">
            <a:extLst>
              <a:ext uri="{FF2B5EF4-FFF2-40B4-BE49-F238E27FC236}">
                <a16:creationId xmlns:a16="http://schemas.microsoft.com/office/drawing/2014/main" id="{0EF720E8-91F2-30B4-2447-E8298576084E}"/>
              </a:ext>
            </a:extLst>
          </p:cNvPr>
          <p:cNvSpPr txBox="1"/>
          <p:nvPr/>
        </p:nvSpPr>
        <p:spPr>
          <a:xfrm>
            <a:off x="2538412" y="3429001"/>
            <a:ext cx="2805113" cy="1200329"/>
          </a:xfrm>
          <a:prstGeom prst="rect">
            <a:avLst/>
          </a:prstGeom>
          <a:noFill/>
        </p:spPr>
        <p:txBody>
          <a:bodyPr wrap="square" rtlCol="0">
            <a:spAutoFit/>
          </a:bodyPr>
          <a:lstStyle/>
          <a:p>
            <a:r>
              <a:rPr kumimoji="1" lang="en-US" altLang="ja-JP" sz="2400" dirty="0"/>
              <a:t>【</a:t>
            </a:r>
            <a:r>
              <a:rPr kumimoji="1" lang="ja-JP" altLang="en-US" sz="2400" dirty="0"/>
              <a:t>使用環境</a:t>
            </a:r>
            <a:r>
              <a:rPr kumimoji="1" lang="en-US" altLang="ja-JP" sz="2400" dirty="0"/>
              <a:t>】</a:t>
            </a:r>
          </a:p>
          <a:p>
            <a:r>
              <a:rPr lang="ja-JP" altLang="en-US" sz="2400" dirty="0"/>
              <a:t>開発：</a:t>
            </a:r>
            <a:r>
              <a:rPr lang="en-US" altLang="ja-JP" sz="2400" dirty="0"/>
              <a:t>Scratch</a:t>
            </a:r>
          </a:p>
          <a:p>
            <a:r>
              <a:rPr lang="ja-JP" altLang="en-US" sz="2400" dirty="0"/>
              <a:t>運用：</a:t>
            </a:r>
            <a:r>
              <a:rPr lang="en-US" altLang="ja-JP" sz="2400" dirty="0"/>
              <a:t>Qumcum</a:t>
            </a:r>
            <a:endParaRPr kumimoji="1" lang="ja-JP" altLang="en-US" sz="2400" dirty="0"/>
          </a:p>
        </p:txBody>
      </p:sp>
      <p:sp>
        <p:nvSpPr>
          <p:cNvPr id="10" name="テキスト ボックス 9">
            <a:extLst>
              <a:ext uri="{FF2B5EF4-FFF2-40B4-BE49-F238E27FC236}">
                <a16:creationId xmlns:a16="http://schemas.microsoft.com/office/drawing/2014/main" id="{ECA5BEFC-2E45-666A-3952-05D8681504C3}"/>
              </a:ext>
            </a:extLst>
          </p:cNvPr>
          <p:cNvSpPr txBox="1"/>
          <p:nvPr/>
        </p:nvSpPr>
        <p:spPr>
          <a:xfrm>
            <a:off x="6096000" y="3429000"/>
            <a:ext cx="2395538" cy="1569660"/>
          </a:xfrm>
          <a:prstGeom prst="rect">
            <a:avLst/>
          </a:prstGeom>
          <a:noFill/>
        </p:spPr>
        <p:txBody>
          <a:bodyPr wrap="square" rtlCol="0">
            <a:spAutoFit/>
          </a:bodyPr>
          <a:lstStyle/>
          <a:p>
            <a:r>
              <a:rPr lang="en-US" altLang="ja-JP" sz="2400" dirty="0"/>
              <a:t>10</a:t>
            </a:r>
            <a:r>
              <a:rPr lang="ja-JP" altLang="en-US" sz="2400" dirty="0"/>
              <a:t>班</a:t>
            </a:r>
            <a:r>
              <a:rPr lang="en-US" altLang="ja-JP" sz="2400" dirty="0"/>
              <a:t>	</a:t>
            </a:r>
            <a:r>
              <a:rPr lang="ja-JP" altLang="en-US" sz="2400" dirty="0"/>
              <a:t>木村湊</a:t>
            </a:r>
            <a:endParaRPr lang="en-US" altLang="ja-JP" sz="2400" dirty="0"/>
          </a:p>
          <a:p>
            <a:r>
              <a:rPr lang="en-US" altLang="ja-JP" sz="2400" dirty="0"/>
              <a:t>	</a:t>
            </a:r>
            <a:r>
              <a:rPr lang="ja-JP" altLang="ja-JP" sz="2400" dirty="0"/>
              <a:t>外間實晃</a:t>
            </a:r>
            <a:endParaRPr lang="en-US" altLang="ja-JP" sz="2400" dirty="0"/>
          </a:p>
          <a:p>
            <a:r>
              <a:rPr lang="en-US" altLang="ja-JP" sz="2400" dirty="0"/>
              <a:t>	</a:t>
            </a:r>
            <a:r>
              <a:rPr lang="ja-JP" altLang="ja-JP" sz="2400" dirty="0"/>
              <a:t>正谷遥陽</a:t>
            </a:r>
            <a:endParaRPr lang="en-US" altLang="ja-JP" sz="2400" dirty="0"/>
          </a:p>
          <a:p>
            <a:r>
              <a:rPr lang="en-US" altLang="ja-JP" sz="2400" dirty="0"/>
              <a:t>	</a:t>
            </a:r>
            <a:r>
              <a:rPr lang="ja-JP" altLang="en-US" sz="2400" dirty="0"/>
              <a:t>吉井海斗</a:t>
            </a:r>
            <a:endParaRPr lang="ja-JP" altLang="en-US" sz="2400" dirty="0">
              <a:latin typeface="+mn-ea"/>
            </a:endParaRPr>
          </a:p>
        </p:txBody>
      </p:sp>
      <p:sp>
        <p:nvSpPr>
          <p:cNvPr id="9" name="フリーフォーム: 図形 8">
            <a:extLst>
              <a:ext uri="{FF2B5EF4-FFF2-40B4-BE49-F238E27FC236}">
                <a16:creationId xmlns:a16="http://schemas.microsoft.com/office/drawing/2014/main" id="{74C42382-397F-3483-47EF-AC0C87EA4193}"/>
              </a:ext>
            </a:extLst>
          </p:cNvPr>
          <p:cNvSpPr/>
          <p:nvPr/>
        </p:nvSpPr>
        <p:spPr>
          <a:xfrm rot="20510271">
            <a:off x="-8440456" y="-2878571"/>
            <a:ext cx="28741522" cy="12322974"/>
          </a:xfrm>
          <a:custGeom>
            <a:avLst/>
            <a:gdLst/>
            <a:ahLst/>
            <a:cxnLst/>
            <a:rect l="l" t="t" r="r" b="b"/>
            <a:pathLst>
              <a:path w="4291342" h="1839921">
                <a:moveTo>
                  <a:pt x="619935" y="975205"/>
                </a:moveTo>
                <a:lnTo>
                  <a:pt x="619935" y="1225725"/>
                </a:lnTo>
                <a:cubicBezTo>
                  <a:pt x="619935" y="1249230"/>
                  <a:pt x="607770" y="1260983"/>
                  <a:pt x="583439" y="1260983"/>
                </a:cubicBezTo>
                <a:cubicBezTo>
                  <a:pt x="550449" y="1260983"/>
                  <a:pt x="521686" y="1251086"/>
                  <a:pt x="497149" y="1231292"/>
                </a:cubicBezTo>
                <a:cubicBezTo>
                  <a:pt x="472613" y="1211498"/>
                  <a:pt x="460345" y="1186755"/>
                  <a:pt x="460345" y="1157064"/>
                </a:cubicBezTo>
                <a:cubicBezTo>
                  <a:pt x="460345" y="1086959"/>
                  <a:pt x="513541" y="1026340"/>
                  <a:pt x="619935" y="975205"/>
                </a:cubicBezTo>
                <a:close/>
                <a:moveTo>
                  <a:pt x="1129634" y="325710"/>
                </a:moveTo>
                <a:lnTo>
                  <a:pt x="1021385" y="434578"/>
                </a:lnTo>
                <a:cubicBezTo>
                  <a:pt x="1060973" y="462207"/>
                  <a:pt x="1119221" y="512414"/>
                  <a:pt x="1196130" y="585199"/>
                </a:cubicBezTo>
                <a:cubicBezTo>
                  <a:pt x="1273038" y="657983"/>
                  <a:pt x="1326338" y="712933"/>
                  <a:pt x="1356029" y="750047"/>
                </a:cubicBezTo>
                <a:lnTo>
                  <a:pt x="1489021" y="646127"/>
                </a:lnTo>
                <a:cubicBezTo>
                  <a:pt x="1442423" y="589219"/>
                  <a:pt x="1384381" y="529528"/>
                  <a:pt x="1314895" y="467052"/>
                </a:cubicBezTo>
                <a:cubicBezTo>
                  <a:pt x="1245409" y="404577"/>
                  <a:pt x="1183656" y="357463"/>
                  <a:pt x="1129634" y="325710"/>
                </a:cubicBezTo>
                <a:close/>
                <a:moveTo>
                  <a:pt x="619935" y="319524"/>
                </a:moveTo>
                <a:lnTo>
                  <a:pt x="619935" y="516228"/>
                </a:lnTo>
                <a:lnTo>
                  <a:pt x="328590" y="516228"/>
                </a:lnTo>
                <a:lnTo>
                  <a:pt x="328590" y="661592"/>
                </a:lnTo>
                <a:lnTo>
                  <a:pt x="619935" y="661592"/>
                </a:lnTo>
                <a:lnTo>
                  <a:pt x="619935" y="817471"/>
                </a:lnTo>
                <a:cubicBezTo>
                  <a:pt x="520552" y="853347"/>
                  <a:pt x="442097" y="901286"/>
                  <a:pt x="384570" y="961287"/>
                </a:cubicBezTo>
                <a:cubicBezTo>
                  <a:pt x="327043" y="1021288"/>
                  <a:pt x="298280" y="1088197"/>
                  <a:pt x="298280" y="1162012"/>
                </a:cubicBezTo>
                <a:cubicBezTo>
                  <a:pt x="298280" y="1237065"/>
                  <a:pt x="326734" y="1298303"/>
                  <a:pt x="383642" y="1345727"/>
                </a:cubicBezTo>
                <a:cubicBezTo>
                  <a:pt x="440550" y="1393150"/>
                  <a:pt x="509624" y="1416862"/>
                  <a:pt x="590862" y="1416862"/>
                </a:cubicBezTo>
                <a:cubicBezTo>
                  <a:pt x="650657" y="1416862"/>
                  <a:pt x="700452" y="1403047"/>
                  <a:pt x="740246" y="1375418"/>
                </a:cubicBezTo>
                <a:cubicBezTo>
                  <a:pt x="780041" y="1347789"/>
                  <a:pt x="799938" y="1309644"/>
                  <a:pt x="799938" y="1260983"/>
                </a:cubicBezTo>
                <a:lnTo>
                  <a:pt x="799938" y="920153"/>
                </a:lnTo>
                <a:cubicBezTo>
                  <a:pt x="861795" y="909018"/>
                  <a:pt x="920146" y="903451"/>
                  <a:pt x="974992" y="903451"/>
                </a:cubicBezTo>
                <a:cubicBezTo>
                  <a:pt x="1063654" y="903451"/>
                  <a:pt x="1132933" y="919122"/>
                  <a:pt x="1182831" y="950462"/>
                </a:cubicBezTo>
                <a:cubicBezTo>
                  <a:pt x="1232728" y="981803"/>
                  <a:pt x="1257677" y="1027989"/>
                  <a:pt x="1257677" y="1089021"/>
                </a:cubicBezTo>
                <a:cubicBezTo>
                  <a:pt x="1257677" y="1140981"/>
                  <a:pt x="1240151" y="1181188"/>
                  <a:pt x="1205099" y="1209642"/>
                </a:cubicBezTo>
                <a:cubicBezTo>
                  <a:pt x="1170047" y="1238096"/>
                  <a:pt x="1122624" y="1252323"/>
                  <a:pt x="1062829" y="1252323"/>
                </a:cubicBezTo>
                <a:cubicBezTo>
                  <a:pt x="1008807" y="1252323"/>
                  <a:pt x="952105" y="1238302"/>
                  <a:pt x="892723" y="1210261"/>
                </a:cubicBezTo>
                <a:lnTo>
                  <a:pt x="850660" y="1354387"/>
                </a:lnTo>
                <a:cubicBezTo>
                  <a:pt x="918703" y="1392325"/>
                  <a:pt x="995817" y="1411295"/>
                  <a:pt x="1082004" y="1411295"/>
                </a:cubicBezTo>
                <a:cubicBezTo>
                  <a:pt x="1190460" y="1411295"/>
                  <a:pt x="1277162" y="1381913"/>
                  <a:pt x="1342112" y="1323149"/>
                </a:cubicBezTo>
                <a:cubicBezTo>
                  <a:pt x="1407061" y="1264385"/>
                  <a:pt x="1439536" y="1184487"/>
                  <a:pt x="1439536" y="1083454"/>
                </a:cubicBezTo>
                <a:cubicBezTo>
                  <a:pt x="1439536" y="979123"/>
                  <a:pt x="1396339" y="898812"/>
                  <a:pt x="1309946" y="842522"/>
                </a:cubicBezTo>
                <a:cubicBezTo>
                  <a:pt x="1223553" y="786233"/>
                  <a:pt x="1111077" y="758088"/>
                  <a:pt x="972518" y="758088"/>
                </a:cubicBezTo>
                <a:cubicBezTo>
                  <a:pt x="914373" y="758088"/>
                  <a:pt x="856846" y="762624"/>
                  <a:pt x="799938" y="771697"/>
                </a:cubicBezTo>
                <a:lnTo>
                  <a:pt x="799938" y="661592"/>
                </a:lnTo>
                <a:lnTo>
                  <a:pt x="1101180" y="661592"/>
                </a:lnTo>
                <a:lnTo>
                  <a:pt x="1101180" y="516228"/>
                </a:lnTo>
                <a:lnTo>
                  <a:pt x="799938" y="516228"/>
                </a:lnTo>
                <a:lnTo>
                  <a:pt x="799938" y="319524"/>
                </a:lnTo>
                <a:close/>
                <a:moveTo>
                  <a:pt x="1776655" y="305916"/>
                </a:moveTo>
                <a:lnTo>
                  <a:pt x="1776655" y="508187"/>
                </a:lnTo>
                <a:lnTo>
                  <a:pt x="1563868" y="508187"/>
                </a:lnTo>
                <a:lnTo>
                  <a:pt x="1563868" y="647983"/>
                </a:lnTo>
                <a:lnTo>
                  <a:pt x="1776655" y="647983"/>
                </a:lnTo>
                <a:lnTo>
                  <a:pt x="1776655" y="788398"/>
                </a:lnTo>
                <a:cubicBezTo>
                  <a:pt x="1665725" y="959947"/>
                  <a:pt x="1579538" y="1081599"/>
                  <a:pt x="1518094" y="1153352"/>
                </a:cubicBezTo>
                <a:lnTo>
                  <a:pt x="1613353" y="1288819"/>
                </a:lnTo>
                <a:cubicBezTo>
                  <a:pt x="1658715" y="1233560"/>
                  <a:pt x="1713149" y="1159332"/>
                  <a:pt x="1776655" y="1066134"/>
                </a:cubicBezTo>
                <a:lnTo>
                  <a:pt x="1776655" y="1416862"/>
                </a:lnTo>
                <a:lnTo>
                  <a:pt x="1951709" y="1416862"/>
                </a:lnTo>
                <a:lnTo>
                  <a:pt x="1951709" y="858915"/>
                </a:lnTo>
                <a:cubicBezTo>
                  <a:pt x="2072949" y="709634"/>
                  <a:pt x="2205116" y="634993"/>
                  <a:pt x="2348211" y="634993"/>
                </a:cubicBezTo>
                <a:cubicBezTo>
                  <a:pt x="2412542" y="634993"/>
                  <a:pt x="2463264" y="659633"/>
                  <a:pt x="2500378" y="708912"/>
                </a:cubicBezTo>
                <a:cubicBezTo>
                  <a:pt x="2537492" y="758191"/>
                  <a:pt x="2556049" y="819945"/>
                  <a:pt x="2556049" y="894173"/>
                </a:cubicBezTo>
                <a:lnTo>
                  <a:pt x="2556049" y="908400"/>
                </a:lnTo>
                <a:cubicBezTo>
                  <a:pt x="2555637" y="959947"/>
                  <a:pt x="2546668" y="1006030"/>
                  <a:pt x="2529141" y="1046650"/>
                </a:cubicBezTo>
                <a:cubicBezTo>
                  <a:pt x="2511615" y="1087269"/>
                  <a:pt x="2485017" y="1122733"/>
                  <a:pt x="2449346" y="1153043"/>
                </a:cubicBezTo>
                <a:cubicBezTo>
                  <a:pt x="2413676" y="1183353"/>
                  <a:pt x="2370891" y="1206549"/>
                  <a:pt x="2320994" y="1222632"/>
                </a:cubicBezTo>
                <a:cubicBezTo>
                  <a:pt x="2271096" y="1238715"/>
                  <a:pt x="2198518" y="1251498"/>
                  <a:pt x="2103258" y="1260983"/>
                </a:cubicBezTo>
                <a:lnTo>
                  <a:pt x="2141609" y="1406346"/>
                </a:lnTo>
                <a:cubicBezTo>
                  <a:pt x="2283055" y="1401398"/>
                  <a:pt x="2398315" y="1373665"/>
                  <a:pt x="2487388" y="1323149"/>
                </a:cubicBezTo>
                <a:cubicBezTo>
                  <a:pt x="2576462" y="1272633"/>
                  <a:pt x="2639143" y="1208714"/>
                  <a:pt x="2675433" y="1131393"/>
                </a:cubicBezTo>
                <a:cubicBezTo>
                  <a:pt x="2711722" y="1054072"/>
                  <a:pt x="2729866" y="974999"/>
                  <a:pt x="2729866" y="894173"/>
                </a:cubicBezTo>
                <a:cubicBezTo>
                  <a:pt x="2729866" y="775408"/>
                  <a:pt x="2694093" y="678705"/>
                  <a:pt x="2622545" y="604065"/>
                </a:cubicBezTo>
                <a:cubicBezTo>
                  <a:pt x="2550998" y="529425"/>
                  <a:pt x="2457285" y="492104"/>
                  <a:pt x="2341406" y="492104"/>
                </a:cubicBezTo>
                <a:cubicBezTo>
                  <a:pt x="2206971" y="492104"/>
                  <a:pt x="2077072" y="545920"/>
                  <a:pt x="1951709" y="653550"/>
                </a:cubicBezTo>
                <a:lnTo>
                  <a:pt x="1951709" y="305916"/>
                </a:lnTo>
                <a:close/>
                <a:moveTo>
                  <a:pt x="3015644" y="302823"/>
                </a:moveTo>
                <a:cubicBezTo>
                  <a:pt x="2987190" y="450454"/>
                  <a:pt x="2972963" y="600766"/>
                  <a:pt x="2972963" y="753758"/>
                </a:cubicBezTo>
                <a:cubicBezTo>
                  <a:pt x="2972963" y="878709"/>
                  <a:pt x="2982448" y="994999"/>
                  <a:pt x="3001417" y="1102630"/>
                </a:cubicBezTo>
                <a:lnTo>
                  <a:pt x="3165337" y="1092114"/>
                </a:lnTo>
                <a:cubicBezTo>
                  <a:pt x="3161626" y="1063660"/>
                  <a:pt x="3159770" y="1036237"/>
                  <a:pt x="3159770" y="1009845"/>
                </a:cubicBezTo>
                <a:cubicBezTo>
                  <a:pt x="3159770" y="920771"/>
                  <a:pt x="3179049" y="835512"/>
                  <a:pt x="3217606" y="754067"/>
                </a:cubicBezTo>
                <a:cubicBezTo>
                  <a:pt x="3256164" y="672623"/>
                  <a:pt x="3304618" y="614684"/>
                  <a:pt x="3362970" y="580250"/>
                </a:cubicBezTo>
                <a:cubicBezTo>
                  <a:pt x="3421321" y="545817"/>
                  <a:pt x="3478332" y="528600"/>
                  <a:pt x="3534003" y="528600"/>
                </a:cubicBezTo>
                <a:cubicBezTo>
                  <a:pt x="3638747" y="528600"/>
                  <a:pt x="3691119" y="643653"/>
                  <a:pt x="3691119" y="873760"/>
                </a:cubicBezTo>
                <a:cubicBezTo>
                  <a:pt x="3691119" y="1005309"/>
                  <a:pt x="3654521" y="1101186"/>
                  <a:pt x="3581324" y="1161394"/>
                </a:cubicBezTo>
                <a:cubicBezTo>
                  <a:pt x="3508127" y="1221601"/>
                  <a:pt x="3369052" y="1263663"/>
                  <a:pt x="3164100" y="1287581"/>
                </a:cubicBezTo>
                <a:lnTo>
                  <a:pt x="3198121" y="1440986"/>
                </a:lnTo>
                <a:cubicBezTo>
                  <a:pt x="3422867" y="1423666"/>
                  <a:pt x="3591839" y="1370263"/>
                  <a:pt x="3705037" y="1280777"/>
                </a:cubicBezTo>
                <a:cubicBezTo>
                  <a:pt x="3818235" y="1191291"/>
                  <a:pt x="3874834" y="1049845"/>
                  <a:pt x="3874834" y="856440"/>
                </a:cubicBezTo>
                <a:cubicBezTo>
                  <a:pt x="3874834" y="705510"/>
                  <a:pt x="3846276" y="586539"/>
                  <a:pt x="3789162" y="499527"/>
                </a:cubicBezTo>
                <a:cubicBezTo>
                  <a:pt x="3732048" y="412515"/>
                  <a:pt x="3648644" y="369009"/>
                  <a:pt x="3538952" y="369009"/>
                </a:cubicBezTo>
                <a:cubicBezTo>
                  <a:pt x="3452352" y="369009"/>
                  <a:pt x="3371939" y="393752"/>
                  <a:pt x="3297711" y="443237"/>
                </a:cubicBezTo>
                <a:cubicBezTo>
                  <a:pt x="3223483" y="492723"/>
                  <a:pt x="3171729" y="548394"/>
                  <a:pt x="3142450" y="610251"/>
                </a:cubicBezTo>
                <a:cubicBezTo>
                  <a:pt x="3163894" y="480352"/>
                  <a:pt x="3180802" y="383030"/>
                  <a:pt x="3193173" y="318287"/>
                </a:cubicBezTo>
                <a:close/>
                <a:moveTo>
                  <a:pt x="152750" y="0"/>
                </a:moveTo>
                <a:lnTo>
                  <a:pt x="4138592" y="0"/>
                </a:lnTo>
                <a:cubicBezTo>
                  <a:pt x="4222953" y="0"/>
                  <a:pt x="4291342" y="68389"/>
                  <a:pt x="4291342" y="152750"/>
                </a:cubicBezTo>
                <a:lnTo>
                  <a:pt x="4291342" y="1687171"/>
                </a:lnTo>
                <a:cubicBezTo>
                  <a:pt x="4291342" y="1771532"/>
                  <a:pt x="4222953" y="1839921"/>
                  <a:pt x="4138592" y="1839921"/>
                </a:cubicBezTo>
                <a:lnTo>
                  <a:pt x="152750" y="1839921"/>
                </a:lnTo>
                <a:cubicBezTo>
                  <a:pt x="68389" y="1839921"/>
                  <a:pt x="0" y="1771532"/>
                  <a:pt x="0" y="1687171"/>
                </a:cubicBezTo>
                <a:lnTo>
                  <a:pt x="0" y="152750"/>
                </a:lnTo>
                <a:cubicBezTo>
                  <a:pt x="0" y="68389"/>
                  <a:pt x="68389" y="0"/>
                  <a:pt x="152750" y="0"/>
                </a:cubicBezTo>
                <a:close/>
              </a:path>
            </a:pathLst>
          </a:cu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19900" b="1" dirty="0">
              <a:solidFill>
                <a:schemeClr val="bg1"/>
              </a:solidFill>
            </a:endParaRPr>
          </a:p>
        </p:txBody>
      </p:sp>
      <p:pic>
        <p:nvPicPr>
          <p:cNvPr id="3" name="図 2">
            <a:extLst>
              <a:ext uri="{FF2B5EF4-FFF2-40B4-BE49-F238E27FC236}">
                <a16:creationId xmlns:a16="http://schemas.microsoft.com/office/drawing/2014/main" id="{C0756F99-18E2-C56A-BD2D-992F0AA6DF05}"/>
              </a:ext>
            </a:extLst>
          </p:cNvPr>
          <p:cNvPicPr>
            <a:picLocks noChangeAspect="1"/>
          </p:cNvPicPr>
          <p:nvPr/>
        </p:nvPicPr>
        <p:blipFill>
          <a:blip r:embed="rId3"/>
          <a:srcRect/>
          <a:stretch/>
        </p:blipFill>
        <p:spPr>
          <a:xfrm>
            <a:off x="10902950" y="5568950"/>
            <a:ext cx="1289050" cy="1289050"/>
          </a:xfrm>
          <a:prstGeom prst="rect">
            <a:avLst/>
          </a:prstGeom>
        </p:spPr>
      </p:pic>
    </p:spTree>
    <p:extLst>
      <p:ext uri="{BB962C8B-B14F-4D97-AF65-F5344CB8AC3E}">
        <p14:creationId xmlns:p14="http://schemas.microsoft.com/office/powerpoint/2010/main" val="368369327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6" presetClass="emph" presetSubtype="0" fill="hold" grpId="1" nodeType="withEffect" p14:presetBounceEnd="50000">
                                      <p:stCondLst>
                                        <p:cond delay="0"/>
                                      </p:stCondLst>
                                      <p:childTnLst>
                                        <p:animScale p14:bounceEnd="50000">
                                          <p:cBhvr>
                                            <p:cTn id="8" dur="200" fill="hold"/>
                                            <p:tgtEl>
                                              <p:spTgt spid="9"/>
                                            </p:tgtEl>
                                          </p:cBhvr>
                                          <p:by x="50000" y="50000"/>
                                        </p:animScale>
                                      </p:childTnLst>
                                    </p:cTn>
                                  </p:par>
                                </p:childTnLst>
                              </p:cTn>
                            </p:par>
                            <p:par>
                              <p:cTn id="9" fill="hold">
                                <p:stCondLst>
                                  <p:cond delay="200"/>
                                </p:stCondLst>
                                <p:childTnLst>
                                  <p:par>
                                    <p:cTn id="10" presetID="10" presetClass="entr" presetSubtype="0"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6" presetClass="emph" presetSubtype="0" fill="hold" grpId="1" nodeType="withEffect">
                                      <p:stCondLst>
                                        <p:cond delay="0"/>
                                      </p:stCondLst>
                                      <p:childTnLst>
                                        <p:animScale>
                                          <p:cBhvr>
                                            <p:cTn id="8" dur="200" fill="hold"/>
                                            <p:tgtEl>
                                              <p:spTgt spid="9"/>
                                            </p:tgtEl>
                                          </p:cBhvr>
                                          <p:by x="50000" y="50000"/>
                                        </p:animScale>
                                      </p:childTnLst>
                                    </p:cTn>
                                  </p:par>
                                </p:childTnLst>
                              </p:cTn>
                            </p:par>
                            <p:par>
                              <p:cTn id="9" fill="hold">
                                <p:stCondLst>
                                  <p:cond delay="200"/>
                                </p:stCondLst>
                                <p:childTnLst>
                                  <p:par>
                                    <p:cTn id="10" presetID="10" presetClass="entr" presetSubtype="0"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Lst>
      </p:timing>
    </mc:Fallback>
  </mc:AlternateContent>
</p:sld>
</file>

<file path=ppt/theme/theme1.xml><?xml version="1.0" encoding="utf-8"?>
<a:theme xmlns:a="http://schemas.openxmlformats.org/drawingml/2006/main" name="Office テーマ">
  <a:themeElements>
    <a:clrScheme name="グレースケール">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2555</TotalTime>
  <Words>6296</Words>
  <Application>Microsoft Office PowerPoint</Application>
  <PresentationFormat>ワイド画面</PresentationFormat>
  <Paragraphs>1286</Paragraphs>
  <Slides>67</Slides>
  <Notes>67</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67</vt:i4>
      </vt:variant>
    </vt:vector>
  </HeadingPairs>
  <TitlesOfParts>
    <vt:vector size="72" baseType="lpstr">
      <vt:lpstr>Calibri</vt:lpstr>
      <vt:lpstr>Gigi</vt:lpstr>
      <vt:lpstr>游ゴシック</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totoka 3710</dc:creator>
  <cp:lastModifiedBy>totoka 3710</cp:lastModifiedBy>
  <cp:revision>15</cp:revision>
  <dcterms:created xsi:type="dcterms:W3CDTF">2026-06-28T11:26:06Z</dcterms:created>
  <dcterms:modified xsi:type="dcterms:W3CDTF">2026-07-11T22:43:50Z</dcterms:modified>
</cp:coreProperties>
</file>